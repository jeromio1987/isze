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14" r:id="rIdAIM30"/>
    <p:sldId id="315" r:id="rIdAIM31"/>
    <p:sldId id="316" r:id="rIdAIM32"/>
    <p:sldId id="317" r:id="rIdAIM33"/>
    <p:sldId id="277" r:id="rId23"/>
    <p:sldId id="278" r:id="rId24"/>
    <p:sldId id="279" r:id="rId25"/>
    <p:sldId id="281" r:id="rId27"/>
    <p:sldId id="282" r:id="rId28"/>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AIM30" Type="http://schemas.openxmlformats.org/officeDocument/2006/relationships/slide" Target="slides/slide15.xml"/><Relationship Id="rIdAIM31" Type="http://schemas.openxmlformats.org/officeDocument/2006/relationships/slide" Target="slides/slide16.xml"/><Relationship Id="rIdAIM32" Type="http://schemas.openxmlformats.org/officeDocument/2006/relationships/slide" Target="slides/slide17.xml"/><Relationship Id="rIdAIM33"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message: AIM makes our existing parts business more visible and supports more specific commercial decisions. Start with the historical Others problem, not system status or technical audit language. This cover intentionally carries no unconfirmed billing total, blanket identity-live claim or commercial-score promise. ZKK reinforces the reference basis; it does not redefine AIM.
[Sources]
User instructions in this conversation, 20 September 2026: large historical Others grouping; AIM reinforced by ZKK; existing ISZE master only; local ownership by Vehicle Parts Sales; no guaranteed bespoke Japan updates; ITC means interchangeability and will follow later.
ISZE AIM/ZKK full-file review; supplied corrected master reviewed 20 September 2026. Structural/source review and targeted checks, not catalogue-wide technical certification.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cards form one story. A broad residual grouping conceals the product range. A controlled three-level aftersales view makes the range addressable. Comparable market information then supports a specific action. These are intended business uses, not claims that all parts have already been technically approved or that a price reduction is automatically required.
[Sources]
User instructions in this conversation, 20 September 2026: large historical Others grouping; AIM reinforced by ZKK; existing ISZE master only; local ownership by Vehicle Parts Sales; no guaranteed bespoke Japan updates; ITC means interchangeability and will follow later.
Original ISZE classification paper, 18 September 2026, sections 1, 3, 5 and 7. Historical description-based design and five original source fields. Historical financial claims are not reused.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Retain the three-level AIM aftersales family and the separate catalogue grouping. Commercial evidence sits beside identity rather than changing a part from one physical type to another. The existing service-demand calculation uses catalogue figures and its own fleet/interval assumptions: AIM improves the product interpretation and links to that analysis; it does not automatically replace the service model.
[Sources]
Original ISZE classification paper, 18 September 2026, sections 1, 3, 5 and 7. Historical description-based design and five original source fields. Historical financial claims are not reused.
ISZE AIM/ZKK full-file review; supplied corrected master reviewed 20 September 2026. Structural/source review and targeted checks, not catalogue-wide technical certification.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identifies a large historical Others grouping as the original commercial problem. The original paper also documents Other/review and broad residual families. This schematic explains that problem without inventing a historical share or claiming all residual entries have now disappeared. The boxes are illustrative business destinations, not measured proportions or a reconstructed before/after population.
[Sources]
User instructions in this conversation, 20 September 2026: large historical Others grouping; AIM reinforced by ZKK; existing ISZE master only; local ownership by Vehicle Parts Sales; no guaranteed bespoke Japan updates; ITC means interchangeability and will follow later.
Original ISZE classification paper, 18 September 2026, sections 1, 3, 5 and 7. Historical description-based design and five original source fields. Historical financial claims are not reused.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fields are taken from the original source paper: part number, description, list price, customs commodity code and catalogue figure. ZKK is the additional reference requested by the user. This is a business explanation of the different evidence roles, not a claim that six equally weighted variables or a new statistical classifier have been implemented. Historically the first rules read description text; subsequent reviews used catalogue/customs evidence and retained corrections. Part number links records, whereas price does not determine physical identity. Complete execution/precedence code was not supplied for this review.
[Sources]
Original ISZE classification paper, 18 September 2026, sections 1, 3, 5 and 7. Historical description-based design and five original source fields. Historical financial claims are not reused.
User instructions in this conversation, 20 September 2026: large historical Others grouping; AIM reinforced by ZKK; existing ISZE master only; local ownership by Vehicle Parts Sales; no guaranteed bespoke Japan updates; ITC means interchangeability and will follow later.
ISZE AIM/ZKK full-file review; supplied corrected master reviewed 20 September 2026. Structural/source review and targeted checks, not catalogue-wide technical certification.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paper uses FILTER; ACL and figure 1-30 Air Cleaner to illustrate the limit of noun-only rules. The figure supplies assembly context; the actual item still needs to be distinguished from its bracket, housing or a kit. This slide illustrates the evidence process, not a claim that every row has six populated independent sources. Persist accepted corrections with evidence, owner and date, and review conflicts rather than forcing a majority classification.
[Sources]
Original ISZE classification paper, 18 September 2026, sections 1, 3, 5 and 7. Historical description-based design and five original source fields. Historical financial claims are not reused.
AIM correction and verification brief, 20 September 2026. Later corrections have not been assumed complete; previously confirmed fixes remain closed.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reviewed example is part 8979490060: Clutch / Release System / Slave Cylinder. Its earlier detailed Pivot issue is closed in the supplied corrected snapshot. The slide demonstrates the purpose of all three levels rather than asserting current weak performance in this category. No broader technical certification follows from one corrected example.
[Sources]
ISZE AIM/ZKK full-file review; supplied corrected master reviewed 20 September 2026. Structural/source review and targeted checks, not catalogue-wide technical certification.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silhouettes illustrate product form; they are not technical fitment drawings. Related products can share a management family but have different service frequency, saleable quantity, contents and competition. Kit revenue stays on the invoiced kit. Component-equivalent quantities require validated contents and must not be added as new sales. These distinctions enable better product-specific pricing and service-range analysis.
[Sources]
Illustrative decision framework developed for this presentation. Not a measured market outcome or an approved automatic pricing policy.
AIM correction and verification brief, 20 September 2026. Later corrections have not been assumed complete; previously confirmed fixes remain closed.
ISZE business context, operating limitations and writing rules, 19 September 2026.
[/Sources]</a:t>
            </a:r>
            <a:endParaRPr lang="en-US" dirty="0"/>
          </a:p>
          <a:p>
            <a:r>
              <a:t>Compact-edition image status: original editable silhouettes retained. Real product-photo retrieval was attempted from manufacturer/dealer pages, but the image downloads were unavailable in this environment. No synthetic image is represented as an actual Isuzu 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master review on 20 September 2026 found 37 Japanese-matched records labelled Brake Pad Kit across 10 retained ZKK codes. This is an observed classification relationship, not a count of interchangeable fitments, units sold or independently verified error-free records. ZKK does not necessarily have the same purpose or hierarchy as AIM. We preserve the code and product evidence. This example supports a fit-for-purpose product sales view, not a claim of superior technical accuracy.
[Sources]
ISZE AIM/ZKK full-file review; supplied corrected master reviewed 20 September 2026. Structural/source review and targeted checks, not catalogue-wide technical certification.
User instructions in this conversation, 20 September 2026: large historical Others grouping; AIM reinforced by ZKK; existing ISZE master only; local ownership by Vehicle Parts Sales; no guaranteed bespoke Japan updates; ITC means interchangeability and will follow later.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quoted headline is illustrative, not a reported ISZE result. A category view should separate like-for-like price, quantity and mix on matched periods and stable product identities. Avoid a single quantity sum across heterogeneous products. Examine the leading part-number contribution and repeated purchases to distinguish recurring service momentum from exceptional high-value repairs. The classification makes these questions reproducible; it does not itself measure their answer.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numbers context as of 19 September 2026, spend per truck in service, calendar 2025. Norway EUR 1,416,552 / 7,929 vehicles gives EUR 179 rounded; Sweden EUR 1,278,462 / 8,443 gives EUR 151 rounded. These observed billing-per-vehicle rates are not end-customer expenditure or measured market share. The intended use is a starting signal for a more focused category review. Standardise relevant model/class/age mix, applications, sales stage, period and pricing effects before turning a difference into a target. No claim that the fleets are perfectly comparable is made.
[Sources]
ISZE numbers and calculation-basis context, as of 19 September 2026, sections 2, 3 and 5. Calendar 2025 bases; underlying billing horizon 30 June 2026.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analytical discipline. Product identity enables reproducible country comparisons, but applicability and relevant fleet need separate evidence. Keep ITUK and IUK separate, and UMI and UTI separate. A healthy network average is not a market action. Compare original and value offers within comparable products, keep billing and sales-to-dealer stages explicit, and distinguish price effects from replacement quantity. Another market can provide a practice to test, not an automatic spend target.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measures must not be collapsed into a single market-share claim. Parts billed per vehicle is observed on the approved billing and fleet population; service cover compares observed units with a modelled expectation; repeat account breadth requires account-level data and a defensible eligible population. None is independently the complete aftermarket share without market totals. Missing dealer data remains unknown, not zero. The slide focuses on commercially useful penetration questions while keeping the distinction in the definitions.
[Sources]
ISZE numbers and calculation-basis context, as of 19 September 2026, sections 2, 3 and 5. Calendar 2025 bases; underlying billing horizon 30 June 2026.
ISZE business context, operating limitations and writing rules, 19 September 2026.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numbers context as of 19 September 2026, 2025 market-category service-demand table. IUK fleet 47,783. Clutch disc modelled EUR gap 1,338,473, cover 4.5%; brake pad gap EUR 806,882, cover 24.1%; fuel filter gap EUR 485,078, cover 16.0%. Values are shown rounded to three decimals in EUR millions. Each individual market/category cell is used on its supplied basis; no network or cross-category euro total is presented. Expected units depend on the fleet and service/wear assumptions. These figures are not verified competitor purchases, an attainable sales forecast or an incremental-profit estimate. AIM identifies the product range; the separate figure-based service model supplies the expectation.
[Sources]
ISZE numbers and calculation-basis context, as of 19 September 2026, sections 2, 3 and 5. Calendar 2025 bases; underlying billing horizon 30 June 2026.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category-management application, not a new inventory optimisation project. Observed ordering frequency and availability need their own dated source, and distributor stock loading must be separated from end-user demand. AIM helps distinguish recurring service items from sporadic repairs and makes range gaps discussable at application level. Availability improvements can be more appropriate than margin concessions when the confirmed constraint is supply.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proposed prioritisation process is deliberately transparent rather than another numerical score. A modelled euro gap is not a winnable-sales forecast. Consider product/fleet scope, evidence confidence, incremental contribution and distributor execution together. Product classification makes the opportunity population precise, while finance and sales ownership determine the viable action. It replaces the superficial manufacturer-comparison slide with a direct management resource-allocation question.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structure of a shared discussion, not an existing customer report. The page should state the observed sales stage and evidence coverage without lecturing on the entire chain. Keep internal costs, negotiation thresholds, other distributors' terms and restricted source records out of the shared version. The distributor helps validate local alternatives, application relevance and execution. Names may be replaced with responsible roles in shared output.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confirms local maintenance ownership and that routine bespoke Japan support is difficult. Maintain the existing master only; Japan-only reference records are not another catalogue to own. Preserve original codes and source dates, approved exceptions and a recoverable previous version. Routine reporting continues on the last accepted classification when no new reference is available. New/changed evidence triggers focused review, not an automatic rewrite. Repeat-run stability and hands-on time should be tested before claiming a support cost.
[Sources]
User instructions in this conversation, 20 September 2026: large historical Others grouping; AIM reinforced by ZKK; existing ISZE master only; local ownership by Vehicle Parts Sales; no guaranteed bespoke Japan updates; ITC means interchangeability and will follow later.
AIM correction and verification brief, 20 September 2026. Later corrections have not been assumed complete; previously confirmed fixes remain closed.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conceptual replacement example, not an observed transaction trend or a loaded ITC mapping. ITC means interchangeability, confirmed by the user. The extract and code legend will follow later. Preserve direction, restrictions, effective dates, quantities and package/application conditions. A chain is not automatically mutual substitution, and commercial price evidence must not blindly carry over. Do not infer replacement relationships by removing zeros or comparing similar numbers.
[Sources]
User instructions in this conversation, 20 September 2026: large historical Others grouping; AIM reinforced by ZKK; existing ISZE master only; local ownership by Vehicle Parts Sales; no guaranteed bespoke Japan updates; ITC means interchangeability and will follow later.
AIM correction and verification brief, 20 September 2026. Later corrections have not been assumed complete; previously confirmed fixes remain closed.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is asked to endorse the product-oriented approach, local ownership and a practical reviewed commercial use case. ZKK reinforces the reference basis without replacing AIM. No catalogue-wide automatic pricing change, financial uplift guarantee, new enterprise platform or full-Japan master is part of the request. End on the original purpose: understand the products concealed by broad Others reporting, then make more specific market and pricing decisions.
[Sources]
User instructions in this conversation, 20 September 2026: large historical Others grouping; AIM reinforced by ZKK; existing ISZE master only; local ownership by Vehicle Parts Sales; no guaranteed bespoke Japan updates; ITC means interchangeability and will follow later.
Illustrative decision framework developed for this presentation. Not a measured market outcome or an approved automatic pricing policy.
ISZE AIM/ZKK full-file review; supplied corrected master reviewed 20 September 2026. Structural/source review and targeted checks, not catalogue-wide technical certification.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low category total can reflect historically limited ISZE purchasing, a change in repeat purchases, or substitution and order timing. The lines on this page are deliberately schematic: they contain no numerical series, actual dates or market claim. A weakening pattern is not confirmed competitor purchasing. Investigate stocking, supply, equivalent quantities and local evidence. Replacement continuity will be assessed only when authorised ITC information is supplied.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product concentration and account concentration checks. Review category movement on the same periods and sales stage, with stable accepted part identities. Examine leading part-number contributions and the remainder; do not sum incomparable physical quantities. Where sales-to-dealer data is available, examine concentration there. Without it, do not infer which dealers or end customers changed behaviour. This is not a finding about any named distributor.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
Refinement: a stable family total can hide declining purchases of specific products. Identify the product movement, establish its cause with the distributor, and target the support accordingly.
[Sources]
ZKK_VS_AIM_CLASSIFICATION_REVIEW_2026-09-20.md, sections 3.5 and 3.9: qualitative lessons about offsetting movements and original/value mix. No disputed rankings, percentages or financial-benefit claims adopted.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patterns only. The approved context defines original/value share as a mix within ISZE sales, not aftermarket share. A movement towards value parts may retain purchasing within Isuzu or substitute for existing original-part sales; test rather than presume either effect. Kit revenue remains attached to the billed kit. Component-equivalent quantities require validated contents and an explicit unit convention, and must not be counted as extra sales. Missing companion purchases do not establish lost business or required repair steps.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ISZE sells parts to distributors, not directly to end customers. A change to ISZE net terms can create commercial room for the distributor but does not prove that downstream prices fall or customer demand rises. A support decision needs dated comparable-product evidence, availability, market scope and contribution economics. Do not apply a common discount to an entire physical family. The removed break-even illustration remains an analytical principle: the action must cover the contribution conceded on business that would have occurred anyway, plus incremental costs. No elasticity, uplift or new price is claimed.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D71920"/>
          </a:solidFill>
          <a:ln w="12700">
            <a:solidFill>
              <a:srgbClr val="D71920"/>
            </a:solidFill>
            <a:prstDash val="solid"/>
          </a:ln>
        </p:spPr>
        <p:txBody>
          <a:bodyPr/>
          <a:p/>
        </p:txBody>
      </p:sp>
      <p:sp>
        <p:nvSpPr>
          <p:cNvPr id="3" name="Text 1"/>
          <p:cNvSpPr/>
          <p:nvPr/>
        </p:nvSpPr>
        <p:spPr>
          <a:xfrm>
            <a:off x="658368" y="557784"/>
            <a:ext cx="3291840" cy="420624"/>
          </a:xfrm>
          <a:prstGeom prst="rect">
            <a:avLst/>
          </a:prstGeom>
          <a:noFill/>
          <a:ln/>
        </p:spPr>
        <p:txBody>
          <a:bodyPr wrap="square" lIns="0" tIns="0" rIns="0" bIns="0" rtlCol="0" anchor="ctr">
            <a:normAutofit/>
          </a:bodyPr>
          <a:lstStyle/>
          <a:p>
            <a:pPr indent="0" marL="0">
              <a:buNone/>
            </a:pPr>
            <a:r>
              <a:rPr lang="en-US" sz="2900" b="1" spc="220" kern="0" dirty="0">
                <a:solidFill>
                  <a:srgbClr val="FFFFFF"/>
                </a:solidFill>
                <a:latin typeface="Arial" pitchFamily="34" charset="0"/>
                <a:ea typeface="Arial" pitchFamily="34" charset="-122"/>
                <a:cs typeface="Arial" pitchFamily="34" charset="-120"/>
              </a:rPr>
              <a:t>ISUZU</a:t>
            </a:r>
            <a:endParaRPr lang="en-US" sz="2900" dirty="0"/>
          </a:p>
        </p:txBody>
      </p:sp>
      <p:sp>
        <p:nvSpPr>
          <p:cNvPr id="4" name="Text 2"/>
          <p:cNvSpPr/>
          <p:nvPr/>
        </p:nvSpPr>
        <p:spPr>
          <a:xfrm>
            <a:off x="676656" y="1088136"/>
            <a:ext cx="3657600" cy="274320"/>
          </a:xfrm>
          <a:prstGeom prst="rect">
            <a:avLst/>
          </a:prstGeom>
          <a:noFill/>
          <a:ln/>
        </p:spPr>
        <p:txBody>
          <a:bodyPr wrap="square" lIns="0" tIns="0" rIns="0" bIns="0" rtlCol="0" anchor="ctr">
            <a:normAutofit/>
          </a:bodyPr>
          <a:lstStyle/>
          <a:p>
            <a:pPr indent="0" marL="0">
              <a:buNone/>
            </a:pPr>
            <a:r>
              <a:rPr lang="en-US" sz="1150" b="1" spc="130" kern="0" dirty="0">
                <a:solidFill>
                  <a:srgbClr val="FFFFFF"/>
                </a:solidFill>
                <a:latin typeface="Arial" pitchFamily="34" charset="0"/>
                <a:ea typeface="Arial" pitchFamily="34" charset="-122"/>
                <a:cs typeface="Arial" pitchFamily="34" charset="-120"/>
              </a:rPr>
              <a:t>EUROPE  /  AFTERSALES</a:t>
            </a:r>
            <a:endParaRPr lang="en-US" sz="1150" dirty="0"/>
          </a:p>
        </p:txBody>
      </p:sp>
      <p:sp>
        <p:nvSpPr>
          <p:cNvPr id="5" name="Text 3"/>
          <p:cNvSpPr/>
          <p:nvPr/>
        </p:nvSpPr>
        <p:spPr>
          <a:xfrm>
            <a:off x="640080" y="2103120"/>
            <a:ext cx="3749040" cy="1234440"/>
          </a:xfrm>
          <a:prstGeom prst="rect">
            <a:avLst/>
          </a:prstGeom>
          <a:noFill/>
          <a:ln/>
        </p:spPr>
        <p:txBody>
          <a:bodyPr wrap="square" lIns="0" tIns="0" rIns="0" bIns="0" rtlCol="0" anchor="ctr">
            <a:normAutofit/>
          </a:bodyPr>
          <a:lstStyle/>
          <a:p>
            <a:pPr indent="0" marL="0">
              <a:buNone/>
            </a:pPr>
            <a:r>
              <a:rPr lang="en-US" sz="9600" b="1" dirty="0">
                <a:solidFill>
                  <a:srgbClr val="FFFFFF"/>
                </a:solidFill>
                <a:latin typeface="Arial" pitchFamily="34" charset="0"/>
                <a:ea typeface="Arial" pitchFamily="34" charset="-122"/>
                <a:cs typeface="Arial" pitchFamily="34" charset="-120"/>
              </a:rPr>
              <a:t>AIM</a:t>
            </a:r>
            <a:endParaRPr lang="en-US" sz="9600" dirty="0"/>
          </a:p>
        </p:txBody>
      </p:sp>
      <p:sp>
        <p:nvSpPr>
          <p:cNvPr id="6" name="Text 4"/>
          <p:cNvSpPr/>
          <p:nvPr/>
        </p:nvSpPr>
        <p:spPr>
          <a:xfrm>
            <a:off x="694944" y="3538728"/>
            <a:ext cx="3694176" cy="1618488"/>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rial" pitchFamily="34" charset="0"/>
                <a:ea typeface="Arial" pitchFamily="34" charset="-122"/>
                <a:cs typeface="Arial" pitchFamily="34" charset="-120"/>
              </a:rPr>
              <a:t>The parts classification</a:t>
            </a:r>
            <a:endParaRPr lang="en-US" sz="3100" dirty="0"/>
          </a:p>
          <a:p>
            <a:pPr indent="0" marL="0">
              <a:buNone/>
            </a:pPr>
            <a:r>
              <a:rPr lang="en-US" sz="3100" b="1" dirty="0">
                <a:solidFill>
                  <a:srgbClr val="FFFFFF"/>
                </a:solidFill>
                <a:latin typeface="Arial" pitchFamily="34" charset="0"/>
                <a:ea typeface="Arial" pitchFamily="34" charset="-122"/>
                <a:cs typeface="Arial" pitchFamily="34" charset="-120"/>
              </a:rPr>
              <a:t>behind better</a:t>
            </a:r>
            <a:endParaRPr lang="en-US" sz="3100" dirty="0"/>
          </a:p>
          <a:p>
            <a:pPr indent="0" marL="0">
              <a:buNone/>
            </a:pPr>
            <a:r>
              <a:rPr lang="en-US" sz="3100" b="1" dirty="0">
                <a:solidFill>
                  <a:srgbClr val="FFFFFF"/>
                </a:solidFill>
                <a:latin typeface="Arial" pitchFamily="34" charset="0"/>
                <a:ea typeface="Arial" pitchFamily="34" charset="-122"/>
                <a:cs typeface="Arial" pitchFamily="34" charset="-120"/>
              </a:rPr>
              <a:t>decisions</a:t>
            </a:r>
            <a:endParaRPr lang="en-US" sz="3100" dirty="0"/>
          </a:p>
        </p:txBody>
      </p:sp>
      <p:sp>
        <p:nvSpPr>
          <p:cNvPr id="7" name="Text 5"/>
          <p:cNvSpPr/>
          <p:nvPr/>
        </p:nvSpPr>
        <p:spPr>
          <a:xfrm>
            <a:off x="676656" y="6199632"/>
            <a:ext cx="3803904" cy="182880"/>
          </a:xfrm>
          <a:prstGeom prst="rect">
            <a:avLst/>
          </a:prstGeom>
          <a:noFill/>
          <a:ln/>
        </p:spPr>
        <p:txBody>
          <a:bodyPr wrap="square" lIns="0" tIns="0" rIns="0" bIns="0" rtlCol="0" anchor="ctr">
            <a:normAutofit/>
          </a:bodyPr>
          <a:lstStyle/>
          <a:p>
            <a:pPr indent="0" marL="0">
              <a:buNone/>
            </a:pPr>
            <a:r>
              <a:rPr lang="en-US" sz="1040" b="1" spc="100" kern="0" dirty="0">
                <a:solidFill>
                  <a:srgbClr val="FFFFFF"/>
                </a:solidFill>
                <a:latin typeface="Arial" pitchFamily="34" charset="0"/>
                <a:ea typeface="Arial" pitchFamily="34" charset="-122"/>
                <a:cs typeface="Arial" pitchFamily="34" charset="-120"/>
              </a:rPr>
              <a:t>MANAGEMENT PRESENTATION</a:t>
            </a:r>
            <a:endParaRPr lang="en-US" sz="1040" dirty="0"/>
          </a:p>
        </p:txBody>
      </p:sp>
      <p:sp>
        <p:nvSpPr>
          <p:cNvPr id="8" name="Text 6"/>
          <p:cNvSpPr/>
          <p:nvPr/>
        </p:nvSpPr>
        <p:spPr>
          <a:xfrm>
            <a:off x="5440680" y="1298448"/>
            <a:ext cx="6044184" cy="1792224"/>
          </a:xfrm>
          <a:prstGeom prst="rect">
            <a:avLst/>
          </a:prstGeom>
          <a:noFill/>
          <a:ln/>
        </p:spPr>
        <p:txBody>
          <a:bodyPr wrap="square" lIns="0" tIns="0" rIns="0" bIns="0" rtlCol="0" anchor="t">
            <a:normAutofit/>
          </a:bodyPr>
          <a:lstStyle/>
          <a:p>
            <a:pPr indent="0" marL="0">
              <a:buNone/>
            </a:pPr>
            <a:r>
              <a:rPr lang="en-US" sz="4300" b="1" dirty="0">
                <a:solidFill>
                  <a:srgbClr val="FFFFFF"/>
                </a:solidFill>
                <a:latin typeface="Arial" pitchFamily="34" charset="0"/>
                <a:ea typeface="Arial" pitchFamily="34" charset="-122"/>
                <a:cs typeface="Arial" pitchFamily="34" charset="-120"/>
              </a:rPr>
              <a:t>One part identity.</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A better commercial</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decision.</a:t>
            </a:r>
            <a:endParaRPr lang="en-US" sz="4300" dirty="0"/>
          </a:p>
        </p:txBody>
      </p:sp>
      <p:sp>
        <p:nvSpPr>
          <p:cNvPr id="9" name="Text 7"/>
          <p:cNvSpPr/>
          <p:nvPr/>
        </p:nvSpPr>
        <p:spPr>
          <a:xfrm>
            <a:off x="5486400" y="3922776"/>
            <a:ext cx="5687568" cy="996696"/>
          </a:xfrm>
          <a:prstGeom prst="rect">
            <a:avLst/>
          </a:prstGeom>
          <a:noFill/>
          <a:ln/>
        </p:spPr>
        <p:txBody>
          <a:bodyPr wrap="square" lIns="0" tIns="0" rIns="0" bIns="0" rtlCol="0" anchor="t">
            <a:normAutofit/>
          </a:bodyPr>
          <a:lstStyle/>
          <a:p>
            <a:pPr indent="0" marL="0">
              <a:buNone/>
            </a:pPr>
            <a:r>
              <a:rPr lang="en-US" sz="2700" dirty="0">
                <a:solidFill>
                  <a:srgbClr val="CCD1D2"/>
                </a:solidFill>
                <a:latin typeface="Arial" pitchFamily="34" charset="0"/>
                <a:ea typeface="Arial" pitchFamily="34" charset="-122"/>
                <a:cs typeface="Arial" pitchFamily="34" charset="-120"/>
              </a:rPr>
              <a:t>How AIM can support distributor</a:t>
            </a:r>
            <a:endParaRPr lang="en-US" sz="2700" dirty="0"/>
          </a:p>
          <a:p>
            <a:pPr indent="0" marL="0">
              <a:buNone/>
            </a:pPr>
            <a:r>
              <a:rPr lang="en-US" sz="2700" dirty="0">
                <a:solidFill>
                  <a:srgbClr val="CCD1D2"/>
                </a:solidFill>
                <a:latin typeface="Arial" pitchFamily="34" charset="0"/>
                <a:ea typeface="Arial" pitchFamily="34" charset="-122"/>
                <a:cs typeface="Arial" pitchFamily="34" charset="-120"/>
              </a:rPr>
              <a:t>competitiveness and ISZE growth.</a:t>
            </a:r>
            <a:endParaRPr lang="en-US" sz="2700" dirty="0"/>
          </a:p>
        </p:txBody>
      </p:sp>
      <p:sp>
        <p:nvSpPr>
          <p:cNvPr id="10" name="Shape 8"/>
          <p:cNvSpPr/>
          <p:nvPr/>
        </p:nvSpPr>
        <p:spPr>
          <a:xfrm>
            <a:off x="5486400" y="5650992"/>
            <a:ext cx="5943600" cy="0"/>
          </a:xfrm>
          <a:prstGeom prst="line">
            <a:avLst/>
          </a:prstGeom>
          <a:noFill/>
          <a:ln w="10160">
            <a:solidFill>
              <a:srgbClr val="626A6D"/>
            </a:solidFill>
            <a:prstDash val="solid"/>
          </a:ln>
        </p:spPr>
        <p:txBody>
          <a:bodyPr/>
          <a:p/>
        </p:txBody>
      </p:sp>
      <p:sp>
        <p:nvSpPr>
          <p:cNvPr id="11" name="Text 9"/>
          <p:cNvSpPr/>
          <p:nvPr/>
        </p:nvSpPr>
        <p:spPr>
          <a:xfrm>
            <a:off x="5486400" y="5870448"/>
            <a:ext cx="5669280" cy="228600"/>
          </a:xfrm>
          <a:prstGeom prst="rect">
            <a:avLst/>
          </a:prstGeom>
          <a:noFill/>
          <a:ln/>
        </p:spPr>
        <p:txBody>
          <a:bodyPr wrap="square" lIns="0" tIns="0" rIns="0" bIns="0" rtlCol="0" anchor="ctr">
            <a:normAutofit/>
          </a:bodyPr>
          <a:lstStyle/>
          <a:p>
            <a:pPr indent="0" marL="0">
              <a:buNone/>
            </a:pPr>
            <a:r>
              <a:rPr lang="en-US" sz="1120" spc="120" kern="0" dirty="0">
                <a:solidFill>
                  <a:srgbClr val="CCD1D2"/>
                </a:solidFill>
                <a:latin typeface="Arial" pitchFamily="34" charset="0"/>
                <a:ea typeface="Arial" pitchFamily="34" charset="-122"/>
                <a:cs typeface="Arial" pitchFamily="34" charset="-120"/>
              </a:rPr>
              <a:t>20 SEPTEMBER 2026</a:t>
            </a:r>
            <a:endParaRPr lang="en-US" sz="11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EXECUTIVE VIEW</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Turn "Others" into the next sales opportunity.</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The data already exists. AIM makes the product questions easier to answer.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EXECUTIVE VIEW</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02</a:t>
            </a:r>
            <a:endParaRPr lang="en-US" sz="1050" dirty="0"/>
          </a:p>
        </p:txBody>
      </p:sp>
      <p:sp>
        <p:nvSpPr>
          <p:cNvPr id="10" name="Shape 8"/>
          <p:cNvSpPr/>
          <p:nvPr/>
        </p:nvSpPr>
        <p:spPr>
          <a:xfrm>
            <a:off x="502920" y="2560320"/>
            <a:ext cx="3575304" cy="2926080"/>
          </a:xfrm>
          <a:prstGeom prst="rect">
            <a:avLst/>
          </a:prstGeom>
          <a:solidFill>
            <a:srgbClr val="FFFFFF"/>
          </a:solidFill>
          <a:ln w="12700">
            <a:solidFill>
              <a:srgbClr val="FFFFFF"/>
            </a:solidFill>
            <a:prstDash val="solid"/>
          </a:ln>
        </p:spPr>
        <p:txBody>
          <a:bodyPr/>
          <a:p/>
        </p:txBody>
      </p:sp>
      <p:sp>
        <p:nvSpPr>
          <p:cNvPr id="11" name="Shape 9"/>
          <p:cNvSpPr/>
          <p:nvPr/>
        </p:nvSpPr>
        <p:spPr>
          <a:xfrm>
            <a:off x="502920" y="2560320"/>
            <a:ext cx="50292" cy="2926080"/>
          </a:xfrm>
          <a:prstGeom prst="rect">
            <a:avLst/>
          </a:prstGeom>
          <a:solidFill>
            <a:srgbClr val="D9DCDA"/>
          </a:solidFill>
          <a:ln w="12700">
            <a:solidFill>
              <a:srgbClr val="D9DCDA"/>
            </a:solidFill>
            <a:prstDash val="solid"/>
          </a:ln>
        </p:spPr>
        <p:txBody>
          <a:bodyPr/>
          <a:p/>
        </p:txBody>
      </p:sp>
      <p:sp>
        <p:nvSpPr>
          <p:cNvPr id="12" name="Text 10"/>
          <p:cNvSpPr/>
          <p:nvPr/>
        </p:nvSpPr>
        <p:spPr>
          <a:xfrm>
            <a:off x="713232" y="2761488"/>
            <a:ext cx="3154680" cy="274320"/>
          </a:xfrm>
          <a:prstGeom prst="rect">
            <a:avLst/>
          </a:prstGeom>
          <a:noFill/>
          <a:ln/>
        </p:spPr>
        <p:txBody>
          <a:bodyPr wrap="square" lIns="0" tIns="0" rIns="0" bIns="0" rtlCol="0" anchor="ctr">
            <a:no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SEE</a:t>
            </a:r>
            <a:endParaRPr lang="en-US" sz="1200" dirty="0"/>
          </a:p>
        </p:txBody>
      </p:sp>
      <p:sp>
        <p:nvSpPr>
          <p:cNvPr id="13" name="Text 11"/>
          <p:cNvSpPr/>
          <p:nvPr/>
        </p:nvSpPr>
        <p:spPr>
          <a:xfrm>
            <a:off x="713232" y="3264408"/>
            <a:ext cx="3154680" cy="731520"/>
          </a:xfrm>
          <a:prstGeom prst="rect">
            <a:avLst/>
          </a:prstGeom>
          <a:noFill/>
          <a:ln/>
        </p:spPr>
        <p:txBody>
          <a:bodyPr wrap="square" lIns="0" tIns="0" rIns="0" bIns="0" rtlCol="0" anchor="t">
            <a:noAutofit/>
          </a:bodyPr>
          <a:lstStyle/>
          <a:p>
            <a:pPr indent="0" marL="0">
              <a:buNone/>
            </a:pPr>
            <a:r>
              <a:rPr lang="en-US" sz="2500" b="1" dirty="0">
                <a:solidFill>
                  <a:srgbClr val="24282C"/>
                </a:solidFill>
                <a:latin typeface="Arial" pitchFamily="34" charset="0"/>
                <a:ea typeface="Arial" pitchFamily="34" charset="-122"/>
                <a:cs typeface="Arial" pitchFamily="34" charset="-120"/>
              </a:rPr>
              <a:t>What is inside?</a:t>
            </a:r>
            <a:endParaRPr lang="en-US" sz="2500" dirty="0"/>
          </a:p>
        </p:txBody>
      </p:sp>
      <p:sp>
        <p:nvSpPr>
          <p:cNvPr id="14" name="Text 12"/>
          <p:cNvSpPr/>
          <p:nvPr/>
        </p:nvSpPr>
        <p:spPr>
          <a:xfrm>
            <a:off x="713232" y="4251960"/>
            <a:ext cx="3154680" cy="987552"/>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Separate mixed turnover into recognisable service and repair ranges.</a:t>
            </a:r>
            <a:endParaRPr lang="en-US" sz="1900" dirty="0"/>
          </a:p>
        </p:txBody>
      </p:sp>
      <p:sp>
        <p:nvSpPr>
          <p:cNvPr id="15" name="Shape 13"/>
          <p:cNvSpPr/>
          <p:nvPr/>
        </p:nvSpPr>
        <p:spPr>
          <a:xfrm>
            <a:off x="4306824" y="2560320"/>
            <a:ext cx="3575304" cy="2926080"/>
          </a:xfrm>
          <a:prstGeom prst="rect">
            <a:avLst/>
          </a:prstGeom>
          <a:solidFill>
            <a:srgbClr val="FAEAE8"/>
          </a:solidFill>
          <a:ln w="12700">
            <a:solidFill>
              <a:srgbClr val="FAEAE8"/>
            </a:solidFill>
            <a:prstDash val="solid"/>
          </a:ln>
        </p:spPr>
        <p:txBody>
          <a:bodyPr/>
          <a:p/>
        </p:txBody>
      </p:sp>
      <p:sp>
        <p:nvSpPr>
          <p:cNvPr id="16" name="Shape 14"/>
          <p:cNvSpPr/>
          <p:nvPr/>
        </p:nvSpPr>
        <p:spPr>
          <a:xfrm>
            <a:off x="4306824" y="2560320"/>
            <a:ext cx="50292" cy="2926080"/>
          </a:xfrm>
          <a:prstGeom prst="rect">
            <a:avLst/>
          </a:prstGeom>
          <a:solidFill>
            <a:srgbClr val="D71920"/>
          </a:solidFill>
          <a:ln w="12700">
            <a:solidFill>
              <a:srgbClr val="D71920"/>
            </a:solidFill>
            <a:prstDash val="solid"/>
          </a:ln>
        </p:spPr>
        <p:txBody>
          <a:bodyPr/>
          <a:p/>
        </p:txBody>
      </p:sp>
      <p:sp>
        <p:nvSpPr>
          <p:cNvPr id="17" name="Text 15"/>
          <p:cNvSpPr/>
          <p:nvPr/>
        </p:nvSpPr>
        <p:spPr>
          <a:xfrm>
            <a:off x="4517136" y="2761488"/>
            <a:ext cx="3154680" cy="274320"/>
          </a:xfrm>
          <a:prstGeom prst="rect">
            <a:avLst/>
          </a:prstGeom>
          <a:noFill/>
          <a:ln/>
        </p:spPr>
        <p:txBody>
          <a:bodyPr wrap="square" lIns="0" tIns="0" rIns="0" bIns="0" rtlCol="0" anchor="ctr">
            <a:no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COMPARE</a:t>
            </a:r>
            <a:endParaRPr lang="en-US" sz="1200" dirty="0"/>
          </a:p>
        </p:txBody>
      </p:sp>
      <p:sp>
        <p:nvSpPr>
          <p:cNvPr id="18" name="Text 16"/>
          <p:cNvSpPr/>
          <p:nvPr/>
        </p:nvSpPr>
        <p:spPr>
          <a:xfrm>
            <a:off x="4517136" y="3264408"/>
            <a:ext cx="3154680" cy="731520"/>
          </a:xfrm>
          <a:prstGeom prst="rect">
            <a:avLst/>
          </a:prstGeom>
          <a:noFill/>
          <a:ln/>
        </p:spPr>
        <p:txBody>
          <a:bodyPr wrap="square" lIns="0" tIns="0" rIns="0" bIns="0" rtlCol="0" anchor="t">
            <a:noAutofit/>
          </a:bodyPr>
          <a:lstStyle/>
          <a:p>
            <a:pPr indent="0" marL="0">
              <a:buNone/>
            </a:pPr>
            <a:r>
              <a:rPr lang="en-US" sz="2500" b="1" dirty="0">
                <a:solidFill>
                  <a:srgbClr val="24282C"/>
                </a:solidFill>
                <a:latin typeface="Arial" pitchFamily="34" charset="0"/>
                <a:ea typeface="Arial" pitchFamily="34" charset="-122"/>
                <a:cs typeface="Arial" pitchFamily="34" charset="-120"/>
              </a:rPr>
              <a:t>Where is the opportunity?</a:t>
            </a:r>
            <a:endParaRPr lang="en-US" sz="2500" dirty="0"/>
          </a:p>
        </p:txBody>
      </p:sp>
      <p:sp>
        <p:nvSpPr>
          <p:cNvPr id="19" name="Text 17"/>
          <p:cNvSpPr/>
          <p:nvPr/>
        </p:nvSpPr>
        <p:spPr>
          <a:xfrm>
            <a:off x="4517136" y="4251960"/>
            <a:ext cx="3154680" cy="987552"/>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Compare the same range by distributor, vehicle population and period.</a:t>
            </a:r>
            <a:endParaRPr lang="en-US" sz="1900" dirty="0"/>
          </a:p>
        </p:txBody>
      </p:sp>
      <p:sp>
        <p:nvSpPr>
          <p:cNvPr id="20" name="Shape 18"/>
          <p:cNvSpPr/>
          <p:nvPr/>
        </p:nvSpPr>
        <p:spPr>
          <a:xfrm>
            <a:off x="8110728" y="2560320"/>
            <a:ext cx="3575304" cy="2926080"/>
          </a:xfrm>
          <a:prstGeom prst="rect">
            <a:avLst/>
          </a:prstGeom>
          <a:solidFill>
            <a:srgbClr val="FFFFFF"/>
          </a:solidFill>
          <a:ln w="12700">
            <a:solidFill>
              <a:srgbClr val="FFFFFF"/>
            </a:solidFill>
            <a:prstDash val="solid"/>
          </a:ln>
        </p:spPr>
        <p:txBody>
          <a:bodyPr/>
          <a:p/>
        </p:txBody>
      </p:sp>
      <p:sp>
        <p:nvSpPr>
          <p:cNvPr id="21" name="Shape 19"/>
          <p:cNvSpPr/>
          <p:nvPr/>
        </p:nvSpPr>
        <p:spPr>
          <a:xfrm>
            <a:off x="8110728" y="2560320"/>
            <a:ext cx="50292" cy="2926080"/>
          </a:xfrm>
          <a:prstGeom prst="rect">
            <a:avLst/>
          </a:prstGeom>
          <a:solidFill>
            <a:srgbClr val="D9DCDA"/>
          </a:solidFill>
          <a:ln w="12700">
            <a:solidFill>
              <a:srgbClr val="D9DCDA"/>
            </a:solidFill>
            <a:prstDash val="solid"/>
          </a:ln>
        </p:spPr>
        <p:txBody>
          <a:bodyPr/>
          <a:p/>
        </p:txBody>
      </p:sp>
      <p:sp>
        <p:nvSpPr>
          <p:cNvPr id="22" name="Text 20"/>
          <p:cNvSpPr/>
          <p:nvPr/>
        </p:nvSpPr>
        <p:spPr>
          <a:xfrm>
            <a:off x="8321040" y="2761488"/>
            <a:ext cx="3154680" cy="274320"/>
          </a:xfrm>
          <a:prstGeom prst="rect">
            <a:avLst/>
          </a:prstGeom>
          <a:noFill/>
          <a:ln/>
        </p:spPr>
        <p:txBody>
          <a:bodyPr wrap="square" lIns="0" tIns="0" rIns="0" bIns="0" rtlCol="0" anchor="ctr">
            <a:no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ACT</a:t>
            </a:r>
            <a:endParaRPr lang="en-US" sz="1200" dirty="0"/>
          </a:p>
        </p:txBody>
      </p:sp>
      <p:sp>
        <p:nvSpPr>
          <p:cNvPr id="23" name="Text 21"/>
          <p:cNvSpPr/>
          <p:nvPr/>
        </p:nvSpPr>
        <p:spPr>
          <a:xfrm>
            <a:off x="8321040" y="3264408"/>
            <a:ext cx="3154680" cy="731520"/>
          </a:xfrm>
          <a:prstGeom prst="rect">
            <a:avLst/>
          </a:prstGeom>
          <a:noFill/>
          <a:ln/>
        </p:spPr>
        <p:txBody>
          <a:bodyPr wrap="square" lIns="0" tIns="0" rIns="0" bIns="0" rtlCol="0" anchor="t">
            <a:noAutofit/>
          </a:bodyPr>
          <a:lstStyle/>
          <a:p>
            <a:pPr indent="0" marL="0">
              <a:buNone/>
            </a:pPr>
            <a:r>
              <a:rPr lang="en-US" sz="2500" b="1" dirty="0">
                <a:solidFill>
                  <a:srgbClr val="24282C"/>
                </a:solidFill>
                <a:latin typeface="Arial" pitchFamily="34" charset="0"/>
                <a:ea typeface="Arial" pitchFamily="34" charset="-122"/>
                <a:cs typeface="Arial" pitchFamily="34" charset="-120"/>
              </a:rPr>
              <a:t>What will win the business?</a:t>
            </a:r>
            <a:endParaRPr lang="en-US" sz="2500" dirty="0"/>
          </a:p>
        </p:txBody>
      </p:sp>
      <p:sp>
        <p:nvSpPr>
          <p:cNvPr id="24" name="Text 22"/>
          <p:cNvSpPr/>
          <p:nvPr/>
        </p:nvSpPr>
        <p:spPr>
          <a:xfrm>
            <a:off x="8321040" y="4251960"/>
            <a:ext cx="3154680" cy="987552"/>
          </a:xfrm>
          <a:prstGeom prst="rect">
            <a:avLst/>
          </a:prstGeom>
          <a:noFill/>
          <a:ln/>
        </p:spPr>
        <p:txBody>
          <a:bodyPr wrap="square" lIns="0" tIns="0" rIns="0" bIns="0" rtlCol="0" anchor="t">
            <a:noAutofit/>
          </a:bodyPr>
          <a:lstStyle/>
          <a:p>
            <a:pPr indent="0" marL="0">
              <a:buNone/>
              <a:defRPr sz="1739"/>
            </a:pPr>
            <a:r>
              <a:rPr lang="en-US" sz="1739" dirty="0">
                <a:solidFill>
                  <a:srgbClr val="626A71"/>
                </a:solidFill>
                <a:latin typeface="Arial" pitchFamily="34" charset="0"/>
                <a:ea typeface="Arial" pitchFamily="34" charset="-122"/>
                <a:cs typeface="Arial" pitchFamily="34" charset="-120"/>
              </a:rPr>
              <a:t>Target the product range, distributor support and availability where they can change the result.</a:t>
            </a:r>
            <a:endParaRPr lang="en-US" sz="1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ROLE OF AIM</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AIM connects the catalogue to commercial action.</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One common product language supports several decisions.</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ROLE OF AIM</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03</a:t>
            </a:r>
            <a:endParaRPr lang="en-US" sz="1050" dirty="0"/>
          </a:p>
        </p:txBody>
      </p:sp>
      <p:sp>
        <p:nvSpPr>
          <p:cNvPr id="10" name="Shape 8"/>
          <p:cNvSpPr/>
          <p:nvPr/>
        </p:nvSpPr>
        <p:spPr>
          <a:xfrm>
            <a:off x="502920" y="2596896"/>
            <a:ext cx="2962656" cy="2642616"/>
          </a:xfrm>
          <a:prstGeom prst="rect">
            <a:avLst/>
          </a:prstGeom>
          <a:solidFill>
            <a:srgbClr val="FFFFFF"/>
          </a:solidFill>
          <a:ln w="12700">
            <a:solidFill>
              <a:srgbClr val="FFFFFF"/>
            </a:solidFill>
            <a:prstDash val="solid"/>
          </a:ln>
        </p:spPr>
        <p:txBody>
          <a:bodyPr/>
          <a:p/>
        </p:txBody>
      </p:sp>
      <p:sp>
        <p:nvSpPr>
          <p:cNvPr id="11" name="Text 9"/>
          <p:cNvSpPr/>
          <p:nvPr/>
        </p:nvSpPr>
        <p:spPr>
          <a:xfrm>
            <a:off x="722376" y="2779776"/>
            <a:ext cx="2551176" cy="237744"/>
          </a:xfrm>
          <a:prstGeom prst="rect">
            <a:avLst/>
          </a:prstGeom>
          <a:noFill/>
          <a:ln/>
        </p:spPr>
        <p:txBody>
          <a:bodyPr wrap="square" lIns="0" tIns="0" rIns="0" bIns="0" rtlCol="0" anchor="ctr">
            <a:noAutofit/>
          </a:bodyPr>
          <a:lstStyle/>
          <a:p>
            <a:pPr indent="0" marL="0">
              <a:buNone/>
            </a:pPr>
            <a:r>
              <a:rPr lang="en-US" sz="1170" b="1" dirty="0">
                <a:solidFill>
                  <a:srgbClr val="D71920"/>
                </a:solidFill>
                <a:latin typeface="Arial" pitchFamily="34" charset="0"/>
                <a:ea typeface="Arial" pitchFamily="34" charset="-122"/>
                <a:cs typeface="Arial" pitchFamily="34" charset="-120"/>
              </a:rPr>
              <a:t>EXISTING INFORMATION</a:t>
            </a:r>
            <a:endParaRPr lang="en-US" sz="1170" dirty="0"/>
          </a:p>
        </p:txBody>
      </p:sp>
      <p:sp>
        <p:nvSpPr>
          <p:cNvPr id="12" name="Text 10"/>
          <p:cNvSpPr/>
          <p:nvPr/>
        </p:nvSpPr>
        <p:spPr>
          <a:xfrm>
            <a:off x="740664" y="3236976"/>
            <a:ext cx="2532888" cy="1792224"/>
          </a:xfrm>
          <a:prstGeom prst="rect">
            <a:avLst/>
          </a:prstGeom>
          <a:noFill/>
          <a:ln/>
        </p:spPr>
        <p:txBody>
          <a:bodyPr wrap="square" lIns="0" tIns="0" rIns="0" bIns="0" rtlCol="0" anchor="t">
            <a:noAutofit/>
          </a:bodyPr>
          <a:lstStyle/>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Part number</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Description</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Catalogue reference</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Customs and price data</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ZKK reference</a:t>
            </a:r>
            <a:endParaRPr lang="en-US" sz="1800" dirty="0"/>
          </a:p>
        </p:txBody>
      </p:sp>
      <p:sp>
        <p:nvSpPr>
          <p:cNvPr id="13" name="Shape 11"/>
          <p:cNvSpPr/>
          <p:nvPr/>
        </p:nvSpPr>
        <p:spPr>
          <a:xfrm>
            <a:off x="3611880" y="3895344"/>
            <a:ext cx="448056" cy="0"/>
          </a:xfrm>
          <a:prstGeom prst="line">
            <a:avLst/>
          </a:prstGeom>
          <a:noFill/>
          <a:ln w="22860">
            <a:solidFill>
              <a:srgbClr val="D71920"/>
            </a:solidFill>
            <a:prstDash val="solid"/>
            <a:tailEnd type="triangle"/>
          </a:ln>
        </p:spPr>
        <p:txBody>
          <a:bodyPr/>
          <a:p/>
        </p:txBody>
      </p:sp>
      <p:sp>
        <p:nvSpPr>
          <p:cNvPr id="14" name="Shape 12"/>
          <p:cNvSpPr/>
          <p:nvPr/>
        </p:nvSpPr>
        <p:spPr>
          <a:xfrm>
            <a:off x="4261104" y="2596896"/>
            <a:ext cx="3063240" cy="2642616"/>
          </a:xfrm>
          <a:prstGeom prst="rect">
            <a:avLst/>
          </a:prstGeom>
          <a:solidFill>
            <a:srgbClr val="24282C"/>
          </a:solidFill>
          <a:ln w="12700">
            <a:solidFill>
              <a:srgbClr val="24282C"/>
            </a:solidFill>
            <a:prstDash val="solid"/>
          </a:ln>
        </p:spPr>
        <p:txBody>
          <a:bodyPr/>
          <a:p/>
        </p:txBody>
      </p:sp>
      <p:sp>
        <p:nvSpPr>
          <p:cNvPr id="15" name="Text 13"/>
          <p:cNvSpPr/>
          <p:nvPr/>
        </p:nvSpPr>
        <p:spPr>
          <a:xfrm>
            <a:off x="4526280" y="2889504"/>
            <a:ext cx="2468880" cy="557784"/>
          </a:xfrm>
          <a:prstGeom prst="rect">
            <a:avLst/>
          </a:prstGeom>
          <a:noFill/>
          <a:ln/>
        </p:spPr>
        <p:txBody>
          <a:bodyPr wrap="square" lIns="0" tIns="0" rIns="0" bIns="0" rtlCol="0" anchor="ctr">
            <a:noAutofit/>
          </a:bodyPr>
          <a:lstStyle/>
          <a:p>
            <a:pPr indent="0" marL="0">
              <a:buNone/>
            </a:pPr>
            <a:r>
              <a:rPr lang="en-US" sz="4000" b="1" dirty="0">
                <a:solidFill>
                  <a:srgbClr val="FFFFFF"/>
                </a:solidFill>
                <a:latin typeface="Arial" pitchFamily="34" charset="0"/>
                <a:ea typeface="Arial" pitchFamily="34" charset="-122"/>
                <a:cs typeface="Arial" pitchFamily="34" charset="-120"/>
              </a:rPr>
              <a:t>AIM</a:t>
            </a:r>
            <a:endParaRPr lang="en-US" sz="4000" dirty="0"/>
          </a:p>
        </p:txBody>
      </p:sp>
      <p:sp>
        <p:nvSpPr>
          <p:cNvPr id="16" name="Text 14"/>
          <p:cNvSpPr/>
          <p:nvPr/>
        </p:nvSpPr>
        <p:spPr>
          <a:xfrm>
            <a:off x="4544568" y="3675887"/>
            <a:ext cx="2606040" cy="1243584"/>
          </a:xfrm>
          <a:prstGeom prst="rect">
            <a:avLst/>
          </a:prstGeom>
          <a:noFill/>
          <a:ln/>
        </p:spPr>
        <p:txBody>
          <a:bodyPr wrap="square" lIns="0" tIns="0" rIns="0" bIns="0" rtlCol="0" anchor="t">
            <a:noAutofit/>
          </a:bodyPr>
          <a:lstStyle/>
          <a:p>
            <a:pPr indent="0" marL="0">
              <a:lnSpc>
                <a:spcPts val="2900"/>
              </a:lnSpc>
              <a:buNone/>
              <a:defRPr sz="2200"/>
            </a:pPr>
            <a:r>
              <a:rPr lang="en-US" sz="2200" b="1" dirty="0">
                <a:solidFill>
                  <a:srgbClr val="FFFFFF"/>
                </a:solidFill>
                <a:latin typeface="Arial" pitchFamily="34" charset="0"/>
                <a:ea typeface="Arial" pitchFamily="34" charset="-122"/>
                <a:cs typeface="Arial" pitchFamily="34" charset="-120"/>
              </a:rPr>
              <a:t>Family</a:t>
            </a:r>
            <a:endParaRPr lang="en-US" sz="2200" dirty="0"/>
          </a:p>
          <a:p>
            <a:pPr indent="0" marL="0">
              <a:lnSpc>
                <a:spcPts val="2900"/>
              </a:lnSpc>
              <a:buNone/>
              <a:defRPr sz="2200"/>
            </a:pPr>
            <a:r>
              <a:rPr lang="en-US" sz="2200" b="1" dirty="0">
                <a:solidFill>
                  <a:srgbClr val="FFFFFF"/>
                </a:solidFill>
                <a:latin typeface="Arial" pitchFamily="34" charset="0"/>
                <a:ea typeface="Arial" pitchFamily="34" charset="-122"/>
                <a:cs typeface="Arial" pitchFamily="34" charset="-120"/>
              </a:rPr>
              <a:t>Product group</a:t>
            </a:r>
            <a:endParaRPr lang="en-US" sz="2200" dirty="0"/>
          </a:p>
          <a:p>
            <a:pPr indent="0" marL="0">
              <a:lnSpc>
                <a:spcPts val="2900"/>
              </a:lnSpc>
              <a:buNone/>
              <a:defRPr sz="2200"/>
            </a:pPr>
            <a:r>
              <a:rPr lang="en-US" sz="2200" b="1" dirty="0">
                <a:solidFill>
                  <a:srgbClr val="FFFFFF"/>
                </a:solidFill>
                <a:latin typeface="Arial" pitchFamily="34" charset="0"/>
                <a:ea typeface="Arial" pitchFamily="34" charset="-122"/>
                <a:cs typeface="Arial" pitchFamily="34" charset="-120"/>
              </a:rPr>
              <a:t>Detailed part type</a:t>
            </a:r>
            <a:endParaRPr lang="en-US" sz="2200" dirty="0"/>
          </a:p>
        </p:txBody>
      </p:sp>
      <p:sp>
        <p:nvSpPr>
          <p:cNvPr id="17" name="Shape 15"/>
          <p:cNvSpPr/>
          <p:nvPr/>
        </p:nvSpPr>
        <p:spPr>
          <a:xfrm>
            <a:off x="7461504" y="3895344"/>
            <a:ext cx="448056" cy="0"/>
          </a:xfrm>
          <a:prstGeom prst="line">
            <a:avLst/>
          </a:prstGeom>
          <a:noFill/>
          <a:ln w="22860">
            <a:solidFill>
              <a:srgbClr val="D71920"/>
            </a:solidFill>
            <a:prstDash val="solid"/>
            <a:tailEnd type="triangle"/>
          </a:ln>
        </p:spPr>
        <p:txBody>
          <a:bodyPr/>
          <a:p/>
        </p:txBody>
      </p:sp>
      <p:sp>
        <p:nvSpPr>
          <p:cNvPr id="18" name="Shape 16"/>
          <p:cNvSpPr/>
          <p:nvPr/>
        </p:nvSpPr>
        <p:spPr>
          <a:xfrm>
            <a:off x="8138160" y="2596896"/>
            <a:ext cx="3538728" cy="548640"/>
          </a:xfrm>
          <a:prstGeom prst="rect">
            <a:avLst/>
          </a:prstGeom>
          <a:solidFill>
            <a:srgbClr val="FFFFFF"/>
          </a:solidFill>
          <a:ln w="12700">
            <a:solidFill>
              <a:srgbClr val="FFFFFF"/>
            </a:solidFill>
            <a:prstDash val="solid"/>
          </a:ln>
        </p:spPr>
        <p:txBody>
          <a:bodyPr/>
          <a:p/>
        </p:txBody>
      </p:sp>
      <p:sp>
        <p:nvSpPr>
          <p:cNvPr id="19" name="Text 17"/>
          <p:cNvSpPr/>
          <p:nvPr/>
        </p:nvSpPr>
        <p:spPr>
          <a:xfrm>
            <a:off x="8302752" y="2715768"/>
            <a:ext cx="3200400"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Sales explanation</a:t>
            </a:r>
            <a:endParaRPr lang="en-US" sz="2000" dirty="0"/>
          </a:p>
        </p:txBody>
      </p:sp>
      <p:sp>
        <p:nvSpPr>
          <p:cNvPr id="20" name="Shape 18"/>
          <p:cNvSpPr/>
          <p:nvPr/>
        </p:nvSpPr>
        <p:spPr>
          <a:xfrm>
            <a:off x="8138160" y="3282696"/>
            <a:ext cx="3538728" cy="548640"/>
          </a:xfrm>
          <a:prstGeom prst="rect">
            <a:avLst/>
          </a:prstGeom>
          <a:solidFill>
            <a:srgbClr val="FFFFFF"/>
          </a:solidFill>
          <a:ln w="12700">
            <a:solidFill>
              <a:srgbClr val="FFFFFF"/>
            </a:solidFill>
            <a:prstDash val="solid"/>
          </a:ln>
        </p:spPr>
        <p:txBody>
          <a:bodyPr/>
          <a:p/>
        </p:txBody>
      </p:sp>
      <p:sp>
        <p:nvSpPr>
          <p:cNvPr id="21" name="Text 19"/>
          <p:cNvSpPr/>
          <p:nvPr/>
        </p:nvSpPr>
        <p:spPr>
          <a:xfrm>
            <a:off x="8302752" y="3401568"/>
            <a:ext cx="3200400" cy="310896"/>
          </a:xfrm>
          <a:prstGeom prst="rect">
            <a:avLst/>
          </a:prstGeom>
          <a:noFill/>
          <a:ln/>
        </p:spPr>
        <p:txBody>
          <a:bodyPr wrap="square" lIns="0" tIns="0" rIns="0" bIns="0" rtlCol="0" anchor="ctr">
            <a:noAutofit/>
          </a:bodyPr>
          <a:lstStyle/>
          <a:p>
            <a:pPr indent="0" marL="0">
              <a:buNone/>
            </a:pPr>
            <a:r>
              <a:rPr lang="en-US" sz="2000" dirty="0">
                <a:solidFill>
                  <a:srgbClr val="24282C"/>
                </a:solidFill>
                <a:latin typeface="Arial" pitchFamily="34" charset="0"/>
                <a:ea typeface="Arial" pitchFamily="34" charset="-122"/>
                <a:cs typeface="Arial" pitchFamily="34" charset="-120"/>
              </a:rPr>
              <a:t>Pricing precision</a:t>
            </a:r>
            <a:endParaRPr lang="en-US" sz="2000" dirty="0"/>
          </a:p>
        </p:txBody>
      </p:sp>
      <p:sp>
        <p:nvSpPr>
          <p:cNvPr id="22" name="Shape 20"/>
          <p:cNvSpPr/>
          <p:nvPr/>
        </p:nvSpPr>
        <p:spPr>
          <a:xfrm>
            <a:off x="8138160" y="3968496"/>
            <a:ext cx="3538728" cy="548640"/>
          </a:xfrm>
          <a:prstGeom prst="rect">
            <a:avLst/>
          </a:prstGeom>
          <a:solidFill>
            <a:srgbClr val="FFFFFF"/>
          </a:solidFill>
          <a:ln w="12700">
            <a:solidFill>
              <a:srgbClr val="FFFFFF"/>
            </a:solidFill>
            <a:prstDash val="solid"/>
          </a:ln>
        </p:spPr>
        <p:txBody>
          <a:bodyPr/>
          <a:p/>
        </p:txBody>
      </p:sp>
      <p:sp>
        <p:nvSpPr>
          <p:cNvPr id="23" name="Text 21"/>
          <p:cNvSpPr/>
          <p:nvPr/>
        </p:nvSpPr>
        <p:spPr>
          <a:xfrm>
            <a:off x="8302752" y="4087368"/>
            <a:ext cx="3200400" cy="310896"/>
          </a:xfrm>
          <a:prstGeom prst="rect">
            <a:avLst/>
          </a:prstGeom>
          <a:noFill/>
          <a:ln/>
        </p:spPr>
        <p:txBody>
          <a:bodyPr wrap="square" lIns="0" tIns="0" rIns="0" bIns="0" rtlCol="0" anchor="ctr">
            <a:noAutofit/>
          </a:bodyPr>
          <a:lstStyle/>
          <a:p>
            <a:pPr indent="0" marL="0">
              <a:buNone/>
            </a:pPr>
            <a:r>
              <a:rPr lang="en-US" sz="2000" dirty="0">
                <a:solidFill>
                  <a:srgbClr val="24282C"/>
                </a:solidFill>
                <a:latin typeface="Arial" pitchFamily="34" charset="0"/>
                <a:ea typeface="Arial" pitchFamily="34" charset="-122"/>
                <a:cs typeface="Arial" pitchFamily="34" charset="-120"/>
              </a:rPr>
              <a:t>Market comparison</a:t>
            </a:r>
            <a:endParaRPr lang="en-US" sz="2000" dirty="0"/>
          </a:p>
        </p:txBody>
      </p:sp>
      <p:sp>
        <p:nvSpPr>
          <p:cNvPr id="24" name="Shape 22"/>
          <p:cNvSpPr/>
          <p:nvPr/>
        </p:nvSpPr>
        <p:spPr>
          <a:xfrm>
            <a:off x="8138160" y="4654296"/>
            <a:ext cx="3538728" cy="548640"/>
          </a:xfrm>
          <a:prstGeom prst="rect">
            <a:avLst/>
          </a:prstGeom>
          <a:solidFill>
            <a:srgbClr val="FFFFFF"/>
          </a:solidFill>
          <a:ln w="12700">
            <a:solidFill>
              <a:srgbClr val="FFFFFF"/>
            </a:solidFill>
            <a:prstDash val="solid"/>
          </a:ln>
        </p:spPr>
        <p:txBody>
          <a:bodyPr/>
          <a:p/>
        </p:txBody>
      </p:sp>
      <p:sp>
        <p:nvSpPr>
          <p:cNvPr id="25" name="Text 23"/>
          <p:cNvSpPr/>
          <p:nvPr/>
        </p:nvSpPr>
        <p:spPr>
          <a:xfrm>
            <a:off x="8302752" y="4773168"/>
            <a:ext cx="3200400" cy="310896"/>
          </a:xfrm>
          <a:prstGeom prst="rect">
            <a:avLst/>
          </a:prstGeom>
          <a:noFill/>
          <a:ln/>
        </p:spPr>
        <p:txBody>
          <a:bodyPr wrap="square" lIns="0" tIns="0" rIns="0" bIns="0" rtlCol="0" anchor="ctr">
            <a:noAutofit/>
          </a:bodyPr>
          <a:lstStyle/>
          <a:p>
            <a:pPr indent="0" marL="0">
              <a:buNone/>
            </a:pPr>
            <a:r>
              <a:rPr lang="en-US" sz="2000" dirty="0">
                <a:solidFill>
                  <a:srgbClr val="24282C"/>
                </a:solidFill>
                <a:latin typeface="Arial" pitchFamily="34" charset="0"/>
                <a:ea typeface="Arial" pitchFamily="34" charset="-122"/>
                <a:cs typeface="Arial" pitchFamily="34" charset="-120"/>
              </a:rPr>
              <a:t>Service-range opportunity</a:t>
            </a:r>
            <a:endParaRPr lang="en-US" sz="2000" dirty="0"/>
          </a:p>
        </p:txBody>
      </p:sp>
      <p:sp>
        <p:nvSpPr>
          <p:cNvPr id="26" name="Shape 24"/>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7" name="Text 25"/>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The same part can be analysed consistently across products, markets and commercial actions.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CCD1D2"/>
                </a:solidFill>
                <a:latin typeface="Arial" pitchFamily="34" charset="0"/>
                <a:ea typeface="Arial" pitchFamily="34" charset="-122"/>
                <a:cs typeface="Arial" pitchFamily="34" charset="-120"/>
              </a:rPr>
              <a:t>WHY WE NEEDED AIM</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FFFFFF"/>
                </a:solidFill>
                <a:latin typeface="Arial" pitchFamily="34" charset="0"/>
                <a:ea typeface="Arial" pitchFamily="34" charset="-122"/>
                <a:cs typeface="Arial" pitchFamily="34" charset="-120"/>
              </a:rPr>
              <a:t>A large "Others" group hid very different businesses.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CCD1D2"/>
                </a:solidFill>
                <a:latin typeface="Arial" pitchFamily="34" charset="0"/>
                <a:ea typeface="Arial" pitchFamily="34" charset="-122"/>
                <a:cs typeface="Arial" pitchFamily="34" charset="-120"/>
              </a:rPr>
              <a:t>We could see turnover without seeing which product range deserved action.</a:t>
            </a:r>
            <a:endParaRPr lang="en-US" sz="1800" dirty="0"/>
          </a:p>
        </p:txBody>
      </p:sp>
      <p:sp>
        <p:nvSpPr>
          <p:cNvPr id="6" name="Shape 4"/>
          <p:cNvSpPr/>
          <p:nvPr/>
        </p:nvSpPr>
        <p:spPr>
          <a:xfrm>
            <a:off x="502920" y="6419088"/>
            <a:ext cx="11183112" cy="0"/>
          </a:xfrm>
          <a:prstGeom prst="line">
            <a:avLst/>
          </a:prstGeom>
          <a:noFill/>
          <a:ln w="7620">
            <a:solidFill>
              <a:srgbClr val="4A5053"/>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FFFFFF"/>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CCD1D2"/>
                </a:solidFill>
                <a:latin typeface="Arial" pitchFamily="34" charset="0"/>
                <a:ea typeface="Arial" pitchFamily="34" charset="-122"/>
                <a:cs typeface="Arial" pitchFamily="34" charset="-120"/>
              </a:rPr>
              <a:t>EUROPE  /  AIM  /  WHY WE NEEDED AIM</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FFFFFF"/>
                </a:solidFill>
                <a:latin typeface="Arial" pitchFamily="34" charset="0"/>
                <a:ea typeface="Arial" pitchFamily="34" charset="-122"/>
                <a:cs typeface="Arial" pitchFamily="34" charset="-120"/>
              </a:rPr>
              <a:t>04</a:t>
            </a:r>
            <a:endParaRPr lang="en-US" sz="1050" dirty="0"/>
          </a:p>
        </p:txBody>
      </p:sp>
      <p:sp>
        <p:nvSpPr>
          <p:cNvPr id="10" name="Shape 8"/>
          <p:cNvSpPr/>
          <p:nvPr/>
        </p:nvSpPr>
        <p:spPr>
          <a:xfrm>
            <a:off x="640080" y="2798064"/>
            <a:ext cx="3163824" cy="2304288"/>
          </a:xfrm>
          <a:prstGeom prst="rect">
            <a:avLst/>
          </a:prstGeom>
          <a:solidFill>
            <a:srgbClr val="353B3E"/>
          </a:solidFill>
          <a:ln w="12700">
            <a:solidFill>
              <a:srgbClr val="353B3E"/>
            </a:solidFill>
            <a:prstDash val="solid"/>
          </a:ln>
        </p:spPr>
        <p:txBody>
          <a:bodyPr/>
          <a:p/>
        </p:txBody>
      </p:sp>
      <p:sp>
        <p:nvSpPr>
          <p:cNvPr id="11" name="Text 9"/>
          <p:cNvSpPr/>
          <p:nvPr/>
        </p:nvSpPr>
        <p:spPr>
          <a:xfrm>
            <a:off x="896112" y="3081528"/>
            <a:ext cx="2642616" cy="704088"/>
          </a:xfrm>
          <a:prstGeom prst="rect">
            <a:avLst/>
          </a:prstGeom>
          <a:noFill/>
          <a:ln/>
        </p:spPr>
        <p:txBody>
          <a:bodyPr wrap="square" lIns="0" tIns="0" rIns="0" bIns="0" rtlCol="0" anchor="ctr">
            <a:noAutofit/>
          </a:bodyPr>
          <a:lstStyle/>
          <a:p>
            <a:pPr indent="0" marL="0">
              <a:buNone/>
            </a:pPr>
            <a:r>
              <a:rPr lang="en-US" sz="4200" b="1" dirty="0">
                <a:solidFill>
                  <a:srgbClr val="FFFFFF"/>
                </a:solidFill>
                <a:latin typeface="Arial" pitchFamily="34" charset="0"/>
                <a:ea typeface="Arial" pitchFamily="34" charset="-122"/>
                <a:cs typeface="Arial" pitchFamily="34" charset="-120"/>
              </a:rPr>
              <a:t>OTHERS</a:t>
            </a:r>
            <a:endParaRPr lang="en-US" sz="4200" dirty="0"/>
          </a:p>
        </p:txBody>
      </p:sp>
      <p:sp>
        <p:nvSpPr>
          <p:cNvPr id="12" name="Text 10"/>
          <p:cNvSpPr/>
          <p:nvPr/>
        </p:nvSpPr>
        <p:spPr>
          <a:xfrm>
            <a:off x="914400" y="4160520"/>
            <a:ext cx="2523744" cy="566928"/>
          </a:xfrm>
          <a:prstGeom prst="rect">
            <a:avLst/>
          </a:prstGeom>
          <a:noFill/>
          <a:ln/>
        </p:spPr>
        <p:txBody>
          <a:bodyPr wrap="square" lIns="0" tIns="0" rIns="0" bIns="0" rtlCol="0" anchor="ctr">
            <a:noAutofit/>
          </a:bodyPr>
          <a:lstStyle/>
          <a:p>
            <a:pPr indent="0" marL="0">
              <a:buNone/>
            </a:pPr>
            <a:r>
              <a:rPr lang="en-US" sz="2000" dirty="0">
                <a:solidFill>
                  <a:srgbClr val="CCD1D2"/>
                </a:solidFill>
                <a:latin typeface="Arial" pitchFamily="34" charset="0"/>
                <a:ea typeface="Arial" pitchFamily="34" charset="-122"/>
                <a:cs typeface="Arial" pitchFamily="34" charset="-120"/>
              </a:rPr>
              <a:t>Mixed products.</a:t>
            </a:r>
            <a:endParaRPr lang="en-US" sz="2000" dirty="0"/>
          </a:p>
          <a:p>
            <a:pPr indent="0" marL="0">
              <a:buNone/>
            </a:pPr>
            <a:r>
              <a:rPr lang="en-US" sz="2000" dirty="0">
                <a:solidFill>
                  <a:srgbClr val="CCD1D2"/>
                </a:solidFill>
                <a:latin typeface="Arial" pitchFamily="34" charset="0"/>
                <a:ea typeface="Arial" pitchFamily="34" charset="-122"/>
                <a:cs typeface="Arial" pitchFamily="34" charset="-120"/>
              </a:rPr>
              <a:t>Mixed reasons to buy.</a:t>
            </a:r>
            <a:endParaRPr lang="en-US" sz="2000" dirty="0"/>
          </a:p>
        </p:txBody>
      </p:sp>
      <p:sp>
        <p:nvSpPr>
          <p:cNvPr id="13" name="Shape 11"/>
          <p:cNvSpPr/>
          <p:nvPr/>
        </p:nvSpPr>
        <p:spPr>
          <a:xfrm>
            <a:off x="4005072" y="3931920"/>
            <a:ext cx="649224" cy="0"/>
          </a:xfrm>
          <a:prstGeom prst="line">
            <a:avLst/>
          </a:prstGeom>
          <a:noFill/>
          <a:ln w="27940">
            <a:solidFill>
              <a:srgbClr val="D71920"/>
            </a:solidFill>
            <a:prstDash val="solid"/>
            <a:tailEnd type="triangle"/>
          </a:ln>
        </p:spPr>
        <p:txBody>
          <a:bodyPr/>
          <a:p/>
        </p:txBody>
      </p:sp>
      <p:sp>
        <p:nvSpPr>
          <p:cNvPr id="14" name="Shape 12"/>
          <p:cNvSpPr/>
          <p:nvPr/>
        </p:nvSpPr>
        <p:spPr>
          <a:xfrm>
            <a:off x="4919472" y="2724912"/>
            <a:ext cx="3108960" cy="841248"/>
          </a:xfrm>
          <a:prstGeom prst="rect">
            <a:avLst/>
          </a:prstGeom>
          <a:solidFill>
            <a:srgbClr val="D71920"/>
          </a:solidFill>
          <a:ln w="12700">
            <a:solidFill>
              <a:srgbClr val="D71920"/>
            </a:solidFill>
            <a:prstDash val="solid"/>
          </a:ln>
        </p:spPr>
        <p:txBody>
          <a:bodyPr/>
          <a:p/>
        </p:txBody>
      </p:sp>
      <p:sp>
        <p:nvSpPr>
          <p:cNvPr id="15" name="Text 13"/>
          <p:cNvSpPr/>
          <p:nvPr/>
        </p:nvSpPr>
        <p:spPr>
          <a:xfrm>
            <a:off x="5074920" y="2834640"/>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Filters</a:t>
            </a:r>
            <a:endParaRPr lang="en-US" sz="2100" dirty="0"/>
          </a:p>
        </p:txBody>
      </p:sp>
      <p:sp>
        <p:nvSpPr>
          <p:cNvPr id="16" name="Text 14"/>
          <p:cNvSpPr/>
          <p:nvPr/>
        </p:nvSpPr>
        <p:spPr>
          <a:xfrm>
            <a:off x="5074920" y="3200400"/>
            <a:ext cx="2788920" cy="228600"/>
          </a:xfrm>
          <a:prstGeom prst="rect">
            <a:avLst/>
          </a:prstGeom>
          <a:noFill/>
          <a:ln/>
        </p:spPr>
        <p:txBody>
          <a:bodyPr wrap="square" lIns="0" tIns="0" rIns="0" bIns="0" rtlCol="0" anchor="ctr">
            <a:noAutofit/>
          </a:bodyPr>
          <a:lstStyle/>
          <a:p>
            <a:pPr indent="0" marL="0">
              <a:buNone/>
            </a:pPr>
            <a:r>
              <a:rPr lang="en-US" sz="1250" dirty="0">
                <a:solidFill>
                  <a:srgbClr val="FFFFFF"/>
                </a:solidFill>
                <a:latin typeface="Arial" pitchFamily="34" charset="0"/>
                <a:ea typeface="Arial" pitchFamily="34" charset="-122"/>
                <a:cs typeface="Arial" pitchFamily="34" charset="-120"/>
              </a:rPr>
              <a:t>Repeat-service potential</a:t>
            </a:r>
            <a:endParaRPr lang="en-US" sz="1250" dirty="0"/>
          </a:p>
        </p:txBody>
      </p:sp>
      <p:sp>
        <p:nvSpPr>
          <p:cNvPr id="17" name="Shape 15"/>
          <p:cNvSpPr/>
          <p:nvPr/>
        </p:nvSpPr>
        <p:spPr>
          <a:xfrm>
            <a:off x="8284464" y="2724912"/>
            <a:ext cx="3108960" cy="841248"/>
          </a:xfrm>
          <a:prstGeom prst="rect">
            <a:avLst/>
          </a:prstGeom>
          <a:solidFill>
            <a:srgbClr val="353B3E"/>
          </a:solidFill>
          <a:ln w="12700">
            <a:solidFill>
              <a:srgbClr val="353B3E"/>
            </a:solidFill>
            <a:prstDash val="solid"/>
          </a:ln>
        </p:spPr>
        <p:txBody>
          <a:bodyPr/>
          <a:p/>
        </p:txBody>
      </p:sp>
      <p:sp>
        <p:nvSpPr>
          <p:cNvPr id="18" name="Text 16"/>
          <p:cNvSpPr/>
          <p:nvPr/>
        </p:nvSpPr>
        <p:spPr>
          <a:xfrm>
            <a:off x="8439912" y="2834640"/>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Brakes</a:t>
            </a:r>
            <a:endParaRPr lang="en-US" sz="2100" dirty="0"/>
          </a:p>
        </p:txBody>
      </p:sp>
      <p:sp>
        <p:nvSpPr>
          <p:cNvPr id="19" name="Text 17"/>
          <p:cNvSpPr/>
          <p:nvPr/>
        </p:nvSpPr>
        <p:spPr>
          <a:xfrm>
            <a:off x="8439912" y="3200400"/>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Wear-range development</a:t>
            </a:r>
            <a:endParaRPr lang="en-US" sz="1250" dirty="0"/>
          </a:p>
        </p:txBody>
      </p:sp>
      <p:sp>
        <p:nvSpPr>
          <p:cNvPr id="20" name="Shape 18"/>
          <p:cNvSpPr/>
          <p:nvPr/>
        </p:nvSpPr>
        <p:spPr>
          <a:xfrm>
            <a:off x="4919472" y="3749040"/>
            <a:ext cx="3108960" cy="841248"/>
          </a:xfrm>
          <a:prstGeom prst="rect">
            <a:avLst/>
          </a:prstGeom>
          <a:solidFill>
            <a:srgbClr val="353B3E"/>
          </a:solidFill>
          <a:ln w="12700">
            <a:solidFill>
              <a:srgbClr val="353B3E"/>
            </a:solidFill>
            <a:prstDash val="solid"/>
          </a:ln>
        </p:spPr>
        <p:txBody>
          <a:bodyPr/>
          <a:p/>
        </p:txBody>
      </p:sp>
      <p:sp>
        <p:nvSpPr>
          <p:cNvPr id="21" name="Text 19"/>
          <p:cNvSpPr/>
          <p:nvPr/>
        </p:nvSpPr>
        <p:spPr>
          <a:xfrm>
            <a:off x="5074920" y="3858768"/>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Clutch</a:t>
            </a:r>
            <a:endParaRPr lang="en-US" sz="2100" dirty="0"/>
          </a:p>
        </p:txBody>
      </p:sp>
      <p:sp>
        <p:nvSpPr>
          <p:cNvPr id="22" name="Text 20"/>
          <p:cNvSpPr/>
          <p:nvPr/>
        </p:nvSpPr>
        <p:spPr>
          <a:xfrm>
            <a:off x="5074920" y="4224528"/>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Repair-job opportunity</a:t>
            </a:r>
            <a:endParaRPr lang="en-US" sz="1250" dirty="0"/>
          </a:p>
        </p:txBody>
      </p:sp>
      <p:sp>
        <p:nvSpPr>
          <p:cNvPr id="23" name="Shape 21"/>
          <p:cNvSpPr/>
          <p:nvPr/>
        </p:nvSpPr>
        <p:spPr>
          <a:xfrm>
            <a:off x="8284464" y="3749040"/>
            <a:ext cx="3108960" cy="841248"/>
          </a:xfrm>
          <a:prstGeom prst="rect">
            <a:avLst/>
          </a:prstGeom>
          <a:solidFill>
            <a:srgbClr val="353B3E"/>
          </a:solidFill>
          <a:ln w="12700">
            <a:solidFill>
              <a:srgbClr val="353B3E"/>
            </a:solidFill>
            <a:prstDash val="solid"/>
          </a:ln>
        </p:spPr>
        <p:txBody>
          <a:bodyPr/>
          <a:p/>
        </p:txBody>
      </p:sp>
      <p:sp>
        <p:nvSpPr>
          <p:cNvPr id="24" name="Text 22"/>
          <p:cNvSpPr/>
          <p:nvPr/>
        </p:nvSpPr>
        <p:spPr>
          <a:xfrm>
            <a:off x="8439912" y="3858768"/>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Cooling</a:t>
            </a:r>
            <a:endParaRPr lang="en-US" sz="2100" dirty="0"/>
          </a:p>
        </p:txBody>
      </p:sp>
      <p:sp>
        <p:nvSpPr>
          <p:cNvPr id="25" name="Text 23"/>
          <p:cNvSpPr/>
          <p:nvPr/>
        </p:nvSpPr>
        <p:spPr>
          <a:xfrm>
            <a:off x="8439912" y="4224528"/>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Product and availability</a:t>
            </a:r>
            <a:endParaRPr lang="en-US" sz="1250" dirty="0"/>
          </a:p>
        </p:txBody>
      </p:sp>
      <p:sp>
        <p:nvSpPr>
          <p:cNvPr id="26" name="Shape 24"/>
          <p:cNvSpPr/>
          <p:nvPr/>
        </p:nvSpPr>
        <p:spPr>
          <a:xfrm>
            <a:off x="4919472" y="4773168"/>
            <a:ext cx="3108960" cy="841248"/>
          </a:xfrm>
          <a:prstGeom prst="rect">
            <a:avLst/>
          </a:prstGeom>
          <a:solidFill>
            <a:srgbClr val="353B3E"/>
          </a:solidFill>
          <a:ln w="12700">
            <a:solidFill>
              <a:srgbClr val="353B3E"/>
            </a:solidFill>
            <a:prstDash val="solid"/>
          </a:ln>
        </p:spPr>
        <p:txBody>
          <a:bodyPr/>
          <a:p/>
        </p:txBody>
      </p:sp>
      <p:sp>
        <p:nvSpPr>
          <p:cNvPr id="27" name="Text 25"/>
          <p:cNvSpPr/>
          <p:nvPr/>
        </p:nvSpPr>
        <p:spPr>
          <a:xfrm>
            <a:off x="5074920" y="4882896"/>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Electrical</a:t>
            </a:r>
            <a:endParaRPr lang="en-US" sz="2100" dirty="0"/>
          </a:p>
        </p:txBody>
      </p:sp>
      <p:sp>
        <p:nvSpPr>
          <p:cNvPr id="28" name="Text 26"/>
          <p:cNvSpPr/>
          <p:nvPr/>
        </p:nvSpPr>
        <p:spPr>
          <a:xfrm>
            <a:off x="5074920" y="5248656"/>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Specific component demand</a:t>
            </a:r>
            <a:endParaRPr lang="en-US" sz="1250" dirty="0"/>
          </a:p>
        </p:txBody>
      </p:sp>
      <p:sp>
        <p:nvSpPr>
          <p:cNvPr id="29" name="Shape 27"/>
          <p:cNvSpPr/>
          <p:nvPr/>
        </p:nvSpPr>
        <p:spPr>
          <a:xfrm>
            <a:off x="8284464" y="4773168"/>
            <a:ext cx="3108960" cy="841248"/>
          </a:xfrm>
          <a:prstGeom prst="rect">
            <a:avLst/>
          </a:prstGeom>
          <a:solidFill>
            <a:srgbClr val="353B3E"/>
          </a:solidFill>
          <a:ln w="12700">
            <a:solidFill>
              <a:srgbClr val="353B3E"/>
            </a:solidFill>
            <a:prstDash val="solid"/>
          </a:ln>
        </p:spPr>
        <p:txBody>
          <a:bodyPr/>
          <a:p/>
        </p:txBody>
      </p:sp>
      <p:sp>
        <p:nvSpPr>
          <p:cNvPr id="30" name="Text 28"/>
          <p:cNvSpPr/>
          <p:nvPr/>
        </p:nvSpPr>
        <p:spPr>
          <a:xfrm>
            <a:off x="8439912" y="4882896"/>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Body</a:t>
            </a:r>
            <a:endParaRPr lang="en-US" sz="2100" dirty="0"/>
          </a:p>
        </p:txBody>
      </p:sp>
      <p:sp>
        <p:nvSpPr>
          <p:cNvPr id="31" name="Text 29"/>
          <p:cNvSpPr/>
          <p:nvPr/>
        </p:nvSpPr>
        <p:spPr>
          <a:xfrm>
            <a:off x="8439912" y="5248656"/>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Repair and accident mix</a:t>
            </a:r>
            <a:endParaRPr lang="en-US" sz="1250" dirty="0"/>
          </a:p>
        </p:txBody>
      </p:sp>
      <p:sp>
        <p:nvSpPr>
          <p:cNvPr id="32" name="Text 30"/>
          <p:cNvSpPr/>
          <p:nvPr/>
        </p:nvSpPr>
        <p:spPr>
          <a:xfrm>
            <a:off x="676656" y="5632704"/>
            <a:ext cx="10744200" cy="448056"/>
          </a:xfrm>
          <a:prstGeom prst="rect">
            <a:avLst/>
          </a:prstGeom>
          <a:noFill/>
          <a:ln/>
        </p:spPr>
        <p:txBody>
          <a:bodyPr wrap="square" lIns="0" tIns="0" rIns="0" bIns="0" rtlCol="0" anchor="ctr">
            <a:noAutofit/>
          </a:bodyPr>
          <a:lstStyle/>
          <a:p>
            <a:pPr indent="0" marL="0">
              <a:buNone/>
              <a:defRPr sz="1850"/>
            </a:pPr>
            <a:r>
              <a:rPr lang="en-US" sz="1850" b="1" dirty="0">
                <a:solidFill>
                  <a:srgbClr val="FFFFFF"/>
                </a:solidFill>
                <a:latin typeface="Arial" pitchFamily="34" charset="0"/>
                <a:ea typeface="Arial" pitchFamily="34" charset="-122"/>
                <a:cs typeface="Arial" pitchFamily="34" charset="-120"/>
              </a:rPr>
              <a:t>The opportunity is not to rename "Others". It is to reveal what we can sell differently.</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HOW AIM IS CREATED</a:t>
            </a:r>
            <a:endParaRPr lang="en-US" sz="1050" dirty="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5+1: use the information around the part,</a:t>
            </a:r>
            <a:br/>
            <a:r>
              <a:rPr sz="3000" b="1">
                <a:solidFill>
                  <a:srgbClr val="24282C"/>
                </a:solidFill>
                <a:latin typeface="Arial"/>
              </a:rPr>
              <a:t>not only its name.</a:t>
            </a:r>
            <a:endParaRPr lang="en-US" sz="3150" dirty="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Five original master-data fields, reinforced by Japan's ZKK reference.</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HOW AIM IS CREATED</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05</a:t>
            </a:r>
            <a:endParaRPr lang="en-US" sz="1050" dirty="0"/>
          </a:p>
        </p:txBody>
      </p:sp>
      <p:sp>
        <p:nvSpPr>
          <p:cNvPr id="10" name="Text 8"/>
          <p:cNvSpPr/>
          <p:nvPr/>
        </p:nvSpPr>
        <p:spPr>
          <a:xfrm>
            <a:off x="676656" y="2642616"/>
            <a:ext cx="1078992" cy="1170432"/>
          </a:xfrm>
          <a:prstGeom prst="rect">
            <a:avLst/>
          </a:prstGeom>
          <a:noFill/>
          <a:ln/>
        </p:spPr>
        <p:txBody>
          <a:bodyPr wrap="square" lIns="0" tIns="0" rIns="0" bIns="0" rtlCol="0" anchor="ctr">
            <a:noAutofit/>
          </a:bodyPr>
          <a:lstStyle/>
          <a:p>
            <a:pPr indent="0" marL="0">
              <a:buNone/>
            </a:pPr>
            <a:r>
              <a:rPr lang="en-US" sz="9200" b="1" dirty="0">
                <a:solidFill>
                  <a:srgbClr val="24282C"/>
                </a:solidFill>
                <a:latin typeface="Arial" pitchFamily="34" charset="0"/>
                <a:ea typeface="Arial" pitchFamily="34" charset="-122"/>
                <a:cs typeface="Arial" pitchFamily="34" charset="-120"/>
              </a:rPr>
              <a:t>5</a:t>
            </a:r>
            <a:endParaRPr lang="en-US" sz="9200" dirty="0"/>
          </a:p>
        </p:txBody>
      </p:sp>
      <p:sp>
        <p:nvSpPr>
          <p:cNvPr id="11" name="Text 9"/>
          <p:cNvSpPr/>
          <p:nvPr/>
        </p:nvSpPr>
        <p:spPr>
          <a:xfrm>
            <a:off x="731520" y="4956048"/>
            <a:ext cx="1307592" cy="493776"/>
          </a:xfrm>
          <a:prstGeom prst="rect">
            <a:avLst/>
          </a:prstGeom>
          <a:noFill/>
          <a:ln/>
        </p:spPr>
        <p:txBody>
          <a:bodyPr wrap="square" lIns="0" tIns="0" rIns="0" bIns="0" rtlCol="0" anchor="ctr">
            <a:noAutofit/>
          </a:bodyPr>
          <a:lstStyle/>
          <a:p>
            <a:pPr indent="0" marL="0">
              <a:buNone/>
            </a:pPr>
            <a:r>
              <a:rPr lang="en-US" sz="4400" b="1" dirty="0">
                <a:solidFill>
                  <a:srgbClr val="D71920"/>
                </a:solidFill>
                <a:latin typeface="Arial" pitchFamily="34" charset="0"/>
                <a:ea typeface="Arial" pitchFamily="34" charset="-122"/>
                <a:cs typeface="Arial" pitchFamily="34" charset="-120"/>
              </a:rPr>
              <a:t>+1</a:t>
            </a:r>
            <a:endParaRPr lang="en-US" sz="4400" dirty="0"/>
          </a:p>
        </p:txBody>
      </p:sp>
      <p:sp>
        <p:nvSpPr>
          <p:cNvPr id="12" name="Shape 10"/>
          <p:cNvSpPr/>
          <p:nvPr/>
        </p:nvSpPr>
        <p:spPr>
          <a:xfrm>
            <a:off x="2331720" y="2478024"/>
            <a:ext cx="2779776" cy="402336"/>
          </a:xfrm>
          <a:prstGeom prst="rect">
            <a:avLst/>
          </a:prstGeom>
          <a:solidFill>
            <a:srgbClr val="FFFFFF"/>
          </a:solidFill>
          <a:ln w="12700">
            <a:solidFill>
              <a:srgbClr val="FFFFFF"/>
            </a:solidFill>
            <a:prstDash val="solid"/>
          </a:ln>
        </p:spPr>
        <p:txBody>
          <a:bodyPr/>
          <a:p/>
        </p:txBody>
      </p:sp>
      <p:sp>
        <p:nvSpPr>
          <p:cNvPr id="13" name="Text 11"/>
          <p:cNvSpPr/>
          <p:nvPr/>
        </p:nvSpPr>
        <p:spPr>
          <a:xfrm>
            <a:off x="2487168" y="2528316"/>
            <a:ext cx="2468880" cy="292608"/>
          </a:xfrm>
          <a:prstGeom prst="rect">
            <a:avLst/>
          </a:prstGeom>
          <a:noFill/>
          <a:ln/>
        </p:spPr>
        <p:txBody>
          <a:bodyPr wrap="square" lIns="0" tIns="0" rIns="0" bIns="0" rtlCol="0" anchor="ctr">
            <a:noAutofit/>
          </a:bodyPr>
          <a:lstStyle/>
          <a:p>
            <a:pPr indent="0" marL="0">
              <a:buNone/>
            </a:pPr>
            <a:r>
              <a:rPr lang="en-US" sz="1730" b="1" dirty="0">
                <a:solidFill>
                  <a:srgbClr val="24282C"/>
                </a:solidFill>
                <a:latin typeface="Arial" pitchFamily="34" charset="0"/>
                <a:ea typeface="Arial" pitchFamily="34" charset="-122"/>
                <a:cs typeface="Arial" pitchFamily="34" charset="-120"/>
              </a:rPr>
              <a:t>Part number</a:t>
            </a:r>
            <a:endParaRPr lang="en-US" sz="1730" dirty="0"/>
          </a:p>
        </p:txBody>
      </p:sp>
      <p:sp>
        <p:nvSpPr>
          <p:cNvPr id="14" name="Text 12"/>
          <p:cNvSpPr/>
          <p:nvPr/>
        </p:nvSpPr>
        <p:spPr>
          <a:xfrm>
            <a:off x="5303520" y="2505456"/>
            <a:ext cx="6300216" cy="347472"/>
          </a:xfrm>
          <a:prstGeom prst="rect">
            <a:avLst/>
          </a:prstGeom>
          <a:noFill/>
          <a:ln/>
        </p:spPr>
        <p:txBody>
          <a:bodyPr wrap="square" lIns="0" tIns="0" rIns="0" bIns="0" rtlCol="0" anchor="ctr">
            <a:noAutofit/>
          </a:bodyPr>
          <a:lstStyle/>
          <a:p>
            <a:pPr indent="0" marL="0">
              <a:buNone/>
            </a:pPr>
            <a:r>
              <a:rPr lang="en-US" sz="1730" dirty="0">
                <a:solidFill>
                  <a:srgbClr val="626A71"/>
                </a:solidFill>
                <a:latin typeface="Arial" pitchFamily="34" charset="0"/>
                <a:ea typeface="Arial" pitchFamily="34" charset="-122"/>
                <a:cs typeface="Arial" pitchFamily="34" charset="-120"/>
              </a:rPr>
              <a:t>Connect the same item across sources and sales.</a:t>
            </a:r>
            <a:endParaRPr lang="en-US" sz="1730" dirty="0"/>
          </a:p>
        </p:txBody>
      </p:sp>
      <p:sp>
        <p:nvSpPr>
          <p:cNvPr id="15" name="Shape 13"/>
          <p:cNvSpPr/>
          <p:nvPr/>
        </p:nvSpPr>
        <p:spPr>
          <a:xfrm>
            <a:off x="5303520" y="2944368"/>
            <a:ext cx="6254496" cy="0"/>
          </a:xfrm>
          <a:prstGeom prst="line">
            <a:avLst/>
          </a:prstGeom>
          <a:noFill/>
          <a:ln w="6985">
            <a:solidFill>
              <a:srgbClr val="D9DCDA"/>
            </a:solidFill>
            <a:prstDash val="solid"/>
          </a:ln>
        </p:spPr>
        <p:txBody>
          <a:bodyPr/>
          <a:p/>
        </p:txBody>
      </p:sp>
      <p:sp>
        <p:nvSpPr>
          <p:cNvPr id="16" name="Shape 14"/>
          <p:cNvSpPr/>
          <p:nvPr/>
        </p:nvSpPr>
        <p:spPr>
          <a:xfrm>
            <a:off x="2331720" y="2980944"/>
            <a:ext cx="2779776" cy="402336"/>
          </a:xfrm>
          <a:prstGeom prst="rect">
            <a:avLst/>
          </a:prstGeom>
          <a:solidFill>
            <a:srgbClr val="FFFFFF"/>
          </a:solidFill>
          <a:ln w="12700">
            <a:solidFill>
              <a:srgbClr val="FFFFFF"/>
            </a:solidFill>
            <a:prstDash val="solid"/>
          </a:ln>
        </p:spPr>
        <p:txBody>
          <a:bodyPr/>
          <a:p/>
        </p:txBody>
      </p:sp>
      <p:sp>
        <p:nvSpPr>
          <p:cNvPr id="17" name="Text 15"/>
          <p:cNvSpPr/>
          <p:nvPr/>
        </p:nvSpPr>
        <p:spPr>
          <a:xfrm>
            <a:off x="2487168" y="3031236"/>
            <a:ext cx="2468880" cy="292608"/>
          </a:xfrm>
          <a:prstGeom prst="rect">
            <a:avLst/>
          </a:prstGeom>
          <a:noFill/>
          <a:ln/>
        </p:spPr>
        <p:txBody>
          <a:bodyPr wrap="square" lIns="0" tIns="0" rIns="0" bIns="0" rtlCol="0" anchor="ctr">
            <a:noAutofit/>
          </a:bodyPr>
          <a:lstStyle/>
          <a:p>
            <a:pPr indent="0" marL="0">
              <a:buNone/>
            </a:pPr>
            <a:r>
              <a:rPr lang="en-US" sz="1730" b="1" dirty="0">
                <a:solidFill>
                  <a:srgbClr val="24282C"/>
                </a:solidFill>
                <a:latin typeface="Arial" pitchFamily="34" charset="0"/>
                <a:ea typeface="Arial" pitchFamily="34" charset="-122"/>
                <a:cs typeface="Arial" pitchFamily="34" charset="-120"/>
              </a:rPr>
              <a:t>Description</a:t>
            </a:r>
            <a:endParaRPr lang="en-US" sz="1730" dirty="0"/>
          </a:p>
        </p:txBody>
      </p:sp>
      <p:sp>
        <p:nvSpPr>
          <p:cNvPr id="18" name="Text 16"/>
          <p:cNvSpPr/>
          <p:nvPr/>
        </p:nvSpPr>
        <p:spPr>
          <a:xfrm>
            <a:off x="5303520" y="3008376"/>
            <a:ext cx="6300216" cy="347472"/>
          </a:xfrm>
          <a:prstGeom prst="rect">
            <a:avLst/>
          </a:prstGeom>
          <a:noFill/>
          <a:ln/>
        </p:spPr>
        <p:txBody>
          <a:bodyPr wrap="square" lIns="0" tIns="0" rIns="0" bIns="0" rtlCol="0" anchor="ctr">
            <a:noAutofit/>
          </a:bodyPr>
          <a:lstStyle/>
          <a:p>
            <a:pPr indent="0" marL="0">
              <a:buNone/>
            </a:pPr>
            <a:r>
              <a:rPr lang="en-US" sz="1730" dirty="0">
                <a:solidFill>
                  <a:srgbClr val="626A71"/>
                </a:solidFill>
                <a:latin typeface="Arial" pitchFamily="34" charset="0"/>
                <a:ea typeface="Arial" pitchFamily="34" charset="-122"/>
                <a:cs typeface="Arial" pitchFamily="34" charset="-120"/>
              </a:rPr>
              <a:t>Identify the item, not merely a word in its name.</a:t>
            </a:r>
            <a:endParaRPr lang="en-US" sz="1730" dirty="0"/>
          </a:p>
        </p:txBody>
      </p:sp>
      <p:sp>
        <p:nvSpPr>
          <p:cNvPr id="19" name="Shape 17"/>
          <p:cNvSpPr/>
          <p:nvPr/>
        </p:nvSpPr>
        <p:spPr>
          <a:xfrm>
            <a:off x="5303520" y="3447288"/>
            <a:ext cx="6254496" cy="0"/>
          </a:xfrm>
          <a:prstGeom prst="line">
            <a:avLst/>
          </a:prstGeom>
          <a:noFill/>
          <a:ln w="6985">
            <a:solidFill>
              <a:srgbClr val="D9DCDA"/>
            </a:solidFill>
            <a:prstDash val="solid"/>
          </a:ln>
        </p:spPr>
        <p:txBody>
          <a:bodyPr/>
          <a:p/>
        </p:txBody>
      </p:sp>
      <p:sp>
        <p:nvSpPr>
          <p:cNvPr id="20" name="Shape 18"/>
          <p:cNvSpPr/>
          <p:nvPr/>
        </p:nvSpPr>
        <p:spPr>
          <a:xfrm>
            <a:off x="2331720" y="3483864"/>
            <a:ext cx="2779776" cy="402336"/>
          </a:xfrm>
          <a:prstGeom prst="rect">
            <a:avLst/>
          </a:prstGeom>
          <a:solidFill>
            <a:srgbClr val="FFFFFF"/>
          </a:solidFill>
          <a:ln w="12700">
            <a:solidFill>
              <a:srgbClr val="FFFFFF"/>
            </a:solidFill>
            <a:prstDash val="solid"/>
          </a:ln>
        </p:spPr>
        <p:txBody>
          <a:bodyPr/>
          <a:p/>
        </p:txBody>
      </p:sp>
      <p:sp>
        <p:nvSpPr>
          <p:cNvPr id="21" name="Text 19"/>
          <p:cNvSpPr/>
          <p:nvPr/>
        </p:nvSpPr>
        <p:spPr>
          <a:xfrm>
            <a:off x="2487168" y="3534156"/>
            <a:ext cx="2468880" cy="292608"/>
          </a:xfrm>
          <a:prstGeom prst="rect">
            <a:avLst/>
          </a:prstGeom>
          <a:noFill/>
          <a:ln/>
        </p:spPr>
        <p:txBody>
          <a:bodyPr wrap="square" lIns="0" tIns="0" rIns="0" bIns="0" rtlCol="0" anchor="ctr">
            <a:noAutofit/>
          </a:bodyPr>
          <a:lstStyle/>
          <a:p>
            <a:pPr indent="0" marL="0">
              <a:buNone/>
            </a:pPr>
            <a:r>
              <a:rPr lang="en-US" sz="1730" b="1" dirty="0">
                <a:solidFill>
                  <a:srgbClr val="24282C"/>
                </a:solidFill>
                <a:latin typeface="Arial" pitchFamily="34" charset="0"/>
                <a:ea typeface="Arial" pitchFamily="34" charset="-122"/>
                <a:cs typeface="Arial" pitchFamily="34" charset="-120"/>
              </a:rPr>
              <a:t>Catalogue figure</a:t>
            </a:r>
            <a:endParaRPr lang="en-US" sz="1730" dirty="0"/>
          </a:p>
        </p:txBody>
      </p:sp>
      <p:sp>
        <p:nvSpPr>
          <p:cNvPr id="22" name="Text 20"/>
          <p:cNvSpPr/>
          <p:nvPr/>
        </p:nvSpPr>
        <p:spPr>
          <a:xfrm>
            <a:off x="5303520" y="3511296"/>
            <a:ext cx="6300216" cy="347472"/>
          </a:xfrm>
          <a:prstGeom prst="rect">
            <a:avLst/>
          </a:prstGeom>
          <a:noFill/>
          <a:ln/>
        </p:spPr>
        <p:txBody>
          <a:bodyPr wrap="square" lIns="0" tIns="0" rIns="0" bIns="0" rtlCol="0" anchor="ctr">
            <a:noAutofit/>
          </a:bodyPr>
          <a:lstStyle/>
          <a:p>
            <a:pPr indent="0" marL="0">
              <a:buNone/>
            </a:pPr>
            <a:r>
              <a:rPr lang="en-US" sz="1730" dirty="0">
                <a:solidFill>
                  <a:srgbClr val="626A71"/>
                </a:solidFill>
                <a:latin typeface="Arial" pitchFamily="34" charset="0"/>
                <a:ea typeface="Arial" pitchFamily="34" charset="-122"/>
                <a:cs typeface="Arial" pitchFamily="34" charset="-120"/>
              </a:rPr>
              <a:t>Place the item in its technical context.</a:t>
            </a:r>
            <a:endParaRPr lang="en-US" sz="1730" dirty="0"/>
          </a:p>
        </p:txBody>
      </p:sp>
      <p:sp>
        <p:nvSpPr>
          <p:cNvPr id="23" name="Shape 21"/>
          <p:cNvSpPr/>
          <p:nvPr/>
        </p:nvSpPr>
        <p:spPr>
          <a:xfrm>
            <a:off x="5303520" y="3950208"/>
            <a:ext cx="6254496" cy="0"/>
          </a:xfrm>
          <a:prstGeom prst="line">
            <a:avLst/>
          </a:prstGeom>
          <a:noFill/>
          <a:ln w="6985">
            <a:solidFill>
              <a:srgbClr val="D9DCDA"/>
            </a:solidFill>
            <a:prstDash val="solid"/>
          </a:ln>
        </p:spPr>
        <p:txBody>
          <a:bodyPr/>
          <a:p/>
        </p:txBody>
      </p:sp>
      <p:sp>
        <p:nvSpPr>
          <p:cNvPr id="24" name="Shape 22"/>
          <p:cNvSpPr/>
          <p:nvPr/>
        </p:nvSpPr>
        <p:spPr>
          <a:xfrm>
            <a:off x="2331720" y="3986784"/>
            <a:ext cx="2779776" cy="402336"/>
          </a:xfrm>
          <a:prstGeom prst="rect">
            <a:avLst/>
          </a:prstGeom>
          <a:solidFill>
            <a:srgbClr val="FFFFFF"/>
          </a:solidFill>
          <a:ln w="12700">
            <a:solidFill>
              <a:srgbClr val="FFFFFF"/>
            </a:solidFill>
            <a:prstDash val="solid"/>
          </a:ln>
        </p:spPr>
        <p:txBody>
          <a:bodyPr/>
          <a:p/>
        </p:txBody>
      </p:sp>
      <p:sp>
        <p:nvSpPr>
          <p:cNvPr id="25" name="Text 23"/>
          <p:cNvSpPr/>
          <p:nvPr/>
        </p:nvSpPr>
        <p:spPr>
          <a:xfrm>
            <a:off x="2487168" y="4037076"/>
            <a:ext cx="2468880" cy="292608"/>
          </a:xfrm>
          <a:prstGeom prst="rect">
            <a:avLst/>
          </a:prstGeom>
          <a:noFill/>
          <a:ln/>
        </p:spPr>
        <p:txBody>
          <a:bodyPr wrap="square" lIns="0" tIns="0" rIns="0" bIns="0" rtlCol="0" anchor="ctr">
            <a:noAutofit/>
          </a:bodyPr>
          <a:lstStyle/>
          <a:p>
            <a:pPr indent="0" marL="0">
              <a:buNone/>
            </a:pPr>
            <a:r>
              <a:rPr lang="en-US" sz="1730" b="1" dirty="0">
                <a:solidFill>
                  <a:srgbClr val="24282C"/>
                </a:solidFill>
                <a:latin typeface="Arial" pitchFamily="34" charset="0"/>
                <a:ea typeface="Arial" pitchFamily="34" charset="-122"/>
                <a:cs typeface="Arial" pitchFamily="34" charset="-120"/>
              </a:rPr>
              <a:t>Customs code</a:t>
            </a:r>
            <a:endParaRPr lang="en-US" sz="1730" dirty="0"/>
          </a:p>
        </p:txBody>
      </p:sp>
      <p:sp>
        <p:nvSpPr>
          <p:cNvPr id="26" name="Text 24"/>
          <p:cNvSpPr/>
          <p:nvPr/>
        </p:nvSpPr>
        <p:spPr>
          <a:xfrm>
            <a:off x="5303520" y="4014216"/>
            <a:ext cx="6300216" cy="347472"/>
          </a:xfrm>
          <a:prstGeom prst="rect">
            <a:avLst/>
          </a:prstGeom>
          <a:noFill/>
          <a:ln/>
        </p:spPr>
        <p:txBody>
          <a:bodyPr wrap="square" lIns="0" tIns="0" rIns="0" bIns="0" rtlCol="0" anchor="ctr">
            <a:noAutofit/>
          </a:bodyPr>
          <a:lstStyle/>
          <a:p>
            <a:pPr indent="0" marL="0">
              <a:buNone/>
            </a:pPr>
            <a:r>
              <a:rPr lang="en-US" sz="1730" dirty="0">
                <a:solidFill>
                  <a:srgbClr val="626A71"/>
                </a:solidFill>
                <a:latin typeface="Arial" pitchFamily="34" charset="0"/>
                <a:ea typeface="Arial" pitchFamily="34" charset="-122"/>
                <a:cs typeface="Arial" pitchFamily="34" charset="-120"/>
              </a:rPr>
              <a:t>Cross-check the broad product grouping.</a:t>
            </a:r>
            <a:endParaRPr lang="en-US" sz="1730" dirty="0"/>
          </a:p>
        </p:txBody>
      </p:sp>
      <p:sp>
        <p:nvSpPr>
          <p:cNvPr id="27" name="Shape 25"/>
          <p:cNvSpPr/>
          <p:nvPr/>
        </p:nvSpPr>
        <p:spPr>
          <a:xfrm>
            <a:off x="5303520" y="4453128"/>
            <a:ext cx="6254496" cy="0"/>
          </a:xfrm>
          <a:prstGeom prst="line">
            <a:avLst/>
          </a:prstGeom>
          <a:noFill/>
          <a:ln w="6985">
            <a:solidFill>
              <a:srgbClr val="D9DCDA"/>
            </a:solidFill>
            <a:prstDash val="solid"/>
          </a:ln>
        </p:spPr>
        <p:txBody>
          <a:bodyPr/>
          <a:p/>
        </p:txBody>
      </p:sp>
      <p:sp>
        <p:nvSpPr>
          <p:cNvPr id="28" name="Shape 26"/>
          <p:cNvSpPr/>
          <p:nvPr/>
        </p:nvSpPr>
        <p:spPr>
          <a:xfrm>
            <a:off x="2331720" y="4489704"/>
            <a:ext cx="2779776" cy="402336"/>
          </a:xfrm>
          <a:prstGeom prst="rect">
            <a:avLst/>
          </a:prstGeom>
          <a:solidFill>
            <a:srgbClr val="FFFFFF"/>
          </a:solidFill>
          <a:ln w="12700">
            <a:solidFill>
              <a:srgbClr val="FFFFFF"/>
            </a:solidFill>
            <a:prstDash val="solid"/>
          </a:ln>
        </p:spPr>
        <p:txBody>
          <a:bodyPr/>
          <a:p/>
        </p:txBody>
      </p:sp>
      <p:sp>
        <p:nvSpPr>
          <p:cNvPr id="29" name="Text 27"/>
          <p:cNvSpPr/>
          <p:nvPr/>
        </p:nvSpPr>
        <p:spPr>
          <a:xfrm>
            <a:off x="2487168" y="4539996"/>
            <a:ext cx="2468880" cy="292608"/>
          </a:xfrm>
          <a:prstGeom prst="rect">
            <a:avLst/>
          </a:prstGeom>
          <a:noFill/>
          <a:ln/>
        </p:spPr>
        <p:txBody>
          <a:bodyPr wrap="square" lIns="0" tIns="0" rIns="0" bIns="0" rtlCol="0" anchor="ctr">
            <a:noAutofit/>
          </a:bodyPr>
          <a:lstStyle/>
          <a:p>
            <a:pPr indent="0" marL="0">
              <a:buNone/>
            </a:pPr>
            <a:r>
              <a:rPr lang="en-US" sz="1730" b="1" dirty="0">
                <a:solidFill>
                  <a:srgbClr val="24282C"/>
                </a:solidFill>
                <a:latin typeface="Arial" pitchFamily="34" charset="0"/>
                <a:ea typeface="Arial" pitchFamily="34" charset="-122"/>
                <a:cs typeface="Arial" pitchFamily="34" charset="-120"/>
              </a:rPr>
              <a:t>Price</a:t>
            </a:r>
            <a:endParaRPr lang="en-US" sz="1730" dirty="0"/>
          </a:p>
        </p:txBody>
      </p:sp>
      <p:sp>
        <p:nvSpPr>
          <p:cNvPr id="30" name="Text 28"/>
          <p:cNvSpPr/>
          <p:nvPr/>
        </p:nvSpPr>
        <p:spPr>
          <a:xfrm>
            <a:off x="5303520" y="4517136"/>
            <a:ext cx="6300216" cy="347472"/>
          </a:xfrm>
          <a:prstGeom prst="rect">
            <a:avLst/>
          </a:prstGeom>
          <a:noFill/>
          <a:ln/>
        </p:spPr>
        <p:txBody>
          <a:bodyPr wrap="square" lIns="0" tIns="0" rIns="0" bIns="0" rtlCol="0" anchor="ctr">
            <a:noAutofit/>
          </a:bodyPr>
          <a:lstStyle/>
          <a:p>
            <a:pPr indent="0" marL="0">
              <a:buNone/>
            </a:pPr>
            <a:r>
              <a:rPr lang="en-US" sz="1730" dirty="0">
                <a:solidFill>
                  <a:srgbClr val="626A71"/>
                </a:solidFill>
                <a:latin typeface="Arial" pitchFamily="34" charset="0"/>
                <a:ea typeface="Arial" pitchFamily="34" charset="-122"/>
                <a:cs typeface="Arial" pitchFamily="34" charset="-120"/>
              </a:rPr>
              <a:t>Understand economic spread and pricing relevance.</a:t>
            </a:r>
            <a:endParaRPr lang="en-US" sz="1730" dirty="0"/>
          </a:p>
        </p:txBody>
      </p:sp>
      <p:sp>
        <p:nvSpPr>
          <p:cNvPr id="31" name="Shape 29"/>
          <p:cNvSpPr/>
          <p:nvPr/>
        </p:nvSpPr>
        <p:spPr>
          <a:xfrm>
            <a:off x="5303520" y="4956048"/>
            <a:ext cx="6254496" cy="0"/>
          </a:xfrm>
          <a:prstGeom prst="line">
            <a:avLst/>
          </a:prstGeom>
          <a:noFill/>
          <a:ln w="6985">
            <a:solidFill>
              <a:srgbClr val="D9DCDA"/>
            </a:solidFill>
            <a:prstDash val="solid"/>
          </a:ln>
        </p:spPr>
        <p:txBody>
          <a:bodyPr/>
          <a:p/>
        </p:txBody>
      </p:sp>
      <p:sp>
        <p:nvSpPr>
          <p:cNvPr id="32" name="Shape 30"/>
          <p:cNvSpPr/>
          <p:nvPr/>
        </p:nvSpPr>
        <p:spPr>
          <a:xfrm>
            <a:off x="2331720" y="4992624"/>
            <a:ext cx="2779776" cy="402336"/>
          </a:xfrm>
          <a:prstGeom prst="rect">
            <a:avLst/>
          </a:prstGeom>
          <a:solidFill>
            <a:srgbClr val="D71920"/>
          </a:solidFill>
          <a:ln w="12700">
            <a:solidFill>
              <a:srgbClr val="D71920"/>
            </a:solidFill>
            <a:prstDash val="solid"/>
          </a:ln>
        </p:spPr>
        <p:txBody>
          <a:bodyPr/>
          <a:p/>
        </p:txBody>
      </p:sp>
      <p:sp>
        <p:nvSpPr>
          <p:cNvPr id="33" name="Text 31"/>
          <p:cNvSpPr/>
          <p:nvPr/>
        </p:nvSpPr>
        <p:spPr>
          <a:xfrm>
            <a:off x="2487168" y="5042916"/>
            <a:ext cx="2468880" cy="292608"/>
          </a:xfrm>
          <a:prstGeom prst="rect">
            <a:avLst/>
          </a:prstGeom>
          <a:noFill/>
          <a:ln/>
        </p:spPr>
        <p:txBody>
          <a:bodyPr wrap="square" lIns="0" tIns="0" rIns="0" bIns="0" rtlCol="0" anchor="ctr">
            <a:noAutofit/>
          </a:bodyPr>
          <a:lstStyle/>
          <a:p>
            <a:pPr indent="0" marL="0">
              <a:buNone/>
            </a:pPr>
            <a:r>
              <a:rPr lang="en-US" sz="1730" b="1" dirty="0">
                <a:solidFill>
                  <a:srgbClr val="FFFFFF"/>
                </a:solidFill>
                <a:latin typeface="Arial" pitchFamily="34" charset="0"/>
                <a:ea typeface="Arial" pitchFamily="34" charset="-122"/>
                <a:cs typeface="Arial" pitchFamily="34" charset="-120"/>
              </a:rPr>
              <a:t>ZKK reference</a:t>
            </a:r>
            <a:endParaRPr lang="en-US" sz="1730" dirty="0"/>
          </a:p>
        </p:txBody>
      </p:sp>
      <p:sp>
        <p:nvSpPr>
          <p:cNvPr id="34" name="Text 32"/>
          <p:cNvSpPr/>
          <p:nvPr/>
        </p:nvSpPr>
        <p:spPr>
          <a:xfrm>
            <a:off x="5303520" y="5020056"/>
            <a:ext cx="6300216" cy="347472"/>
          </a:xfrm>
          <a:prstGeom prst="rect">
            <a:avLst/>
          </a:prstGeom>
          <a:noFill/>
          <a:ln/>
        </p:spPr>
        <p:txBody>
          <a:bodyPr wrap="square" lIns="0" tIns="0" rIns="0" bIns="0" rtlCol="0" anchor="ctr">
            <a:noAutofit/>
          </a:bodyPr>
          <a:lstStyle/>
          <a:p>
            <a:pPr indent="0" marL="0">
              <a:buNone/>
            </a:pPr>
            <a:r>
              <a:rPr lang="en-US" sz="1730" dirty="0">
                <a:solidFill>
                  <a:srgbClr val="626A71"/>
                </a:solidFill>
                <a:latin typeface="Arial" pitchFamily="34" charset="0"/>
                <a:ea typeface="Arial" pitchFamily="34" charset="-122"/>
                <a:cs typeface="Arial" pitchFamily="34" charset="-120"/>
              </a:rPr>
              <a:t>Reinforce the review; preserve Japan's original code.</a:t>
            </a:r>
            <a:endParaRPr lang="en-US" sz="1730" dirty="0"/>
          </a:p>
        </p:txBody>
      </p:sp>
      <p:sp>
        <p:nvSpPr>
          <p:cNvPr id="35" name="Shape 33"/>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36" name="Text 34"/>
          <p:cNvSpPr/>
          <p:nvPr/>
        </p:nvSpPr>
        <p:spPr>
          <a:xfrm>
            <a:off x="676656" y="5614416"/>
            <a:ext cx="10826496" cy="274320"/>
          </a:xfrm>
          <a:prstGeom prst="rect">
            <a:avLst/>
          </a:prstGeom>
          <a:noFill/>
          <a:ln/>
        </p:spPr>
        <p:txBody>
          <a:bodyPr wrap="square" lIns="0" tIns="0" rIns="0" bIns="0" rtlCol="0" anchor="ctr">
            <a:noAutofit/>
          </a:bodyPr>
          <a:lstStyle/>
          <a:p>
            <a:pPr indent="0" marL="0">
              <a:buNone/>
              <a:defRPr sz="1580"/>
            </a:pPr>
            <a:r>
              <a:rPr lang="en-US" sz="1580" b="1" dirty="0">
                <a:solidFill>
                  <a:srgbClr val="24282C"/>
                </a:solidFill>
                <a:latin typeface="Arial" pitchFamily="34" charset="0"/>
                <a:ea typeface="Arial" pitchFamily="34" charset="-122"/>
                <a:cs typeface="Arial" pitchFamily="34" charset="-120"/>
              </a:rPr>
              <a:t>Identity evidence determines the product. Price adds commercial context. ZKK reinforces the reference.</a:t>
            </a:r>
            <a:endParaRPr lang="en-US" sz="1580" dirty="0"/>
          </a:p>
        </p:txBody>
      </p:sp>
      <p:sp>
        <p:nvSpPr>
          <p:cNvPr id="38" name="Text 35"/>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5+1 describes evidence roles, not six equal votes or a certified automated score.</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HOW THE EVIDENCE WORKS</a:t>
            </a:r>
            <a:endParaRPr lang="en-US" sz="1050" dirty="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A short description starts the question.</a:t>
            </a:r>
            <a:br/>
            <a:r>
              <a:rPr sz="3000" b="1">
                <a:solidFill>
                  <a:srgbClr val="24282C"/>
                </a:solidFill>
                <a:latin typeface="Arial"/>
              </a:rPr>
              <a:t>Context resolves it.</a:t>
            </a:r>
            <a:endParaRPr lang="en-US" sz="3150" dirty="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The classification becomes more useful when the sources are read together.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HOW THE EVIDENCE WORKS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06</a:t>
            </a:r>
            <a:endParaRPr lang="en-US" sz="1050" dirty="0"/>
          </a:p>
        </p:txBody>
      </p:sp>
      <p:sp>
        <p:nvSpPr>
          <p:cNvPr id="10" name="Shape 8"/>
          <p:cNvSpPr/>
          <p:nvPr/>
        </p:nvSpPr>
        <p:spPr>
          <a:xfrm>
            <a:off x="521208" y="2322576"/>
            <a:ext cx="3831336" cy="310896"/>
          </a:xfrm>
          <a:prstGeom prst="rect">
            <a:avLst/>
          </a:prstGeom>
          <a:solidFill>
            <a:srgbClr val="E9ECEB"/>
          </a:solidFill>
          <a:ln w="12700">
            <a:solidFill>
              <a:srgbClr val="E9ECEB"/>
            </a:solidFill>
            <a:prstDash val="solid"/>
          </a:ln>
        </p:spPr>
        <p:txBody>
          <a:bodyPr/>
          <a:p/>
        </p:txBody>
      </p:sp>
      <p:sp>
        <p:nvSpPr>
          <p:cNvPr id="11" name="Text 9"/>
          <p:cNvSpPr/>
          <p:nvPr/>
        </p:nvSpPr>
        <p:spPr>
          <a:xfrm>
            <a:off x="612648" y="2350008"/>
            <a:ext cx="3648456" cy="246888"/>
          </a:xfrm>
          <a:prstGeom prst="rect">
            <a:avLst/>
          </a:prstGeom>
          <a:noFill/>
          <a:ln/>
        </p:spPr>
        <p:txBody>
          <a:bodyPr wrap="square" lIns="0" tIns="0" rIns="0" bIns="0" rtlCol="0" anchor="ctr">
            <a:noAutofit/>
          </a:bodyPr>
          <a:lstStyle/>
          <a:p>
            <a:pPr indent="0" marL="0">
              <a:buNone/>
            </a:pPr>
            <a:r>
              <a:rPr lang="en-US" sz="1000" b="1" dirty="0">
                <a:solidFill>
                  <a:srgbClr val="626A71"/>
                </a:solidFill>
                <a:latin typeface="Arial" pitchFamily="34" charset="0"/>
                <a:ea typeface="Arial" pitchFamily="34" charset="-122"/>
                <a:cs typeface="Arial" pitchFamily="34" charset="-120"/>
              </a:rPr>
              <a:t>ILLUSTRATIVE READING OF THE METHOD</a:t>
            </a:r>
            <a:endParaRPr lang="en-US" sz="1000" dirty="0"/>
          </a:p>
        </p:txBody>
      </p:sp>
      <p:sp>
        <p:nvSpPr>
          <p:cNvPr id="12" name="Text 10"/>
          <p:cNvSpPr/>
          <p:nvPr/>
        </p:nvSpPr>
        <p:spPr>
          <a:xfrm>
            <a:off x="594360" y="2889504"/>
            <a:ext cx="3401568" cy="539496"/>
          </a:xfrm>
          <a:prstGeom prst="rect">
            <a:avLst/>
          </a:prstGeom>
          <a:noFill/>
          <a:ln/>
        </p:spPr>
        <p:txBody>
          <a:bodyPr wrap="square" lIns="0" tIns="0" rIns="0" bIns="0" rtlCol="0" anchor="ctr">
            <a:noAutofit/>
          </a:bodyPr>
          <a:lstStyle/>
          <a:p>
            <a:pPr indent="0" marL="0">
              <a:buNone/>
            </a:pPr>
            <a:r>
              <a:rPr lang="en-US" sz="3000" b="1" dirty="0">
                <a:solidFill>
                  <a:srgbClr val="24282C"/>
                </a:solidFill>
                <a:latin typeface="Arial" pitchFamily="34" charset="0"/>
                <a:ea typeface="Arial" pitchFamily="34" charset="-122"/>
                <a:cs typeface="Arial" pitchFamily="34" charset="-120"/>
              </a:rPr>
              <a:t>"FILTER; ACL"</a:t>
            </a:r>
            <a:endParaRPr lang="en-US" sz="3000" dirty="0"/>
          </a:p>
        </p:txBody>
      </p:sp>
      <p:sp>
        <p:nvSpPr>
          <p:cNvPr id="13" name="Text 11"/>
          <p:cNvSpPr/>
          <p:nvPr/>
        </p:nvSpPr>
        <p:spPr>
          <a:xfrm>
            <a:off x="612648" y="3685032"/>
            <a:ext cx="3227832" cy="1115568"/>
          </a:xfrm>
          <a:prstGeom prst="rect">
            <a:avLst/>
          </a:prstGeom>
          <a:noFill/>
          <a:ln/>
        </p:spPr>
        <p:txBody>
          <a:bodyPr wrap="square" lIns="0" tIns="0" rIns="0" bIns="0" rtlCol="0" anchor="t">
            <a:noAutofit/>
          </a:bodyPr>
          <a:lstStyle/>
          <a:p>
            <a:pPr indent="0" marL="0">
              <a:buNone/>
            </a:pPr>
            <a:r>
              <a:rPr lang="en-US" sz="2100" dirty="0">
                <a:solidFill>
                  <a:srgbClr val="626A71"/>
                </a:solidFill>
                <a:latin typeface="Arial" pitchFamily="34" charset="0"/>
                <a:ea typeface="Arial" pitchFamily="34" charset="-122"/>
                <a:cs typeface="Arial" pitchFamily="34" charset="-120"/>
              </a:rPr>
              <a:t>The abbreviation alone</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is not enough for a</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reliable commercial range.</a:t>
            </a:r>
            <a:endParaRPr lang="en-US" sz="2100" dirty="0"/>
          </a:p>
        </p:txBody>
      </p:sp>
      <p:sp>
        <p:nvSpPr>
          <p:cNvPr id="14" name="Shape 12"/>
          <p:cNvSpPr/>
          <p:nvPr/>
        </p:nvSpPr>
        <p:spPr>
          <a:xfrm>
            <a:off x="4059936" y="3758184"/>
            <a:ext cx="548640" cy="0"/>
          </a:xfrm>
          <a:prstGeom prst="line">
            <a:avLst/>
          </a:prstGeom>
          <a:noFill/>
          <a:ln w="25400">
            <a:solidFill>
              <a:srgbClr val="D71920"/>
            </a:solidFill>
            <a:prstDash val="solid"/>
            <a:tailEnd type="triangle"/>
          </a:ln>
        </p:spPr>
        <p:txBody>
          <a:bodyPr/>
          <a:p/>
        </p:txBody>
      </p:sp>
      <p:sp>
        <p:nvSpPr>
          <p:cNvPr id="15" name="Text 13"/>
          <p:cNvSpPr/>
          <p:nvPr/>
        </p:nvSpPr>
        <p:spPr>
          <a:xfrm>
            <a:off x="4855464" y="2715768"/>
            <a:ext cx="2935224" cy="274320"/>
          </a:xfrm>
          <a:prstGeom prst="rect">
            <a:avLst/>
          </a:prstGeom>
          <a:noFill/>
          <a:ln/>
        </p:spPr>
        <p:txBody>
          <a:bodyPr wrap="square" lIns="0" tIns="0" rIns="0" bIns="0" rtlCol="0" anchor="ctr">
            <a:noAutofit/>
          </a:bodyPr>
          <a:lstStyle/>
          <a:p>
            <a:pPr indent="0" marL="0">
              <a:buNone/>
            </a:pPr>
            <a:r>
              <a:rPr lang="en-US" sz="1600" b="1" dirty="0">
                <a:solidFill>
                  <a:srgbClr val="D71920"/>
                </a:solidFill>
                <a:latin typeface="Arial" pitchFamily="34" charset="0"/>
                <a:ea typeface="Arial" pitchFamily="34" charset="-122"/>
                <a:cs typeface="Arial" pitchFamily="34" charset="-120"/>
              </a:rPr>
              <a:t>Catalogue context</a:t>
            </a:r>
            <a:endParaRPr lang="en-US" sz="1600" dirty="0"/>
          </a:p>
        </p:txBody>
      </p:sp>
      <p:sp>
        <p:nvSpPr>
          <p:cNvPr id="16" name="Text 14"/>
          <p:cNvSpPr/>
          <p:nvPr/>
        </p:nvSpPr>
        <p:spPr>
          <a:xfrm>
            <a:off x="4855464" y="3044952"/>
            <a:ext cx="2944368" cy="438912"/>
          </a:xfrm>
          <a:prstGeom prst="rect">
            <a:avLst/>
          </a:prstGeom>
          <a:noFill/>
          <a:ln/>
        </p:spPr>
        <p:txBody>
          <a:bodyPr wrap="square" lIns="0" tIns="0" rIns="0" bIns="0" rtlCol="0" anchor="t">
            <a:noAutofit/>
          </a:bodyPr>
          <a:lstStyle/>
          <a:p>
            <a:pPr indent="0" marL="0">
              <a:buNone/>
            </a:pPr>
            <a:r>
              <a:rPr lang="en-US" sz="2000" dirty="0">
                <a:solidFill>
                  <a:srgbClr val="24282C"/>
                </a:solidFill>
                <a:latin typeface="Arial" pitchFamily="34" charset="0"/>
                <a:ea typeface="Arial" pitchFamily="34" charset="-122"/>
                <a:cs typeface="Arial" pitchFamily="34" charset="-120"/>
              </a:rPr>
              <a:t>Air-cleaner assembly</a:t>
            </a:r>
            <a:endParaRPr lang="en-US" sz="2000" dirty="0"/>
          </a:p>
        </p:txBody>
      </p:sp>
      <p:sp>
        <p:nvSpPr>
          <p:cNvPr id="17" name="Text 15"/>
          <p:cNvSpPr/>
          <p:nvPr/>
        </p:nvSpPr>
        <p:spPr>
          <a:xfrm>
            <a:off x="4855464" y="3593592"/>
            <a:ext cx="2935224" cy="274320"/>
          </a:xfrm>
          <a:prstGeom prst="rect">
            <a:avLst/>
          </a:prstGeom>
          <a:noFill/>
          <a:ln/>
        </p:spPr>
        <p:txBody>
          <a:bodyPr wrap="square" lIns="0" tIns="0" rIns="0" bIns="0" rtlCol="0" anchor="ctr">
            <a:noAutofit/>
          </a:bodyPr>
          <a:lstStyle/>
          <a:p>
            <a:pPr indent="0" marL="0">
              <a:buNone/>
            </a:pPr>
            <a:r>
              <a:rPr lang="en-US" sz="1600" b="1" dirty="0">
                <a:solidFill>
                  <a:srgbClr val="D71920"/>
                </a:solidFill>
                <a:latin typeface="Arial" pitchFamily="34" charset="0"/>
                <a:ea typeface="Arial" pitchFamily="34" charset="-122"/>
                <a:cs typeface="Arial" pitchFamily="34" charset="-120"/>
              </a:rPr>
              <a:t>Product wording</a:t>
            </a:r>
            <a:endParaRPr lang="en-US" sz="1600" dirty="0"/>
          </a:p>
        </p:txBody>
      </p:sp>
      <p:sp>
        <p:nvSpPr>
          <p:cNvPr id="18" name="Text 16"/>
          <p:cNvSpPr/>
          <p:nvPr/>
        </p:nvSpPr>
        <p:spPr>
          <a:xfrm>
            <a:off x="4855464" y="3922776"/>
            <a:ext cx="2944368" cy="438912"/>
          </a:xfrm>
          <a:prstGeom prst="rect">
            <a:avLst/>
          </a:prstGeom>
          <a:noFill/>
          <a:ln/>
        </p:spPr>
        <p:txBody>
          <a:bodyPr wrap="square" lIns="0" tIns="0" rIns="0" bIns="0" rtlCol="0" anchor="t">
            <a:noAutofit/>
          </a:bodyPr>
          <a:lstStyle/>
          <a:p>
            <a:pPr indent="0" marL="0">
              <a:buNone/>
            </a:pPr>
            <a:r>
              <a:rPr lang="en-US" sz="2000" dirty="0">
                <a:solidFill>
                  <a:srgbClr val="24282C"/>
                </a:solidFill>
                <a:latin typeface="Arial" pitchFamily="34" charset="0"/>
                <a:ea typeface="Arial" pitchFamily="34" charset="-122"/>
                <a:cs typeface="Arial" pitchFamily="34" charset="-120"/>
              </a:rPr>
              <a:t>Element, housing or kit?</a:t>
            </a:r>
            <a:endParaRPr lang="en-US" sz="2000" dirty="0"/>
          </a:p>
        </p:txBody>
      </p:sp>
      <p:sp>
        <p:nvSpPr>
          <p:cNvPr id="19" name="Text 17"/>
          <p:cNvSpPr/>
          <p:nvPr/>
        </p:nvSpPr>
        <p:spPr>
          <a:xfrm>
            <a:off x="4855464" y="4471416"/>
            <a:ext cx="2935224" cy="274320"/>
          </a:xfrm>
          <a:prstGeom prst="rect">
            <a:avLst/>
          </a:prstGeom>
          <a:noFill/>
          <a:ln/>
        </p:spPr>
        <p:txBody>
          <a:bodyPr wrap="square" lIns="0" tIns="0" rIns="0" bIns="0" rtlCol="0" anchor="ctr">
            <a:noAutofit/>
          </a:bodyPr>
          <a:lstStyle/>
          <a:p>
            <a:pPr indent="0" marL="0">
              <a:buNone/>
            </a:pPr>
            <a:r>
              <a:rPr lang="en-US" sz="1600" b="1" dirty="0">
                <a:solidFill>
                  <a:srgbClr val="D71920"/>
                </a:solidFill>
                <a:latin typeface="Arial" pitchFamily="34" charset="0"/>
                <a:ea typeface="Arial" pitchFamily="34" charset="-122"/>
                <a:cs typeface="Arial" pitchFamily="34" charset="-120"/>
              </a:rPr>
              <a:t>Reference check</a:t>
            </a:r>
            <a:endParaRPr lang="en-US" sz="1600" dirty="0"/>
          </a:p>
        </p:txBody>
      </p:sp>
      <p:sp>
        <p:nvSpPr>
          <p:cNvPr id="20" name="Text 18"/>
          <p:cNvSpPr/>
          <p:nvPr/>
        </p:nvSpPr>
        <p:spPr>
          <a:xfrm>
            <a:off x="4855464" y="4800600"/>
            <a:ext cx="2944368" cy="594360"/>
          </a:xfrm>
          <a:prstGeom prst="rect">
            <a:avLst/>
          </a:prstGeom>
          <a:noFill/>
          <a:ln/>
        </p:spPr>
        <p:txBody>
          <a:bodyPr wrap="square" lIns="0" tIns="0" rIns="0" bIns="0" rtlCol="0" anchor="t">
            <a:noAutofit/>
          </a:bodyPr>
          <a:lstStyle/>
          <a:p>
            <a:pPr indent="0" marL="0">
              <a:lnSpc>
                <a:spcPts val="2200"/>
              </a:lnSpc>
              <a:buNone/>
              <a:defRPr sz="1800"/>
            </a:pPr>
            <a:r>
              <a:rPr lang="en-US" sz="1800" dirty="0">
                <a:solidFill>
                  <a:srgbClr val="24282C"/>
                </a:solidFill>
                <a:latin typeface="Arial" pitchFamily="34" charset="0"/>
                <a:ea typeface="Arial" pitchFamily="34" charset="-122"/>
                <a:cs typeface="Arial" pitchFamily="34" charset="-120"/>
              </a:rPr>
              <a:t>Customs / ZKK / reviewed evidence</a:t>
            </a:r>
            <a:endParaRPr lang="en-US" sz="1800" dirty="0"/>
          </a:p>
        </p:txBody>
      </p:sp>
      <p:sp>
        <p:nvSpPr>
          <p:cNvPr id="21" name="Shape 19"/>
          <p:cNvSpPr/>
          <p:nvPr/>
        </p:nvSpPr>
        <p:spPr>
          <a:xfrm>
            <a:off x="7982712" y="3758184"/>
            <a:ext cx="411480" cy="0"/>
          </a:xfrm>
          <a:prstGeom prst="line">
            <a:avLst/>
          </a:prstGeom>
          <a:noFill/>
          <a:ln w="25400">
            <a:solidFill>
              <a:srgbClr val="D71920"/>
            </a:solidFill>
            <a:prstDash val="solid"/>
            <a:tailEnd type="triangle"/>
          </a:ln>
        </p:spPr>
        <p:txBody>
          <a:bodyPr/>
          <a:p/>
        </p:txBody>
      </p:sp>
      <p:sp>
        <p:nvSpPr>
          <p:cNvPr id="22" name="Shape 20"/>
          <p:cNvSpPr/>
          <p:nvPr/>
        </p:nvSpPr>
        <p:spPr>
          <a:xfrm>
            <a:off x="8659368" y="2834640"/>
            <a:ext cx="2971800" cy="2093976"/>
          </a:xfrm>
          <a:prstGeom prst="rect">
            <a:avLst/>
          </a:prstGeom>
          <a:solidFill>
            <a:srgbClr val="24282C"/>
          </a:solidFill>
          <a:ln w="12700">
            <a:solidFill>
              <a:srgbClr val="24282C"/>
            </a:solidFill>
            <a:prstDash val="solid"/>
          </a:ln>
        </p:spPr>
        <p:txBody>
          <a:bodyPr/>
          <a:p/>
        </p:txBody>
      </p:sp>
      <p:sp>
        <p:nvSpPr>
          <p:cNvPr id="23" name="Text 21"/>
          <p:cNvSpPr/>
          <p:nvPr/>
        </p:nvSpPr>
        <p:spPr>
          <a:xfrm>
            <a:off x="8869680" y="3063240"/>
            <a:ext cx="2560320" cy="841248"/>
          </a:xfrm>
          <a:prstGeom prst="rect">
            <a:avLst/>
          </a:prstGeom>
          <a:noFill/>
          <a:ln/>
        </p:spPr>
        <p:txBody>
          <a:bodyPr wrap="square" lIns="0" tIns="0" rIns="0" bIns="0" rtlCol="0" anchor="ctr">
            <a:noAutofit/>
          </a:bodyPr>
          <a:lstStyle/>
          <a:p>
            <a:pPr indent="0" marL="0">
              <a:lnSpc>
                <a:spcPts val="2800"/>
              </a:lnSpc>
              <a:buNone/>
              <a:defRPr sz="2300"/>
            </a:pPr>
            <a:r>
              <a:rPr lang="en-US" sz="2300" b="1" dirty="0">
                <a:solidFill>
                  <a:srgbClr val="FFFFFF"/>
                </a:solidFill>
                <a:latin typeface="Arial" pitchFamily="34" charset="0"/>
                <a:ea typeface="Arial" pitchFamily="34" charset="-122"/>
                <a:cs typeface="Arial" pitchFamily="34" charset="-120"/>
              </a:rPr>
              <a:t>Accepted</a:t>
            </a:r>
            <a:endParaRPr lang="en-US" sz="2300" dirty="0"/>
          </a:p>
          <a:p>
            <a:pPr indent="0" marL="0">
              <a:lnSpc>
                <a:spcPts val="2800"/>
              </a:lnSpc>
              <a:buNone/>
              <a:defRPr sz="2300"/>
            </a:pPr>
            <a:r>
              <a:rPr lang="en-US" sz="2300" b="1" dirty="0">
                <a:solidFill>
                  <a:srgbClr val="FFFFFF"/>
                </a:solidFill>
                <a:latin typeface="Arial" pitchFamily="34" charset="0"/>
                <a:ea typeface="Arial" pitchFamily="34" charset="-122"/>
                <a:cs typeface="Arial" pitchFamily="34" charset="-120"/>
              </a:rPr>
              <a:t>product identity</a:t>
            </a:r>
            <a:endParaRPr lang="en-US" sz="2300" dirty="0"/>
          </a:p>
        </p:txBody>
      </p:sp>
      <p:sp>
        <p:nvSpPr>
          <p:cNvPr id="24" name="Text 22"/>
          <p:cNvSpPr/>
          <p:nvPr/>
        </p:nvSpPr>
        <p:spPr>
          <a:xfrm>
            <a:off x="8869680" y="4078224"/>
            <a:ext cx="2542032" cy="667512"/>
          </a:xfrm>
          <a:prstGeom prst="rect">
            <a:avLst/>
          </a:prstGeom>
          <a:noFill/>
          <a:ln/>
        </p:spPr>
        <p:txBody>
          <a:bodyPr wrap="square" lIns="0" tIns="0" rIns="0" bIns="0" rtlCol="0" anchor="ctr">
            <a:noAutofit/>
          </a:bodyPr>
          <a:lstStyle/>
          <a:p>
            <a:pPr indent="0" marL="0">
              <a:lnSpc>
                <a:spcPts val="1900"/>
              </a:lnSpc>
              <a:buNone/>
              <a:defRPr sz="1530"/>
            </a:pPr>
            <a:r>
              <a:rPr lang="en-US" sz="1530" dirty="0">
                <a:solidFill>
                  <a:srgbClr val="CCD1D2"/>
                </a:solidFill>
                <a:latin typeface="Arial" pitchFamily="34" charset="0"/>
                <a:ea typeface="Arial" pitchFamily="34" charset="-122"/>
                <a:cs typeface="Arial" pitchFamily="34" charset="-120"/>
              </a:rPr>
              <a:t>An air-cleaner element</a:t>
            </a:r>
            <a:endParaRPr lang="en-US" sz="1530" dirty="0"/>
          </a:p>
          <a:p>
            <a:pPr indent="0" marL="0">
              <a:lnSpc>
                <a:spcPts val="1900"/>
              </a:lnSpc>
              <a:buNone/>
              <a:defRPr sz="1530"/>
            </a:pPr>
            <a:r>
              <a:rPr lang="en-US" sz="1530" dirty="0">
                <a:solidFill>
                  <a:srgbClr val="CCD1D2"/>
                </a:solidFill>
                <a:latin typeface="Arial" pitchFamily="34" charset="0"/>
                <a:ea typeface="Arial" pitchFamily="34" charset="-122"/>
                <a:cs typeface="Arial" pitchFamily="34" charset="-120"/>
              </a:rPr>
              <a:t>where evidence supports it.</a:t>
            </a:r>
            <a:endParaRPr lang="en-US" sz="1530" dirty="0"/>
          </a:p>
        </p:txBody>
      </p:sp>
      <p:sp>
        <p:nvSpPr>
          <p:cNvPr id="25" name="Shape 23"/>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6" name="Text 24"/>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A reviewed correction is retained, so the next update does not repeat the same ambiguity.</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WHY ALL THREE LEVELS MATTER</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Every level answers a question the level above cannot.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 commercial review moves from the business area to the specific product.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WHY ALL THREE LEVELS MATTER</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07</a:t>
            </a:r>
            <a:endParaRPr lang="en-US" sz="1050" dirty="0"/>
          </a:p>
        </p:txBody>
      </p:sp>
      <p:sp>
        <p:nvSpPr>
          <p:cNvPr id="10" name="Shape 8"/>
          <p:cNvSpPr/>
          <p:nvPr/>
        </p:nvSpPr>
        <p:spPr>
          <a:xfrm>
            <a:off x="585216" y="2596896"/>
            <a:ext cx="4096512" cy="731520"/>
          </a:xfrm>
          <a:prstGeom prst="rect">
            <a:avLst/>
          </a:prstGeom>
          <a:solidFill>
            <a:srgbClr val="24282C"/>
          </a:solidFill>
          <a:ln w="12700">
            <a:solidFill>
              <a:srgbClr val="24282C"/>
            </a:solidFill>
            <a:prstDash val="solid"/>
          </a:ln>
        </p:spPr>
        <p:txBody>
          <a:bodyPr/>
          <a:p/>
        </p:txBody>
      </p:sp>
      <p:sp>
        <p:nvSpPr>
          <p:cNvPr id="11" name="Text 9"/>
          <p:cNvSpPr/>
          <p:nvPr/>
        </p:nvSpPr>
        <p:spPr>
          <a:xfrm>
            <a:off x="758952" y="2770632"/>
            <a:ext cx="411480" cy="329184"/>
          </a:xfrm>
          <a:prstGeom prst="rect">
            <a:avLst/>
          </a:prstGeom>
          <a:noFill/>
          <a:ln/>
        </p:spPr>
        <p:txBody>
          <a:bodyPr wrap="square" lIns="0" tIns="0" rIns="0" bIns="0" rtlCol="0" anchor="ctr">
            <a:noAutofit/>
          </a:bodyPr>
          <a:lstStyle/>
          <a:p>
            <a:pPr indent="0" marL="0">
              <a:buNone/>
            </a:pPr>
            <a:r>
              <a:rPr lang="en-US" sz="1700" b="1" dirty="0">
                <a:solidFill>
                  <a:srgbClr val="FFFFFF"/>
                </a:solidFill>
                <a:latin typeface="Arial" pitchFamily="34" charset="0"/>
                <a:ea typeface="Arial" pitchFamily="34" charset="-122"/>
                <a:cs typeface="Arial" pitchFamily="34" charset="-120"/>
              </a:rPr>
              <a:t>01</a:t>
            </a:r>
            <a:endParaRPr lang="en-US" sz="1700" dirty="0"/>
          </a:p>
        </p:txBody>
      </p:sp>
      <p:sp>
        <p:nvSpPr>
          <p:cNvPr id="12" name="Text 10"/>
          <p:cNvSpPr/>
          <p:nvPr/>
        </p:nvSpPr>
        <p:spPr>
          <a:xfrm>
            <a:off x="1353312" y="2770632"/>
            <a:ext cx="2889504" cy="329184"/>
          </a:xfrm>
          <a:prstGeom prst="rect">
            <a:avLst/>
          </a:prstGeom>
          <a:noFill/>
          <a:ln/>
        </p:spPr>
        <p:txBody>
          <a:bodyPr wrap="square" lIns="0" tIns="0" rIns="0" bIns="0" rtlCol="0" anchor="ctr">
            <a:noAutofit/>
          </a:bodyPr>
          <a:lstStyle/>
          <a:p>
            <a:pPr indent="0" marL="0">
              <a:buNone/>
            </a:pPr>
            <a:r>
              <a:rPr lang="en-US" sz="2300" b="1" dirty="0">
                <a:solidFill>
                  <a:srgbClr val="FFFFFF"/>
                </a:solidFill>
                <a:latin typeface="Arial" pitchFamily="34" charset="0"/>
                <a:ea typeface="Arial" pitchFamily="34" charset="-122"/>
                <a:cs typeface="Arial" pitchFamily="34" charset="-120"/>
              </a:rPr>
              <a:t>CLUTCH</a:t>
            </a:r>
            <a:endParaRPr lang="en-US" sz="2300" dirty="0"/>
          </a:p>
        </p:txBody>
      </p:sp>
      <p:sp>
        <p:nvSpPr>
          <p:cNvPr id="13" name="Text 11"/>
          <p:cNvSpPr/>
          <p:nvPr/>
        </p:nvSpPr>
        <p:spPr>
          <a:xfrm>
            <a:off x="5102352" y="2606040"/>
            <a:ext cx="6236208" cy="347472"/>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Which business area needs attention?</a:t>
            </a:r>
            <a:endParaRPr lang="en-US" sz="2050" dirty="0"/>
          </a:p>
        </p:txBody>
      </p:sp>
      <p:sp>
        <p:nvSpPr>
          <p:cNvPr id="14" name="Text 12"/>
          <p:cNvSpPr/>
          <p:nvPr/>
        </p:nvSpPr>
        <p:spPr>
          <a:xfrm>
            <a:off x="5102352" y="2999232"/>
            <a:ext cx="6245352" cy="365760"/>
          </a:xfrm>
          <a:prstGeom prst="rect">
            <a:avLst/>
          </a:prstGeom>
          <a:noFill/>
          <a:ln/>
        </p:spPr>
        <p:txBody>
          <a:bodyPr wrap="square" lIns="0" tIns="0" rIns="0" bIns="0" rtlCol="0" anchor="ctr">
            <a:noAutofit/>
          </a:bodyPr>
          <a:lstStyle/>
          <a:p>
            <a:pPr indent="0" marL="0">
              <a:buNone/>
            </a:pPr>
            <a:r>
              <a:rPr lang="en-US" sz="1760" dirty="0">
                <a:solidFill>
                  <a:srgbClr val="626A71"/>
                </a:solidFill>
                <a:latin typeface="Arial" pitchFamily="34" charset="0"/>
                <a:ea typeface="Arial" pitchFamily="34" charset="-122"/>
                <a:cs typeface="Arial" pitchFamily="34" charset="-120"/>
              </a:rPr>
              <a:t>Review the clutch family.</a:t>
            </a:r>
            <a:endParaRPr lang="en-US" sz="1760" dirty="0"/>
          </a:p>
        </p:txBody>
      </p:sp>
      <p:sp>
        <p:nvSpPr>
          <p:cNvPr id="15" name="Shape 13"/>
          <p:cNvSpPr/>
          <p:nvPr/>
        </p:nvSpPr>
        <p:spPr>
          <a:xfrm>
            <a:off x="832104" y="3511296"/>
            <a:ext cx="3849624" cy="731520"/>
          </a:xfrm>
          <a:prstGeom prst="rect">
            <a:avLst/>
          </a:prstGeom>
          <a:solidFill>
            <a:srgbClr val="24282C"/>
          </a:solidFill>
          <a:ln w="12700">
            <a:solidFill>
              <a:srgbClr val="24282C"/>
            </a:solidFill>
            <a:prstDash val="solid"/>
          </a:ln>
        </p:spPr>
        <p:txBody>
          <a:bodyPr/>
          <a:p/>
        </p:txBody>
      </p:sp>
      <p:sp>
        <p:nvSpPr>
          <p:cNvPr id="16" name="Text 14"/>
          <p:cNvSpPr/>
          <p:nvPr/>
        </p:nvSpPr>
        <p:spPr>
          <a:xfrm>
            <a:off x="1005840" y="3685032"/>
            <a:ext cx="411480" cy="329184"/>
          </a:xfrm>
          <a:prstGeom prst="rect">
            <a:avLst/>
          </a:prstGeom>
          <a:noFill/>
          <a:ln/>
        </p:spPr>
        <p:txBody>
          <a:bodyPr wrap="square" lIns="0" tIns="0" rIns="0" bIns="0" rtlCol="0" anchor="ctr">
            <a:noAutofit/>
          </a:bodyPr>
          <a:lstStyle/>
          <a:p>
            <a:pPr indent="0" marL="0">
              <a:buNone/>
            </a:pPr>
            <a:r>
              <a:rPr lang="en-US" sz="1700" b="1" dirty="0">
                <a:solidFill>
                  <a:srgbClr val="FFFFFF"/>
                </a:solidFill>
                <a:latin typeface="Arial" pitchFamily="34" charset="0"/>
                <a:ea typeface="Arial" pitchFamily="34" charset="-122"/>
                <a:cs typeface="Arial" pitchFamily="34" charset="-120"/>
              </a:rPr>
              <a:t>02</a:t>
            </a:r>
            <a:endParaRPr lang="en-US" sz="1700" dirty="0"/>
          </a:p>
        </p:txBody>
      </p:sp>
      <p:sp>
        <p:nvSpPr>
          <p:cNvPr id="17" name="Text 15"/>
          <p:cNvSpPr/>
          <p:nvPr/>
        </p:nvSpPr>
        <p:spPr>
          <a:xfrm>
            <a:off x="1600200" y="3685032"/>
            <a:ext cx="2642616" cy="329184"/>
          </a:xfrm>
          <a:prstGeom prst="rect">
            <a:avLst/>
          </a:prstGeom>
          <a:noFill/>
          <a:ln/>
        </p:spPr>
        <p:txBody>
          <a:bodyPr wrap="square" lIns="0" tIns="0" rIns="0" bIns="0" rtlCol="0" anchor="ctr">
            <a:noAutofit/>
          </a:bodyPr>
          <a:lstStyle/>
          <a:p>
            <a:pPr indent="0" marL="0">
              <a:buNone/>
            </a:pPr>
            <a:r>
              <a:rPr lang="en-US" sz="2000" b="1" dirty="0">
                <a:solidFill>
                  <a:srgbClr val="FFFFFF"/>
                </a:solidFill>
                <a:latin typeface="Arial" pitchFamily="34" charset="0"/>
                <a:ea typeface="Arial" pitchFamily="34" charset="-122"/>
                <a:cs typeface="Arial" pitchFamily="34" charset="-120"/>
              </a:rPr>
              <a:t>RELEASE SYSTEM</a:t>
            </a:r>
            <a:endParaRPr lang="en-US" sz="2000" dirty="0"/>
          </a:p>
        </p:txBody>
      </p:sp>
      <p:sp>
        <p:nvSpPr>
          <p:cNvPr id="18" name="Text 16"/>
          <p:cNvSpPr/>
          <p:nvPr/>
        </p:nvSpPr>
        <p:spPr>
          <a:xfrm>
            <a:off x="5102352" y="3520440"/>
            <a:ext cx="6236208" cy="347472"/>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Which part of the range explains the result?</a:t>
            </a:r>
            <a:endParaRPr lang="en-US" sz="2050" dirty="0"/>
          </a:p>
        </p:txBody>
      </p:sp>
      <p:sp>
        <p:nvSpPr>
          <p:cNvPr id="19" name="Text 17"/>
          <p:cNvSpPr/>
          <p:nvPr/>
        </p:nvSpPr>
        <p:spPr>
          <a:xfrm>
            <a:off x="5102352" y="3913632"/>
            <a:ext cx="6245352" cy="365760"/>
          </a:xfrm>
          <a:prstGeom prst="rect">
            <a:avLst/>
          </a:prstGeom>
          <a:noFill/>
          <a:ln/>
        </p:spPr>
        <p:txBody>
          <a:bodyPr wrap="square" lIns="0" tIns="0" rIns="0" bIns="0" rtlCol="0" anchor="ctr">
            <a:noAutofit/>
          </a:bodyPr>
          <a:lstStyle/>
          <a:p>
            <a:pPr indent="0" marL="0">
              <a:buNone/>
            </a:pPr>
            <a:r>
              <a:rPr lang="en-US" sz="1760" dirty="0">
                <a:solidFill>
                  <a:srgbClr val="626A71"/>
                </a:solidFill>
                <a:latin typeface="Arial" pitchFamily="34" charset="0"/>
                <a:ea typeface="Arial" pitchFamily="34" charset="-122"/>
                <a:cs typeface="Arial" pitchFamily="34" charset="-120"/>
              </a:rPr>
              <a:t>Separate release components from discs and plates.</a:t>
            </a:r>
            <a:endParaRPr lang="en-US" sz="1760" dirty="0"/>
          </a:p>
        </p:txBody>
      </p:sp>
      <p:sp>
        <p:nvSpPr>
          <p:cNvPr id="20" name="Shape 18"/>
          <p:cNvSpPr/>
          <p:nvPr/>
        </p:nvSpPr>
        <p:spPr>
          <a:xfrm>
            <a:off x="1078992" y="4425696"/>
            <a:ext cx="3602736" cy="731520"/>
          </a:xfrm>
          <a:prstGeom prst="rect">
            <a:avLst/>
          </a:prstGeom>
          <a:solidFill>
            <a:srgbClr val="D71920"/>
          </a:solidFill>
          <a:ln w="12700">
            <a:solidFill>
              <a:srgbClr val="D71920"/>
            </a:solidFill>
            <a:prstDash val="solid"/>
          </a:ln>
        </p:spPr>
        <p:txBody>
          <a:bodyPr/>
          <a:p/>
        </p:txBody>
      </p:sp>
      <p:sp>
        <p:nvSpPr>
          <p:cNvPr id="21" name="Text 19"/>
          <p:cNvSpPr/>
          <p:nvPr/>
        </p:nvSpPr>
        <p:spPr>
          <a:xfrm>
            <a:off x="1252728" y="4599432"/>
            <a:ext cx="411480" cy="329184"/>
          </a:xfrm>
          <a:prstGeom prst="rect">
            <a:avLst/>
          </a:prstGeom>
          <a:noFill/>
          <a:ln/>
        </p:spPr>
        <p:txBody>
          <a:bodyPr wrap="square" lIns="0" tIns="0" rIns="0" bIns="0" rtlCol="0" anchor="ctr">
            <a:noAutofit/>
          </a:bodyPr>
          <a:lstStyle/>
          <a:p>
            <a:pPr indent="0" marL="0">
              <a:buNone/>
            </a:pPr>
            <a:r>
              <a:rPr lang="en-US" sz="1700" b="1" dirty="0">
                <a:solidFill>
                  <a:srgbClr val="FFFFFF"/>
                </a:solidFill>
                <a:latin typeface="Arial" pitchFamily="34" charset="0"/>
                <a:ea typeface="Arial" pitchFamily="34" charset="-122"/>
                <a:cs typeface="Arial" pitchFamily="34" charset="-120"/>
              </a:rPr>
              <a:t>03</a:t>
            </a:r>
            <a:endParaRPr lang="en-US" sz="1700" dirty="0"/>
          </a:p>
        </p:txBody>
      </p:sp>
      <p:sp>
        <p:nvSpPr>
          <p:cNvPr id="22" name="Text 20"/>
          <p:cNvSpPr/>
          <p:nvPr/>
        </p:nvSpPr>
        <p:spPr>
          <a:xfrm>
            <a:off x="1847088" y="4599432"/>
            <a:ext cx="2633472" cy="329184"/>
          </a:xfrm>
          <a:prstGeom prst="rect">
            <a:avLst/>
          </a:prstGeom>
          <a:noFill/>
          <a:ln/>
        </p:spPr>
        <p:txBody>
          <a:bodyPr wrap="square" lIns="0" tIns="0" rIns="0" bIns="0" rtlCol="0" anchor="ctr">
            <a:noAutofit/>
          </a:bodyPr>
          <a:lstStyle/>
          <a:p>
            <a:pPr indent="0" marL="0">
              <a:buNone/>
              <a:defRPr sz="2100"/>
            </a:pPr>
            <a:r>
              <a:rPr lang="en-US" sz="2100" b="1" dirty="0">
                <a:solidFill>
                  <a:srgbClr val="FFFFFF"/>
                </a:solidFill>
                <a:latin typeface="Arial" pitchFamily="34" charset="0"/>
                <a:ea typeface="Arial" pitchFamily="34" charset="-122"/>
                <a:cs typeface="Arial" pitchFamily="34" charset="-120"/>
              </a:rPr>
              <a:t>SLAVE CYLINDER</a:t>
            </a:r>
            <a:endParaRPr lang="en-US" sz="2100" dirty="0"/>
          </a:p>
        </p:txBody>
      </p:sp>
      <p:sp>
        <p:nvSpPr>
          <p:cNvPr id="23" name="Text 21"/>
          <p:cNvSpPr/>
          <p:nvPr/>
        </p:nvSpPr>
        <p:spPr>
          <a:xfrm>
            <a:off x="5102352" y="4434840"/>
            <a:ext cx="6236208" cy="347472"/>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Which product should the team investigate?</a:t>
            </a:r>
            <a:endParaRPr lang="en-US" sz="2050" dirty="0"/>
          </a:p>
        </p:txBody>
      </p:sp>
      <p:sp>
        <p:nvSpPr>
          <p:cNvPr id="24" name="Text 22"/>
          <p:cNvSpPr/>
          <p:nvPr/>
        </p:nvSpPr>
        <p:spPr>
          <a:xfrm>
            <a:off x="5102352" y="4828032"/>
            <a:ext cx="6245352" cy="365760"/>
          </a:xfrm>
          <a:prstGeom prst="rect">
            <a:avLst/>
          </a:prstGeom>
          <a:noFill/>
          <a:ln/>
        </p:spPr>
        <p:txBody>
          <a:bodyPr wrap="square" lIns="0" tIns="0" rIns="0" bIns="0" rtlCol="0" anchor="ctr">
            <a:noAutofit/>
          </a:bodyPr>
          <a:lstStyle/>
          <a:p>
            <a:pPr indent="0" marL="0">
              <a:buNone/>
            </a:pPr>
            <a:r>
              <a:rPr lang="en-US" sz="1760" dirty="0">
                <a:solidFill>
                  <a:srgbClr val="626A71"/>
                </a:solidFill>
                <a:latin typeface="Arial" pitchFamily="34" charset="0"/>
                <a:ea typeface="Arial" pitchFamily="34" charset="-122"/>
                <a:cs typeface="Arial" pitchFamily="34" charset="-120"/>
              </a:rPr>
              <a:t>Review applications and relevant part numbers.</a:t>
            </a:r>
            <a:endParaRPr lang="en-US" sz="1760" dirty="0"/>
          </a:p>
        </p:txBody>
      </p:sp>
      <p:sp>
        <p:nvSpPr>
          <p:cNvPr id="25" name="Shape 23"/>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6" name="Text 24"/>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The family creates focus. The group explains the pattern. The part type makes the action precise.</a:t>
            </a:r>
            <a:endParaRPr lang="en-US" sz="1750" dirty="0"/>
          </a:p>
        </p:txBody>
      </p:sp>
      <p:sp>
        <p:nvSpPr>
          <p:cNvPr id="28" name="Text 25"/>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Example path: supplied corrected ISZE master, reviewed 20 September 2026.</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PRECISION THAT CHANGES THE DECISION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An element, a housing and a kit are different products.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The broad filtration family is useful; the detailed type makes comparisons meaningful.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PRECISION THAT CHANGES THE DECISION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08</a:t>
            </a:r>
            <a:endParaRPr lang="en-US" sz="1050" dirty="0"/>
          </a:p>
        </p:txBody>
      </p:sp>
      <p:sp>
        <p:nvSpPr>
          <p:cNvPr id="10" name="Shape 8"/>
          <p:cNvSpPr/>
          <p:nvPr/>
        </p:nvSpPr>
        <p:spPr>
          <a:xfrm>
            <a:off x="1316736" y="2688336"/>
            <a:ext cx="1453896" cy="1188720"/>
          </a:xfrm>
          <a:prstGeom prst="rect">
            <a:avLst/>
          </a:prstGeom>
          <a:solidFill>
            <a:srgbClr val="FFFFFF"/>
          </a:solidFill>
          <a:ln w="22860">
            <a:solidFill>
              <a:srgbClr val="24282C"/>
            </a:solidFill>
            <a:prstDash val="solid"/>
          </a:ln>
        </p:spPr>
        <p:txBody>
          <a:bodyPr/>
          <a:p/>
        </p:txBody>
      </p:sp>
      <p:sp>
        <p:nvSpPr>
          <p:cNvPr id="11" name="Shape 9"/>
          <p:cNvSpPr/>
          <p:nvPr/>
        </p:nvSpPr>
        <p:spPr>
          <a:xfrm>
            <a:off x="1463040" y="2798064"/>
            <a:ext cx="0" cy="950976"/>
          </a:xfrm>
          <a:prstGeom prst="line">
            <a:avLst/>
          </a:prstGeom>
          <a:noFill/>
          <a:ln w="13970">
            <a:solidFill>
              <a:srgbClr val="24282C"/>
            </a:solidFill>
            <a:prstDash val="solid"/>
          </a:ln>
        </p:spPr>
        <p:txBody>
          <a:bodyPr/>
          <a:p/>
        </p:txBody>
      </p:sp>
      <p:sp>
        <p:nvSpPr>
          <p:cNvPr id="12" name="Shape 10"/>
          <p:cNvSpPr/>
          <p:nvPr/>
        </p:nvSpPr>
        <p:spPr>
          <a:xfrm>
            <a:off x="1636776" y="2798064"/>
            <a:ext cx="0" cy="950976"/>
          </a:xfrm>
          <a:prstGeom prst="line">
            <a:avLst/>
          </a:prstGeom>
          <a:noFill/>
          <a:ln w="13970">
            <a:solidFill>
              <a:srgbClr val="24282C"/>
            </a:solidFill>
            <a:prstDash val="solid"/>
          </a:ln>
        </p:spPr>
        <p:txBody>
          <a:bodyPr/>
          <a:p/>
        </p:txBody>
      </p:sp>
      <p:sp>
        <p:nvSpPr>
          <p:cNvPr id="13" name="Shape 11"/>
          <p:cNvSpPr/>
          <p:nvPr/>
        </p:nvSpPr>
        <p:spPr>
          <a:xfrm>
            <a:off x="1810512" y="2798064"/>
            <a:ext cx="0" cy="950976"/>
          </a:xfrm>
          <a:prstGeom prst="line">
            <a:avLst/>
          </a:prstGeom>
          <a:noFill/>
          <a:ln w="13970">
            <a:solidFill>
              <a:srgbClr val="24282C"/>
            </a:solidFill>
            <a:prstDash val="solid"/>
          </a:ln>
        </p:spPr>
        <p:txBody>
          <a:bodyPr/>
          <a:p/>
        </p:txBody>
      </p:sp>
      <p:sp>
        <p:nvSpPr>
          <p:cNvPr id="14" name="Shape 12"/>
          <p:cNvSpPr/>
          <p:nvPr/>
        </p:nvSpPr>
        <p:spPr>
          <a:xfrm>
            <a:off x="1984248" y="2798064"/>
            <a:ext cx="0" cy="950976"/>
          </a:xfrm>
          <a:prstGeom prst="line">
            <a:avLst/>
          </a:prstGeom>
          <a:noFill/>
          <a:ln w="13970">
            <a:solidFill>
              <a:srgbClr val="24282C"/>
            </a:solidFill>
            <a:prstDash val="solid"/>
          </a:ln>
        </p:spPr>
        <p:txBody>
          <a:bodyPr/>
          <a:p/>
        </p:txBody>
      </p:sp>
      <p:sp>
        <p:nvSpPr>
          <p:cNvPr id="15" name="Shape 13"/>
          <p:cNvSpPr/>
          <p:nvPr/>
        </p:nvSpPr>
        <p:spPr>
          <a:xfrm>
            <a:off x="2157984" y="2798064"/>
            <a:ext cx="0" cy="950976"/>
          </a:xfrm>
          <a:prstGeom prst="line">
            <a:avLst/>
          </a:prstGeom>
          <a:noFill/>
          <a:ln w="13970">
            <a:solidFill>
              <a:srgbClr val="24282C"/>
            </a:solidFill>
            <a:prstDash val="solid"/>
          </a:ln>
        </p:spPr>
        <p:txBody>
          <a:bodyPr/>
          <a:p/>
        </p:txBody>
      </p:sp>
      <p:sp>
        <p:nvSpPr>
          <p:cNvPr id="16" name="Shape 14"/>
          <p:cNvSpPr/>
          <p:nvPr/>
        </p:nvSpPr>
        <p:spPr>
          <a:xfrm>
            <a:off x="2331720" y="2798064"/>
            <a:ext cx="0" cy="950976"/>
          </a:xfrm>
          <a:prstGeom prst="line">
            <a:avLst/>
          </a:prstGeom>
          <a:noFill/>
          <a:ln w="13970">
            <a:solidFill>
              <a:srgbClr val="24282C"/>
            </a:solidFill>
            <a:prstDash val="solid"/>
          </a:ln>
        </p:spPr>
        <p:txBody>
          <a:bodyPr/>
          <a:p/>
        </p:txBody>
      </p:sp>
      <p:sp>
        <p:nvSpPr>
          <p:cNvPr id="17" name="Shape 15"/>
          <p:cNvSpPr/>
          <p:nvPr/>
        </p:nvSpPr>
        <p:spPr>
          <a:xfrm>
            <a:off x="2505456" y="2798064"/>
            <a:ext cx="0" cy="950976"/>
          </a:xfrm>
          <a:prstGeom prst="line">
            <a:avLst/>
          </a:prstGeom>
          <a:noFill/>
          <a:ln w="13970">
            <a:solidFill>
              <a:srgbClr val="24282C"/>
            </a:solidFill>
            <a:prstDash val="solid"/>
          </a:ln>
        </p:spPr>
        <p:txBody>
          <a:bodyPr/>
          <a:p/>
        </p:txBody>
      </p:sp>
      <p:sp>
        <p:nvSpPr>
          <p:cNvPr id="18" name="Shape 16"/>
          <p:cNvSpPr/>
          <p:nvPr/>
        </p:nvSpPr>
        <p:spPr>
          <a:xfrm>
            <a:off x="5120640" y="2807208"/>
            <a:ext cx="1664208" cy="950976"/>
          </a:xfrm>
          <a:prstGeom prst="rect">
            <a:avLst/>
          </a:prstGeom>
          <a:solidFill>
            <a:srgbClr val="FFFFFF"/>
          </a:solidFill>
          <a:ln w="25400">
            <a:solidFill>
              <a:srgbClr val="24282C"/>
            </a:solidFill>
            <a:prstDash val="solid"/>
          </a:ln>
        </p:spPr>
        <p:txBody>
          <a:bodyPr/>
          <a:p/>
        </p:txBody>
      </p:sp>
      <p:sp>
        <p:nvSpPr>
          <p:cNvPr id="19" name="Shape 17"/>
          <p:cNvSpPr/>
          <p:nvPr/>
        </p:nvSpPr>
        <p:spPr>
          <a:xfrm>
            <a:off x="5349240" y="2578608"/>
            <a:ext cx="1197864" cy="219456"/>
          </a:xfrm>
          <a:prstGeom prst="rect">
            <a:avLst/>
          </a:prstGeom>
          <a:solidFill>
            <a:srgbClr val="24282C"/>
          </a:solidFill>
          <a:ln w="12700">
            <a:solidFill>
              <a:srgbClr val="24282C"/>
            </a:solidFill>
            <a:prstDash val="solid"/>
          </a:ln>
        </p:spPr>
        <p:txBody>
          <a:bodyPr/>
          <a:p/>
        </p:txBody>
      </p:sp>
      <p:sp>
        <p:nvSpPr>
          <p:cNvPr id="20" name="Shape 18"/>
          <p:cNvSpPr/>
          <p:nvPr/>
        </p:nvSpPr>
        <p:spPr>
          <a:xfrm>
            <a:off x="6784848" y="3264408"/>
            <a:ext cx="310896" cy="0"/>
          </a:xfrm>
          <a:prstGeom prst="line">
            <a:avLst/>
          </a:prstGeom>
          <a:noFill/>
          <a:ln w="50800">
            <a:solidFill>
              <a:srgbClr val="24282C"/>
            </a:solidFill>
            <a:prstDash val="solid"/>
          </a:ln>
        </p:spPr>
        <p:txBody>
          <a:bodyPr/>
          <a:p/>
        </p:txBody>
      </p:sp>
      <p:sp>
        <p:nvSpPr>
          <p:cNvPr id="21" name="Shape 19"/>
          <p:cNvSpPr/>
          <p:nvPr/>
        </p:nvSpPr>
        <p:spPr>
          <a:xfrm>
            <a:off x="8814816" y="2688336"/>
            <a:ext cx="1901952" cy="1225296"/>
          </a:xfrm>
          <a:prstGeom prst="rect">
            <a:avLst/>
          </a:prstGeom>
          <a:solidFill>
            <a:srgbClr val="FFFFFF"/>
          </a:solidFill>
          <a:ln w="20320">
            <a:solidFill>
              <a:srgbClr val="24282C"/>
            </a:solidFill>
            <a:prstDash val="solid"/>
          </a:ln>
        </p:spPr>
        <p:txBody>
          <a:bodyPr/>
          <a:p/>
        </p:txBody>
      </p:sp>
      <p:sp>
        <p:nvSpPr>
          <p:cNvPr id="22" name="Shape 20"/>
          <p:cNvSpPr/>
          <p:nvPr/>
        </p:nvSpPr>
        <p:spPr>
          <a:xfrm>
            <a:off x="9079992" y="2889504"/>
            <a:ext cx="585216" cy="813816"/>
          </a:xfrm>
          <a:prstGeom prst="rect">
            <a:avLst/>
          </a:prstGeom>
          <a:solidFill>
            <a:srgbClr val="E9ECEB"/>
          </a:solidFill>
          <a:ln w="12700">
            <a:solidFill>
              <a:srgbClr val="24282C"/>
            </a:solidFill>
            <a:prstDash val="solid"/>
          </a:ln>
        </p:spPr>
        <p:txBody>
          <a:bodyPr/>
          <a:p/>
        </p:txBody>
      </p:sp>
      <p:sp>
        <p:nvSpPr>
          <p:cNvPr id="23" name="Shape 21"/>
          <p:cNvSpPr/>
          <p:nvPr/>
        </p:nvSpPr>
        <p:spPr>
          <a:xfrm>
            <a:off x="9893808" y="2962656"/>
            <a:ext cx="621792" cy="621792"/>
          </a:xfrm>
          <a:prstGeom prst="ellipse">
            <a:avLst/>
          </a:prstGeom>
          <a:solidFill>
            <a:srgbClr val="F5F4F1">
              <a:alpha val="0"/>
            </a:srgbClr>
          </a:solidFill>
          <a:ln w="25400">
            <a:solidFill>
              <a:srgbClr val="24282C"/>
            </a:solidFill>
            <a:prstDash val="solid"/>
          </a:ln>
        </p:spPr>
        <p:txBody>
          <a:bodyPr/>
          <a:p/>
        </p:txBody>
      </p:sp>
      <p:sp>
        <p:nvSpPr>
          <p:cNvPr id="24" name="Shape 22"/>
          <p:cNvSpPr/>
          <p:nvPr/>
        </p:nvSpPr>
        <p:spPr>
          <a:xfrm>
            <a:off x="10105217" y="3174065"/>
            <a:ext cx="198973" cy="198973"/>
          </a:xfrm>
          <a:prstGeom prst="ellipse">
            <a:avLst/>
          </a:prstGeom>
          <a:solidFill>
            <a:srgbClr val="F5F4F1">
              <a:alpha val="0"/>
            </a:srgbClr>
          </a:solidFill>
          <a:ln w="21590">
            <a:solidFill>
              <a:srgbClr val="24282C"/>
            </a:solidFill>
            <a:prstDash val="solid"/>
          </a:ln>
        </p:spPr>
        <p:txBody>
          <a:bodyPr/>
          <a:p/>
        </p:txBody>
      </p:sp>
      <p:sp>
        <p:nvSpPr>
          <p:cNvPr id="25" name="Text 23"/>
          <p:cNvSpPr/>
          <p:nvPr/>
        </p:nvSpPr>
        <p:spPr>
          <a:xfrm>
            <a:off x="749808" y="4197096"/>
            <a:ext cx="3035808" cy="438912"/>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Filter element</a:t>
            </a:r>
            <a:endParaRPr lang="en-US" sz="2300" dirty="0"/>
          </a:p>
        </p:txBody>
      </p:sp>
      <p:sp>
        <p:nvSpPr>
          <p:cNvPr id="26" name="Text 24"/>
          <p:cNvSpPr/>
          <p:nvPr/>
        </p:nvSpPr>
        <p:spPr>
          <a:xfrm>
            <a:off x="749808" y="4727448"/>
            <a:ext cx="3081528" cy="51206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A recurring replacement item.</a:t>
            </a:r>
            <a:endParaRPr lang="en-US" sz="1800" dirty="0"/>
          </a:p>
        </p:txBody>
      </p:sp>
      <p:sp>
        <p:nvSpPr>
          <p:cNvPr id="27" name="Text 25"/>
          <p:cNvSpPr/>
          <p:nvPr/>
        </p:nvSpPr>
        <p:spPr>
          <a:xfrm>
            <a:off x="749808" y="5367528"/>
            <a:ext cx="3081528" cy="502920"/>
          </a:xfrm>
          <a:prstGeom prst="rect">
            <a:avLst/>
          </a:prstGeom>
          <a:noFill/>
          <a:ln/>
        </p:spPr>
        <p:txBody>
          <a:bodyPr wrap="square" lIns="0" tIns="0" rIns="0" bIns="0" rtlCol="0" anchor="ctr">
            <a:no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relevant service need.</a:t>
            </a:r>
            <a:endParaRPr lang="en-US" sz="1700" dirty="0"/>
          </a:p>
        </p:txBody>
      </p:sp>
      <p:sp>
        <p:nvSpPr>
          <p:cNvPr id="28" name="Text 26"/>
          <p:cNvSpPr/>
          <p:nvPr/>
        </p:nvSpPr>
        <p:spPr>
          <a:xfrm>
            <a:off x="4590288" y="4197096"/>
            <a:ext cx="3035808" cy="438912"/>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Filter housing</a:t>
            </a:r>
            <a:endParaRPr lang="en-US" sz="2300" dirty="0"/>
          </a:p>
        </p:txBody>
      </p:sp>
      <p:sp>
        <p:nvSpPr>
          <p:cNvPr id="29" name="Text 27"/>
          <p:cNvSpPr/>
          <p:nvPr/>
        </p:nvSpPr>
        <p:spPr>
          <a:xfrm>
            <a:off x="4590288" y="4727448"/>
            <a:ext cx="3081528" cy="51206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A different repair requirement.</a:t>
            </a:r>
            <a:endParaRPr lang="en-US" sz="1800" dirty="0"/>
          </a:p>
        </p:txBody>
      </p:sp>
      <p:sp>
        <p:nvSpPr>
          <p:cNvPr id="30" name="Text 28"/>
          <p:cNvSpPr/>
          <p:nvPr/>
        </p:nvSpPr>
        <p:spPr>
          <a:xfrm>
            <a:off x="4590288" y="5367528"/>
            <a:ext cx="3081528" cy="502920"/>
          </a:xfrm>
          <a:prstGeom prst="rect">
            <a:avLst/>
          </a:prstGeom>
          <a:noFill/>
          <a:ln/>
        </p:spPr>
        <p:txBody>
          <a:bodyPr wrap="square" lIns="0" tIns="0" rIns="0" bIns="0" rtlCol="0" anchor="ctr">
            <a:no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correct assembly.</a:t>
            </a:r>
            <a:endParaRPr lang="en-US" sz="1700" dirty="0"/>
          </a:p>
        </p:txBody>
      </p:sp>
      <p:sp>
        <p:nvSpPr>
          <p:cNvPr id="31" name="Text 29"/>
          <p:cNvSpPr/>
          <p:nvPr/>
        </p:nvSpPr>
        <p:spPr>
          <a:xfrm>
            <a:off x="8458200" y="4197096"/>
            <a:ext cx="3035808" cy="438912"/>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Maintenance kit</a:t>
            </a:r>
            <a:endParaRPr lang="en-US" sz="2300" dirty="0"/>
          </a:p>
        </p:txBody>
      </p:sp>
      <p:sp>
        <p:nvSpPr>
          <p:cNvPr id="32" name="Text 30"/>
          <p:cNvSpPr/>
          <p:nvPr/>
        </p:nvSpPr>
        <p:spPr>
          <a:xfrm>
            <a:off x="8458200" y="4727448"/>
            <a:ext cx="3081528" cy="51206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Several validated contents.</a:t>
            </a:r>
            <a:endParaRPr lang="en-US" sz="1800" dirty="0"/>
          </a:p>
        </p:txBody>
      </p:sp>
      <p:sp>
        <p:nvSpPr>
          <p:cNvPr id="33" name="Text 31"/>
          <p:cNvSpPr/>
          <p:nvPr/>
        </p:nvSpPr>
        <p:spPr>
          <a:xfrm>
            <a:off x="8458200" y="5367528"/>
            <a:ext cx="3081528" cy="502920"/>
          </a:xfrm>
          <a:prstGeom prst="rect">
            <a:avLst/>
          </a:prstGeom>
          <a:noFill/>
          <a:ln/>
        </p:spPr>
        <p:txBody>
          <a:bodyPr wrap="square" lIns="0" tIns="0" rIns="0" bIns="0" rtlCol="0" anchor="ctr">
            <a:no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complete service basket.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REINFORCED BY ZKK</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AIM brings the selling range together; ZKK stays intact.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Japan's reference information reinforces AIM without replacing its structure.</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REINFORCED BY ZKK</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09</a:t>
            </a:r>
            <a:endParaRPr lang="en-US" sz="1050" dirty="0"/>
          </a:p>
        </p:txBody>
      </p:sp>
      <p:sp>
        <p:nvSpPr>
          <p:cNvPr id="10" name="Text 8"/>
          <p:cNvSpPr/>
          <p:nvPr/>
        </p:nvSpPr>
        <p:spPr>
          <a:xfrm>
            <a:off x="713232" y="2715768"/>
            <a:ext cx="1975104" cy="1033272"/>
          </a:xfrm>
          <a:prstGeom prst="rect">
            <a:avLst/>
          </a:prstGeom>
          <a:noFill/>
          <a:ln/>
        </p:spPr>
        <p:txBody>
          <a:bodyPr wrap="square" lIns="0" tIns="0" rIns="0" bIns="0" rtlCol="0" anchor="ctr">
            <a:noAutofit/>
          </a:bodyPr>
          <a:lstStyle/>
          <a:p>
            <a:pPr indent="0" marL="0">
              <a:buNone/>
            </a:pPr>
            <a:r>
              <a:rPr lang="en-US" sz="8400" b="1" dirty="0">
                <a:solidFill>
                  <a:srgbClr val="24282C"/>
                </a:solidFill>
                <a:latin typeface="Arial" pitchFamily="34" charset="0"/>
                <a:ea typeface="Arial" pitchFamily="34" charset="-122"/>
                <a:cs typeface="Arial" pitchFamily="34" charset="-120"/>
              </a:rPr>
              <a:t>10</a:t>
            </a:r>
            <a:endParaRPr lang="en-US" sz="8400" dirty="0"/>
          </a:p>
        </p:txBody>
      </p:sp>
      <p:sp>
        <p:nvSpPr>
          <p:cNvPr id="11" name="Text 9"/>
          <p:cNvSpPr/>
          <p:nvPr/>
        </p:nvSpPr>
        <p:spPr>
          <a:xfrm>
            <a:off x="758952" y="3895344"/>
            <a:ext cx="2386584" cy="402336"/>
          </a:xfrm>
          <a:prstGeom prst="rect">
            <a:avLst/>
          </a:prstGeom>
          <a:noFill/>
          <a:ln/>
        </p:spPr>
        <p:txBody>
          <a:bodyPr wrap="square" lIns="0" tIns="0" rIns="0" bIns="0" rtlCol="0" anchor="ctr">
            <a:noAutofit/>
          </a:bodyPr>
          <a:lstStyle/>
          <a:p>
            <a:pPr indent="0" marL="0">
              <a:buNone/>
            </a:pPr>
            <a:r>
              <a:rPr lang="en-US" sz="2500" dirty="0">
                <a:solidFill>
                  <a:srgbClr val="626A71"/>
                </a:solidFill>
                <a:latin typeface="Arial" pitchFamily="34" charset="0"/>
                <a:ea typeface="Arial" pitchFamily="34" charset="-122"/>
                <a:cs typeface="Arial" pitchFamily="34" charset="-120"/>
              </a:rPr>
              <a:t>ZKK codes</a:t>
            </a:r>
            <a:endParaRPr lang="en-US" sz="2500" dirty="0"/>
          </a:p>
        </p:txBody>
      </p:sp>
      <p:sp>
        <p:nvSpPr>
          <p:cNvPr id="12" name="Shape 10"/>
          <p:cNvSpPr/>
          <p:nvPr/>
        </p:nvSpPr>
        <p:spPr>
          <a:xfrm>
            <a:off x="3282696" y="3639312"/>
            <a:ext cx="1481328" cy="0"/>
          </a:xfrm>
          <a:prstGeom prst="line">
            <a:avLst/>
          </a:prstGeom>
          <a:noFill/>
          <a:ln w="31750">
            <a:solidFill>
              <a:srgbClr val="D71920"/>
            </a:solidFill>
            <a:prstDash val="solid"/>
            <a:tailEnd type="triangle"/>
          </a:ln>
        </p:spPr>
        <p:txBody>
          <a:bodyPr/>
          <a:p/>
        </p:txBody>
      </p:sp>
      <p:sp>
        <p:nvSpPr>
          <p:cNvPr id="13" name="Shape 11"/>
          <p:cNvSpPr/>
          <p:nvPr/>
        </p:nvSpPr>
        <p:spPr>
          <a:xfrm>
            <a:off x="5120640" y="2670048"/>
            <a:ext cx="6355080" cy="2404872"/>
          </a:xfrm>
          <a:prstGeom prst="rect">
            <a:avLst/>
          </a:prstGeom>
          <a:solidFill>
            <a:srgbClr val="24282C"/>
          </a:solidFill>
          <a:ln w="12700">
            <a:solidFill>
              <a:srgbClr val="24282C"/>
            </a:solidFill>
            <a:prstDash val="solid"/>
          </a:ln>
        </p:spPr>
        <p:txBody>
          <a:bodyPr/>
          <a:p/>
        </p:txBody>
      </p:sp>
      <p:sp>
        <p:nvSpPr>
          <p:cNvPr id="14" name="Text 12"/>
          <p:cNvSpPr/>
          <p:nvPr/>
        </p:nvSpPr>
        <p:spPr>
          <a:xfrm>
            <a:off x="5422392" y="2990088"/>
            <a:ext cx="5705856" cy="612648"/>
          </a:xfrm>
          <a:prstGeom prst="rect">
            <a:avLst/>
          </a:prstGeom>
          <a:noFill/>
          <a:ln/>
        </p:spPr>
        <p:txBody>
          <a:bodyPr wrap="square" lIns="0" tIns="0" rIns="0" bIns="0" rtlCol="0" anchor="ctr">
            <a:noAutofit/>
          </a:bodyPr>
          <a:lstStyle/>
          <a:p>
            <a:pPr indent="0" marL="0">
              <a:buNone/>
            </a:pPr>
            <a:r>
              <a:rPr lang="en-US" sz="3500" b="1" dirty="0">
                <a:solidFill>
                  <a:srgbClr val="FFFFFF"/>
                </a:solidFill>
                <a:latin typeface="Arial" pitchFamily="34" charset="0"/>
                <a:ea typeface="Arial" pitchFamily="34" charset="-122"/>
                <a:cs typeface="Arial" pitchFamily="34" charset="-120"/>
              </a:rPr>
              <a:t>BRAKE PAD KIT</a:t>
            </a:r>
            <a:endParaRPr lang="en-US" sz="3500" dirty="0"/>
          </a:p>
        </p:txBody>
      </p:sp>
      <p:sp>
        <p:nvSpPr>
          <p:cNvPr id="15" name="Text 13"/>
          <p:cNvSpPr/>
          <p:nvPr/>
        </p:nvSpPr>
        <p:spPr>
          <a:xfrm>
            <a:off x="5449824" y="3895344"/>
            <a:ext cx="5440680" cy="886968"/>
          </a:xfrm>
          <a:prstGeom prst="rect">
            <a:avLst/>
          </a:prstGeom>
          <a:noFill/>
          <a:ln/>
        </p:spPr>
        <p:txBody>
          <a:bodyPr wrap="square" lIns="0" tIns="0" rIns="0" bIns="0" rtlCol="0" anchor="ctr">
            <a:noAutofit/>
          </a:bodyPr>
          <a:lstStyle/>
          <a:p>
            <a:pPr indent="0" marL="0">
              <a:buNone/>
            </a:pPr>
            <a:r>
              <a:rPr lang="en-US" sz="2400" dirty="0">
                <a:solidFill>
                  <a:srgbClr val="CCD1D2"/>
                </a:solidFill>
                <a:latin typeface="Arial" pitchFamily="34" charset="0"/>
                <a:ea typeface="Arial" pitchFamily="34" charset="-122"/>
                <a:cs typeface="Arial" pitchFamily="34" charset="-120"/>
              </a:rPr>
              <a:t>One recognisable product type</a:t>
            </a:r>
            <a:endParaRPr lang="en-US" sz="2400" dirty="0"/>
          </a:p>
          <a:p>
            <a:pPr indent="0" marL="0">
              <a:buNone/>
            </a:pPr>
            <a:r>
              <a:rPr lang="en-US" sz="2400" dirty="0">
                <a:solidFill>
                  <a:srgbClr val="CCD1D2"/>
                </a:solidFill>
                <a:latin typeface="Arial" pitchFamily="34" charset="0"/>
                <a:ea typeface="Arial" pitchFamily="34" charset="-122"/>
                <a:cs typeface="Arial" pitchFamily="34" charset="-120"/>
              </a:rPr>
              <a:t>for a sales or price review.</a:t>
            </a:r>
            <a:endParaRPr lang="en-US" sz="2400" dirty="0"/>
          </a:p>
        </p:txBody>
      </p:sp>
      <p:sp>
        <p:nvSpPr>
          <p:cNvPr id="16" name="Text 14"/>
          <p:cNvSpPr/>
          <p:nvPr/>
        </p:nvSpPr>
        <p:spPr>
          <a:xfrm>
            <a:off x="758952" y="5212080"/>
            <a:ext cx="10607040" cy="384048"/>
          </a:xfrm>
          <a:prstGeom prst="rect">
            <a:avLst/>
          </a:prstGeom>
          <a:noFill/>
          <a:ln/>
        </p:spPr>
        <p:txBody>
          <a:bodyPr wrap="square" lIns="0" tIns="0" rIns="0" bIns="0" rtlCol="0" anchor="ctr">
            <a:noAutofit/>
          </a:bodyPr>
          <a:lstStyle/>
          <a:p>
            <a:pPr indent="0" marL="0">
              <a:buNone/>
            </a:pPr>
            <a:r>
              <a:rPr lang="en-US" sz="2100" b="1" dirty="0">
                <a:solidFill>
                  <a:srgbClr val="24282C"/>
                </a:solidFill>
                <a:latin typeface="Arial" pitchFamily="34" charset="0"/>
                <a:ea typeface="Arial" pitchFamily="34" charset="-122"/>
                <a:cs typeface="Arial" pitchFamily="34" charset="-120"/>
              </a:rPr>
              <a:t>37 matched master records retain their original Japanese codes.</a:t>
            </a:r>
            <a:endParaRPr lang="en-US" sz="2100" dirty="0"/>
          </a:p>
        </p:txBody>
      </p:sp>
      <p:sp>
        <p:nvSpPr>
          <p:cNvPr id="18" name="Text 15"/>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Source: supplied master/Japan-reference review, 20 Sep 2026. Record counts, not units sold.</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SALES CLASSIFICATION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Find the product movement behind the turnover headline.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AIM lets the same result be examined at family, product-group and part level.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SALES CLASSIFICATION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10</a:t>
            </a:r>
            <a:endParaRPr lang="en-US" sz="1050" dirty="0"/>
          </a:p>
        </p:txBody>
      </p:sp>
      <p:sp>
        <p:nvSpPr>
          <p:cNvPr id="10" name="Shape 8"/>
          <p:cNvSpPr/>
          <p:nvPr/>
        </p:nvSpPr>
        <p:spPr>
          <a:xfrm>
            <a:off x="585216" y="2624328"/>
            <a:ext cx="3328416" cy="2505456"/>
          </a:xfrm>
          <a:prstGeom prst="rect">
            <a:avLst/>
          </a:prstGeom>
          <a:solidFill>
            <a:srgbClr val="24282C"/>
          </a:solidFill>
          <a:ln w="12700">
            <a:solidFill>
              <a:srgbClr val="24282C"/>
            </a:solidFill>
            <a:prstDash val="solid"/>
          </a:ln>
        </p:spPr>
        <p:txBody>
          <a:bodyPr/>
          <a:p/>
        </p:txBody>
      </p:sp>
      <p:sp>
        <p:nvSpPr>
          <p:cNvPr id="11" name="Text 9"/>
          <p:cNvSpPr/>
          <p:nvPr/>
        </p:nvSpPr>
        <p:spPr>
          <a:xfrm>
            <a:off x="832104" y="2852928"/>
            <a:ext cx="2807208" cy="228600"/>
          </a:xfrm>
          <a:prstGeom prst="rect">
            <a:avLst/>
          </a:prstGeom>
          <a:noFill/>
          <a:ln/>
        </p:spPr>
        <p:txBody>
          <a:bodyPr wrap="square" lIns="0" tIns="0" rIns="0" bIns="0" rtlCol="0" anchor="ctr">
            <a:noAutofit/>
          </a:bodyPr>
          <a:lstStyle/>
          <a:p>
            <a:pPr indent="0" marL="0">
              <a:buNone/>
            </a:pPr>
            <a:r>
              <a:rPr lang="en-US" sz="1150" b="1" spc="100" kern="0" dirty="0">
                <a:solidFill>
                  <a:srgbClr val="CCD1D2"/>
                </a:solidFill>
                <a:latin typeface="Arial" pitchFamily="34" charset="0"/>
                <a:ea typeface="Arial" pitchFamily="34" charset="-122"/>
                <a:cs typeface="Arial" pitchFamily="34" charset="-120"/>
              </a:rPr>
              <a:t>THE HEADLINE</a:t>
            </a:r>
            <a:endParaRPr lang="en-US" sz="1150" dirty="0"/>
          </a:p>
        </p:txBody>
      </p:sp>
      <p:sp>
        <p:nvSpPr>
          <p:cNvPr id="12" name="Text 10"/>
          <p:cNvSpPr/>
          <p:nvPr/>
        </p:nvSpPr>
        <p:spPr>
          <a:xfrm>
            <a:off x="832104" y="3474720"/>
            <a:ext cx="2761488" cy="886968"/>
          </a:xfrm>
          <a:prstGeom prst="rect">
            <a:avLst/>
          </a:prstGeom>
          <a:noFill/>
          <a:ln/>
        </p:spPr>
        <p:txBody>
          <a:bodyPr wrap="square" lIns="0" tIns="0" rIns="0" bIns="0" rtlCol="0" anchor="ctr">
            <a:noAutofit/>
          </a:bodyPr>
          <a:lstStyle/>
          <a:p>
            <a:pPr indent="0" marL="0">
              <a:buNone/>
              <a:defRPr sz="3180"/>
            </a:pPr>
            <a:r>
              <a:rPr lang="en-US" sz="3180" b="1" dirty="0">
                <a:solidFill>
                  <a:srgbClr val="FFFFFF"/>
                </a:solidFill>
                <a:latin typeface="Arial" pitchFamily="34" charset="0"/>
                <a:ea typeface="Arial" pitchFamily="34" charset="-122"/>
                <a:cs typeface="Arial" pitchFamily="34" charset="-120"/>
              </a:rPr>
              <a:t>"Sales are up."</a:t>
            </a:r>
            <a:endParaRPr lang="en-US" sz="3180" dirty="0"/>
          </a:p>
        </p:txBody>
      </p:sp>
      <p:sp>
        <p:nvSpPr>
          <p:cNvPr id="13" name="Text 11"/>
          <p:cNvSpPr/>
          <p:nvPr/>
        </p:nvSpPr>
        <p:spPr>
          <a:xfrm>
            <a:off x="850392" y="4562856"/>
            <a:ext cx="2679192" cy="438912"/>
          </a:xfrm>
          <a:prstGeom prst="rect">
            <a:avLst/>
          </a:prstGeom>
          <a:noFill/>
          <a:ln/>
        </p:spPr>
        <p:txBody>
          <a:bodyPr wrap="square" lIns="0" tIns="0" rIns="0" bIns="0" rtlCol="0" anchor="ctr">
            <a:noAutofit/>
          </a:bodyPr>
          <a:lstStyle/>
          <a:p>
            <a:pPr indent="0" marL="0">
              <a:lnSpc>
                <a:spcPts val="1800"/>
              </a:lnSpc>
              <a:buNone/>
              <a:defRPr sz="1500"/>
            </a:pPr>
            <a:r>
              <a:rPr lang="en-US" sz="1500" dirty="0">
                <a:solidFill>
                  <a:srgbClr val="CCD1D2"/>
                </a:solidFill>
                <a:latin typeface="Arial" pitchFamily="34" charset="0"/>
                <a:ea typeface="Arial" pitchFamily="34" charset="-122"/>
                <a:cs typeface="Arial" pitchFamily="34" charset="-120"/>
              </a:rPr>
              <a:t>Useful, but not yet a diagnosis.</a:t>
            </a:r>
            <a:endParaRPr lang="en-US" sz="1500" dirty="0"/>
          </a:p>
        </p:txBody>
      </p:sp>
      <p:sp>
        <p:nvSpPr>
          <p:cNvPr id="14" name="Shape 12"/>
          <p:cNvSpPr/>
          <p:nvPr/>
        </p:nvSpPr>
        <p:spPr>
          <a:xfrm>
            <a:off x="4123944" y="3813048"/>
            <a:ext cx="448056" cy="0"/>
          </a:xfrm>
          <a:prstGeom prst="line">
            <a:avLst/>
          </a:prstGeom>
          <a:noFill/>
          <a:ln w="25400">
            <a:solidFill>
              <a:srgbClr val="D71920"/>
            </a:solidFill>
            <a:prstDash val="solid"/>
            <a:tailEnd type="triangle"/>
          </a:ln>
        </p:spPr>
        <p:txBody>
          <a:bodyPr/>
          <a:p/>
        </p:txBody>
      </p:sp>
      <p:sp>
        <p:nvSpPr>
          <p:cNvPr id="15" name="Text 13"/>
          <p:cNvSpPr/>
          <p:nvPr/>
        </p:nvSpPr>
        <p:spPr>
          <a:xfrm>
            <a:off x="4837176" y="264261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PRICE</a:t>
            </a:r>
            <a:endParaRPr lang="en-US" sz="1200" dirty="0"/>
          </a:p>
        </p:txBody>
      </p:sp>
      <p:sp>
        <p:nvSpPr>
          <p:cNvPr id="16" name="Text 14"/>
          <p:cNvSpPr/>
          <p:nvPr/>
        </p:nvSpPr>
        <p:spPr>
          <a:xfrm>
            <a:off x="6748272" y="2624328"/>
            <a:ext cx="4690872" cy="512064"/>
          </a:xfrm>
          <a:prstGeom prst="rect">
            <a:avLst/>
          </a:prstGeom>
          <a:noFill/>
          <a:ln/>
        </p:spPr>
        <p:txBody>
          <a:bodyPr wrap="square" lIns="0" tIns="0" rIns="0" bIns="0" rtlCol="0" anchor="ctr">
            <a:noAutofit/>
          </a:bodyPr>
          <a:lstStyle/>
          <a:p>
            <a:pPr indent="0" marL="0">
              <a:buNone/>
              <a:defRPr sz="1830"/>
            </a:pPr>
            <a:r>
              <a:rPr lang="en-US" sz="1830" dirty="0">
                <a:solidFill>
                  <a:srgbClr val="24282C"/>
                </a:solidFill>
                <a:latin typeface="Arial" pitchFamily="34" charset="0"/>
                <a:ea typeface="Arial" pitchFamily="34" charset="-122"/>
                <a:cs typeface="Arial" pitchFamily="34" charset="-120"/>
              </a:rPr>
              <a:t>Did the same parts sell at a different net price?</a:t>
            </a:r>
            <a:endParaRPr lang="en-US" sz="1830" dirty="0"/>
          </a:p>
        </p:txBody>
      </p:sp>
      <p:sp>
        <p:nvSpPr>
          <p:cNvPr id="17" name="Shape 15"/>
          <p:cNvSpPr/>
          <p:nvPr/>
        </p:nvSpPr>
        <p:spPr>
          <a:xfrm>
            <a:off x="4837176" y="3227832"/>
            <a:ext cx="6601968" cy="0"/>
          </a:xfrm>
          <a:prstGeom prst="line">
            <a:avLst/>
          </a:prstGeom>
          <a:noFill/>
          <a:ln w="8890">
            <a:solidFill>
              <a:srgbClr val="D9DCDA"/>
            </a:solidFill>
            <a:prstDash val="solid"/>
          </a:ln>
        </p:spPr>
        <p:txBody>
          <a:bodyPr/>
          <a:p/>
        </p:txBody>
      </p:sp>
      <p:sp>
        <p:nvSpPr>
          <p:cNvPr id="18" name="Text 16"/>
          <p:cNvSpPr/>
          <p:nvPr/>
        </p:nvSpPr>
        <p:spPr>
          <a:xfrm>
            <a:off x="4837176" y="337413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VOLUME</a:t>
            </a:r>
            <a:endParaRPr lang="en-US" sz="1200" dirty="0"/>
          </a:p>
        </p:txBody>
      </p:sp>
      <p:sp>
        <p:nvSpPr>
          <p:cNvPr id="19" name="Text 17"/>
          <p:cNvSpPr/>
          <p:nvPr/>
        </p:nvSpPr>
        <p:spPr>
          <a:xfrm>
            <a:off x="6748272" y="3355848"/>
            <a:ext cx="4690872" cy="512064"/>
          </a:xfrm>
          <a:prstGeom prst="rect">
            <a:avLst/>
          </a:prstGeom>
          <a:noFill/>
          <a:ln/>
        </p:spPr>
        <p:txBody>
          <a:bodyPr wrap="square" lIns="0" tIns="0" rIns="0" bIns="0" rtlCol="0" anchor="ctr">
            <a:noAutofit/>
          </a:bodyPr>
          <a:lstStyle/>
          <a:p>
            <a:pPr indent="0" marL="0">
              <a:buNone/>
              <a:defRPr sz="1830"/>
            </a:pPr>
            <a:r>
              <a:rPr lang="en-US" sz="1830" dirty="0">
                <a:solidFill>
                  <a:srgbClr val="24282C"/>
                </a:solidFill>
                <a:latin typeface="Arial" pitchFamily="34" charset="0"/>
                <a:ea typeface="Arial" pitchFamily="34" charset="-122"/>
                <a:cs typeface="Arial" pitchFamily="34" charset="-120"/>
              </a:rPr>
              <a:t>Did comparable quantities or repeat orders change?</a:t>
            </a:r>
            <a:endParaRPr lang="en-US" sz="1830" dirty="0"/>
          </a:p>
        </p:txBody>
      </p:sp>
      <p:sp>
        <p:nvSpPr>
          <p:cNvPr id="20" name="Shape 18"/>
          <p:cNvSpPr/>
          <p:nvPr/>
        </p:nvSpPr>
        <p:spPr>
          <a:xfrm>
            <a:off x="4837176" y="3959352"/>
            <a:ext cx="6601968" cy="0"/>
          </a:xfrm>
          <a:prstGeom prst="line">
            <a:avLst/>
          </a:prstGeom>
          <a:noFill/>
          <a:ln w="8890">
            <a:solidFill>
              <a:srgbClr val="D9DCDA"/>
            </a:solidFill>
            <a:prstDash val="solid"/>
          </a:ln>
        </p:spPr>
        <p:txBody>
          <a:bodyPr/>
          <a:p/>
        </p:txBody>
      </p:sp>
      <p:sp>
        <p:nvSpPr>
          <p:cNvPr id="21" name="Text 19"/>
          <p:cNvSpPr/>
          <p:nvPr/>
        </p:nvSpPr>
        <p:spPr>
          <a:xfrm>
            <a:off x="4837176" y="410565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MIX</a:t>
            </a:r>
            <a:endParaRPr lang="en-US" sz="1200" dirty="0"/>
          </a:p>
        </p:txBody>
      </p:sp>
      <p:sp>
        <p:nvSpPr>
          <p:cNvPr id="22" name="Text 20"/>
          <p:cNvSpPr/>
          <p:nvPr/>
        </p:nvSpPr>
        <p:spPr>
          <a:xfrm>
            <a:off x="6748272" y="4087368"/>
            <a:ext cx="4690872" cy="512064"/>
          </a:xfrm>
          <a:prstGeom prst="rect">
            <a:avLst/>
          </a:prstGeom>
          <a:noFill/>
          <a:ln/>
        </p:spPr>
        <p:txBody>
          <a:bodyPr wrap="square" lIns="0" tIns="0" rIns="0" bIns="0" rtlCol="0" anchor="ctr">
            <a:noAutofit/>
          </a:bodyPr>
          <a:lstStyle/>
          <a:p>
            <a:pPr indent="0" marL="0">
              <a:buNone/>
              <a:defRPr sz="1830"/>
            </a:pPr>
            <a:r>
              <a:rPr lang="en-US" sz="1830" dirty="0">
                <a:solidFill>
                  <a:srgbClr val="24282C"/>
                </a:solidFill>
                <a:latin typeface="Arial" pitchFamily="34" charset="0"/>
                <a:ea typeface="Arial" pitchFamily="34" charset="-122"/>
                <a:cs typeface="Arial" pitchFamily="34" charset="-120"/>
              </a:rPr>
              <a:t>Did kits, value parts or high-value repairs change the result?</a:t>
            </a:r>
            <a:endParaRPr lang="en-US" sz="1830" dirty="0"/>
          </a:p>
        </p:txBody>
      </p:sp>
      <p:sp>
        <p:nvSpPr>
          <p:cNvPr id="23" name="Shape 21"/>
          <p:cNvSpPr/>
          <p:nvPr/>
        </p:nvSpPr>
        <p:spPr>
          <a:xfrm>
            <a:off x="4837176" y="4690872"/>
            <a:ext cx="6601968" cy="0"/>
          </a:xfrm>
          <a:prstGeom prst="line">
            <a:avLst/>
          </a:prstGeom>
          <a:noFill/>
          <a:ln w="8890">
            <a:solidFill>
              <a:srgbClr val="D9DCDA"/>
            </a:solidFill>
            <a:prstDash val="solid"/>
          </a:ln>
        </p:spPr>
        <p:txBody>
          <a:bodyPr/>
          <a:p/>
        </p:txBody>
      </p:sp>
      <p:sp>
        <p:nvSpPr>
          <p:cNvPr id="24" name="Text 22"/>
          <p:cNvSpPr/>
          <p:nvPr/>
        </p:nvSpPr>
        <p:spPr>
          <a:xfrm>
            <a:off x="4837176" y="483717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CONCENTRATION</a:t>
            </a:r>
            <a:endParaRPr lang="en-US" sz="1200" dirty="0"/>
          </a:p>
        </p:txBody>
      </p:sp>
      <p:sp>
        <p:nvSpPr>
          <p:cNvPr id="25" name="Text 23"/>
          <p:cNvSpPr/>
          <p:nvPr/>
        </p:nvSpPr>
        <p:spPr>
          <a:xfrm>
            <a:off x="6748272" y="4818888"/>
            <a:ext cx="4690872" cy="512064"/>
          </a:xfrm>
          <a:prstGeom prst="rect">
            <a:avLst/>
          </a:prstGeom>
          <a:noFill/>
          <a:ln/>
        </p:spPr>
        <p:txBody>
          <a:bodyPr wrap="square" lIns="0" tIns="0" rIns="0" bIns="0" rtlCol="0" anchor="ctr">
            <a:noAutofit/>
          </a:bodyPr>
          <a:lstStyle/>
          <a:p>
            <a:pPr indent="0" marL="0">
              <a:buNone/>
              <a:defRPr sz="1830"/>
            </a:pPr>
            <a:r>
              <a:rPr lang="en-US" sz="1830" dirty="0">
                <a:solidFill>
                  <a:srgbClr val="24282C"/>
                </a:solidFill>
                <a:latin typeface="Arial" pitchFamily="34" charset="0"/>
                <a:ea typeface="Arial" pitchFamily="34" charset="-122"/>
                <a:cs typeface="Arial" pitchFamily="34" charset="-120"/>
              </a:rPr>
              <a:t>Is the family movement really one large part number?</a:t>
            </a:r>
            <a:endParaRPr lang="en-US" sz="1830" dirty="0"/>
          </a:p>
        </p:txBody>
      </p:sp>
      <p:sp>
        <p:nvSpPr>
          <p:cNvPr id="26" name="Shape 24"/>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7" name="Text 25"/>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More repeat-service business and a one-off major repair demand different follow-up.</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COMPARING MARKETS</a:t>
            </a:r>
            <a:endParaRPr lang="en-US" sz="1050" dirty="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Market size can hide the more useful question:</a:t>
            </a:r>
            <a:br/>
            <a:r>
              <a:rPr sz="3000" b="1">
                <a:solidFill>
                  <a:srgbClr val="24282C"/>
                </a:solidFill>
                <a:latin typeface="Arial"/>
              </a:rPr>
              <a:t>spend per vehicle.</a:t>
            </a:r>
            <a:endParaRPr lang="en-US" sz="3150" dirty="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Calendar 2025 parts billed per vehicle in service: a starting signal for category review.</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COMPARING MARKETS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11</a:t>
            </a:r>
            <a:endParaRPr lang="en-US" sz="1050" dirty="0"/>
          </a:p>
        </p:txBody>
      </p:sp>
      <p:sp>
        <p:nvSpPr>
          <p:cNvPr id="10" name="Text 8"/>
          <p:cNvSpPr/>
          <p:nvPr/>
        </p:nvSpPr>
        <p:spPr>
          <a:xfrm>
            <a:off x="658368" y="2816352"/>
            <a:ext cx="1828800" cy="329184"/>
          </a:xfrm>
          <a:prstGeom prst="rect">
            <a:avLst/>
          </a:prstGeom>
          <a:noFill/>
          <a:ln/>
        </p:spPr>
        <p:txBody>
          <a:bodyPr wrap="square" lIns="0" tIns="0" rIns="0" bIns="0" rtlCol="0" anchor="ctr">
            <a:noAutofit/>
          </a:bodyPr>
          <a:lstStyle/>
          <a:p>
            <a:pPr indent="0" marL="0">
              <a:buNone/>
            </a:pPr>
            <a:r>
              <a:rPr lang="en-US" sz="1800" b="1" dirty="0">
                <a:solidFill>
                  <a:srgbClr val="24282C"/>
                </a:solidFill>
                <a:latin typeface="Arial" pitchFamily="34" charset="0"/>
                <a:ea typeface="Arial" pitchFamily="34" charset="-122"/>
                <a:cs typeface="Arial" pitchFamily="34" charset="-120"/>
              </a:rPr>
              <a:t>NORWAY</a:t>
            </a:r>
            <a:endParaRPr lang="en-US" sz="1800" dirty="0"/>
          </a:p>
        </p:txBody>
      </p:sp>
      <p:sp>
        <p:nvSpPr>
          <p:cNvPr id="11" name="Shape 9"/>
          <p:cNvSpPr/>
          <p:nvPr/>
        </p:nvSpPr>
        <p:spPr>
          <a:xfrm>
            <a:off x="2798064" y="2825496"/>
            <a:ext cx="5245867"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8171947" y="2807208"/>
            <a:ext cx="923544" cy="402336"/>
          </a:xfrm>
          <a:prstGeom prst="rect">
            <a:avLst/>
          </a:prstGeom>
          <a:noFill/>
          <a:ln/>
        </p:spPr>
        <p:txBody>
          <a:bodyPr wrap="square" lIns="0" tIns="0" rIns="0" bIns="0" rtlCol="0" anchor="ctr">
            <a:noAutofit/>
          </a:bodyPr>
          <a:lstStyle/>
          <a:p>
            <a:pPr indent="0" marL="0">
              <a:buNone/>
            </a:pPr>
            <a:r>
              <a:rPr lang="en-US" sz="2500" b="1" dirty="0">
                <a:solidFill>
                  <a:srgbClr val="24282C"/>
                </a:solidFill>
                <a:latin typeface="Arial" pitchFamily="34" charset="0"/>
                <a:ea typeface="Arial" pitchFamily="34" charset="-122"/>
                <a:cs typeface="Arial" pitchFamily="34" charset="-120"/>
              </a:rPr>
              <a:t>€179</a:t>
            </a:r>
            <a:endParaRPr lang="en-US" sz="2500" dirty="0"/>
          </a:p>
        </p:txBody>
      </p:sp>
      <p:sp>
        <p:nvSpPr>
          <p:cNvPr id="13" name="Text 11"/>
          <p:cNvSpPr/>
          <p:nvPr/>
        </p:nvSpPr>
        <p:spPr>
          <a:xfrm>
            <a:off x="2798064" y="3410712"/>
            <a:ext cx="7644384" cy="274320"/>
          </a:xfrm>
          <a:prstGeom prst="rect">
            <a:avLst/>
          </a:prstGeom>
          <a:noFill/>
          <a:ln/>
        </p:spPr>
        <p:txBody>
          <a:bodyPr wrap="square" lIns="0" tIns="0" rIns="0" bIns="0" rtlCol="0" anchor="ctr">
            <a:noAutofit/>
          </a:bodyPr>
          <a:lstStyle/>
          <a:p>
            <a:pPr indent="0" marL="0">
              <a:buNone/>
            </a:pPr>
            <a:r>
              <a:rPr lang="en-US" sz="1560" dirty="0">
                <a:solidFill>
                  <a:srgbClr val="626A71"/>
                </a:solidFill>
                <a:latin typeface="Arial" pitchFamily="34" charset="0"/>
                <a:ea typeface="Arial" pitchFamily="34" charset="-122"/>
                <a:cs typeface="Arial" pitchFamily="34" charset="-120"/>
              </a:rPr>
              <a:t>€1,416,552 parts billed  |  7,929 vehicles in service</a:t>
            </a:r>
            <a:endParaRPr lang="en-US" sz="1560" dirty="0"/>
          </a:p>
        </p:txBody>
      </p:sp>
      <p:sp>
        <p:nvSpPr>
          <p:cNvPr id="14" name="Text 12"/>
          <p:cNvSpPr/>
          <p:nvPr/>
        </p:nvSpPr>
        <p:spPr>
          <a:xfrm>
            <a:off x="658368" y="4059936"/>
            <a:ext cx="1828800" cy="329184"/>
          </a:xfrm>
          <a:prstGeom prst="rect">
            <a:avLst/>
          </a:prstGeom>
          <a:noFill/>
          <a:ln/>
        </p:spPr>
        <p:txBody>
          <a:bodyPr wrap="square" lIns="0" tIns="0" rIns="0" bIns="0" rtlCol="0" anchor="ctr">
            <a:noAutofit/>
          </a:bodyPr>
          <a:lstStyle/>
          <a:p>
            <a:pPr indent="0" marL="0">
              <a:buNone/>
            </a:pPr>
            <a:r>
              <a:rPr lang="en-US" sz="1800" b="1" dirty="0">
                <a:solidFill>
                  <a:srgbClr val="24282C"/>
                </a:solidFill>
                <a:latin typeface="Arial" pitchFamily="34" charset="0"/>
                <a:ea typeface="Arial" pitchFamily="34" charset="-122"/>
                <a:cs typeface="Arial" pitchFamily="34" charset="-120"/>
              </a:rPr>
              <a:t>SWEDEN</a:t>
            </a:r>
            <a:endParaRPr lang="en-US" sz="1800" dirty="0"/>
          </a:p>
        </p:txBody>
      </p:sp>
      <p:sp>
        <p:nvSpPr>
          <p:cNvPr id="15" name="Shape 13"/>
          <p:cNvSpPr/>
          <p:nvPr/>
        </p:nvSpPr>
        <p:spPr>
          <a:xfrm>
            <a:off x="2798064" y="4069080"/>
            <a:ext cx="4425285" cy="393192"/>
          </a:xfrm>
          <a:prstGeom prst="rect">
            <a:avLst/>
          </a:prstGeom>
          <a:solidFill>
            <a:srgbClr val="D71920"/>
          </a:solidFill>
          <a:ln w="12700">
            <a:solidFill>
              <a:srgbClr val="D71920"/>
            </a:solidFill>
            <a:prstDash val="solid"/>
          </a:ln>
        </p:spPr>
        <p:txBody>
          <a:bodyPr/>
          <a:p/>
        </p:txBody>
      </p:sp>
      <p:sp>
        <p:nvSpPr>
          <p:cNvPr id="16" name="Text 14"/>
          <p:cNvSpPr/>
          <p:nvPr/>
        </p:nvSpPr>
        <p:spPr>
          <a:xfrm>
            <a:off x="7351365" y="4050792"/>
            <a:ext cx="923544" cy="402336"/>
          </a:xfrm>
          <a:prstGeom prst="rect">
            <a:avLst/>
          </a:prstGeom>
          <a:noFill/>
          <a:ln/>
        </p:spPr>
        <p:txBody>
          <a:bodyPr wrap="square" lIns="0" tIns="0" rIns="0" bIns="0" rtlCol="0" anchor="ctr">
            <a:noAutofit/>
          </a:bodyPr>
          <a:lstStyle/>
          <a:p>
            <a:pPr indent="0" marL="0">
              <a:buNone/>
            </a:pPr>
            <a:r>
              <a:rPr lang="en-US" sz="2500" b="1" dirty="0">
                <a:solidFill>
                  <a:srgbClr val="24282C"/>
                </a:solidFill>
                <a:latin typeface="Arial" pitchFamily="34" charset="0"/>
                <a:ea typeface="Arial" pitchFamily="34" charset="-122"/>
                <a:cs typeface="Arial" pitchFamily="34" charset="-120"/>
              </a:rPr>
              <a:t>€151</a:t>
            </a:r>
            <a:endParaRPr lang="en-US" sz="2500" dirty="0"/>
          </a:p>
        </p:txBody>
      </p:sp>
      <p:sp>
        <p:nvSpPr>
          <p:cNvPr id="17" name="Text 15"/>
          <p:cNvSpPr/>
          <p:nvPr/>
        </p:nvSpPr>
        <p:spPr>
          <a:xfrm>
            <a:off x="2798064" y="4654296"/>
            <a:ext cx="7644384" cy="274320"/>
          </a:xfrm>
          <a:prstGeom prst="rect">
            <a:avLst/>
          </a:prstGeom>
          <a:noFill/>
          <a:ln/>
        </p:spPr>
        <p:txBody>
          <a:bodyPr wrap="square" lIns="0" tIns="0" rIns="0" bIns="0" rtlCol="0" anchor="ctr">
            <a:noAutofit/>
          </a:bodyPr>
          <a:lstStyle/>
          <a:p>
            <a:pPr indent="0" marL="0">
              <a:buNone/>
            </a:pPr>
            <a:r>
              <a:rPr lang="en-US" sz="1560" dirty="0">
                <a:solidFill>
                  <a:srgbClr val="626A71"/>
                </a:solidFill>
                <a:latin typeface="Arial" pitchFamily="34" charset="0"/>
                <a:ea typeface="Arial" pitchFamily="34" charset="-122"/>
                <a:cs typeface="Arial" pitchFamily="34" charset="-120"/>
              </a:rPr>
              <a:t>€1,278,462 parts billed  |  8,443 vehicles in service</a:t>
            </a:r>
            <a:endParaRPr lang="en-US" sz="1560" dirty="0"/>
          </a:p>
        </p:txBody>
      </p:sp>
      <p:sp>
        <p:nvSpPr>
          <p:cNvPr id="18" name="Text 16"/>
          <p:cNvSpPr/>
          <p:nvPr/>
        </p:nvSpPr>
        <p:spPr>
          <a:xfrm>
            <a:off x="694944" y="5358384"/>
            <a:ext cx="3730752" cy="347472"/>
          </a:xfrm>
          <a:prstGeom prst="rect">
            <a:avLst/>
          </a:prstGeom>
          <a:noFill/>
          <a:ln/>
        </p:spPr>
        <p:txBody>
          <a:bodyPr wrap="square" lIns="0" tIns="0" rIns="0" bIns="0" rtlCol="0" anchor="ctr">
            <a:noAutofit/>
          </a:bodyPr>
          <a:lstStyle/>
          <a:p>
            <a:pPr indent="0" marL="0">
              <a:buNone/>
              <a:defRPr sz="2000"/>
            </a:pPr>
            <a:r>
              <a:rPr lang="en-US" sz="2000" b="1" dirty="0">
                <a:solidFill>
                  <a:srgbClr val="D71920"/>
                </a:solidFill>
                <a:latin typeface="Arial" pitchFamily="34" charset="0"/>
                <a:ea typeface="Arial" pitchFamily="34" charset="-122"/>
                <a:cs typeface="Arial" pitchFamily="34" charset="-120"/>
              </a:rPr>
              <a:t>AIM adds the next question:</a:t>
            </a:r>
            <a:endParaRPr lang="en-US" sz="2000" dirty="0"/>
          </a:p>
        </p:txBody>
      </p:sp>
      <p:sp>
        <p:nvSpPr>
          <p:cNvPr id="19" name="Text 17"/>
          <p:cNvSpPr/>
          <p:nvPr/>
        </p:nvSpPr>
        <p:spPr>
          <a:xfrm>
            <a:off x="4572000" y="5349240"/>
            <a:ext cx="6803136" cy="457200"/>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Which product family explains the difference?</a:t>
            </a:r>
            <a:endParaRPr lang="en-US" sz="2300" dirty="0"/>
          </a:p>
        </p:txBody>
      </p:sp>
      <p:sp>
        <p:nvSpPr>
          <p:cNvPr id="21" name="Text 18"/>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Source: ISZE numbers context, 19 Sep 2026; calendar 2025. Match vehicle mix before setting a target.</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COMPARABLE CATEGORY REVIEWS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Compare the same product question in each market.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AIM supplies a common range; the comparison then controls for the business context.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COMPARABLE CATEGORY REVIEWS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12</a:t>
            </a:r>
            <a:endParaRPr lang="en-US" sz="1050" dirty="0"/>
          </a:p>
        </p:txBody>
      </p:sp>
      <p:sp>
        <p:nvSpPr>
          <p:cNvPr id="10" name="Text 8"/>
          <p:cNvSpPr/>
          <p:nvPr/>
        </p:nvSpPr>
        <p:spPr>
          <a:xfrm>
            <a:off x="612648"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PRODUCT</a:t>
            </a:r>
            <a:endParaRPr lang="en-US" sz="1200" dirty="0"/>
          </a:p>
        </p:txBody>
      </p:sp>
      <p:sp>
        <p:nvSpPr>
          <p:cNvPr id="11" name="Text 9"/>
          <p:cNvSpPr/>
          <p:nvPr/>
        </p:nvSpPr>
        <p:spPr>
          <a:xfrm>
            <a:off x="612648"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The same type</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and applicable range</a:t>
            </a:r>
            <a:endParaRPr lang="en-US" sz="2100" dirty="0"/>
          </a:p>
        </p:txBody>
      </p:sp>
      <p:sp>
        <p:nvSpPr>
          <p:cNvPr id="12" name="Shape 10"/>
          <p:cNvSpPr/>
          <p:nvPr/>
        </p:nvSpPr>
        <p:spPr>
          <a:xfrm>
            <a:off x="3191256" y="3483864"/>
            <a:ext cx="201168" cy="0"/>
          </a:xfrm>
          <a:prstGeom prst="line">
            <a:avLst/>
          </a:prstGeom>
          <a:noFill/>
          <a:ln w="19050">
            <a:solidFill>
              <a:srgbClr val="D71920"/>
            </a:solidFill>
            <a:prstDash val="solid"/>
            <a:tailEnd type="triangle"/>
          </a:ln>
        </p:spPr>
        <p:txBody>
          <a:bodyPr/>
          <a:p/>
        </p:txBody>
      </p:sp>
      <p:sp>
        <p:nvSpPr>
          <p:cNvPr id="13" name="Text 11"/>
          <p:cNvSpPr/>
          <p:nvPr/>
        </p:nvSpPr>
        <p:spPr>
          <a:xfrm>
            <a:off x="3502152"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FLEET</a:t>
            </a:r>
            <a:endParaRPr lang="en-US" sz="1200" dirty="0"/>
          </a:p>
        </p:txBody>
      </p:sp>
      <p:sp>
        <p:nvSpPr>
          <p:cNvPr id="14" name="Text 12"/>
          <p:cNvSpPr/>
          <p:nvPr/>
        </p:nvSpPr>
        <p:spPr>
          <a:xfrm>
            <a:off x="3502152"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Relevant vehicles</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and operating use</a:t>
            </a:r>
            <a:endParaRPr lang="en-US" sz="2100" dirty="0"/>
          </a:p>
        </p:txBody>
      </p:sp>
      <p:sp>
        <p:nvSpPr>
          <p:cNvPr id="15" name="Shape 13"/>
          <p:cNvSpPr/>
          <p:nvPr/>
        </p:nvSpPr>
        <p:spPr>
          <a:xfrm>
            <a:off x="6080760" y="3483864"/>
            <a:ext cx="201168" cy="0"/>
          </a:xfrm>
          <a:prstGeom prst="line">
            <a:avLst/>
          </a:prstGeom>
          <a:noFill/>
          <a:ln w="19050">
            <a:solidFill>
              <a:srgbClr val="D71920"/>
            </a:solidFill>
            <a:prstDash val="solid"/>
            <a:tailEnd type="triangle"/>
          </a:ln>
        </p:spPr>
        <p:txBody>
          <a:bodyPr/>
          <a:p/>
        </p:txBody>
      </p:sp>
      <p:sp>
        <p:nvSpPr>
          <p:cNvPr id="16" name="Text 14"/>
          <p:cNvSpPr/>
          <p:nvPr/>
        </p:nvSpPr>
        <p:spPr>
          <a:xfrm>
            <a:off x="6391656"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PERIOD</a:t>
            </a:r>
            <a:endParaRPr lang="en-US" sz="1200" dirty="0"/>
          </a:p>
        </p:txBody>
      </p:sp>
      <p:sp>
        <p:nvSpPr>
          <p:cNvPr id="17" name="Text 15"/>
          <p:cNvSpPr/>
          <p:nvPr/>
        </p:nvSpPr>
        <p:spPr>
          <a:xfrm>
            <a:off x="6391656"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The same months</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and sales stage</a:t>
            </a:r>
            <a:endParaRPr lang="en-US" sz="2100" dirty="0"/>
          </a:p>
        </p:txBody>
      </p:sp>
      <p:sp>
        <p:nvSpPr>
          <p:cNvPr id="18" name="Shape 16"/>
          <p:cNvSpPr/>
          <p:nvPr/>
        </p:nvSpPr>
        <p:spPr>
          <a:xfrm>
            <a:off x="8970264" y="3483864"/>
            <a:ext cx="201168" cy="0"/>
          </a:xfrm>
          <a:prstGeom prst="line">
            <a:avLst/>
          </a:prstGeom>
          <a:noFill/>
          <a:ln w="19050">
            <a:solidFill>
              <a:srgbClr val="D71920"/>
            </a:solidFill>
            <a:prstDash val="solid"/>
            <a:tailEnd type="triangle"/>
          </a:ln>
        </p:spPr>
        <p:txBody>
          <a:bodyPr/>
          <a:p/>
        </p:txBody>
      </p:sp>
      <p:sp>
        <p:nvSpPr>
          <p:cNvPr id="19" name="Text 17"/>
          <p:cNvSpPr/>
          <p:nvPr/>
        </p:nvSpPr>
        <p:spPr>
          <a:xfrm>
            <a:off x="9281160"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RESULT</a:t>
            </a:r>
            <a:endParaRPr lang="en-US" sz="1200" dirty="0"/>
          </a:p>
        </p:txBody>
      </p:sp>
      <p:sp>
        <p:nvSpPr>
          <p:cNvPr id="20" name="Text 18"/>
          <p:cNvSpPr/>
          <p:nvPr/>
        </p:nvSpPr>
        <p:spPr>
          <a:xfrm>
            <a:off x="9281160"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Volume, spend per</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vehicle and contribution</a:t>
            </a:r>
            <a:endParaRPr lang="en-US" sz="2100" dirty="0"/>
          </a:p>
        </p:txBody>
      </p:sp>
      <p:sp>
        <p:nvSpPr>
          <p:cNvPr id="21" name="Shape 19"/>
          <p:cNvSpPr/>
          <p:nvPr/>
        </p:nvSpPr>
        <p:spPr>
          <a:xfrm>
            <a:off x="621792" y="4599432"/>
            <a:ext cx="10890504" cy="0"/>
          </a:xfrm>
          <a:prstGeom prst="line">
            <a:avLst/>
          </a:prstGeom>
          <a:noFill/>
          <a:ln w="12700">
            <a:solidFill>
              <a:srgbClr val="D9DCDA"/>
            </a:solidFill>
            <a:prstDash val="solid"/>
          </a:ln>
        </p:spPr>
        <p:txBody>
          <a:bodyPr/>
          <a:p/>
        </p:txBody>
      </p:sp>
      <p:sp>
        <p:nvSpPr>
          <p:cNvPr id="22" name="Text 20"/>
          <p:cNvSpPr/>
          <p:nvPr/>
        </p:nvSpPr>
        <p:spPr>
          <a:xfrm>
            <a:off x="658368" y="5001768"/>
            <a:ext cx="6446520" cy="905256"/>
          </a:xfrm>
          <a:prstGeom prst="rect">
            <a:avLst/>
          </a:prstGeom>
          <a:noFill/>
          <a:ln/>
        </p:spPr>
        <p:txBody>
          <a:bodyPr wrap="square" lIns="0" tIns="0" rIns="0" bIns="0" rtlCol="0" anchor="t">
            <a:noAutofit/>
          </a:bodyPr>
          <a:lstStyle/>
          <a:p>
            <a:pPr indent="0" marL="0">
              <a:buNone/>
            </a:pPr>
            <a:r>
              <a:rPr lang="en-US" sz="2800" b="1" dirty="0">
                <a:solidFill>
                  <a:srgbClr val="24282C"/>
                </a:solidFill>
                <a:latin typeface="Arial" pitchFamily="34" charset="0"/>
                <a:ea typeface="Arial" pitchFamily="34" charset="-122"/>
                <a:cs typeface="Arial" pitchFamily="34" charset="-120"/>
              </a:rPr>
              <a:t>Transfer the winning practice,</a:t>
            </a:r>
            <a:endParaRPr lang="en-US" sz="2800" dirty="0"/>
          </a:p>
          <a:p>
            <a:pPr indent="0" marL="0">
              <a:buNone/>
            </a:pPr>
            <a:r>
              <a:rPr lang="en-US" sz="2800" b="1" dirty="0">
                <a:solidFill>
                  <a:srgbClr val="24282C"/>
                </a:solidFill>
                <a:latin typeface="Arial" pitchFamily="34" charset="0"/>
                <a:ea typeface="Arial" pitchFamily="34" charset="-122"/>
                <a:cs typeface="Arial" pitchFamily="34" charset="-120"/>
              </a:rPr>
              <a:t>not the raw country average.</a:t>
            </a:r>
            <a:endParaRPr lang="en-US" sz="2800" dirty="0"/>
          </a:p>
        </p:txBody>
      </p:sp>
      <p:sp>
        <p:nvSpPr>
          <p:cNvPr id="23" name="Text 21"/>
          <p:cNvSpPr/>
          <p:nvPr/>
        </p:nvSpPr>
        <p:spPr>
          <a:xfrm>
            <a:off x="7635240" y="4992624"/>
            <a:ext cx="3685032" cy="978408"/>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Check the range, stock policy,</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product mix and dealer execution</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behind the stronger pattern.</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MARKET PENETRATION</a:t>
            </a:r>
            <a:endParaRPr lang="en-US" sz="1050" dirty="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Find the range that is underrepresented</a:t>
            </a:r>
            <a:br/>
            <a:r>
              <a:rPr sz="3000" b="1">
                <a:solidFill>
                  <a:srgbClr val="24282C"/>
                </a:solidFill>
                <a:latin typeface="Arial"/>
              </a:rPr>
              <a:t>in the fleet it serves.</a:t>
            </a:r>
            <a:endParaRPr lang="en-US" sz="3150" dirty="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Three complementary views turn a broad market question into a product question.</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MARKET PENETRATION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13</a:t>
            </a:r>
            <a:endParaRPr lang="en-US" sz="1050" dirty="0"/>
          </a:p>
        </p:txBody>
      </p:sp>
      <p:sp>
        <p:nvSpPr>
          <p:cNvPr id="10" name="Shape 8"/>
          <p:cNvSpPr/>
          <p:nvPr/>
        </p:nvSpPr>
        <p:spPr>
          <a:xfrm>
            <a:off x="594360" y="2551176"/>
            <a:ext cx="2532888" cy="795528"/>
          </a:xfrm>
          <a:prstGeom prst="rect">
            <a:avLst/>
          </a:prstGeom>
          <a:solidFill>
            <a:srgbClr val="24282C"/>
          </a:solidFill>
          <a:ln w="12700">
            <a:solidFill>
              <a:srgbClr val="24282C"/>
            </a:solidFill>
            <a:prstDash val="solid"/>
          </a:ln>
        </p:spPr>
        <p:txBody>
          <a:bodyPr/>
          <a:p/>
        </p:txBody>
      </p:sp>
      <p:sp>
        <p:nvSpPr>
          <p:cNvPr id="11" name="Text 9"/>
          <p:cNvSpPr/>
          <p:nvPr/>
        </p:nvSpPr>
        <p:spPr>
          <a:xfrm>
            <a:off x="749808" y="2734056"/>
            <a:ext cx="2194560" cy="411480"/>
          </a:xfrm>
          <a:prstGeom prst="rect">
            <a:avLst/>
          </a:prstGeom>
          <a:noFill/>
          <a:ln/>
        </p:spPr>
        <p:txBody>
          <a:bodyPr wrap="square" lIns="0" tIns="0" rIns="0" bIns="0" rtlCol="0" anchor="ctr">
            <a:noAutofit/>
          </a:bodyPr>
          <a:lstStyle/>
          <a:p>
            <a:pPr indent="0" marL="0">
              <a:buNone/>
            </a:pPr>
            <a:r>
              <a:rPr lang="en-US" sz="2400" b="1" dirty="0">
                <a:solidFill>
                  <a:srgbClr val="FFFFFF"/>
                </a:solidFill>
                <a:latin typeface="Arial" pitchFamily="34" charset="0"/>
                <a:ea typeface="Arial" pitchFamily="34" charset="-122"/>
                <a:cs typeface="Arial" pitchFamily="34" charset="-120"/>
              </a:rPr>
              <a:t>€ / vehicle</a:t>
            </a:r>
            <a:endParaRPr lang="en-US" sz="2400" dirty="0"/>
          </a:p>
        </p:txBody>
      </p:sp>
      <p:sp>
        <p:nvSpPr>
          <p:cNvPr id="12" name="Text 10"/>
          <p:cNvSpPr/>
          <p:nvPr/>
        </p:nvSpPr>
        <p:spPr>
          <a:xfrm>
            <a:off x="3429000" y="2569464"/>
            <a:ext cx="8010144"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How much of the relevant parts business reaches ISZE?</a:t>
            </a:r>
            <a:endParaRPr lang="en-US" sz="2000" dirty="0"/>
          </a:p>
        </p:txBody>
      </p:sp>
      <p:sp>
        <p:nvSpPr>
          <p:cNvPr id="13" name="Text 11"/>
          <p:cNvSpPr/>
          <p:nvPr/>
        </p:nvSpPr>
        <p:spPr>
          <a:xfrm>
            <a:off x="3429000" y="2980944"/>
            <a:ext cx="7964424" cy="292608"/>
          </a:xfrm>
          <a:prstGeom prst="rect">
            <a:avLst/>
          </a:prstGeom>
          <a:noFill/>
          <a:ln/>
        </p:spPr>
        <p:txBody>
          <a:bodyPr wrap="square" lIns="0" tIns="0" rIns="0" bIns="0" rtlCol="0" anchor="ctr">
            <a:noAutofit/>
          </a:bodyPr>
          <a:lstStyle/>
          <a:p>
            <a:pPr indent="0" marL="0">
              <a:buNone/>
            </a:pPr>
            <a:r>
              <a:rPr lang="en-US" sz="1620" dirty="0">
                <a:solidFill>
                  <a:srgbClr val="626A71"/>
                </a:solidFill>
                <a:latin typeface="Arial" pitchFamily="34" charset="0"/>
                <a:ea typeface="Arial" pitchFamily="34" charset="-122"/>
                <a:cs typeface="Arial" pitchFamily="34" charset="-120"/>
              </a:rPr>
              <a:t>Parts billed in the category / relevant vehicles in service</a:t>
            </a:r>
            <a:endParaRPr lang="en-US" sz="1620" dirty="0"/>
          </a:p>
        </p:txBody>
      </p:sp>
      <p:sp>
        <p:nvSpPr>
          <p:cNvPr id="14" name="Shape 12"/>
          <p:cNvSpPr/>
          <p:nvPr/>
        </p:nvSpPr>
        <p:spPr>
          <a:xfrm>
            <a:off x="594360" y="3511296"/>
            <a:ext cx="2532888" cy="795528"/>
          </a:xfrm>
          <a:prstGeom prst="rect">
            <a:avLst/>
          </a:prstGeom>
          <a:solidFill>
            <a:srgbClr val="D71920"/>
          </a:solidFill>
          <a:ln w="12700">
            <a:solidFill>
              <a:srgbClr val="D71920"/>
            </a:solidFill>
            <a:prstDash val="solid"/>
          </a:ln>
        </p:spPr>
        <p:txBody>
          <a:bodyPr/>
          <a:p/>
        </p:txBody>
      </p:sp>
      <p:sp>
        <p:nvSpPr>
          <p:cNvPr id="15" name="Text 13"/>
          <p:cNvSpPr/>
          <p:nvPr/>
        </p:nvSpPr>
        <p:spPr>
          <a:xfrm>
            <a:off x="749808" y="3694176"/>
            <a:ext cx="2194560" cy="411480"/>
          </a:xfrm>
          <a:prstGeom prst="rect">
            <a:avLst/>
          </a:prstGeom>
          <a:noFill/>
          <a:ln/>
        </p:spPr>
        <p:txBody>
          <a:bodyPr wrap="square" lIns="0" tIns="0" rIns="0" bIns="0" rtlCol="0" anchor="ctr">
            <a:noAutofit/>
          </a:bodyPr>
          <a:lstStyle/>
          <a:p>
            <a:pPr indent="0" marL="0">
              <a:buNone/>
            </a:pPr>
            <a:r>
              <a:rPr lang="en-US" sz="2400" b="1" dirty="0">
                <a:solidFill>
                  <a:srgbClr val="FFFFFF"/>
                </a:solidFill>
                <a:latin typeface="Arial" pitchFamily="34" charset="0"/>
                <a:ea typeface="Arial" pitchFamily="34" charset="-122"/>
                <a:cs typeface="Arial" pitchFamily="34" charset="-120"/>
              </a:rPr>
              <a:t>Service cover</a:t>
            </a:r>
            <a:endParaRPr lang="en-US" sz="2400" dirty="0"/>
          </a:p>
        </p:txBody>
      </p:sp>
      <p:sp>
        <p:nvSpPr>
          <p:cNvPr id="16" name="Text 14"/>
          <p:cNvSpPr/>
          <p:nvPr/>
        </p:nvSpPr>
        <p:spPr>
          <a:xfrm>
            <a:off x="3429000" y="3529584"/>
            <a:ext cx="8010144"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How much of the modelled replacement need did we supply?</a:t>
            </a:r>
            <a:endParaRPr lang="en-US" sz="2000" dirty="0"/>
          </a:p>
        </p:txBody>
      </p:sp>
      <p:sp>
        <p:nvSpPr>
          <p:cNvPr id="17" name="Text 15"/>
          <p:cNvSpPr/>
          <p:nvPr/>
        </p:nvSpPr>
        <p:spPr>
          <a:xfrm>
            <a:off x="3429000" y="3941064"/>
            <a:ext cx="7964424" cy="292608"/>
          </a:xfrm>
          <a:prstGeom prst="rect">
            <a:avLst/>
          </a:prstGeom>
          <a:noFill/>
          <a:ln/>
        </p:spPr>
        <p:txBody>
          <a:bodyPr wrap="square" lIns="0" tIns="0" rIns="0" bIns="0" rtlCol="0" anchor="ctr">
            <a:noAutofit/>
          </a:bodyPr>
          <a:lstStyle/>
          <a:p>
            <a:pPr indent="0" marL="0">
              <a:buNone/>
            </a:pPr>
            <a:r>
              <a:rPr lang="en-US" sz="1620" dirty="0">
                <a:solidFill>
                  <a:srgbClr val="626A71"/>
                </a:solidFill>
                <a:latin typeface="Arial" pitchFamily="34" charset="0"/>
                <a:ea typeface="Arial" pitchFamily="34" charset="-122"/>
                <a:cs typeface="Arial" pitchFamily="34" charset="-120"/>
              </a:rPr>
              <a:t>Comparable actual units / expected service units</a:t>
            </a:r>
            <a:endParaRPr lang="en-US" sz="1620" dirty="0"/>
          </a:p>
        </p:txBody>
      </p:sp>
      <p:sp>
        <p:nvSpPr>
          <p:cNvPr id="18" name="Shape 16"/>
          <p:cNvSpPr/>
          <p:nvPr/>
        </p:nvSpPr>
        <p:spPr>
          <a:xfrm>
            <a:off x="594360" y="4471416"/>
            <a:ext cx="2532888" cy="795528"/>
          </a:xfrm>
          <a:prstGeom prst="rect">
            <a:avLst/>
          </a:prstGeom>
          <a:solidFill>
            <a:srgbClr val="24282C"/>
          </a:solidFill>
          <a:ln w="12700">
            <a:solidFill>
              <a:srgbClr val="24282C"/>
            </a:solidFill>
            <a:prstDash val="solid"/>
          </a:ln>
        </p:spPr>
        <p:txBody>
          <a:bodyPr/>
          <a:p/>
        </p:txBody>
      </p:sp>
      <p:sp>
        <p:nvSpPr>
          <p:cNvPr id="19" name="Text 17"/>
          <p:cNvSpPr/>
          <p:nvPr/>
        </p:nvSpPr>
        <p:spPr>
          <a:xfrm>
            <a:off x="749808" y="4654296"/>
            <a:ext cx="2194560" cy="411480"/>
          </a:xfrm>
          <a:prstGeom prst="rect">
            <a:avLst/>
          </a:prstGeom>
          <a:noFill/>
          <a:ln/>
        </p:spPr>
        <p:txBody>
          <a:bodyPr wrap="square" lIns="0" tIns="0" rIns="0" bIns="0" rtlCol="0" anchor="ctr">
            <a:noAutofit/>
          </a:bodyPr>
          <a:lstStyle/>
          <a:p>
            <a:pPr indent="0" marL="0">
              <a:buNone/>
              <a:defRPr sz="2100"/>
            </a:pPr>
            <a:r>
              <a:rPr lang="en-US" sz="2100" b="1" dirty="0">
                <a:solidFill>
                  <a:srgbClr val="FFFFFF"/>
                </a:solidFill>
                <a:latin typeface="Arial" pitchFamily="34" charset="0"/>
                <a:ea typeface="Arial" pitchFamily="34" charset="-122"/>
                <a:cs typeface="Arial" pitchFamily="34" charset="-120"/>
              </a:rPr>
              <a:t>Account breadth</a:t>
            </a:r>
            <a:endParaRPr lang="en-US" sz="2100" dirty="0"/>
          </a:p>
        </p:txBody>
      </p:sp>
      <p:sp>
        <p:nvSpPr>
          <p:cNvPr id="20" name="Text 18"/>
          <p:cNvSpPr/>
          <p:nvPr/>
        </p:nvSpPr>
        <p:spPr>
          <a:xfrm>
            <a:off x="3429000" y="4489704"/>
            <a:ext cx="8010144"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Which eligible accounts buy this range repeatedly?</a:t>
            </a:r>
            <a:endParaRPr lang="en-US" sz="2000" dirty="0"/>
          </a:p>
        </p:txBody>
      </p:sp>
      <p:sp>
        <p:nvSpPr>
          <p:cNvPr id="21" name="Text 19"/>
          <p:cNvSpPr/>
          <p:nvPr/>
        </p:nvSpPr>
        <p:spPr>
          <a:xfrm>
            <a:off x="3429000" y="4901184"/>
            <a:ext cx="7964424" cy="292608"/>
          </a:xfrm>
          <a:prstGeom prst="rect">
            <a:avLst/>
          </a:prstGeom>
          <a:noFill/>
          <a:ln/>
        </p:spPr>
        <p:txBody>
          <a:bodyPr wrap="square" lIns="0" tIns="0" rIns="0" bIns="0" rtlCol="0" anchor="ctr">
            <a:noAutofit/>
          </a:bodyPr>
          <a:lstStyle/>
          <a:p>
            <a:pPr indent="0" marL="0">
              <a:buNone/>
            </a:pPr>
            <a:r>
              <a:rPr lang="en-US" sz="1620" dirty="0">
                <a:solidFill>
                  <a:srgbClr val="626A71"/>
                </a:solidFill>
                <a:latin typeface="Arial" pitchFamily="34" charset="0"/>
                <a:ea typeface="Arial" pitchFamily="34" charset="-122"/>
                <a:cs typeface="Arial" pitchFamily="34" charset="-120"/>
              </a:rPr>
              <a:t>Repeat buyers / identified eligible accounts</a:t>
            </a:r>
            <a:endParaRPr lang="en-US" sz="1620" dirty="0"/>
          </a:p>
        </p:txBody>
      </p:sp>
      <p:sp>
        <p:nvSpPr>
          <p:cNvPr id="22" name="Shape 20"/>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3" name="Text 21"/>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Choose the product range, define its opportunity, then identify the accounts to approach.</a:t>
            </a:r>
            <a:endParaRPr lang="en-US" sz="1750" dirty="0"/>
          </a:p>
        </p:txBody>
      </p:sp>
      <p:sp>
        <p:nvSpPr>
          <p:cNvPr id="25" name="Text 22"/>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Service cover is measured against a modelled expectation, not a verified share of competitor purchases.</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A PRODUCT-LEVEL OPPORTUNITY</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One fleet. Three different commercial questions.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IUK, the UK light-commercial distributor | Calendar 2025 | 47,783 vehicles in service</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A PRODUCT-LEVEL OPPORTUNITY</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14</a:t>
            </a:r>
            <a:endParaRPr lang="en-US" sz="1050" dirty="0"/>
          </a:p>
        </p:txBody>
      </p:sp>
      <p:sp>
        <p:nvSpPr>
          <p:cNvPr id="10" name="Text 8"/>
          <p:cNvSpPr/>
          <p:nvPr/>
        </p:nvSpPr>
        <p:spPr>
          <a:xfrm>
            <a:off x="640080" y="2432304"/>
            <a:ext cx="3721608" cy="265176"/>
          </a:xfrm>
          <a:prstGeom prst="rect">
            <a:avLst/>
          </a:prstGeom>
          <a:noFill/>
          <a:ln/>
        </p:spPr>
        <p:txBody>
          <a:bodyPr wrap="square" lIns="0" tIns="0" rIns="0" bIns="0" rtlCol="0" anchor="ctr">
            <a:noAutofit/>
          </a:bodyPr>
          <a:lstStyle/>
          <a:p>
            <a:pPr indent="0" marL="0">
              <a:buNone/>
            </a:pPr>
            <a:r>
              <a:rPr lang="en-US" sz="1140" b="1" spc="80" kern="0" dirty="0">
                <a:solidFill>
                  <a:srgbClr val="626A71"/>
                </a:solidFill>
                <a:latin typeface="Arial" pitchFamily="34" charset="0"/>
                <a:ea typeface="Arial" pitchFamily="34" charset="-122"/>
                <a:cs typeface="Arial" pitchFamily="34" charset="-120"/>
              </a:rPr>
              <a:t>MODELLED CATEGORY GAP</a:t>
            </a:r>
            <a:endParaRPr lang="en-US" sz="1140" dirty="0"/>
          </a:p>
        </p:txBody>
      </p:sp>
      <p:sp>
        <p:nvSpPr>
          <p:cNvPr id="11" name="Text 9"/>
          <p:cNvSpPr/>
          <p:nvPr/>
        </p:nvSpPr>
        <p:spPr>
          <a:xfrm>
            <a:off x="6053328" y="2432304"/>
            <a:ext cx="5248656" cy="265176"/>
          </a:xfrm>
          <a:prstGeom prst="rect">
            <a:avLst/>
          </a:prstGeom>
          <a:noFill/>
          <a:ln/>
        </p:spPr>
        <p:txBody>
          <a:bodyPr wrap="square" lIns="0" tIns="0" rIns="0" bIns="0" rtlCol="0" anchor="ctr">
            <a:noAutofit/>
          </a:bodyPr>
          <a:lstStyle/>
          <a:p>
            <a:pPr indent="0" marL="0">
              <a:buNone/>
            </a:pPr>
            <a:r>
              <a:rPr lang="en-US" sz="1140" b="1" spc="50" kern="0" dirty="0">
                <a:solidFill>
                  <a:srgbClr val="626A71"/>
                </a:solidFill>
                <a:latin typeface="Arial" pitchFamily="34" charset="0"/>
                <a:ea typeface="Arial" pitchFamily="34" charset="-122"/>
                <a:cs typeface="Arial" pitchFamily="34" charset="-120"/>
              </a:rPr>
              <a:t>SHARE OF EXPECTED UNITS SUPPLIED</a:t>
            </a:r>
            <a:endParaRPr lang="en-US" sz="1140" dirty="0"/>
          </a:p>
        </p:txBody>
      </p:sp>
      <p:sp>
        <p:nvSpPr>
          <p:cNvPr id="12" name="Text 10"/>
          <p:cNvSpPr/>
          <p:nvPr/>
        </p:nvSpPr>
        <p:spPr>
          <a:xfrm>
            <a:off x="658368" y="3008376"/>
            <a:ext cx="2450592" cy="347472"/>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Clutch disc</a:t>
            </a:r>
            <a:endParaRPr lang="en-US" sz="2200" dirty="0"/>
          </a:p>
        </p:txBody>
      </p:sp>
      <p:sp>
        <p:nvSpPr>
          <p:cNvPr id="13" name="Text 11"/>
          <p:cNvSpPr/>
          <p:nvPr/>
        </p:nvSpPr>
        <p:spPr>
          <a:xfrm>
            <a:off x="3191256" y="2980944"/>
            <a:ext cx="2432304" cy="393192"/>
          </a:xfrm>
          <a:prstGeom prst="rect">
            <a:avLst/>
          </a:prstGeom>
          <a:noFill/>
          <a:ln/>
        </p:spPr>
        <p:txBody>
          <a:bodyPr wrap="square" lIns="0" tIns="0" rIns="0" bIns="0" rtlCol="0" anchor="ctr">
            <a:noAutofit/>
          </a:bodyPr>
          <a:lstStyle/>
          <a:p>
            <a:pPr indent="0" marL="0">
              <a:buNone/>
            </a:pPr>
            <a:r>
              <a:rPr lang="en-US" sz="2800" b="1" dirty="0">
                <a:solidFill>
                  <a:srgbClr val="D71920"/>
                </a:solidFill>
                <a:latin typeface="Arial" pitchFamily="34" charset="0"/>
                <a:ea typeface="Arial" pitchFamily="34" charset="-122"/>
                <a:cs typeface="Arial" pitchFamily="34" charset="-120"/>
              </a:rPr>
              <a:t>€1.338M</a:t>
            </a:r>
            <a:endParaRPr lang="en-US" sz="2800" dirty="0"/>
          </a:p>
        </p:txBody>
      </p:sp>
      <p:sp>
        <p:nvSpPr>
          <p:cNvPr id="14" name="Shape 12"/>
          <p:cNvSpPr/>
          <p:nvPr/>
        </p:nvSpPr>
        <p:spPr>
          <a:xfrm>
            <a:off x="6108192" y="3044952"/>
            <a:ext cx="4453128" cy="210312"/>
          </a:xfrm>
          <a:prstGeom prst="rect">
            <a:avLst/>
          </a:prstGeom>
          <a:solidFill>
            <a:srgbClr val="E9ECEB"/>
          </a:solidFill>
          <a:ln w="12700">
            <a:solidFill>
              <a:srgbClr val="E9ECEB"/>
            </a:solidFill>
            <a:prstDash val="solid"/>
          </a:ln>
        </p:spPr>
        <p:txBody>
          <a:bodyPr/>
          <a:p/>
        </p:txBody>
      </p:sp>
      <p:sp>
        <p:nvSpPr>
          <p:cNvPr id="15" name="Shape 13"/>
          <p:cNvSpPr/>
          <p:nvPr/>
        </p:nvSpPr>
        <p:spPr>
          <a:xfrm>
            <a:off x="6108192" y="3044952"/>
            <a:ext cx="200391" cy="210312"/>
          </a:xfrm>
          <a:prstGeom prst="rect">
            <a:avLst/>
          </a:prstGeom>
          <a:solidFill>
            <a:srgbClr val="D71920"/>
          </a:solidFill>
          <a:ln w="12700">
            <a:solidFill>
              <a:srgbClr val="D71920"/>
            </a:solidFill>
            <a:prstDash val="solid"/>
          </a:ln>
        </p:spPr>
        <p:txBody>
          <a:bodyPr/>
          <a:p/>
        </p:txBody>
      </p:sp>
      <p:sp>
        <p:nvSpPr>
          <p:cNvPr id="16" name="Text 14"/>
          <p:cNvSpPr/>
          <p:nvPr/>
        </p:nvSpPr>
        <p:spPr>
          <a:xfrm>
            <a:off x="10707624" y="2971800"/>
            <a:ext cx="868680" cy="365760"/>
          </a:xfrm>
          <a:prstGeom prst="rect">
            <a:avLst/>
          </a:prstGeom>
          <a:noFill/>
          <a:ln/>
        </p:spPr>
        <p:txBody>
          <a:bodyPr wrap="square" lIns="0" tIns="0" rIns="0" bIns="0" rtlCol="0" anchor="ctr">
            <a:noAutofit/>
          </a:bodyPr>
          <a:lstStyle/>
          <a:p>
            <a:pPr algn="r" indent="0" marL="0">
              <a:buNone/>
            </a:pPr>
            <a:r>
              <a:rPr lang="en-US" sz="2100" b="1" dirty="0">
                <a:solidFill>
                  <a:srgbClr val="24282C"/>
                </a:solidFill>
                <a:latin typeface="Arial" pitchFamily="34" charset="0"/>
                <a:ea typeface="Arial" pitchFamily="34" charset="-122"/>
                <a:cs typeface="Arial" pitchFamily="34" charset="-120"/>
              </a:rPr>
              <a:t>4.5%</a:t>
            </a:r>
            <a:endParaRPr lang="en-US" sz="2100" dirty="0"/>
          </a:p>
        </p:txBody>
      </p:sp>
      <p:sp>
        <p:nvSpPr>
          <p:cNvPr id="17" name="Text 15"/>
          <p:cNvSpPr/>
          <p:nvPr/>
        </p:nvSpPr>
        <p:spPr>
          <a:xfrm>
            <a:off x="658368" y="3813048"/>
            <a:ext cx="2450592" cy="347472"/>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Brake pad</a:t>
            </a:r>
            <a:endParaRPr lang="en-US" sz="2200" dirty="0"/>
          </a:p>
        </p:txBody>
      </p:sp>
      <p:sp>
        <p:nvSpPr>
          <p:cNvPr id="18" name="Text 16"/>
          <p:cNvSpPr/>
          <p:nvPr/>
        </p:nvSpPr>
        <p:spPr>
          <a:xfrm>
            <a:off x="3191256" y="3785616"/>
            <a:ext cx="2432304" cy="393192"/>
          </a:xfrm>
          <a:prstGeom prst="rect">
            <a:avLst/>
          </a:prstGeom>
          <a:noFill/>
          <a:ln/>
        </p:spPr>
        <p:txBody>
          <a:bodyPr wrap="square" lIns="0" tIns="0" rIns="0" bIns="0" rtlCol="0" anchor="ctr">
            <a:noAutofit/>
          </a:bodyPr>
          <a:lstStyle/>
          <a:p>
            <a:pPr indent="0" marL="0">
              <a:buNone/>
            </a:pPr>
            <a:r>
              <a:rPr lang="en-US" sz="2800" b="1" dirty="0">
                <a:solidFill>
                  <a:srgbClr val="D71920"/>
                </a:solidFill>
                <a:latin typeface="Arial" pitchFamily="34" charset="0"/>
                <a:ea typeface="Arial" pitchFamily="34" charset="-122"/>
                <a:cs typeface="Arial" pitchFamily="34" charset="-120"/>
              </a:rPr>
              <a:t>€0.807M</a:t>
            </a:r>
            <a:endParaRPr lang="en-US" sz="2800" dirty="0"/>
          </a:p>
        </p:txBody>
      </p:sp>
      <p:sp>
        <p:nvSpPr>
          <p:cNvPr id="19" name="Shape 17"/>
          <p:cNvSpPr/>
          <p:nvPr/>
        </p:nvSpPr>
        <p:spPr>
          <a:xfrm>
            <a:off x="6108192" y="3849624"/>
            <a:ext cx="4453128" cy="210312"/>
          </a:xfrm>
          <a:prstGeom prst="rect">
            <a:avLst/>
          </a:prstGeom>
          <a:solidFill>
            <a:srgbClr val="E9ECEB"/>
          </a:solidFill>
          <a:ln w="12700">
            <a:solidFill>
              <a:srgbClr val="E9ECEB"/>
            </a:solidFill>
            <a:prstDash val="solid"/>
          </a:ln>
        </p:spPr>
        <p:txBody>
          <a:bodyPr/>
          <a:p/>
        </p:txBody>
      </p:sp>
      <p:sp>
        <p:nvSpPr>
          <p:cNvPr id="20" name="Shape 18"/>
          <p:cNvSpPr/>
          <p:nvPr/>
        </p:nvSpPr>
        <p:spPr>
          <a:xfrm>
            <a:off x="6108192" y="3849624"/>
            <a:ext cx="1073204" cy="210312"/>
          </a:xfrm>
          <a:prstGeom prst="rect">
            <a:avLst/>
          </a:prstGeom>
          <a:solidFill>
            <a:srgbClr val="D71920"/>
          </a:solidFill>
          <a:ln w="12700">
            <a:solidFill>
              <a:srgbClr val="D71920"/>
            </a:solidFill>
            <a:prstDash val="solid"/>
          </a:ln>
        </p:spPr>
        <p:txBody>
          <a:bodyPr/>
          <a:p/>
        </p:txBody>
      </p:sp>
      <p:sp>
        <p:nvSpPr>
          <p:cNvPr id="21" name="Text 19"/>
          <p:cNvSpPr/>
          <p:nvPr/>
        </p:nvSpPr>
        <p:spPr>
          <a:xfrm>
            <a:off x="10707624" y="3776472"/>
            <a:ext cx="868680" cy="365760"/>
          </a:xfrm>
          <a:prstGeom prst="rect">
            <a:avLst/>
          </a:prstGeom>
          <a:noFill/>
          <a:ln/>
        </p:spPr>
        <p:txBody>
          <a:bodyPr wrap="square" lIns="0" tIns="0" rIns="0" bIns="0" rtlCol="0" anchor="ctr">
            <a:noAutofit/>
          </a:bodyPr>
          <a:lstStyle/>
          <a:p>
            <a:pPr algn="r" indent="0" marL="0">
              <a:buNone/>
            </a:pPr>
            <a:r>
              <a:rPr lang="en-US" sz="2100" b="1" dirty="0">
                <a:solidFill>
                  <a:srgbClr val="24282C"/>
                </a:solidFill>
                <a:latin typeface="Arial" pitchFamily="34" charset="0"/>
                <a:ea typeface="Arial" pitchFamily="34" charset="-122"/>
                <a:cs typeface="Arial" pitchFamily="34" charset="-120"/>
              </a:rPr>
              <a:t>24.1%</a:t>
            </a:r>
            <a:endParaRPr lang="en-US" sz="2100" dirty="0"/>
          </a:p>
        </p:txBody>
      </p:sp>
      <p:sp>
        <p:nvSpPr>
          <p:cNvPr id="22" name="Text 20"/>
          <p:cNvSpPr/>
          <p:nvPr/>
        </p:nvSpPr>
        <p:spPr>
          <a:xfrm>
            <a:off x="658368" y="4617720"/>
            <a:ext cx="2450592" cy="347472"/>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Fuel filter</a:t>
            </a:r>
            <a:endParaRPr lang="en-US" sz="2200" dirty="0"/>
          </a:p>
        </p:txBody>
      </p:sp>
      <p:sp>
        <p:nvSpPr>
          <p:cNvPr id="23" name="Text 21"/>
          <p:cNvSpPr/>
          <p:nvPr/>
        </p:nvSpPr>
        <p:spPr>
          <a:xfrm>
            <a:off x="3191256" y="4590288"/>
            <a:ext cx="2432304" cy="393192"/>
          </a:xfrm>
          <a:prstGeom prst="rect">
            <a:avLst/>
          </a:prstGeom>
          <a:noFill/>
          <a:ln/>
        </p:spPr>
        <p:txBody>
          <a:bodyPr wrap="square" lIns="0" tIns="0" rIns="0" bIns="0" rtlCol="0" anchor="ctr">
            <a:noAutofit/>
          </a:bodyPr>
          <a:lstStyle/>
          <a:p>
            <a:pPr indent="0" marL="0">
              <a:buNone/>
            </a:pPr>
            <a:r>
              <a:rPr lang="en-US" sz="2800" b="1" dirty="0">
                <a:solidFill>
                  <a:srgbClr val="D71920"/>
                </a:solidFill>
                <a:latin typeface="Arial" pitchFamily="34" charset="0"/>
                <a:ea typeface="Arial" pitchFamily="34" charset="-122"/>
                <a:cs typeface="Arial" pitchFamily="34" charset="-120"/>
              </a:rPr>
              <a:t>€0.485M</a:t>
            </a:r>
            <a:endParaRPr lang="en-US" sz="2800" dirty="0"/>
          </a:p>
        </p:txBody>
      </p:sp>
      <p:sp>
        <p:nvSpPr>
          <p:cNvPr id="24" name="Shape 22"/>
          <p:cNvSpPr/>
          <p:nvPr/>
        </p:nvSpPr>
        <p:spPr>
          <a:xfrm>
            <a:off x="6108192" y="4654296"/>
            <a:ext cx="4453128" cy="210312"/>
          </a:xfrm>
          <a:prstGeom prst="rect">
            <a:avLst/>
          </a:prstGeom>
          <a:solidFill>
            <a:srgbClr val="E9ECEB"/>
          </a:solidFill>
          <a:ln w="12700">
            <a:solidFill>
              <a:srgbClr val="E9ECEB"/>
            </a:solidFill>
            <a:prstDash val="solid"/>
          </a:ln>
        </p:spPr>
        <p:txBody>
          <a:bodyPr/>
          <a:p/>
        </p:txBody>
      </p:sp>
      <p:sp>
        <p:nvSpPr>
          <p:cNvPr id="25" name="Shape 23"/>
          <p:cNvSpPr/>
          <p:nvPr/>
        </p:nvSpPr>
        <p:spPr>
          <a:xfrm>
            <a:off x="6108192" y="4654296"/>
            <a:ext cx="712500" cy="210312"/>
          </a:xfrm>
          <a:prstGeom prst="rect">
            <a:avLst/>
          </a:prstGeom>
          <a:solidFill>
            <a:srgbClr val="D71920"/>
          </a:solidFill>
          <a:ln w="12700">
            <a:solidFill>
              <a:srgbClr val="D71920"/>
            </a:solidFill>
            <a:prstDash val="solid"/>
          </a:ln>
        </p:spPr>
        <p:txBody>
          <a:bodyPr/>
          <a:p/>
        </p:txBody>
      </p:sp>
      <p:sp>
        <p:nvSpPr>
          <p:cNvPr id="26" name="Text 24"/>
          <p:cNvSpPr/>
          <p:nvPr/>
        </p:nvSpPr>
        <p:spPr>
          <a:xfrm>
            <a:off x="10707624" y="4581144"/>
            <a:ext cx="868680" cy="365760"/>
          </a:xfrm>
          <a:prstGeom prst="rect">
            <a:avLst/>
          </a:prstGeom>
          <a:noFill/>
          <a:ln/>
        </p:spPr>
        <p:txBody>
          <a:bodyPr wrap="square" lIns="0" tIns="0" rIns="0" bIns="0" rtlCol="0" anchor="ctr">
            <a:noAutofit/>
          </a:bodyPr>
          <a:lstStyle/>
          <a:p>
            <a:pPr algn="r" indent="0" marL="0">
              <a:buNone/>
            </a:pPr>
            <a:r>
              <a:rPr lang="en-US" sz="2100" b="1" dirty="0">
                <a:solidFill>
                  <a:srgbClr val="24282C"/>
                </a:solidFill>
                <a:latin typeface="Arial" pitchFamily="34" charset="0"/>
                <a:ea typeface="Arial" pitchFamily="34" charset="-122"/>
                <a:cs typeface="Arial" pitchFamily="34" charset="-120"/>
              </a:rPr>
              <a:t>16.0%</a:t>
            </a:r>
            <a:endParaRPr lang="en-US" sz="2100" dirty="0"/>
          </a:p>
        </p:txBody>
      </p:sp>
      <p:sp>
        <p:nvSpPr>
          <p:cNvPr id="27" name="Shape 25"/>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8" name="Text 26"/>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Use AIM to investigate each category with IUK - not treat all three as one purchasing gap.</a:t>
            </a:r>
            <a:endParaRPr lang="en-US" sz="1750" dirty="0"/>
          </a:p>
        </p:txBody>
      </p:sp>
      <p:sp>
        <p:nvSpPr>
          <p:cNvPr id="30" name="Text 27"/>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Source: ISZE numbers context, 19 Sep 2026. Individual modelled gaps; not confirmed competitor turnover.</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30" kern="0" dirty="0">
                <a:solidFill>
                  <a:srgbClr val="626A71"/>
                </a:solidFill>
                <a:latin typeface="Arial" pitchFamily="34" charset="0"/>
                <a:ea typeface="Arial" pitchFamily="34" charset="-122"/>
                <a:cs typeface="Arial" pitchFamily="34" charset="-120"/>
              </a:rPr>
              <a:t>PURCHASING PATTERNS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noAutofit/>
          </a:bodyPr>
          <a:lstStyle/>
          <a:p>
            <a:pPr indent="0" marL="0">
              <a:buNone/>
            </a:pPr>
            <a:r>
              <a:rPr lang="en-US" sz="3150" b="1" dirty="0">
                <a:solidFill>
                  <a:srgbClr val="24282C"/>
                </a:solidFill>
                <a:latin typeface="Arial" pitchFamily="34" charset="0"/>
                <a:ea typeface="Arial" pitchFamily="34" charset="-122"/>
                <a:cs typeface="Arial" pitchFamily="34" charset="-120"/>
              </a:rPr>
              <a:t>Separate weakening purchases from untapped potential.</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The same low category total can require a different distributor discussion.</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PURCHASING PATTERNS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15</a:t>
            </a:r>
            <a:endParaRPr lang="en-US" sz="1050" dirty="0"/>
          </a:p>
        </p:txBody>
      </p:sp>
      <p:sp>
        <p:nvSpPr>
          <p:cNvPr id="10" name="Text 8"/>
          <p:cNvSpPr/>
          <p:nvPr/>
        </p:nvSpPr>
        <p:spPr>
          <a:xfrm>
            <a:off x="667512" y="2404872"/>
            <a:ext cx="9784080" cy="210312"/>
          </a:xfrm>
          <a:prstGeom prst="rect">
            <a:avLst/>
          </a:prstGeom>
          <a:noFill/>
          <a:ln/>
        </p:spPr>
        <p:txBody>
          <a:bodyPr wrap="square" lIns="0" tIns="0" rIns="0" bIns="0" rtlCol="0" anchor="ctr">
            <a:noAutofit/>
          </a:bodyPr>
          <a:lstStyle/>
          <a:p>
            <a:pPr indent="0" marL="0">
              <a:buNone/>
            </a:pPr>
            <a:r>
              <a:rPr lang="en-US" sz="930" b="1" spc="50" kern="0" dirty="0">
                <a:solidFill>
                  <a:srgbClr val="626A71"/>
                </a:solidFill>
                <a:latin typeface="Arial" pitchFamily="34" charset="0"/>
                <a:ea typeface="Arial" pitchFamily="34" charset="-122"/>
                <a:cs typeface="Arial" pitchFamily="34" charset="-120"/>
              </a:rPr>
              <a:t>ILLUSTRATIVE PATTERNS - NOT CURRENT MARKET RESULTS</a:t>
            </a:r>
            <a:endParaRPr lang="en-US" sz="930" dirty="0"/>
          </a:p>
        </p:txBody>
      </p:sp>
      <p:sp>
        <p:nvSpPr>
          <p:cNvPr id="11" name="Shape 9"/>
          <p:cNvSpPr/>
          <p:nvPr/>
        </p:nvSpPr>
        <p:spPr>
          <a:xfrm>
            <a:off x="713232" y="3392424"/>
            <a:ext cx="1536192" cy="0"/>
          </a:xfrm>
          <a:prstGeom prst="line">
            <a:avLst/>
          </a:prstGeom>
          <a:noFill/>
          <a:ln w="10160">
            <a:solidFill>
              <a:srgbClr val="D9DCDA"/>
            </a:solidFill>
            <a:prstDash val="solid"/>
          </a:ln>
        </p:spPr>
        <p:txBody>
          <a:bodyPr/>
          <a:p/>
        </p:txBody>
      </p:sp>
      <p:sp>
        <p:nvSpPr>
          <p:cNvPr id="12" name="Shape 10"/>
          <p:cNvSpPr/>
          <p:nvPr/>
        </p:nvSpPr>
        <p:spPr>
          <a:xfrm>
            <a:off x="822960" y="2832354"/>
            <a:ext cx="246888" cy="29718"/>
          </a:xfrm>
          <a:prstGeom prst="line">
            <a:avLst/>
          </a:prstGeom>
          <a:noFill/>
          <a:ln w="30480">
            <a:solidFill>
              <a:srgbClr val="D71920"/>
            </a:solidFill>
            <a:prstDash val="solid"/>
          </a:ln>
        </p:spPr>
        <p:txBody>
          <a:bodyPr/>
          <a:p/>
        </p:txBody>
      </p:sp>
      <p:sp>
        <p:nvSpPr>
          <p:cNvPr id="13" name="Shape 11"/>
          <p:cNvSpPr/>
          <p:nvPr/>
        </p:nvSpPr>
        <p:spPr>
          <a:xfrm flipV="1">
            <a:off x="1069848" y="2844241"/>
            <a:ext cx="246888" cy="17831"/>
          </a:xfrm>
          <a:prstGeom prst="line">
            <a:avLst/>
          </a:prstGeom>
          <a:noFill/>
          <a:ln w="30480">
            <a:solidFill>
              <a:srgbClr val="D71920"/>
            </a:solidFill>
            <a:prstDash val="solid"/>
          </a:ln>
        </p:spPr>
        <p:txBody>
          <a:bodyPr/>
          <a:p/>
        </p:txBody>
      </p:sp>
      <p:sp>
        <p:nvSpPr>
          <p:cNvPr id="14" name="Shape 12"/>
          <p:cNvSpPr/>
          <p:nvPr/>
        </p:nvSpPr>
        <p:spPr>
          <a:xfrm>
            <a:off x="1316736" y="2844241"/>
            <a:ext cx="246888" cy="59436"/>
          </a:xfrm>
          <a:prstGeom prst="line">
            <a:avLst/>
          </a:prstGeom>
          <a:noFill/>
          <a:ln w="30480">
            <a:solidFill>
              <a:srgbClr val="D71920"/>
            </a:solidFill>
            <a:prstDash val="solid"/>
          </a:ln>
        </p:spPr>
        <p:txBody>
          <a:bodyPr/>
          <a:p/>
        </p:txBody>
      </p:sp>
      <p:sp>
        <p:nvSpPr>
          <p:cNvPr id="15" name="Shape 13"/>
          <p:cNvSpPr/>
          <p:nvPr/>
        </p:nvSpPr>
        <p:spPr>
          <a:xfrm>
            <a:off x="1563624" y="2903677"/>
            <a:ext cx="246888" cy="136703"/>
          </a:xfrm>
          <a:prstGeom prst="line">
            <a:avLst/>
          </a:prstGeom>
          <a:noFill/>
          <a:ln w="30480">
            <a:solidFill>
              <a:srgbClr val="D71920"/>
            </a:solidFill>
            <a:prstDash val="solid"/>
          </a:ln>
        </p:spPr>
        <p:txBody>
          <a:bodyPr/>
          <a:p/>
        </p:txBody>
      </p:sp>
      <p:sp>
        <p:nvSpPr>
          <p:cNvPr id="16" name="Shape 14"/>
          <p:cNvSpPr/>
          <p:nvPr/>
        </p:nvSpPr>
        <p:spPr>
          <a:xfrm>
            <a:off x="1810512" y="3040380"/>
            <a:ext cx="246888" cy="148590"/>
          </a:xfrm>
          <a:prstGeom prst="line">
            <a:avLst/>
          </a:prstGeom>
          <a:noFill/>
          <a:ln w="30480">
            <a:solidFill>
              <a:srgbClr val="D71920"/>
            </a:solidFill>
            <a:prstDash val="solid"/>
          </a:ln>
        </p:spPr>
        <p:txBody>
          <a:bodyPr/>
          <a:p/>
        </p:txBody>
      </p:sp>
      <p:sp>
        <p:nvSpPr>
          <p:cNvPr id="17" name="Text 15"/>
          <p:cNvSpPr/>
          <p:nvPr/>
        </p:nvSpPr>
        <p:spPr>
          <a:xfrm>
            <a:off x="2697480" y="2852928"/>
            <a:ext cx="3675888" cy="594360"/>
          </a:xfrm>
          <a:prstGeom prst="rect">
            <a:avLst/>
          </a:prstGeom>
          <a:noFill/>
          <a:ln/>
        </p:spPr>
        <p:txBody>
          <a:bodyPr wrap="square" lIns="0" tIns="0" rIns="0" bIns="0" rtlCol="0" anchor="ctr">
            <a:noAutofit/>
          </a:bodyPr>
          <a:lstStyle/>
          <a:p>
            <a:pPr indent="0" marL="0">
              <a:lnSpc>
                <a:spcPts val="2300"/>
              </a:lnSpc>
              <a:buNone/>
              <a:defRPr sz="2000"/>
            </a:pPr>
            <a:r>
              <a:rPr lang="en-US" sz="2000" b="1" dirty="0">
                <a:solidFill>
                  <a:srgbClr val="24282C"/>
                </a:solidFill>
                <a:latin typeface="Arial" pitchFamily="34" charset="0"/>
                <a:ea typeface="Arial" pitchFamily="34" charset="-122"/>
                <a:cs typeface="Arial" pitchFamily="34" charset="-120"/>
              </a:rPr>
              <a:t>Previously regular; now weaker</a:t>
            </a:r>
            <a:endParaRPr lang="en-US" sz="2000" dirty="0"/>
          </a:p>
        </p:txBody>
      </p:sp>
      <p:sp>
        <p:nvSpPr>
          <p:cNvPr id="18" name="Text 16"/>
          <p:cNvSpPr/>
          <p:nvPr/>
        </p:nvSpPr>
        <p:spPr>
          <a:xfrm>
            <a:off x="6748272" y="2843784"/>
            <a:ext cx="4672584" cy="60350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Identify the parts that stopped repeating and when the pattern changed.</a:t>
            </a:r>
            <a:endParaRPr lang="en-US" sz="1800" dirty="0"/>
          </a:p>
        </p:txBody>
      </p:sp>
      <p:sp>
        <p:nvSpPr>
          <p:cNvPr id="19" name="Shape 17"/>
          <p:cNvSpPr/>
          <p:nvPr/>
        </p:nvSpPr>
        <p:spPr>
          <a:xfrm>
            <a:off x="2697480" y="3529584"/>
            <a:ext cx="8759952" cy="0"/>
          </a:xfrm>
          <a:prstGeom prst="line">
            <a:avLst/>
          </a:prstGeom>
          <a:noFill/>
          <a:ln w="7620">
            <a:solidFill>
              <a:srgbClr val="D9DCDA"/>
            </a:solidFill>
            <a:prstDash val="solid"/>
          </a:ln>
        </p:spPr>
        <p:txBody>
          <a:bodyPr/>
          <a:p/>
        </p:txBody>
      </p:sp>
      <p:sp>
        <p:nvSpPr>
          <p:cNvPr id="20" name="Shape 18"/>
          <p:cNvSpPr/>
          <p:nvPr/>
        </p:nvSpPr>
        <p:spPr>
          <a:xfrm>
            <a:off x="713232" y="4251960"/>
            <a:ext cx="1536192" cy="0"/>
          </a:xfrm>
          <a:prstGeom prst="line">
            <a:avLst/>
          </a:prstGeom>
          <a:noFill/>
          <a:ln w="10160">
            <a:solidFill>
              <a:srgbClr val="D9DCDA"/>
            </a:solidFill>
            <a:prstDash val="solid"/>
          </a:ln>
        </p:spPr>
        <p:txBody>
          <a:bodyPr/>
          <a:p/>
        </p:txBody>
      </p:sp>
      <p:sp>
        <p:nvSpPr>
          <p:cNvPr id="21" name="Shape 19"/>
          <p:cNvSpPr/>
          <p:nvPr/>
        </p:nvSpPr>
        <p:spPr>
          <a:xfrm flipV="1">
            <a:off x="822960" y="4018788"/>
            <a:ext cx="246888" cy="11887"/>
          </a:xfrm>
          <a:prstGeom prst="line">
            <a:avLst/>
          </a:prstGeom>
          <a:noFill/>
          <a:ln w="30480">
            <a:solidFill>
              <a:srgbClr val="D71920"/>
            </a:solidFill>
            <a:prstDash val="solid"/>
          </a:ln>
        </p:spPr>
        <p:txBody>
          <a:bodyPr/>
          <a:p/>
        </p:txBody>
      </p:sp>
      <p:sp>
        <p:nvSpPr>
          <p:cNvPr id="22" name="Shape 20"/>
          <p:cNvSpPr/>
          <p:nvPr/>
        </p:nvSpPr>
        <p:spPr>
          <a:xfrm>
            <a:off x="1069848" y="4018788"/>
            <a:ext cx="246888" cy="17831"/>
          </a:xfrm>
          <a:prstGeom prst="line">
            <a:avLst/>
          </a:prstGeom>
          <a:noFill/>
          <a:ln w="30480">
            <a:solidFill>
              <a:srgbClr val="D71920"/>
            </a:solidFill>
            <a:prstDash val="solid"/>
          </a:ln>
        </p:spPr>
        <p:txBody>
          <a:bodyPr/>
          <a:p/>
        </p:txBody>
      </p:sp>
      <p:sp>
        <p:nvSpPr>
          <p:cNvPr id="23" name="Shape 21"/>
          <p:cNvSpPr/>
          <p:nvPr/>
        </p:nvSpPr>
        <p:spPr>
          <a:xfrm flipV="1">
            <a:off x="1316736" y="4012845"/>
            <a:ext cx="246888" cy="23774"/>
          </a:xfrm>
          <a:prstGeom prst="line">
            <a:avLst/>
          </a:prstGeom>
          <a:noFill/>
          <a:ln w="30480">
            <a:solidFill>
              <a:srgbClr val="D71920"/>
            </a:solidFill>
            <a:prstDash val="solid"/>
          </a:ln>
        </p:spPr>
        <p:txBody>
          <a:bodyPr/>
          <a:p/>
        </p:txBody>
      </p:sp>
      <p:sp>
        <p:nvSpPr>
          <p:cNvPr id="24" name="Shape 22"/>
          <p:cNvSpPr/>
          <p:nvPr/>
        </p:nvSpPr>
        <p:spPr>
          <a:xfrm>
            <a:off x="1563624" y="4012844"/>
            <a:ext cx="246888" cy="11887"/>
          </a:xfrm>
          <a:prstGeom prst="line">
            <a:avLst/>
          </a:prstGeom>
          <a:noFill/>
          <a:ln w="30480">
            <a:solidFill>
              <a:srgbClr val="D71920"/>
            </a:solidFill>
            <a:prstDash val="solid"/>
          </a:ln>
        </p:spPr>
        <p:txBody>
          <a:bodyPr/>
          <a:p/>
        </p:txBody>
      </p:sp>
      <p:sp>
        <p:nvSpPr>
          <p:cNvPr id="25" name="Shape 23"/>
          <p:cNvSpPr/>
          <p:nvPr/>
        </p:nvSpPr>
        <p:spPr>
          <a:xfrm flipV="1">
            <a:off x="1810512" y="4018788"/>
            <a:ext cx="246888" cy="5944"/>
          </a:xfrm>
          <a:prstGeom prst="line">
            <a:avLst/>
          </a:prstGeom>
          <a:noFill/>
          <a:ln w="30480">
            <a:solidFill>
              <a:srgbClr val="D71920"/>
            </a:solidFill>
            <a:prstDash val="solid"/>
          </a:ln>
        </p:spPr>
        <p:txBody>
          <a:bodyPr/>
          <a:p/>
        </p:txBody>
      </p:sp>
      <p:sp>
        <p:nvSpPr>
          <p:cNvPr id="26" name="Text 24"/>
          <p:cNvSpPr/>
          <p:nvPr/>
        </p:nvSpPr>
        <p:spPr>
          <a:xfrm>
            <a:off x="2697480" y="3712464"/>
            <a:ext cx="3675888" cy="594360"/>
          </a:xfrm>
          <a:prstGeom prst="rect">
            <a:avLst/>
          </a:prstGeom>
          <a:noFill/>
          <a:ln/>
        </p:spPr>
        <p:txBody>
          <a:bodyPr wrap="square" lIns="0" tIns="0" rIns="0" bIns="0" rtlCol="0" anchor="ctr">
            <a:noAutofit/>
          </a:bodyPr>
          <a:lstStyle/>
          <a:p>
            <a:pPr indent="0" marL="0">
              <a:lnSpc>
                <a:spcPts val="2300"/>
              </a:lnSpc>
              <a:buNone/>
              <a:defRPr sz="2000"/>
            </a:pPr>
            <a:r>
              <a:rPr lang="en-US" sz="2000" b="1" dirty="0">
                <a:solidFill>
                  <a:srgbClr val="24282C"/>
                </a:solidFill>
                <a:latin typeface="Arial" pitchFamily="34" charset="0"/>
                <a:ea typeface="Arial" pitchFamily="34" charset="-122"/>
                <a:cs typeface="Arial" pitchFamily="34" charset="-120"/>
              </a:rPr>
              <a:t>Historically underdeveloped</a:t>
            </a:r>
            <a:endParaRPr lang="en-US" sz="2000" dirty="0"/>
          </a:p>
        </p:txBody>
      </p:sp>
      <p:sp>
        <p:nvSpPr>
          <p:cNvPr id="27" name="Text 25"/>
          <p:cNvSpPr/>
          <p:nvPr/>
        </p:nvSpPr>
        <p:spPr>
          <a:xfrm>
            <a:off x="6748272" y="3703320"/>
            <a:ext cx="4672584" cy="60350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Confirm the relevant fleet, applications and current buying route.</a:t>
            </a:r>
            <a:endParaRPr lang="en-US" sz="1800" dirty="0"/>
          </a:p>
        </p:txBody>
      </p:sp>
      <p:sp>
        <p:nvSpPr>
          <p:cNvPr id="28" name="Shape 26"/>
          <p:cNvSpPr/>
          <p:nvPr/>
        </p:nvSpPr>
        <p:spPr>
          <a:xfrm>
            <a:off x="2697480" y="4389120"/>
            <a:ext cx="8759952" cy="0"/>
          </a:xfrm>
          <a:prstGeom prst="line">
            <a:avLst/>
          </a:prstGeom>
          <a:noFill/>
          <a:ln w="7620">
            <a:solidFill>
              <a:srgbClr val="D9DCDA"/>
            </a:solidFill>
            <a:prstDash val="solid"/>
          </a:ln>
        </p:spPr>
        <p:txBody>
          <a:bodyPr/>
          <a:p/>
        </p:txBody>
      </p:sp>
      <p:sp>
        <p:nvSpPr>
          <p:cNvPr id="29" name="Shape 27"/>
          <p:cNvSpPr/>
          <p:nvPr/>
        </p:nvSpPr>
        <p:spPr>
          <a:xfrm>
            <a:off x="713232" y="5111496"/>
            <a:ext cx="1536192" cy="0"/>
          </a:xfrm>
          <a:prstGeom prst="line">
            <a:avLst/>
          </a:prstGeom>
          <a:noFill/>
          <a:ln w="10160">
            <a:solidFill>
              <a:srgbClr val="D9DCDA"/>
            </a:solidFill>
            <a:prstDash val="solid"/>
          </a:ln>
        </p:spPr>
        <p:txBody>
          <a:bodyPr/>
          <a:p/>
        </p:txBody>
      </p:sp>
      <p:sp>
        <p:nvSpPr>
          <p:cNvPr id="30" name="Shape 28"/>
          <p:cNvSpPr/>
          <p:nvPr/>
        </p:nvSpPr>
        <p:spPr>
          <a:xfrm>
            <a:off x="822960" y="4587088"/>
            <a:ext cx="246888" cy="23774"/>
          </a:xfrm>
          <a:prstGeom prst="line">
            <a:avLst/>
          </a:prstGeom>
          <a:noFill/>
          <a:ln w="30480">
            <a:solidFill>
              <a:srgbClr val="D71920"/>
            </a:solidFill>
            <a:prstDash val="solid"/>
          </a:ln>
        </p:spPr>
        <p:txBody>
          <a:bodyPr/>
          <a:p/>
        </p:txBody>
      </p:sp>
      <p:sp>
        <p:nvSpPr>
          <p:cNvPr id="31" name="Shape 29"/>
          <p:cNvSpPr/>
          <p:nvPr/>
        </p:nvSpPr>
        <p:spPr>
          <a:xfrm>
            <a:off x="1069848" y="4610862"/>
            <a:ext cx="246888" cy="77267"/>
          </a:xfrm>
          <a:prstGeom prst="line">
            <a:avLst/>
          </a:prstGeom>
          <a:noFill/>
          <a:ln w="30480">
            <a:solidFill>
              <a:srgbClr val="D71920"/>
            </a:solidFill>
            <a:prstDash val="solid"/>
          </a:ln>
        </p:spPr>
        <p:txBody>
          <a:bodyPr/>
          <a:p/>
        </p:txBody>
      </p:sp>
      <p:sp>
        <p:nvSpPr>
          <p:cNvPr id="32" name="Shape 30"/>
          <p:cNvSpPr/>
          <p:nvPr/>
        </p:nvSpPr>
        <p:spPr>
          <a:xfrm>
            <a:off x="1316736" y="4688129"/>
            <a:ext cx="246888" cy="77267"/>
          </a:xfrm>
          <a:prstGeom prst="line">
            <a:avLst/>
          </a:prstGeom>
          <a:noFill/>
          <a:ln w="30480">
            <a:solidFill>
              <a:srgbClr val="D71920"/>
            </a:solidFill>
            <a:prstDash val="solid"/>
          </a:ln>
        </p:spPr>
        <p:txBody>
          <a:bodyPr/>
          <a:p/>
        </p:txBody>
      </p:sp>
      <p:sp>
        <p:nvSpPr>
          <p:cNvPr id="33" name="Shape 31"/>
          <p:cNvSpPr/>
          <p:nvPr/>
        </p:nvSpPr>
        <p:spPr>
          <a:xfrm>
            <a:off x="1563624" y="4765396"/>
            <a:ext cx="246888" cy="65380"/>
          </a:xfrm>
          <a:prstGeom prst="line">
            <a:avLst/>
          </a:prstGeom>
          <a:noFill/>
          <a:ln w="30480">
            <a:solidFill>
              <a:srgbClr val="D71920"/>
            </a:solidFill>
            <a:prstDash val="solid"/>
          </a:ln>
        </p:spPr>
        <p:txBody>
          <a:bodyPr/>
          <a:p/>
        </p:txBody>
      </p:sp>
      <p:sp>
        <p:nvSpPr>
          <p:cNvPr id="34" name="Shape 32"/>
          <p:cNvSpPr/>
          <p:nvPr/>
        </p:nvSpPr>
        <p:spPr>
          <a:xfrm>
            <a:off x="1810512" y="4830775"/>
            <a:ext cx="246888" cy="47549"/>
          </a:xfrm>
          <a:prstGeom prst="line">
            <a:avLst/>
          </a:prstGeom>
          <a:noFill/>
          <a:ln w="30480">
            <a:solidFill>
              <a:srgbClr val="D71920"/>
            </a:solidFill>
            <a:prstDash val="solid"/>
          </a:ln>
        </p:spPr>
        <p:txBody>
          <a:bodyPr/>
          <a:p/>
        </p:txBody>
      </p:sp>
      <p:sp>
        <p:nvSpPr>
          <p:cNvPr id="35" name="Shape 33"/>
          <p:cNvSpPr/>
          <p:nvPr/>
        </p:nvSpPr>
        <p:spPr>
          <a:xfrm flipV="1">
            <a:off x="822960" y="4919472"/>
            <a:ext cx="246888" cy="18288"/>
          </a:xfrm>
          <a:prstGeom prst="line">
            <a:avLst/>
          </a:prstGeom>
          <a:noFill/>
          <a:ln w="25400">
            <a:solidFill>
              <a:srgbClr val="626A71"/>
            </a:solidFill>
            <a:prstDash val="solid"/>
          </a:ln>
        </p:spPr>
        <p:txBody>
          <a:bodyPr/>
          <a:p/>
        </p:txBody>
      </p:sp>
      <p:sp>
        <p:nvSpPr>
          <p:cNvPr id="36" name="Shape 34"/>
          <p:cNvSpPr/>
          <p:nvPr/>
        </p:nvSpPr>
        <p:spPr>
          <a:xfrm flipV="1">
            <a:off x="1069848" y="4846320"/>
            <a:ext cx="246888" cy="73152"/>
          </a:xfrm>
          <a:prstGeom prst="line">
            <a:avLst/>
          </a:prstGeom>
          <a:noFill/>
          <a:ln w="25400">
            <a:solidFill>
              <a:srgbClr val="626A71"/>
            </a:solidFill>
            <a:prstDash val="solid"/>
          </a:ln>
        </p:spPr>
        <p:txBody>
          <a:bodyPr/>
          <a:p/>
        </p:txBody>
      </p:sp>
      <p:sp>
        <p:nvSpPr>
          <p:cNvPr id="37" name="Shape 35"/>
          <p:cNvSpPr/>
          <p:nvPr/>
        </p:nvSpPr>
        <p:spPr>
          <a:xfrm flipV="1">
            <a:off x="1316736" y="4764024"/>
            <a:ext cx="246888" cy="82296"/>
          </a:xfrm>
          <a:prstGeom prst="line">
            <a:avLst/>
          </a:prstGeom>
          <a:noFill/>
          <a:ln w="25400">
            <a:solidFill>
              <a:srgbClr val="626A71"/>
            </a:solidFill>
            <a:prstDash val="solid"/>
          </a:ln>
        </p:spPr>
        <p:txBody>
          <a:bodyPr/>
          <a:p/>
        </p:txBody>
      </p:sp>
      <p:sp>
        <p:nvSpPr>
          <p:cNvPr id="38" name="Shape 36"/>
          <p:cNvSpPr/>
          <p:nvPr/>
        </p:nvSpPr>
        <p:spPr>
          <a:xfrm flipV="1">
            <a:off x="1563624" y="4690872"/>
            <a:ext cx="246888" cy="73152"/>
          </a:xfrm>
          <a:prstGeom prst="line">
            <a:avLst/>
          </a:prstGeom>
          <a:noFill/>
          <a:ln w="25400">
            <a:solidFill>
              <a:srgbClr val="626A71"/>
            </a:solidFill>
            <a:prstDash val="solid"/>
          </a:ln>
        </p:spPr>
        <p:txBody>
          <a:bodyPr/>
          <a:p/>
        </p:txBody>
      </p:sp>
      <p:sp>
        <p:nvSpPr>
          <p:cNvPr id="39" name="Shape 37"/>
          <p:cNvSpPr/>
          <p:nvPr/>
        </p:nvSpPr>
        <p:spPr>
          <a:xfrm flipV="1">
            <a:off x="1810512" y="4608576"/>
            <a:ext cx="246888" cy="82296"/>
          </a:xfrm>
          <a:prstGeom prst="line">
            <a:avLst/>
          </a:prstGeom>
          <a:noFill/>
          <a:ln w="25400">
            <a:solidFill>
              <a:srgbClr val="626A71"/>
            </a:solidFill>
            <a:prstDash val="solid"/>
          </a:ln>
        </p:spPr>
        <p:txBody>
          <a:bodyPr/>
          <a:p/>
        </p:txBody>
      </p:sp>
      <p:sp>
        <p:nvSpPr>
          <p:cNvPr id="40" name="Text 38"/>
          <p:cNvSpPr/>
          <p:nvPr/>
        </p:nvSpPr>
        <p:spPr>
          <a:xfrm>
            <a:off x="2697480" y="4572000"/>
            <a:ext cx="3675888" cy="594360"/>
          </a:xfrm>
          <a:prstGeom prst="rect">
            <a:avLst/>
          </a:prstGeom>
          <a:noFill/>
          <a:ln/>
        </p:spPr>
        <p:txBody>
          <a:bodyPr wrap="square" lIns="0" tIns="0" rIns="0" bIns="0" rtlCol="0" anchor="ctr">
            <a:noAutofit/>
          </a:bodyPr>
          <a:lstStyle/>
          <a:p>
            <a:pPr indent="0" marL="0">
              <a:lnSpc>
                <a:spcPts val="2300"/>
              </a:lnSpc>
              <a:buNone/>
              <a:defRPr sz="2000"/>
            </a:pPr>
            <a:r>
              <a:rPr lang="en-US" sz="2000" b="1" dirty="0">
                <a:solidFill>
                  <a:srgbClr val="24282C"/>
                </a:solidFill>
                <a:latin typeface="Arial" pitchFamily="34" charset="0"/>
                <a:ea typeface="Arial" pitchFamily="34" charset="-122"/>
                <a:cs typeface="Arial" pitchFamily="34" charset="-120"/>
              </a:rPr>
              <a:t>Purchases moved within the range</a:t>
            </a:r>
            <a:endParaRPr lang="en-US" sz="2000" dirty="0"/>
          </a:p>
        </p:txBody>
      </p:sp>
      <p:sp>
        <p:nvSpPr>
          <p:cNvPr id="41" name="Text 39"/>
          <p:cNvSpPr/>
          <p:nvPr/>
        </p:nvSpPr>
        <p:spPr>
          <a:xfrm>
            <a:off x="6748272" y="4562856"/>
            <a:ext cx="4672584" cy="60350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Check value parts, kits and order timing before treating it as lost business.</a:t>
            </a:r>
            <a:endParaRPr lang="en-US" sz="1800" dirty="0"/>
          </a:p>
        </p:txBody>
      </p:sp>
      <p:sp>
        <p:nvSpPr>
          <p:cNvPr id="42" name="Shape 40"/>
          <p:cNvSpPr/>
          <p:nvPr/>
        </p:nvSpPr>
        <p:spPr>
          <a:xfrm>
            <a:off x="502920" y="5596128"/>
            <a:ext cx="11183112" cy="475488"/>
          </a:xfrm>
          <a:prstGeom prst="rect">
            <a:avLst/>
          </a:prstGeom>
          <a:solidFill>
            <a:srgbClr val="FBEDEC"/>
          </a:solidFill>
          <a:ln w="8255">
            <a:solidFill>
              <a:srgbClr val="FBEDEC"/>
            </a:solidFill>
            <a:prstDash val="solid"/>
          </a:ln>
        </p:spPr>
        <p:txBody>
          <a:bodyPr/>
          <a:p/>
        </p:txBody>
      </p:sp>
      <p:sp>
        <p:nvSpPr>
          <p:cNvPr id="43" name="Text 41"/>
          <p:cNvSpPr/>
          <p:nvPr/>
        </p:nvSpPr>
        <p:spPr>
          <a:xfrm>
            <a:off x="685800" y="5678424"/>
            <a:ext cx="10799064" cy="310896"/>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Diagnose the purchasing pattern before choosing the distributor action.</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30" kern="0" dirty="0">
                <a:solidFill>
                  <a:srgbClr val="626A71"/>
                </a:solidFill>
                <a:latin typeface="Arial" pitchFamily="34" charset="0"/>
                <a:ea typeface="Arial" pitchFamily="34" charset="-122"/>
                <a:cs typeface="Arial" pitchFamily="34" charset="-120"/>
              </a:rPr>
              <a:t>LOCATE THE WEAKNESS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noAutofit/>
          </a:bodyPr>
          <a:lstStyle/>
          <a:p>
            <a:pPr indent="0" marL="0">
              <a:buNone/>
            </a:pPr>
            <a:r>
              <a:rPr lang="en-US" sz="3150" b="1" dirty="0">
                <a:solidFill>
                  <a:srgbClr val="24282C"/>
                </a:solidFill>
                <a:latin typeface="Arial" pitchFamily="34" charset="0"/>
                <a:ea typeface="Arial" pitchFamily="34" charset="-122"/>
                <a:cs typeface="Arial" pitchFamily="34" charset="-120"/>
              </a:rPr>
              <a:t>Find where the category weakness is concentrated.</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A stable family total can hide declining purchases of specific products.</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LOCATE THE WEAKNESS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16</a:t>
            </a:r>
            <a:endParaRPr lang="en-US" sz="1050" dirty="0"/>
          </a:p>
        </p:txBody>
      </p:sp>
      <p:sp>
        <p:nvSpPr>
          <p:cNvPr id="10" name="Shape 8"/>
          <p:cNvSpPr/>
          <p:nvPr/>
        </p:nvSpPr>
        <p:spPr>
          <a:xfrm>
            <a:off x="676656" y="2560320"/>
            <a:ext cx="5541264" cy="2880360"/>
          </a:xfrm>
          <a:prstGeom prst="rect">
            <a:avLst/>
          </a:prstGeom>
          <a:solidFill>
            <a:srgbClr val="FFFFFF"/>
          </a:solidFill>
          <a:ln w="8255">
            <a:solidFill>
              <a:srgbClr val="D9DCDA"/>
            </a:solidFill>
            <a:prstDash val="solid"/>
          </a:ln>
        </p:spPr>
        <p:txBody>
          <a:bodyPr/>
          <a:p/>
        </p:txBody>
      </p:sp>
      <p:sp>
        <p:nvSpPr>
          <p:cNvPr id="11" name="Shape 9"/>
          <p:cNvSpPr/>
          <p:nvPr/>
        </p:nvSpPr>
        <p:spPr>
          <a:xfrm>
            <a:off x="676656" y="2560320"/>
            <a:ext cx="5541264" cy="585216"/>
          </a:xfrm>
          <a:prstGeom prst="rect">
            <a:avLst/>
          </a:prstGeom>
          <a:solidFill>
            <a:srgbClr val="24282C"/>
          </a:solidFill>
          <a:ln w="8255">
            <a:solidFill>
              <a:srgbClr val="24282C"/>
            </a:solidFill>
            <a:prstDash val="solid"/>
          </a:ln>
        </p:spPr>
        <p:txBody>
          <a:bodyPr/>
          <a:p/>
        </p:txBody>
      </p:sp>
      <p:sp>
        <p:nvSpPr>
          <p:cNvPr id="12" name="Text 10"/>
          <p:cNvSpPr/>
          <p:nvPr/>
        </p:nvSpPr>
        <p:spPr>
          <a:xfrm>
            <a:off x="932688" y="2752344"/>
            <a:ext cx="5029200" cy="210312"/>
          </a:xfrm>
          <a:prstGeom prst="rect">
            <a:avLst/>
          </a:prstGeom>
          <a:noFill/>
          <a:ln/>
        </p:spPr>
        <p:txBody>
          <a:bodyPr wrap="square" lIns="0" tIns="0" rIns="0" bIns="0" rtlCol="0" anchor="ctr">
            <a:noAutofit/>
          </a:bodyPr>
          <a:lstStyle/>
          <a:p>
            <a:pPr indent="0" marL="0">
              <a:buNone/>
            </a:pPr>
            <a:r>
              <a:rPr lang="en-US" sz="1200" b="1" spc="80" kern="0" dirty="0">
                <a:solidFill>
                  <a:srgbClr val="FFFFFF"/>
                </a:solidFill>
                <a:latin typeface="Arial" pitchFamily="34" charset="0"/>
                <a:ea typeface="Arial" pitchFamily="34" charset="-122"/>
                <a:cs typeface="Arial" pitchFamily="34" charset="-120"/>
              </a:rPr>
              <a:t>TEST THE PRODUCT RANGE</a:t>
            </a:r>
            <a:endParaRPr lang="en-US" sz="1200" dirty="0"/>
          </a:p>
        </p:txBody>
      </p:sp>
      <p:sp>
        <p:nvSpPr>
          <p:cNvPr id="13" name="Text 11"/>
          <p:cNvSpPr/>
          <p:nvPr/>
        </p:nvSpPr>
        <p:spPr>
          <a:xfrm>
            <a:off x="932688" y="3410712"/>
            <a:ext cx="2057400" cy="512064"/>
          </a:xfrm>
          <a:prstGeom prst="rect">
            <a:avLst/>
          </a:prstGeom>
          <a:noFill/>
          <a:ln/>
        </p:spPr>
        <p:txBody>
          <a:bodyPr wrap="square" lIns="0" tIns="0" rIns="0" bIns="0" rtlCol="0" anchor="ctr">
            <a:noAutofit/>
          </a:bodyPr>
          <a:lstStyle/>
          <a:p>
            <a:pPr indent="0" marL="0">
              <a:buNone/>
            </a:pPr>
            <a:r>
              <a:rPr lang="en-US" sz="1700" b="1" dirty="0">
                <a:solidFill>
                  <a:srgbClr val="24282C"/>
                </a:solidFill>
                <a:latin typeface="Arial" pitchFamily="34" charset="0"/>
                <a:ea typeface="Arial" pitchFamily="34" charset="-122"/>
                <a:cs typeface="Arial" pitchFamily="34" charset="-120"/>
              </a:rPr>
              <a:t>Whole family</a:t>
            </a:r>
            <a:endParaRPr lang="en-US" sz="1700" dirty="0"/>
          </a:p>
        </p:txBody>
      </p:sp>
      <p:sp>
        <p:nvSpPr>
          <p:cNvPr id="14" name="Text 12"/>
          <p:cNvSpPr/>
          <p:nvPr/>
        </p:nvSpPr>
        <p:spPr>
          <a:xfrm>
            <a:off x="3227832" y="3410712"/>
            <a:ext cx="2660904" cy="512064"/>
          </a:xfrm>
          <a:prstGeom prst="rect">
            <a:avLst/>
          </a:prstGeom>
          <a:noFill/>
          <a:ln/>
        </p:spPr>
        <p:txBody>
          <a:bodyPr wrap="square" lIns="0" tIns="0" rIns="0" bIns="0" rtlCol="0" anchor="ctr">
            <a:noAutofit/>
          </a:bodyPr>
          <a:lstStyle/>
          <a:p>
            <a:pPr indent="0" marL="0">
              <a:buNone/>
            </a:pPr>
            <a:r>
              <a:rPr lang="en-US" sz="1650" dirty="0">
                <a:solidFill>
                  <a:srgbClr val="626A71"/>
                </a:solidFill>
                <a:latin typeface="Arial" pitchFamily="34" charset="0"/>
                <a:ea typeface="Arial" pitchFamily="34" charset="-122"/>
                <a:cs typeface="Arial" pitchFamily="34" charset="-120"/>
              </a:rPr>
              <a:t>What is the overall movement?</a:t>
            </a:r>
            <a:endParaRPr lang="en-US" sz="1650" dirty="0"/>
          </a:p>
        </p:txBody>
      </p:sp>
      <p:sp>
        <p:nvSpPr>
          <p:cNvPr id="15" name="Shape 13"/>
          <p:cNvSpPr/>
          <p:nvPr/>
        </p:nvSpPr>
        <p:spPr>
          <a:xfrm>
            <a:off x="932688" y="3968496"/>
            <a:ext cx="4974336" cy="0"/>
          </a:xfrm>
          <a:prstGeom prst="line">
            <a:avLst/>
          </a:prstGeom>
          <a:noFill/>
          <a:ln w="7620">
            <a:solidFill>
              <a:srgbClr val="D9DCDA"/>
            </a:solidFill>
            <a:prstDash val="solid"/>
          </a:ln>
        </p:spPr>
        <p:txBody>
          <a:bodyPr/>
          <a:p/>
        </p:txBody>
      </p:sp>
      <p:sp>
        <p:nvSpPr>
          <p:cNvPr id="16" name="Text 14"/>
          <p:cNvSpPr/>
          <p:nvPr/>
        </p:nvSpPr>
        <p:spPr>
          <a:xfrm>
            <a:off x="932688" y="4041648"/>
            <a:ext cx="2057400" cy="512064"/>
          </a:xfrm>
          <a:prstGeom prst="rect">
            <a:avLst/>
          </a:prstGeom>
          <a:noFill/>
          <a:ln/>
        </p:spPr>
        <p:txBody>
          <a:bodyPr wrap="square" lIns="0" tIns="0" rIns="0" bIns="0" rtlCol="0" anchor="ctr">
            <a:noAutofit/>
          </a:bodyPr>
          <a:lstStyle/>
          <a:p>
            <a:pPr indent="0" marL="0">
              <a:buNone/>
            </a:pPr>
            <a:r>
              <a:rPr lang="en-US" sz="1700" b="1" dirty="0">
                <a:solidFill>
                  <a:srgbClr val="24282C"/>
                </a:solidFill>
                <a:latin typeface="Arial" pitchFamily="34" charset="0"/>
                <a:ea typeface="Arial" pitchFamily="34" charset="-122"/>
                <a:cs typeface="Arial" pitchFamily="34" charset="-120"/>
              </a:rPr>
              <a:t>Largest part numbers</a:t>
            </a:r>
            <a:endParaRPr lang="en-US" sz="1700" dirty="0"/>
          </a:p>
        </p:txBody>
      </p:sp>
      <p:sp>
        <p:nvSpPr>
          <p:cNvPr id="17" name="Text 15"/>
          <p:cNvSpPr/>
          <p:nvPr/>
        </p:nvSpPr>
        <p:spPr>
          <a:xfrm>
            <a:off x="3227832" y="4041648"/>
            <a:ext cx="2660904" cy="512064"/>
          </a:xfrm>
          <a:prstGeom prst="rect">
            <a:avLst/>
          </a:prstGeom>
          <a:noFill/>
          <a:ln/>
        </p:spPr>
        <p:txBody>
          <a:bodyPr wrap="square" lIns="0" tIns="0" rIns="0" bIns="0" rtlCol="0" anchor="ctr">
            <a:noAutofit/>
          </a:bodyPr>
          <a:lstStyle/>
          <a:p>
            <a:pPr indent="0" marL="0">
              <a:buNone/>
            </a:pPr>
            <a:r>
              <a:rPr lang="en-US" sz="1650" dirty="0">
                <a:solidFill>
                  <a:srgbClr val="626A71"/>
                </a:solidFill>
                <a:latin typeface="Arial" pitchFamily="34" charset="0"/>
                <a:ea typeface="Arial" pitchFamily="34" charset="-122"/>
                <a:cs typeface="Arial" pitchFamily="34" charset="-120"/>
              </a:rPr>
              <a:t>Which lines explain the change?</a:t>
            </a:r>
            <a:endParaRPr lang="en-US" sz="1650" dirty="0"/>
          </a:p>
        </p:txBody>
      </p:sp>
      <p:sp>
        <p:nvSpPr>
          <p:cNvPr id="18" name="Shape 16"/>
          <p:cNvSpPr/>
          <p:nvPr/>
        </p:nvSpPr>
        <p:spPr>
          <a:xfrm>
            <a:off x="932688" y="4599432"/>
            <a:ext cx="4974336" cy="0"/>
          </a:xfrm>
          <a:prstGeom prst="line">
            <a:avLst/>
          </a:prstGeom>
          <a:noFill/>
          <a:ln w="7620">
            <a:solidFill>
              <a:srgbClr val="D9DCDA"/>
            </a:solidFill>
            <a:prstDash val="solid"/>
          </a:ln>
        </p:spPr>
        <p:txBody>
          <a:bodyPr/>
          <a:p/>
        </p:txBody>
      </p:sp>
      <p:sp>
        <p:nvSpPr>
          <p:cNvPr id="19" name="Text 17"/>
          <p:cNvSpPr/>
          <p:nvPr/>
        </p:nvSpPr>
        <p:spPr>
          <a:xfrm>
            <a:off x="932688" y="4672584"/>
            <a:ext cx="2057400" cy="512064"/>
          </a:xfrm>
          <a:prstGeom prst="rect">
            <a:avLst/>
          </a:prstGeom>
          <a:noFill/>
          <a:ln/>
        </p:spPr>
        <p:txBody>
          <a:bodyPr wrap="square" lIns="0" tIns="0" rIns="0" bIns="0" rtlCol="0" anchor="ctr">
            <a:noAutofit/>
          </a:bodyPr>
          <a:lstStyle/>
          <a:p>
            <a:pPr indent="0" marL="0">
              <a:buNone/>
            </a:pPr>
            <a:r>
              <a:rPr lang="en-US" sz="1700" b="1" dirty="0">
                <a:solidFill>
                  <a:srgbClr val="24282C"/>
                </a:solidFill>
                <a:latin typeface="Arial" pitchFamily="34" charset="0"/>
                <a:ea typeface="Arial" pitchFamily="34" charset="-122"/>
                <a:cs typeface="Arial" pitchFamily="34" charset="-120"/>
              </a:rPr>
              <a:t>Rest of the family</a:t>
            </a:r>
            <a:endParaRPr lang="en-US" sz="1700" dirty="0"/>
          </a:p>
        </p:txBody>
      </p:sp>
      <p:sp>
        <p:nvSpPr>
          <p:cNvPr id="20" name="Text 18"/>
          <p:cNvSpPr/>
          <p:nvPr/>
        </p:nvSpPr>
        <p:spPr>
          <a:xfrm>
            <a:off x="3227832" y="4672584"/>
            <a:ext cx="2660904" cy="512064"/>
          </a:xfrm>
          <a:prstGeom prst="rect">
            <a:avLst/>
          </a:prstGeom>
          <a:noFill/>
          <a:ln/>
        </p:spPr>
        <p:txBody>
          <a:bodyPr wrap="square" lIns="0" tIns="0" rIns="0" bIns="0" rtlCol="0" anchor="ctr">
            <a:noAutofit/>
          </a:bodyPr>
          <a:lstStyle/>
          <a:p>
            <a:pPr indent="0" marL="0">
              <a:buNone/>
            </a:pPr>
            <a:r>
              <a:rPr lang="en-US" sz="1650" dirty="0">
                <a:solidFill>
                  <a:srgbClr val="626A71"/>
                </a:solidFill>
                <a:latin typeface="Arial" pitchFamily="34" charset="0"/>
                <a:ea typeface="Arial" pitchFamily="34" charset="-122"/>
                <a:cs typeface="Arial" pitchFamily="34" charset="-120"/>
              </a:rPr>
              <a:t>Does the same pattern remain?</a:t>
            </a:r>
            <a:endParaRPr lang="en-US" sz="1650" dirty="0"/>
          </a:p>
        </p:txBody>
      </p:sp>
      <p:sp>
        <p:nvSpPr>
          <p:cNvPr id="21" name="Text 19"/>
          <p:cNvSpPr/>
          <p:nvPr/>
        </p:nvSpPr>
        <p:spPr>
          <a:xfrm>
            <a:off x="6839712" y="2715768"/>
            <a:ext cx="4507992" cy="274320"/>
          </a:xfrm>
          <a:prstGeom prst="rect">
            <a:avLst/>
          </a:prstGeom>
          <a:noFill/>
          <a:ln/>
        </p:spPr>
        <p:txBody>
          <a:bodyPr wrap="square" lIns="0" tIns="0" rIns="0" bIns="0" rtlCol="0" anchor="ctr">
            <a:noAutofit/>
          </a:bodyPr>
          <a:lstStyle/>
          <a:p>
            <a:pPr indent="0" marL="0">
              <a:buNone/>
            </a:pPr>
            <a:r>
              <a:rPr lang="en-US" sz="1200" b="1" spc="80" kern="0" dirty="0">
                <a:solidFill>
                  <a:srgbClr val="D71920"/>
                </a:solidFill>
                <a:latin typeface="Arial" pitchFamily="34" charset="0"/>
                <a:ea typeface="Arial" pitchFamily="34" charset="-122"/>
                <a:cs typeface="Arial" pitchFamily="34" charset="-120"/>
              </a:rPr>
              <a:t>TEST THE ACCOUNT BASE</a:t>
            </a:r>
            <a:endParaRPr lang="en-US" sz="1200" dirty="0"/>
          </a:p>
        </p:txBody>
      </p:sp>
      <p:sp>
        <p:nvSpPr>
          <p:cNvPr id="22" name="Text 20"/>
          <p:cNvSpPr/>
          <p:nvPr/>
        </p:nvSpPr>
        <p:spPr>
          <a:xfrm>
            <a:off x="6839712" y="3337560"/>
            <a:ext cx="4553712" cy="749808"/>
          </a:xfrm>
          <a:prstGeom prst="rect">
            <a:avLst/>
          </a:prstGeom>
          <a:noFill/>
          <a:ln/>
        </p:spPr>
        <p:txBody>
          <a:bodyPr wrap="square" lIns="0" tIns="0" rIns="0" bIns="0" rtlCol="0" anchor="ctr">
            <a:noAutofit/>
          </a:bodyPr>
          <a:lstStyle/>
          <a:p>
            <a:pPr indent="0" marL="0">
              <a:buNone/>
              <a:defRPr sz="2700"/>
            </a:pPr>
            <a:r>
              <a:rPr lang="en-US" sz="2700" b="1" dirty="0">
                <a:solidFill>
                  <a:srgbClr val="24282C"/>
                </a:solidFill>
                <a:latin typeface="Arial" pitchFamily="34" charset="0"/>
                <a:ea typeface="Arial" pitchFamily="34" charset="-122"/>
                <a:cs typeface="Arial" pitchFamily="34" charset="-120"/>
              </a:rPr>
              <a:t>Widespread or concentrated?</a:t>
            </a:r>
            <a:endParaRPr lang="en-US" sz="2700" dirty="0"/>
          </a:p>
        </p:txBody>
      </p:sp>
      <p:sp>
        <p:nvSpPr>
          <p:cNvPr id="23" name="Text 21"/>
          <p:cNvSpPr/>
          <p:nvPr/>
        </p:nvSpPr>
        <p:spPr>
          <a:xfrm>
            <a:off x="6858000" y="4251960"/>
            <a:ext cx="4462272" cy="850392"/>
          </a:xfrm>
          <a:prstGeom prst="rect">
            <a:avLst/>
          </a:prstGeom>
          <a:noFill/>
          <a:ln/>
        </p:spPr>
        <p:txBody>
          <a:bodyPr wrap="square" lIns="0" tIns="0" rIns="0" bIns="0" rtlCol="0" anchor="ctr">
            <a:noAutofit/>
          </a:bodyPr>
          <a:lstStyle/>
          <a:p>
            <a:pPr indent="0" marL="0">
              <a:buNone/>
            </a:pPr>
            <a:r>
              <a:rPr lang="en-US" sz="1900" dirty="0">
                <a:solidFill>
                  <a:srgbClr val="626A71"/>
                </a:solidFill>
                <a:latin typeface="Arial" pitchFamily="34" charset="0"/>
                <a:ea typeface="Arial" pitchFamily="34" charset="-122"/>
                <a:cs typeface="Arial" pitchFamily="34" charset="-120"/>
              </a:rPr>
              <a:t>Use sales to dealer where available to identify whether a few accounts explain the category pattern.</a:t>
            </a:r>
            <a:endParaRPr lang="en-US" sz="1900" dirty="0"/>
          </a:p>
        </p:txBody>
      </p:sp>
      <p:sp>
        <p:nvSpPr>
          <p:cNvPr id="24" name="Text 22"/>
          <p:cNvSpPr/>
          <p:nvPr/>
        </p:nvSpPr>
        <p:spPr>
          <a:xfrm>
            <a:off x="6858000" y="5248656"/>
            <a:ext cx="4507992" cy="548640"/>
          </a:xfrm>
          <a:prstGeom prst="rect">
            <a:avLst/>
          </a:prstGeom>
          <a:noFill/>
          <a:ln/>
        </p:spPr>
        <p:txBody>
          <a:bodyPr wrap="square" lIns="0" tIns="0" rIns="0" bIns="0" rtlCol="0" anchor="ctr">
            <a:noAutofit/>
          </a:bodyPr>
          <a:lstStyle/>
          <a:p>
            <a:pPr indent="0" marL="0">
              <a:buNone/>
            </a:pPr>
            <a:r>
              <a:rPr lang="en-US" sz="1650" b="1" dirty="0">
                <a:solidFill>
                  <a:srgbClr val="24282C"/>
                </a:solidFill>
                <a:latin typeface="Arial" pitchFamily="34" charset="0"/>
                <a:ea typeface="Arial" pitchFamily="34" charset="-122"/>
                <a:cs typeface="Arial" pitchFamily="34" charset="-120"/>
              </a:rPr>
              <a:t>No dealer data? Keep the conclusion at distributor level.</a:t>
            </a:r>
            <a:endParaRPr lang="en-US" sz="1650" dirty="0"/>
          </a:p>
        </p:txBody>
      </p:sp>
      <p:sp>
        <p:nvSpPr>
          <p:cNvPr id="25" name="Shape 23"/>
          <p:cNvSpPr/>
          <p:nvPr/>
        </p:nvSpPr>
        <p:spPr>
          <a:xfrm>
            <a:off x="502920" y="5870448"/>
            <a:ext cx="11183112" cy="475488"/>
          </a:xfrm>
          <a:prstGeom prst="rect">
            <a:avLst/>
          </a:prstGeom>
          <a:solidFill>
            <a:srgbClr val="FBEDEC"/>
          </a:solidFill>
          <a:ln w="8255">
            <a:solidFill>
              <a:srgbClr val="FBEDEC"/>
            </a:solidFill>
            <a:prstDash val="solid"/>
          </a:ln>
        </p:spPr>
        <p:txBody>
          <a:bodyPr/>
          <a:p/>
        </p:txBody>
      </p:sp>
      <p:sp>
        <p:nvSpPr>
          <p:cNvPr id="26" name="Text 24"/>
          <p:cNvSpPr/>
          <p:nvPr/>
        </p:nvSpPr>
        <p:spPr>
          <a:xfrm>
            <a:off x="685800" y="5952744"/>
            <a:ext cx="10799064" cy="310896"/>
          </a:xfrm>
          <a:prstGeom prst="rect">
            <a:avLst/>
          </a:prstGeom>
          <a:noFill/>
          <a:ln/>
        </p:spPr>
        <p:txBody>
          <a:bodyPr wrap="square" lIns="0" tIns="0" rIns="0" bIns="0" rtlCol="0" anchor="ctr">
            <a:noAutofit/>
          </a:bodyPr>
          <a:lstStyle/>
          <a:p>
            <a:pPr indent="0" marL="0">
              <a:buNone/>
            </a:pPr>
            <a:r>
              <a:rPr lang="en-US" sz="1550" b="1" dirty="0">
                <a:solidFill>
                  <a:srgbClr val="24282C"/>
                </a:solidFill>
                <a:latin typeface="Arial" pitchFamily="34" charset="0"/>
                <a:ea typeface="Arial" pitchFamily="34" charset="-122"/>
                <a:cs typeface="Arial" pitchFamily="34" charset="-120"/>
              </a:rPr>
              <a:t>Identify the product movement, establish its cause with the distributor, and target the support accordingly.</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30" kern="0" dirty="0">
                <a:solidFill>
                  <a:srgbClr val="626A71"/>
                </a:solidFill>
                <a:latin typeface="Arial" pitchFamily="34" charset="0"/>
                <a:ea typeface="Arial" pitchFamily="34" charset="-122"/>
                <a:cs typeface="Arial" pitchFamily="34" charset="-120"/>
              </a:rPr>
              <a:t>READ THE COMBINED RANGE</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noAutofit/>
          </a:bodyPr>
          <a:lstStyle/>
          <a:p>
            <a:pPr indent="0" marL="0">
              <a:buNone/>
            </a:pPr>
            <a:r>
              <a:rPr lang="en-US" sz="3150" b="1" dirty="0">
                <a:solidFill>
                  <a:srgbClr val="24282C"/>
                </a:solidFill>
                <a:latin typeface="Arial" pitchFamily="34" charset="0"/>
                <a:ea typeface="Arial" pitchFamily="34" charset="-122"/>
                <a:cs typeface="Arial" pitchFamily="34" charset="-120"/>
              </a:rPr>
              <a:t>Check substitution before calling it lost business.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AIM links the relevant products without making components, kits and value parts identical.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READ THE COMBINED RANGE</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17</a:t>
            </a:r>
            <a:endParaRPr lang="en-US" sz="1050" dirty="0"/>
          </a:p>
        </p:txBody>
      </p:sp>
      <p:sp>
        <p:nvSpPr>
          <p:cNvPr id="10" name="Text 8"/>
          <p:cNvSpPr/>
          <p:nvPr/>
        </p:nvSpPr>
        <p:spPr>
          <a:xfrm>
            <a:off x="749808" y="2505456"/>
            <a:ext cx="5010912" cy="228600"/>
          </a:xfrm>
          <a:prstGeom prst="rect">
            <a:avLst/>
          </a:prstGeom>
          <a:noFill/>
          <a:ln/>
        </p:spPr>
        <p:txBody>
          <a:bodyPr wrap="square" lIns="0" tIns="0" rIns="0" bIns="0" rtlCol="0" anchor="ctr">
            <a:noAutofit/>
          </a:bodyPr>
          <a:lstStyle/>
          <a:p>
            <a:pPr indent="0" marL="0">
              <a:buNone/>
            </a:pPr>
            <a:r>
              <a:rPr lang="en-US" sz="1060" b="1" spc="55" kern="0" dirty="0">
                <a:solidFill>
                  <a:srgbClr val="626A71"/>
                </a:solidFill>
                <a:latin typeface="Arial" pitchFamily="34" charset="0"/>
                <a:ea typeface="Arial" pitchFamily="34" charset="-122"/>
                <a:cs typeface="Arial" pitchFamily="34" charset="-120"/>
              </a:rPr>
              <a:t>PATTERN TO CHECK</a:t>
            </a:r>
            <a:endParaRPr lang="en-US" sz="1060" dirty="0"/>
          </a:p>
        </p:txBody>
      </p:sp>
      <p:sp>
        <p:nvSpPr>
          <p:cNvPr id="11" name="Text 9"/>
          <p:cNvSpPr/>
          <p:nvPr/>
        </p:nvSpPr>
        <p:spPr>
          <a:xfrm>
            <a:off x="6364224" y="2505456"/>
            <a:ext cx="5166360" cy="228600"/>
          </a:xfrm>
          <a:prstGeom prst="rect">
            <a:avLst/>
          </a:prstGeom>
          <a:noFill/>
          <a:ln/>
        </p:spPr>
        <p:txBody>
          <a:bodyPr wrap="square" lIns="0" tIns="0" rIns="0" bIns="0" rtlCol="0" anchor="ctr">
            <a:noAutofit/>
          </a:bodyPr>
          <a:lstStyle/>
          <a:p>
            <a:pPr indent="0" marL="0">
              <a:buNone/>
            </a:pPr>
            <a:r>
              <a:rPr lang="en-US" sz="1060" b="1" spc="55" kern="0" dirty="0">
                <a:solidFill>
                  <a:srgbClr val="626A71"/>
                </a:solidFill>
                <a:latin typeface="Arial" pitchFamily="34" charset="0"/>
                <a:ea typeface="Arial" pitchFamily="34" charset="-122"/>
                <a:cs typeface="Arial" pitchFamily="34" charset="-120"/>
              </a:rPr>
              <a:t>WHAT TO CHECK WITH THE DISTRIBUTOR</a:t>
            </a:r>
            <a:endParaRPr lang="en-US" sz="1060" dirty="0"/>
          </a:p>
        </p:txBody>
      </p:sp>
      <p:sp>
        <p:nvSpPr>
          <p:cNvPr id="12" name="Shape 10"/>
          <p:cNvSpPr/>
          <p:nvPr/>
        </p:nvSpPr>
        <p:spPr>
          <a:xfrm>
            <a:off x="704088" y="2999232"/>
            <a:ext cx="5184648" cy="621792"/>
          </a:xfrm>
          <a:prstGeom prst="rect">
            <a:avLst/>
          </a:prstGeom>
          <a:solidFill>
            <a:srgbClr val="24282C"/>
          </a:solidFill>
          <a:ln w="8255">
            <a:solidFill>
              <a:srgbClr val="24282C"/>
            </a:solidFill>
            <a:prstDash val="solid"/>
          </a:ln>
        </p:spPr>
        <p:txBody>
          <a:bodyPr/>
          <a:p/>
        </p:txBody>
      </p:sp>
      <p:sp>
        <p:nvSpPr>
          <p:cNvPr id="13" name="Text 11"/>
          <p:cNvSpPr/>
          <p:nvPr/>
        </p:nvSpPr>
        <p:spPr>
          <a:xfrm>
            <a:off x="932688" y="3118104"/>
            <a:ext cx="4690872" cy="384048"/>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Original down / value up</a:t>
            </a:r>
            <a:endParaRPr lang="en-US" sz="2100" dirty="0"/>
          </a:p>
        </p:txBody>
      </p:sp>
      <p:sp>
        <p:nvSpPr>
          <p:cNvPr id="14" name="Shape 12"/>
          <p:cNvSpPr/>
          <p:nvPr/>
        </p:nvSpPr>
        <p:spPr>
          <a:xfrm>
            <a:off x="5989320" y="3300984"/>
            <a:ext cx="256032" cy="0"/>
          </a:xfrm>
          <a:prstGeom prst="line">
            <a:avLst/>
          </a:prstGeom>
          <a:noFill/>
          <a:ln w="15240">
            <a:solidFill>
              <a:srgbClr val="D71920"/>
            </a:solidFill>
            <a:prstDash val="solid"/>
            <a:tailEnd type="triangle"/>
          </a:ln>
        </p:spPr>
        <p:txBody>
          <a:bodyPr/>
          <a:p/>
        </p:txBody>
      </p:sp>
      <p:sp>
        <p:nvSpPr>
          <p:cNvPr id="15" name="Text 13"/>
          <p:cNvSpPr/>
          <p:nvPr/>
        </p:nvSpPr>
        <p:spPr>
          <a:xfrm>
            <a:off x="6473952" y="3008376"/>
            <a:ext cx="4846320" cy="667512"/>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Check original and value parts together, with their combined contribution.</a:t>
            </a:r>
            <a:endParaRPr lang="en-US" sz="1800" dirty="0"/>
          </a:p>
        </p:txBody>
      </p:sp>
      <p:sp>
        <p:nvSpPr>
          <p:cNvPr id="16" name="Shape 14"/>
          <p:cNvSpPr/>
          <p:nvPr/>
        </p:nvSpPr>
        <p:spPr>
          <a:xfrm>
            <a:off x="704088" y="3831336"/>
            <a:ext cx="5184648" cy="621792"/>
          </a:xfrm>
          <a:prstGeom prst="rect">
            <a:avLst/>
          </a:prstGeom>
          <a:solidFill>
            <a:srgbClr val="FFFFFF"/>
          </a:solidFill>
          <a:ln w="8255">
            <a:solidFill>
              <a:srgbClr val="D9DCDA"/>
            </a:solidFill>
            <a:prstDash val="solid"/>
          </a:ln>
        </p:spPr>
        <p:txBody>
          <a:bodyPr/>
          <a:p/>
        </p:txBody>
      </p:sp>
      <p:sp>
        <p:nvSpPr>
          <p:cNvPr id="17" name="Text 15"/>
          <p:cNvSpPr/>
          <p:nvPr/>
        </p:nvSpPr>
        <p:spPr>
          <a:xfrm>
            <a:off x="932688" y="3950208"/>
            <a:ext cx="4690872" cy="384048"/>
          </a:xfrm>
          <a:prstGeom prst="rect">
            <a:avLst/>
          </a:prstGeom>
          <a:noFill/>
          <a:ln/>
        </p:spPr>
        <p:txBody>
          <a:bodyPr wrap="square" lIns="0" tIns="0" rIns="0" bIns="0" rtlCol="0" anchor="ctr">
            <a:noAutofit/>
          </a:bodyPr>
          <a:lstStyle/>
          <a:p>
            <a:pPr indent="0" marL="0">
              <a:buNone/>
            </a:pPr>
            <a:r>
              <a:rPr lang="en-US" sz="2100" b="1" dirty="0">
                <a:solidFill>
                  <a:srgbClr val="24282C"/>
                </a:solidFill>
                <a:latin typeface="Arial" pitchFamily="34" charset="0"/>
                <a:ea typeface="Arial" pitchFamily="34" charset="-122"/>
                <a:cs typeface="Arial" pitchFamily="34" charset="-120"/>
              </a:rPr>
              <a:t>Components down / kits up</a:t>
            </a:r>
            <a:endParaRPr lang="en-US" sz="2100" dirty="0"/>
          </a:p>
        </p:txBody>
      </p:sp>
      <p:sp>
        <p:nvSpPr>
          <p:cNvPr id="18" name="Shape 16"/>
          <p:cNvSpPr/>
          <p:nvPr/>
        </p:nvSpPr>
        <p:spPr>
          <a:xfrm>
            <a:off x="5989320" y="4133088"/>
            <a:ext cx="256032" cy="0"/>
          </a:xfrm>
          <a:prstGeom prst="line">
            <a:avLst/>
          </a:prstGeom>
          <a:noFill/>
          <a:ln w="15240">
            <a:solidFill>
              <a:srgbClr val="D71920"/>
            </a:solidFill>
            <a:prstDash val="solid"/>
            <a:tailEnd type="triangle"/>
          </a:ln>
        </p:spPr>
        <p:txBody>
          <a:bodyPr/>
          <a:p/>
        </p:txBody>
      </p:sp>
      <p:sp>
        <p:nvSpPr>
          <p:cNvPr id="19" name="Text 17"/>
          <p:cNvSpPr/>
          <p:nvPr/>
        </p:nvSpPr>
        <p:spPr>
          <a:xfrm>
            <a:off x="6473952" y="3840480"/>
            <a:ext cx="4846320" cy="667512"/>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Verify kit contents and comparable quantities. Count each billed kit once.</a:t>
            </a:r>
            <a:endParaRPr lang="en-US" sz="1800" dirty="0"/>
          </a:p>
        </p:txBody>
      </p:sp>
      <p:sp>
        <p:nvSpPr>
          <p:cNvPr id="20" name="Shape 18"/>
          <p:cNvSpPr/>
          <p:nvPr/>
        </p:nvSpPr>
        <p:spPr>
          <a:xfrm>
            <a:off x="704088" y="4663440"/>
            <a:ext cx="5184648" cy="621792"/>
          </a:xfrm>
          <a:prstGeom prst="rect">
            <a:avLst/>
          </a:prstGeom>
          <a:solidFill>
            <a:srgbClr val="FFFFFF"/>
          </a:solidFill>
          <a:ln w="8255">
            <a:solidFill>
              <a:srgbClr val="D9DCDA"/>
            </a:solidFill>
            <a:prstDash val="solid"/>
          </a:ln>
        </p:spPr>
        <p:txBody>
          <a:bodyPr/>
          <a:p/>
        </p:txBody>
      </p:sp>
      <p:sp>
        <p:nvSpPr>
          <p:cNvPr id="21" name="Text 19"/>
          <p:cNvSpPr/>
          <p:nvPr/>
        </p:nvSpPr>
        <p:spPr>
          <a:xfrm>
            <a:off x="932688" y="4782312"/>
            <a:ext cx="4690872" cy="384048"/>
          </a:xfrm>
          <a:prstGeom prst="rect">
            <a:avLst/>
          </a:prstGeom>
          <a:noFill/>
          <a:ln/>
        </p:spPr>
        <p:txBody>
          <a:bodyPr wrap="square" lIns="0" tIns="0" rIns="0" bIns="0" rtlCol="0" anchor="ctr">
            <a:noAutofit/>
          </a:bodyPr>
          <a:lstStyle/>
          <a:p>
            <a:pPr indent="0" marL="0">
              <a:buNone/>
            </a:pPr>
            <a:r>
              <a:rPr lang="en-US" sz="1900" b="1" dirty="0">
                <a:solidFill>
                  <a:srgbClr val="24282C"/>
                </a:solidFill>
                <a:latin typeface="Arial" pitchFamily="34" charset="0"/>
                <a:ea typeface="Arial" pitchFamily="34" charset="-122"/>
                <a:cs typeface="Arial" pitchFamily="34" charset="-120"/>
              </a:rPr>
              <a:t>Some related parts rarely bought</a:t>
            </a:r>
            <a:endParaRPr lang="en-US" sz="1900" dirty="0"/>
          </a:p>
        </p:txBody>
      </p:sp>
      <p:sp>
        <p:nvSpPr>
          <p:cNvPr id="22" name="Shape 20"/>
          <p:cNvSpPr/>
          <p:nvPr/>
        </p:nvSpPr>
        <p:spPr>
          <a:xfrm>
            <a:off x="5989320" y="4965192"/>
            <a:ext cx="256032" cy="0"/>
          </a:xfrm>
          <a:prstGeom prst="line">
            <a:avLst/>
          </a:prstGeom>
          <a:noFill/>
          <a:ln w="15240">
            <a:solidFill>
              <a:srgbClr val="D71920"/>
            </a:solidFill>
            <a:prstDash val="solid"/>
            <a:tailEnd type="triangle"/>
          </a:ln>
        </p:spPr>
        <p:txBody>
          <a:bodyPr/>
          <a:p/>
        </p:txBody>
      </p:sp>
      <p:sp>
        <p:nvSpPr>
          <p:cNvPr id="23" name="Text 21"/>
          <p:cNvSpPr/>
          <p:nvPr/>
        </p:nvSpPr>
        <p:spPr>
          <a:xfrm>
            <a:off x="6473952" y="4672584"/>
            <a:ext cx="4846320" cy="740664"/>
          </a:xfrm>
          <a:prstGeom prst="rect">
            <a:avLst/>
          </a:prstGeom>
          <a:noFill/>
          <a:ln/>
        </p:spPr>
        <p:txBody>
          <a:bodyPr wrap="square" lIns="0" tIns="0" rIns="0" bIns="0" rtlCol="0" anchor="ctr">
            <a:noAutofit/>
          </a:bodyPr>
          <a:lstStyle/>
          <a:p>
            <a:pPr indent="0" marL="0">
              <a:lnSpc>
                <a:spcPts val="2000"/>
              </a:lnSpc>
              <a:buNone/>
              <a:defRPr sz="1750"/>
            </a:pPr>
            <a:r>
              <a:rPr lang="en-US" sz="1750" dirty="0">
                <a:solidFill>
                  <a:srgbClr val="626A71"/>
                </a:solidFill>
                <a:latin typeface="Arial" pitchFamily="34" charset="0"/>
                <a:ea typeface="Arial" pitchFamily="34" charset="-122"/>
                <a:cs typeface="Arial" pitchFamily="34" charset="-120"/>
              </a:rPr>
              <a:t>Check applications, stock and buying routes before calling a missing companion part a lost sale.</a:t>
            </a:r>
            <a:endParaRPr lang="en-US" sz="1750" dirty="0"/>
          </a:p>
        </p:txBody>
      </p:sp>
      <p:sp>
        <p:nvSpPr>
          <p:cNvPr id="24" name="Shape 22"/>
          <p:cNvSpPr/>
          <p:nvPr/>
        </p:nvSpPr>
        <p:spPr>
          <a:xfrm>
            <a:off x="502920" y="5596128"/>
            <a:ext cx="11183112" cy="475488"/>
          </a:xfrm>
          <a:prstGeom prst="rect">
            <a:avLst/>
          </a:prstGeom>
          <a:solidFill>
            <a:srgbClr val="FBEDEC"/>
          </a:solidFill>
          <a:ln w="8255">
            <a:solidFill>
              <a:srgbClr val="FBEDEC"/>
            </a:solidFill>
            <a:prstDash val="solid"/>
          </a:ln>
        </p:spPr>
        <p:txBody>
          <a:bodyPr/>
          <a:p/>
        </p:txBody>
      </p:sp>
      <p:sp>
        <p:nvSpPr>
          <p:cNvPr id="25" name="Text 23"/>
          <p:cNvSpPr/>
          <p:nvPr/>
        </p:nvSpPr>
        <p:spPr>
          <a:xfrm>
            <a:off x="685800" y="5678424"/>
            <a:ext cx="10799064" cy="310896"/>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AIM distinguishes a change in buying mix from a question about business lost.</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30" kern="0" dirty="0">
                <a:solidFill>
                  <a:srgbClr val="626A71"/>
                </a:solidFill>
                <a:latin typeface="Arial" pitchFamily="34" charset="0"/>
                <a:ea typeface="Arial" pitchFamily="34" charset="-122"/>
                <a:cs typeface="Arial" pitchFamily="34" charset="-120"/>
              </a:rPr>
              <a:t>SELECTIVE DISTRIBUTOR SUPPORT</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noAutofit/>
          </a:bodyPr>
          <a:lstStyle/>
          <a:p>
            <a:pPr indent="0" marL="0">
              <a:buNone/>
            </a:pPr>
            <a:r>
              <a:rPr lang="en-US" sz="3150" b="1" dirty="0">
                <a:solidFill>
                  <a:srgbClr val="24282C"/>
                </a:solidFill>
                <a:latin typeface="Arial" pitchFamily="34" charset="0"/>
                <a:ea typeface="Arial" pitchFamily="34" charset="-122"/>
                <a:cs typeface="Arial" pitchFamily="34" charset="-120"/>
              </a:rPr>
              <a:t>Give distributors room to compete on the right lines.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Pricing is one response to the analysis - not the starting explanation for every gap.</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SELECTIVE DISTRIBUTOR SUPPORT</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18</a:t>
            </a:r>
            <a:endParaRPr lang="en-US" sz="1050" dirty="0"/>
          </a:p>
        </p:txBody>
      </p:sp>
      <p:sp>
        <p:nvSpPr>
          <p:cNvPr id="10" name="Shape 8"/>
          <p:cNvSpPr/>
          <p:nvPr/>
        </p:nvSpPr>
        <p:spPr>
          <a:xfrm>
            <a:off x="704088" y="2670048"/>
            <a:ext cx="4370832" cy="2532888"/>
          </a:xfrm>
          <a:prstGeom prst="rect">
            <a:avLst/>
          </a:prstGeom>
          <a:solidFill>
            <a:srgbClr val="24282C"/>
          </a:solidFill>
          <a:ln w="8255">
            <a:solidFill>
              <a:srgbClr val="24282C"/>
            </a:solidFill>
            <a:prstDash val="solid"/>
          </a:ln>
        </p:spPr>
        <p:txBody>
          <a:bodyPr/>
          <a:p/>
        </p:txBody>
      </p:sp>
      <p:sp>
        <p:nvSpPr>
          <p:cNvPr id="11" name="Text 9"/>
          <p:cNvSpPr/>
          <p:nvPr/>
        </p:nvSpPr>
        <p:spPr>
          <a:xfrm>
            <a:off x="987552" y="2907792"/>
            <a:ext cx="3785616" cy="256032"/>
          </a:xfrm>
          <a:prstGeom prst="rect">
            <a:avLst/>
          </a:prstGeom>
          <a:noFill/>
          <a:ln/>
        </p:spPr>
        <p:txBody>
          <a:bodyPr wrap="square" lIns="0" tIns="0" rIns="0" bIns="0" rtlCol="0" anchor="ctr">
            <a:noAutofit/>
          </a:bodyPr>
          <a:lstStyle/>
          <a:p>
            <a:pPr indent="0" marL="0">
              <a:buNone/>
            </a:pPr>
            <a:r>
              <a:rPr lang="en-US" sz="1180" b="1" spc="80" kern="0" dirty="0">
                <a:solidFill>
                  <a:srgbClr val="F2969B"/>
                </a:solidFill>
                <a:latin typeface="Arial" pitchFamily="34" charset="0"/>
                <a:ea typeface="Arial" pitchFamily="34" charset="-122"/>
                <a:cs typeface="Arial" pitchFamily="34" charset="-120"/>
              </a:rPr>
              <a:t>DEFINE THE SUPPORT</a:t>
            </a:r>
            <a:endParaRPr lang="en-US" sz="1180" dirty="0"/>
          </a:p>
        </p:txBody>
      </p:sp>
      <p:sp>
        <p:nvSpPr>
          <p:cNvPr id="12" name="Text 10"/>
          <p:cNvSpPr/>
          <p:nvPr/>
        </p:nvSpPr>
        <p:spPr>
          <a:xfrm>
            <a:off x="987552" y="3483864"/>
            <a:ext cx="3739896" cy="1417320"/>
          </a:xfrm>
          <a:prstGeom prst="rect">
            <a:avLst/>
          </a:prstGeom>
          <a:noFill/>
          <a:ln/>
        </p:spPr>
        <p:txBody>
          <a:bodyPr wrap="square" lIns="0" tIns="0" rIns="0" bIns="0" rtlCol="0" anchor="ctr">
            <a:noAutofit/>
          </a:bodyPr>
          <a:lstStyle/>
          <a:p>
            <a:pPr indent="0" marL="0">
              <a:lnSpc>
                <a:spcPts val="3100"/>
              </a:lnSpc>
              <a:buNone/>
              <a:defRPr sz="2500"/>
            </a:pPr>
            <a:r>
              <a:rPr lang="en-US" sz="2500" b="1" dirty="0">
                <a:solidFill>
                  <a:srgbClr val="FFFFFF"/>
                </a:solidFill>
                <a:latin typeface="Arial" pitchFamily="34" charset="0"/>
                <a:ea typeface="Arial" pitchFamily="34" charset="-122"/>
                <a:cs typeface="Arial" pitchFamily="34" charset="-120"/>
              </a:rPr>
              <a:t>Selected part numbers.</a:t>
            </a:r>
            <a:endParaRPr lang="en-US" sz="2500" dirty="0"/>
          </a:p>
          <a:p>
            <a:pPr indent="0" marL="0">
              <a:lnSpc>
                <a:spcPts val="3100"/>
              </a:lnSpc>
              <a:buNone/>
              <a:defRPr sz="2500"/>
            </a:pPr>
            <a:r>
              <a:rPr lang="en-US" sz="2500" b="1" dirty="0">
                <a:solidFill>
                  <a:srgbClr val="FFFFFF"/>
                </a:solidFill>
                <a:latin typeface="Arial" pitchFamily="34" charset="0"/>
                <a:ea typeface="Arial" pitchFamily="34" charset="-122"/>
                <a:cs typeface="Arial" pitchFamily="34" charset="-120"/>
              </a:rPr>
              <a:t>One distributor.</a:t>
            </a:r>
            <a:endParaRPr lang="en-US" sz="2500" dirty="0"/>
          </a:p>
          <a:p>
            <a:pPr indent="0" marL="0">
              <a:lnSpc>
                <a:spcPts val="3100"/>
              </a:lnSpc>
              <a:buNone/>
              <a:defRPr sz="2500"/>
            </a:pPr>
            <a:r>
              <a:rPr lang="en-US" sz="2500" b="1" dirty="0">
                <a:solidFill>
                  <a:srgbClr val="FFFFFF"/>
                </a:solidFill>
                <a:latin typeface="Arial" pitchFamily="34" charset="0"/>
                <a:ea typeface="Arial" pitchFamily="34" charset="-122"/>
                <a:cs typeface="Arial" pitchFamily="34" charset="-120"/>
              </a:rPr>
              <a:t>An agreed period.</a:t>
            </a:r>
            <a:endParaRPr lang="en-US" sz="2500" dirty="0"/>
          </a:p>
        </p:txBody>
      </p:sp>
      <p:sp>
        <p:nvSpPr>
          <p:cNvPr id="13" name="Text 11"/>
          <p:cNvSpPr/>
          <p:nvPr/>
        </p:nvSpPr>
        <p:spPr>
          <a:xfrm>
            <a:off x="5660136" y="2807208"/>
            <a:ext cx="5669280" cy="329184"/>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Comparable evidence</a:t>
            </a:r>
            <a:endParaRPr lang="en-US" sz="2050" dirty="0"/>
          </a:p>
        </p:txBody>
      </p:sp>
      <p:sp>
        <p:nvSpPr>
          <p:cNvPr id="14" name="Text 12"/>
          <p:cNvSpPr/>
          <p:nvPr/>
        </p:nvSpPr>
        <p:spPr>
          <a:xfrm>
            <a:off x="5669280" y="3200400"/>
            <a:ext cx="5596128" cy="393192"/>
          </a:xfrm>
          <a:prstGeom prst="rect">
            <a:avLst/>
          </a:prstGeom>
          <a:noFill/>
          <a:ln/>
        </p:spPr>
        <p:txBody>
          <a:bodyPr wrap="square" lIns="0" tIns="0" rIns="0" bIns="0" rtlCol="0" anchor="ctr">
            <a:noAutofit/>
          </a:bodyPr>
          <a:lstStyle/>
          <a:p>
            <a:pPr indent="0" marL="0">
              <a:buNone/>
            </a:pPr>
            <a:r>
              <a:rPr lang="en-US" sz="1750" dirty="0">
                <a:solidFill>
                  <a:srgbClr val="626A71"/>
                </a:solidFill>
                <a:latin typeface="Arial" pitchFamily="34" charset="0"/>
                <a:ea typeface="Arial" pitchFamily="34" charset="-122"/>
                <a:cs typeface="Arial" pitchFamily="34" charset="-120"/>
              </a:rPr>
              <a:t>Confirm the product, local alternative and terms.</a:t>
            </a:r>
            <a:endParaRPr lang="en-US" sz="1750" dirty="0"/>
          </a:p>
        </p:txBody>
      </p:sp>
      <p:sp>
        <p:nvSpPr>
          <p:cNvPr id="15" name="Shape 13"/>
          <p:cNvSpPr/>
          <p:nvPr/>
        </p:nvSpPr>
        <p:spPr>
          <a:xfrm>
            <a:off x="5660136" y="3630168"/>
            <a:ext cx="5715000" cy="0"/>
          </a:xfrm>
          <a:prstGeom prst="line">
            <a:avLst/>
          </a:prstGeom>
          <a:noFill/>
          <a:ln w="8890">
            <a:solidFill>
              <a:srgbClr val="D9DCDA"/>
            </a:solidFill>
            <a:prstDash val="solid"/>
          </a:ln>
        </p:spPr>
        <p:txBody>
          <a:bodyPr/>
          <a:p/>
        </p:txBody>
      </p:sp>
      <p:sp>
        <p:nvSpPr>
          <p:cNvPr id="16" name="Text 14"/>
          <p:cNvSpPr/>
          <p:nvPr/>
        </p:nvSpPr>
        <p:spPr>
          <a:xfrm>
            <a:off x="5660136" y="3703320"/>
            <a:ext cx="5669280" cy="329184"/>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Commercial room</a:t>
            </a:r>
            <a:endParaRPr lang="en-US" sz="2050" dirty="0"/>
          </a:p>
        </p:txBody>
      </p:sp>
      <p:sp>
        <p:nvSpPr>
          <p:cNvPr id="17" name="Text 15"/>
          <p:cNvSpPr/>
          <p:nvPr/>
        </p:nvSpPr>
        <p:spPr>
          <a:xfrm>
            <a:off x="5669280" y="4096512"/>
            <a:ext cx="5596128" cy="393192"/>
          </a:xfrm>
          <a:prstGeom prst="rect">
            <a:avLst/>
          </a:prstGeom>
          <a:noFill/>
          <a:ln/>
        </p:spPr>
        <p:txBody>
          <a:bodyPr wrap="square" lIns="0" tIns="0" rIns="0" bIns="0" rtlCol="0" anchor="ctr">
            <a:noAutofit/>
          </a:bodyPr>
          <a:lstStyle/>
          <a:p>
            <a:pPr indent="0" marL="0">
              <a:buNone/>
            </a:pPr>
            <a:r>
              <a:rPr lang="en-US" sz="1750" dirty="0">
                <a:solidFill>
                  <a:srgbClr val="626A71"/>
                </a:solidFill>
                <a:latin typeface="Arial" pitchFamily="34" charset="0"/>
                <a:ea typeface="Arial" pitchFamily="34" charset="-122"/>
                <a:cs typeface="Arial" pitchFamily="34" charset="-120"/>
              </a:rPr>
              <a:t>Target the ISZE terms that help the distributor compete.</a:t>
            </a:r>
            <a:endParaRPr lang="en-US" sz="1750" dirty="0"/>
          </a:p>
        </p:txBody>
      </p:sp>
      <p:sp>
        <p:nvSpPr>
          <p:cNvPr id="18" name="Shape 16"/>
          <p:cNvSpPr/>
          <p:nvPr/>
        </p:nvSpPr>
        <p:spPr>
          <a:xfrm>
            <a:off x="5660136" y="4526280"/>
            <a:ext cx="5715000" cy="0"/>
          </a:xfrm>
          <a:prstGeom prst="line">
            <a:avLst/>
          </a:prstGeom>
          <a:noFill/>
          <a:ln w="8890">
            <a:solidFill>
              <a:srgbClr val="D9DCDA"/>
            </a:solidFill>
            <a:prstDash val="solid"/>
          </a:ln>
        </p:spPr>
        <p:txBody>
          <a:bodyPr/>
          <a:p/>
        </p:txBody>
      </p:sp>
      <p:sp>
        <p:nvSpPr>
          <p:cNvPr id="19" name="Text 17"/>
          <p:cNvSpPr/>
          <p:nvPr/>
        </p:nvSpPr>
        <p:spPr>
          <a:xfrm>
            <a:off x="5660136" y="4599432"/>
            <a:ext cx="5669280" cy="329184"/>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Contribution protected</a:t>
            </a:r>
            <a:endParaRPr lang="en-US" sz="2050" dirty="0"/>
          </a:p>
        </p:txBody>
      </p:sp>
      <p:sp>
        <p:nvSpPr>
          <p:cNvPr id="20" name="Text 18"/>
          <p:cNvSpPr/>
          <p:nvPr/>
        </p:nvSpPr>
        <p:spPr>
          <a:xfrm>
            <a:off x="5669280" y="4992624"/>
            <a:ext cx="5596128" cy="393192"/>
          </a:xfrm>
          <a:prstGeom prst="rect">
            <a:avLst/>
          </a:prstGeom>
          <a:noFill/>
          <a:ln/>
        </p:spPr>
        <p:txBody>
          <a:bodyPr wrap="square" lIns="0" tIns="0" rIns="0" bIns="0" rtlCol="0" anchor="ctr">
            <a:noAutofit/>
          </a:bodyPr>
          <a:lstStyle/>
          <a:p>
            <a:pPr indent="0" marL="0">
              <a:buNone/>
            </a:pPr>
            <a:r>
              <a:rPr lang="en-US" sz="1750" dirty="0">
                <a:solidFill>
                  <a:srgbClr val="626A71"/>
                </a:solidFill>
                <a:latin typeface="Arial" pitchFamily="34" charset="0"/>
                <a:ea typeface="Arial" pitchFamily="34" charset="-122"/>
                <a:cs typeface="Arial" pitchFamily="34" charset="-120"/>
              </a:rPr>
              <a:t>Test repeat purchasing and achieved contribution.</a:t>
            </a:r>
            <a:endParaRPr lang="en-US" sz="1750" dirty="0"/>
          </a:p>
        </p:txBody>
      </p:sp>
      <p:sp>
        <p:nvSpPr>
          <p:cNvPr id="21" name="Shape 19"/>
          <p:cNvSpPr/>
          <p:nvPr/>
        </p:nvSpPr>
        <p:spPr>
          <a:xfrm>
            <a:off x="502920" y="5596128"/>
            <a:ext cx="11183112" cy="475488"/>
          </a:xfrm>
          <a:prstGeom prst="rect">
            <a:avLst/>
          </a:prstGeom>
          <a:solidFill>
            <a:srgbClr val="FBEDEC"/>
          </a:solidFill>
          <a:ln w="8255">
            <a:solidFill>
              <a:srgbClr val="FBEDEC"/>
            </a:solidFill>
            <a:prstDash val="solid"/>
          </a:ln>
        </p:spPr>
        <p:txBody>
          <a:bodyPr/>
          <a:p/>
        </p:txBody>
      </p:sp>
      <p:sp>
        <p:nvSpPr>
          <p:cNvPr id="22" name="Text 20"/>
          <p:cNvSpPr/>
          <p:nvPr/>
        </p:nvSpPr>
        <p:spPr>
          <a:xfrm>
            <a:off x="685800" y="5678424"/>
            <a:ext cx="10799064" cy="310896"/>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Support the justified lines; preserve margin on the rest of the family.</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AVAILABILITY AND RANGE</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Distributors need the right stock behind each range.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Product-level insight can concentrate availability work on the ranges that matter commercially.</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AVAILABILITY AND RANGE</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19</a:t>
            </a:r>
            <a:endParaRPr lang="en-US" sz="1050" dirty="0"/>
          </a:p>
        </p:txBody>
      </p:sp>
      <p:sp>
        <p:nvSpPr>
          <p:cNvPr id="10" name="Text 8"/>
          <p:cNvSpPr/>
          <p:nvPr/>
        </p:nvSpPr>
        <p:spPr>
          <a:xfrm>
            <a:off x="704088" y="2743200"/>
            <a:ext cx="667512" cy="484632"/>
          </a:xfrm>
          <a:prstGeom prst="rect">
            <a:avLst/>
          </a:prstGeom>
          <a:noFill/>
          <a:ln/>
        </p:spPr>
        <p:txBody>
          <a:bodyPr wrap="square" lIns="0" tIns="0" rIns="0" bIns="0" rtlCol="0" anchor="ctr">
            <a:noAutofit/>
          </a:bodyPr>
          <a:lstStyle/>
          <a:p>
            <a:pPr indent="0" marL="0">
              <a:buNone/>
            </a:pPr>
            <a:r>
              <a:rPr lang="en-US" sz="2900" b="1" dirty="0">
                <a:solidFill>
                  <a:srgbClr val="D71920"/>
                </a:solidFill>
                <a:latin typeface="Arial" pitchFamily="34" charset="0"/>
                <a:ea typeface="Arial" pitchFamily="34" charset="-122"/>
                <a:cs typeface="Arial" pitchFamily="34" charset="-120"/>
              </a:rPr>
              <a:t>01</a:t>
            </a:r>
            <a:endParaRPr lang="en-US" sz="2900" dirty="0"/>
          </a:p>
        </p:txBody>
      </p:sp>
      <p:sp>
        <p:nvSpPr>
          <p:cNvPr id="11" name="Shape 9"/>
          <p:cNvSpPr/>
          <p:nvPr/>
        </p:nvSpPr>
        <p:spPr>
          <a:xfrm>
            <a:off x="704088" y="3456432"/>
            <a:ext cx="3319272" cy="0"/>
          </a:xfrm>
          <a:prstGeom prst="line">
            <a:avLst/>
          </a:prstGeom>
          <a:noFill/>
          <a:ln w="12700">
            <a:solidFill>
              <a:srgbClr val="D9DCDA"/>
            </a:solidFill>
            <a:prstDash val="solid"/>
          </a:ln>
        </p:spPr>
        <p:txBody>
          <a:bodyPr/>
          <a:p/>
        </p:txBody>
      </p:sp>
      <p:sp>
        <p:nvSpPr>
          <p:cNvPr id="12" name="Text 10"/>
          <p:cNvSpPr/>
          <p:nvPr/>
        </p:nvSpPr>
        <p:spPr>
          <a:xfrm>
            <a:off x="704088" y="3675888"/>
            <a:ext cx="3319272" cy="374904"/>
          </a:xfrm>
          <a:prstGeom prst="rect">
            <a:avLst/>
          </a:prstGeom>
          <a:noFill/>
          <a:ln/>
        </p:spPr>
        <p:txBody>
          <a:bodyPr wrap="square" lIns="0" tIns="0" rIns="0" bIns="0" rtlCol="0" anchor="ctr">
            <a:noAutofit/>
          </a:bodyPr>
          <a:lstStyle/>
          <a:p>
            <a:pPr indent="0" marL="0">
              <a:buNone/>
            </a:pPr>
            <a:r>
              <a:rPr lang="en-US" sz="2400" b="1" dirty="0">
                <a:solidFill>
                  <a:srgbClr val="24282C"/>
                </a:solidFill>
                <a:latin typeface="Arial" pitchFamily="34" charset="0"/>
                <a:ea typeface="Arial" pitchFamily="34" charset="-122"/>
                <a:cs typeface="Arial" pitchFamily="34" charset="-120"/>
              </a:rPr>
              <a:t>What repeats?</a:t>
            </a:r>
            <a:endParaRPr lang="en-US" sz="2400" dirty="0"/>
          </a:p>
        </p:txBody>
      </p:sp>
      <p:sp>
        <p:nvSpPr>
          <p:cNvPr id="13" name="Text 11"/>
          <p:cNvSpPr/>
          <p:nvPr/>
        </p:nvSpPr>
        <p:spPr>
          <a:xfrm>
            <a:off x="704088" y="4242816"/>
            <a:ext cx="3255264" cy="1005840"/>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Separate recurring service items from occasional high-value repairs.</a:t>
            </a:r>
            <a:endParaRPr lang="en-US" sz="1900" dirty="0"/>
          </a:p>
        </p:txBody>
      </p:sp>
      <p:sp>
        <p:nvSpPr>
          <p:cNvPr id="14" name="Text 12"/>
          <p:cNvSpPr/>
          <p:nvPr/>
        </p:nvSpPr>
        <p:spPr>
          <a:xfrm>
            <a:off x="4462272" y="2743200"/>
            <a:ext cx="667512" cy="484632"/>
          </a:xfrm>
          <a:prstGeom prst="rect">
            <a:avLst/>
          </a:prstGeom>
          <a:noFill/>
          <a:ln/>
        </p:spPr>
        <p:txBody>
          <a:bodyPr wrap="square" lIns="0" tIns="0" rIns="0" bIns="0" rtlCol="0" anchor="ctr">
            <a:noAutofit/>
          </a:bodyPr>
          <a:lstStyle/>
          <a:p>
            <a:pPr indent="0" marL="0">
              <a:buNone/>
            </a:pPr>
            <a:r>
              <a:rPr lang="en-US" sz="2900" b="1" dirty="0">
                <a:solidFill>
                  <a:srgbClr val="D71920"/>
                </a:solidFill>
                <a:latin typeface="Arial" pitchFamily="34" charset="0"/>
                <a:ea typeface="Arial" pitchFamily="34" charset="-122"/>
                <a:cs typeface="Arial" pitchFamily="34" charset="-120"/>
              </a:rPr>
              <a:t>02</a:t>
            </a:r>
            <a:endParaRPr lang="en-US" sz="2900" dirty="0"/>
          </a:p>
        </p:txBody>
      </p:sp>
      <p:sp>
        <p:nvSpPr>
          <p:cNvPr id="15" name="Shape 13"/>
          <p:cNvSpPr/>
          <p:nvPr/>
        </p:nvSpPr>
        <p:spPr>
          <a:xfrm>
            <a:off x="4462272" y="3456432"/>
            <a:ext cx="3026664" cy="0"/>
          </a:xfrm>
          <a:prstGeom prst="line">
            <a:avLst/>
          </a:prstGeom>
          <a:noFill/>
          <a:ln w="12700">
            <a:solidFill>
              <a:srgbClr val="D9DCDA"/>
            </a:solidFill>
            <a:prstDash val="solid"/>
          </a:ln>
        </p:spPr>
        <p:txBody>
          <a:bodyPr/>
          <a:p/>
        </p:txBody>
      </p:sp>
      <p:sp>
        <p:nvSpPr>
          <p:cNvPr id="16" name="Text 14"/>
          <p:cNvSpPr/>
          <p:nvPr/>
        </p:nvSpPr>
        <p:spPr>
          <a:xfrm>
            <a:off x="4462272" y="3675888"/>
            <a:ext cx="3026664" cy="374904"/>
          </a:xfrm>
          <a:prstGeom prst="rect">
            <a:avLst/>
          </a:prstGeom>
          <a:noFill/>
          <a:ln/>
        </p:spPr>
        <p:txBody>
          <a:bodyPr wrap="square" lIns="0" tIns="0" rIns="0" bIns="0" rtlCol="0" anchor="ctr">
            <a:noAutofit/>
          </a:bodyPr>
          <a:lstStyle/>
          <a:p>
            <a:pPr indent="0" marL="0">
              <a:buNone/>
            </a:pPr>
            <a:r>
              <a:rPr lang="en-US" sz="2400" b="1" dirty="0">
                <a:solidFill>
                  <a:srgbClr val="24282C"/>
                </a:solidFill>
                <a:latin typeface="Arial" pitchFamily="34" charset="0"/>
                <a:ea typeface="Arial" pitchFamily="34" charset="-122"/>
                <a:cs typeface="Arial" pitchFamily="34" charset="-120"/>
              </a:rPr>
              <a:t>What is missing?</a:t>
            </a:r>
            <a:endParaRPr lang="en-US" sz="2400" dirty="0"/>
          </a:p>
        </p:txBody>
      </p:sp>
      <p:sp>
        <p:nvSpPr>
          <p:cNvPr id="17" name="Text 15"/>
          <p:cNvSpPr/>
          <p:nvPr/>
        </p:nvSpPr>
        <p:spPr>
          <a:xfrm>
            <a:off x="4462272" y="4242816"/>
            <a:ext cx="2962656" cy="1005840"/>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Identify the applications or companion items the distributor cannot supply.</a:t>
            </a:r>
            <a:endParaRPr lang="en-US" sz="1900" dirty="0"/>
          </a:p>
        </p:txBody>
      </p:sp>
      <p:sp>
        <p:nvSpPr>
          <p:cNvPr id="18" name="Text 16"/>
          <p:cNvSpPr/>
          <p:nvPr/>
        </p:nvSpPr>
        <p:spPr>
          <a:xfrm>
            <a:off x="7927848" y="2743200"/>
            <a:ext cx="667512" cy="484632"/>
          </a:xfrm>
          <a:prstGeom prst="rect">
            <a:avLst/>
          </a:prstGeom>
          <a:noFill/>
          <a:ln/>
        </p:spPr>
        <p:txBody>
          <a:bodyPr wrap="square" lIns="0" tIns="0" rIns="0" bIns="0" rtlCol="0" anchor="ctr">
            <a:noAutofit/>
          </a:bodyPr>
          <a:lstStyle/>
          <a:p>
            <a:pPr indent="0" marL="0">
              <a:buNone/>
            </a:pPr>
            <a:r>
              <a:rPr lang="en-US" sz="2900" b="1" dirty="0">
                <a:solidFill>
                  <a:srgbClr val="D71920"/>
                </a:solidFill>
                <a:latin typeface="Arial" pitchFamily="34" charset="0"/>
                <a:ea typeface="Arial" pitchFamily="34" charset="-122"/>
                <a:cs typeface="Arial" pitchFamily="34" charset="-120"/>
              </a:rPr>
              <a:t>03</a:t>
            </a:r>
            <a:endParaRPr lang="en-US" sz="2900" dirty="0"/>
          </a:p>
        </p:txBody>
      </p:sp>
      <p:sp>
        <p:nvSpPr>
          <p:cNvPr id="19" name="Shape 17"/>
          <p:cNvSpPr/>
          <p:nvPr/>
        </p:nvSpPr>
        <p:spPr>
          <a:xfrm>
            <a:off x="7927848" y="3456432"/>
            <a:ext cx="3328416" cy="0"/>
          </a:xfrm>
          <a:prstGeom prst="line">
            <a:avLst/>
          </a:prstGeom>
          <a:noFill/>
          <a:ln w="12700">
            <a:solidFill>
              <a:srgbClr val="D9DCDA"/>
            </a:solidFill>
            <a:prstDash val="solid"/>
          </a:ln>
        </p:spPr>
        <p:txBody>
          <a:bodyPr/>
          <a:p/>
        </p:txBody>
      </p:sp>
      <p:sp>
        <p:nvSpPr>
          <p:cNvPr id="20" name="Text 18"/>
          <p:cNvSpPr/>
          <p:nvPr/>
        </p:nvSpPr>
        <p:spPr>
          <a:xfrm>
            <a:off x="7927848" y="3675888"/>
            <a:ext cx="3328416" cy="374904"/>
          </a:xfrm>
          <a:prstGeom prst="rect">
            <a:avLst/>
          </a:prstGeom>
          <a:noFill/>
          <a:ln/>
        </p:spPr>
        <p:txBody>
          <a:bodyPr wrap="square" lIns="0" tIns="0" rIns="0" bIns="0" rtlCol="0" anchor="ctr">
            <a:noAutofit/>
          </a:bodyPr>
          <a:lstStyle/>
          <a:p>
            <a:pPr indent="0" marL="0">
              <a:buNone/>
            </a:pPr>
            <a:r>
              <a:rPr lang="en-US" sz="2400" b="1" dirty="0">
                <a:solidFill>
                  <a:srgbClr val="24282C"/>
                </a:solidFill>
                <a:latin typeface="Arial" pitchFamily="34" charset="0"/>
                <a:ea typeface="Arial" pitchFamily="34" charset="-122"/>
                <a:cs typeface="Arial" pitchFamily="34" charset="-120"/>
              </a:rPr>
              <a:t>What should change?</a:t>
            </a:r>
            <a:endParaRPr lang="en-US" sz="2400" dirty="0"/>
          </a:p>
        </p:txBody>
      </p:sp>
      <p:sp>
        <p:nvSpPr>
          <p:cNvPr id="21" name="Text 19"/>
          <p:cNvSpPr/>
          <p:nvPr/>
        </p:nvSpPr>
        <p:spPr>
          <a:xfrm>
            <a:off x="7927848" y="4242816"/>
            <a:ext cx="3264408" cy="1005840"/>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Agree the stock or range action with the distributor.</a:t>
            </a:r>
            <a:endParaRPr lang="en-US" sz="1900" dirty="0"/>
          </a:p>
        </p:txBody>
      </p:sp>
      <p:sp>
        <p:nvSpPr>
          <p:cNvPr id="22" name="Shape 20"/>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3" name="Text 21"/>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Use the same product range for the sales conversation and the availability review.</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WHERE TO INVEST COMMERCIAL EFFORT</a:t>
            </a:r>
            <a:endParaRPr lang="en-US" sz="1050" dirty="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The largest category is not always</a:t>
            </a:r>
            <a:br/>
            <a:r>
              <a:rPr sz="3000" b="1">
                <a:solidFill>
                  <a:srgbClr val="24282C"/>
                </a:solidFill>
                <a:latin typeface="Arial"/>
              </a:rPr>
              <a:t>the best next opportunity.</a:t>
            </a:r>
            <a:endParaRPr lang="en-US" sz="3150" dirty="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Prioritise the opportunity with scale, evidence, contribution and a distributor ready to act.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WHERE TO INVEST COMMERCIAL EFFORT</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20</a:t>
            </a:r>
            <a:endParaRPr lang="en-US" sz="1050" dirty="0"/>
          </a:p>
        </p:txBody>
      </p:sp>
      <p:sp>
        <p:nvSpPr>
          <p:cNvPr id="10" name="Shape 8"/>
          <p:cNvSpPr/>
          <p:nvPr/>
        </p:nvSpPr>
        <p:spPr>
          <a:xfrm>
            <a:off x="621792" y="2551176"/>
            <a:ext cx="420624" cy="420624"/>
          </a:xfrm>
          <a:prstGeom prst="rect">
            <a:avLst/>
          </a:prstGeom>
          <a:solidFill>
            <a:srgbClr val="D71920"/>
          </a:solidFill>
          <a:ln w="12700">
            <a:solidFill>
              <a:srgbClr val="D71920"/>
            </a:solidFill>
            <a:prstDash val="solid"/>
          </a:ln>
        </p:spPr>
        <p:txBody>
          <a:bodyPr/>
          <a:p/>
        </p:txBody>
      </p:sp>
      <p:sp>
        <p:nvSpPr>
          <p:cNvPr id="11" name="Text 9"/>
          <p:cNvSpPr/>
          <p:nvPr/>
        </p:nvSpPr>
        <p:spPr>
          <a:xfrm>
            <a:off x="713232" y="2596896"/>
            <a:ext cx="237744" cy="320040"/>
          </a:xfrm>
          <a:prstGeom prst="rect">
            <a:avLst/>
          </a:prstGeom>
          <a:noFill/>
          <a:ln/>
        </p:spPr>
        <p:txBody>
          <a:bodyPr wrap="square" lIns="0" tIns="0" rIns="0" bIns="0" rtlCol="0" anchor="ctr">
            <a:no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2" name="Text 10"/>
          <p:cNvSpPr/>
          <p:nvPr/>
        </p:nvSpPr>
        <p:spPr>
          <a:xfrm>
            <a:off x="1280160" y="2560320"/>
            <a:ext cx="3785616" cy="374904"/>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Relevant opportunity</a:t>
            </a:r>
            <a:endParaRPr lang="en-US" sz="2000" dirty="0"/>
          </a:p>
        </p:txBody>
      </p:sp>
      <p:sp>
        <p:nvSpPr>
          <p:cNvPr id="13" name="Text 11"/>
          <p:cNvSpPr/>
          <p:nvPr/>
        </p:nvSpPr>
        <p:spPr>
          <a:xfrm>
            <a:off x="5468112" y="2560320"/>
            <a:ext cx="5934456" cy="475488"/>
          </a:xfrm>
          <a:prstGeom prst="rect">
            <a:avLst/>
          </a:prstGeom>
          <a:noFill/>
          <a:ln/>
        </p:spPr>
        <p:txBody>
          <a:bodyPr wrap="square" lIns="0" tIns="0" rIns="0" bIns="0" rtlCol="0" anchor="ctr">
            <a:noAutofit/>
          </a:bodyPr>
          <a:lstStyle/>
          <a:p>
            <a:pPr indent="0" marL="0">
              <a:buNone/>
            </a:pPr>
            <a:r>
              <a:rPr lang="en-US" sz="1750" dirty="0">
                <a:solidFill>
                  <a:srgbClr val="626A71"/>
                </a:solidFill>
                <a:latin typeface="Arial" pitchFamily="34" charset="0"/>
                <a:ea typeface="Arial" pitchFamily="34" charset="-122"/>
                <a:cs typeface="Arial" pitchFamily="34" charset="-120"/>
              </a:rPr>
              <a:t>Which product family and fleet create the need?</a:t>
            </a:r>
            <a:endParaRPr lang="en-US" sz="1750" dirty="0"/>
          </a:p>
        </p:txBody>
      </p:sp>
      <p:sp>
        <p:nvSpPr>
          <p:cNvPr id="14" name="Shape 12"/>
          <p:cNvSpPr/>
          <p:nvPr/>
        </p:nvSpPr>
        <p:spPr>
          <a:xfrm>
            <a:off x="621792" y="3236976"/>
            <a:ext cx="420624" cy="420624"/>
          </a:xfrm>
          <a:prstGeom prst="rect">
            <a:avLst/>
          </a:prstGeom>
          <a:solidFill>
            <a:srgbClr val="24282C"/>
          </a:solidFill>
          <a:ln w="12700">
            <a:solidFill>
              <a:srgbClr val="24282C"/>
            </a:solidFill>
            <a:prstDash val="solid"/>
          </a:ln>
        </p:spPr>
        <p:txBody>
          <a:bodyPr/>
          <a:p/>
        </p:txBody>
      </p:sp>
      <p:sp>
        <p:nvSpPr>
          <p:cNvPr id="15" name="Text 13"/>
          <p:cNvSpPr/>
          <p:nvPr/>
        </p:nvSpPr>
        <p:spPr>
          <a:xfrm>
            <a:off x="713232" y="3282696"/>
            <a:ext cx="237744" cy="320040"/>
          </a:xfrm>
          <a:prstGeom prst="rect">
            <a:avLst/>
          </a:prstGeom>
          <a:noFill/>
          <a:ln/>
        </p:spPr>
        <p:txBody>
          <a:bodyPr wrap="square" lIns="0" tIns="0" rIns="0" bIns="0" rtlCol="0" anchor="ctr">
            <a:no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6" name="Text 14"/>
          <p:cNvSpPr/>
          <p:nvPr/>
        </p:nvSpPr>
        <p:spPr>
          <a:xfrm>
            <a:off x="1280160" y="3246120"/>
            <a:ext cx="3785616" cy="374904"/>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Evidence of a viable action</a:t>
            </a:r>
            <a:endParaRPr lang="en-US" sz="2000" dirty="0"/>
          </a:p>
        </p:txBody>
      </p:sp>
      <p:sp>
        <p:nvSpPr>
          <p:cNvPr id="17" name="Text 15"/>
          <p:cNvSpPr/>
          <p:nvPr/>
        </p:nvSpPr>
        <p:spPr>
          <a:xfrm>
            <a:off x="5468112" y="3246120"/>
            <a:ext cx="5934456" cy="475488"/>
          </a:xfrm>
          <a:prstGeom prst="rect">
            <a:avLst/>
          </a:prstGeom>
          <a:noFill/>
          <a:ln/>
        </p:spPr>
        <p:txBody>
          <a:bodyPr wrap="square" lIns="0" tIns="0" rIns="0" bIns="0" rtlCol="0" anchor="ctr">
            <a:noAutofit/>
          </a:bodyPr>
          <a:lstStyle/>
          <a:p>
            <a:pPr indent="0" marL="0">
              <a:buNone/>
            </a:pPr>
            <a:r>
              <a:rPr lang="en-US" sz="1750" dirty="0">
                <a:solidFill>
                  <a:srgbClr val="626A71"/>
                </a:solidFill>
                <a:latin typeface="Arial" pitchFamily="34" charset="0"/>
                <a:ea typeface="Arial" pitchFamily="34" charset="-122"/>
                <a:cs typeface="Arial" pitchFamily="34" charset="-120"/>
              </a:rPr>
              <a:t>Do we know the alternative, terms and availability?</a:t>
            </a:r>
            <a:endParaRPr lang="en-US" sz="1750" dirty="0"/>
          </a:p>
        </p:txBody>
      </p:sp>
      <p:sp>
        <p:nvSpPr>
          <p:cNvPr id="18" name="Shape 16"/>
          <p:cNvSpPr/>
          <p:nvPr/>
        </p:nvSpPr>
        <p:spPr>
          <a:xfrm>
            <a:off x="621792" y="3922776"/>
            <a:ext cx="420624" cy="420624"/>
          </a:xfrm>
          <a:prstGeom prst="rect">
            <a:avLst/>
          </a:prstGeom>
          <a:solidFill>
            <a:srgbClr val="24282C"/>
          </a:solidFill>
          <a:ln w="12700">
            <a:solidFill>
              <a:srgbClr val="24282C"/>
            </a:solidFill>
            <a:prstDash val="solid"/>
          </a:ln>
        </p:spPr>
        <p:txBody>
          <a:bodyPr/>
          <a:p/>
        </p:txBody>
      </p:sp>
      <p:sp>
        <p:nvSpPr>
          <p:cNvPr id="19" name="Text 17"/>
          <p:cNvSpPr/>
          <p:nvPr/>
        </p:nvSpPr>
        <p:spPr>
          <a:xfrm>
            <a:off x="713232" y="3968496"/>
            <a:ext cx="237744" cy="320040"/>
          </a:xfrm>
          <a:prstGeom prst="rect">
            <a:avLst/>
          </a:prstGeom>
          <a:noFill/>
          <a:ln/>
        </p:spPr>
        <p:txBody>
          <a:bodyPr wrap="square" lIns="0" tIns="0" rIns="0" bIns="0" rtlCol="0" anchor="ctr">
            <a:no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0" name="Text 18"/>
          <p:cNvSpPr/>
          <p:nvPr/>
        </p:nvSpPr>
        <p:spPr>
          <a:xfrm>
            <a:off x="1280160" y="3931920"/>
            <a:ext cx="3785616" cy="374904"/>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Contribution after support</a:t>
            </a:r>
            <a:endParaRPr lang="en-US" sz="2000" dirty="0"/>
          </a:p>
        </p:txBody>
      </p:sp>
      <p:sp>
        <p:nvSpPr>
          <p:cNvPr id="21" name="Text 19"/>
          <p:cNvSpPr/>
          <p:nvPr/>
        </p:nvSpPr>
        <p:spPr>
          <a:xfrm>
            <a:off x="5468112" y="3931920"/>
            <a:ext cx="5934456" cy="475488"/>
          </a:xfrm>
          <a:prstGeom prst="rect">
            <a:avLst/>
          </a:prstGeom>
          <a:noFill/>
          <a:ln/>
        </p:spPr>
        <p:txBody>
          <a:bodyPr wrap="square" lIns="0" tIns="0" rIns="0" bIns="0" rtlCol="0" anchor="ctr">
            <a:noAutofit/>
          </a:bodyPr>
          <a:lstStyle/>
          <a:p>
            <a:pPr indent="0" marL="0">
              <a:buNone/>
            </a:pPr>
            <a:r>
              <a:rPr lang="en-US" sz="1750" dirty="0">
                <a:solidFill>
                  <a:srgbClr val="626A71"/>
                </a:solidFill>
                <a:latin typeface="Arial" pitchFamily="34" charset="0"/>
                <a:ea typeface="Arial" pitchFamily="34" charset="-122"/>
                <a:cs typeface="Arial" pitchFamily="34" charset="-120"/>
              </a:rPr>
              <a:t>Will additional business justify the support and its costs?</a:t>
            </a:r>
            <a:endParaRPr lang="en-US" sz="1750" dirty="0"/>
          </a:p>
        </p:txBody>
      </p:sp>
      <p:sp>
        <p:nvSpPr>
          <p:cNvPr id="22" name="Shape 20"/>
          <p:cNvSpPr/>
          <p:nvPr/>
        </p:nvSpPr>
        <p:spPr>
          <a:xfrm>
            <a:off x="621792" y="4608576"/>
            <a:ext cx="420624" cy="420624"/>
          </a:xfrm>
          <a:prstGeom prst="rect">
            <a:avLst/>
          </a:prstGeom>
          <a:solidFill>
            <a:srgbClr val="24282C"/>
          </a:solidFill>
          <a:ln w="12700">
            <a:solidFill>
              <a:srgbClr val="24282C"/>
            </a:solidFill>
            <a:prstDash val="solid"/>
          </a:ln>
        </p:spPr>
        <p:txBody>
          <a:bodyPr/>
          <a:p/>
        </p:txBody>
      </p:sp>
      <p:sp>
        <p:nvSpPr>
          <p:cNvPr id="23" name="Text 21"/>
          <p:cNvSpPr/>
          <p:nvPr/>
        </p:nvSpPr>
        <p:spPr>
          <a:xfrm>
            <a:off x="713232" y="4654296"/>
            <a:ext cx="237744" cy="320040"/>
          </a:xfrm>
          <a:prstGeom prst="rect">
            <a:avLst/>
          </a:prstGeom>
          <a:noFill/>
          <a:ln/>
        </p:spPr>
        <p:txBody>
          <a:bodyPr wrap="square" lIns="0" tIns="0" rIns="0" bIns="0" rtlCol="0" anchor="ctr">
            <a:no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1280160" y="4617720"/>
            <a:ext cx="3785616" cy="374904"/>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Ability to execute</a:t>
            </a:r>
            <a:endParaRPr lang="en-US" sz="2000" dirty="0"/>
          </a:p>
        </p:txBody>
      </p:sp>
      <p:sp>
        <p:nvSpPr>
          <p:cNvPr id="25" name="Text 23"/>
          <p:cNvSpPr/>
          <p:nvPr/>
        </p:nvSpPr>
        <p:spPr>
          <a:xfrm>
            <a:off x="5468112" y="4617720"/>
            <a:ext cx="5934456" cy="475488"/>
          </a:xfrm>
          <a:prstGeom prst="rect">
            <a:avLst/>
          </a:prstGeom>
          <a:noFill/>
          <a:ln/>
        </p:spPr>
        <p:txBody>
          <a:bodyPr wrap="square" lIns="0" tIns="0" rIns="0" bIns="0" rtlCol="0" anchor="ctr">
            <a:noAutofit/>
          </a:bodyPr>
          <a:lstStyle/>
          <a:p>
            <a:pPr indent="0" marL="0">
              <a:buNone/>
              <a:defRPr sz="1710"/>
            </a:pPr>
            <a:r>
              <a:rPr lang="en-US" sz="1710" dirty="0">
                <a:solidFill>
                  <a:srgbClr val="626A71"/>
                </a:solidFill>
                <a:latin typeface="Arial" pitchFamily="34" charset="0"/>
                <a:ea typeface="Arial" pitchFamily="34" charset="-122"/>
                <a:cs typeface="Arial" pitchFamily="34" charset="-120"/>
              </a:rPr>
              <a:t>Which distributor or dealer will act, by when, and with what stock?</a:t>
            </a:r>
            <a:endParaRPr lang="en-US" sz="1710" dirty="0"/>
          </a:p>
        </p:txBody>
      </p:sp>
      <p:sp>
        <p:nvSpPr>
          <p:cNvPr id="26" name="Shape 24"/>
          <p:cNvSpPr/>
          <p:nvPr/>
        </p:nvSpPr>
        <p:spPr>
          <a:xfrm>
            <a:off x="649224" y="5577840"/>
            <a:ext cx="10890504" cy="420624"/>
          </a:xfrm>
          <a:prstGeom prst="rect">
            <a:avLst/>
          </a:prstGeom>
          <a:solidFill>
            <a:srgbClr val="24282C"/>
          </a:solidFill>
          <a:ln w="12700">
            <a:solidFill>
              <a:srgbClr val="24282C"/>
            </a:solidFill>
            <a:prstDash val="solid"/>
          </a:ln>
        </p:spPr>
        <p:txBody>
          <a:bodyPr/>
          <a:p/>
        </p:txBody>
      </p:sp>
      <p:sp>
        <p:nvSpPr>
          <p:cNvPr id="27" name="Text 25"/>
          <p:cNvSpPr/>
          <p:nvPr/>
        </p:nvSpPr>
        <p:spPr>
          <a:xfrm>
            <a:off x="832104" y="5650992"/>
            <a:ext cx="10497312" cy="274320"/>
          </a:xfrm>
          <a:prstGeom prst="rect">
            <a:avLst/>
          </a:prstGeom>
          <a:noFill/>
          <a:ln/>
        </p:spPr>
        <p:txBody>
          <a:bodyPr wrap="square" lIns="0" tIns="0" rIns="0" bIns="0" rtlCol="0" anchor="ctr">
            <a:noAutofit/>
          </a:bodyPr>
          <a:lstStyle/>
          <a:p>
            <a:pPr indent="0" marL="0">
              <a:buNone/>
            </a:pPr>
            <a:r>
              <a:rPr lang="en-US" sz="1830" b="1" dirty="0">
                <a:solidFill>
                  <a:srgbClr val="FFFFFF"/>
                </a:solidFill>
                <a:latin typeface="Arial" pitchFamily="34" charset="0"/>
                <a:ea typeface="Arial" pitchFamily="34" charset="-122"/>
                <a:cs typeface="Arial" pitchFamily="34" charset="-120"/>
              </a:rPr>
              <a:t>A small, executable product action can be worth more than a large, unqualified gap.</a:t>
            </a:r>
            <a:endParaRPr lang="en-US" sz="18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DISTRIBUTOR DISCUSSIONS</a:t>
            </a:r>
            <a:endParaRPr lang="en-US" sz="1050" dirty="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Take one product opportunity into the meeting,</a:t>
            </a:r>
            <a:br/>
            <a:r>
              <a:rPr sz="3000" b="1">
                <a:solidFill>
                  <a:srgbClr val="24282C"/>
                </a:solidFill>
                <a:latin typeface="Arial"/>
              </a:rPr>
              <a:t>not a catalogue of charts.</a:t>
            </a:r>
            <a:endParaRPr lang="en-US" sz="3150" dirty="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 shared category review should make the next action clear to both sides.</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DISTRIBUTOR DISCUSSIONS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21</a:t>
            </a:r>
            <a:endParaRPr lang="en-US" sz="1050" dirty="0"/>
          </a:p>
        </p:txBody>
      </p:sp>
      <p:sp>
        <p:nvSpPr>
          <p:cNvPr id="10" name="Shape 8"/>
          <p:cNvSpPr/>
          <p:nvPr/>
        </p:nvSpPr>
        <p:spPr>
          <a:xfrm>
            <a:off x="704088" y="2496312"/>
            <a:ext cx="6556248" cy="3557016"/>
          </a:xfrm>
          <a:prstGeom prst="rect">
            <a:avLst/>
          </a:prstGeom>
          <a:solidFill>
            <a:srgbClr val="FFFFFF"/>
          </a:solidFill>
          <a:ln w="12700">
            <a:solidFill>
              <a:srgbClr val="FFFFFF"/>
            </a:solidFill>
            <a:prstDash val="solid"/>
          </a:ln>
        </p:spPr>
        <p:txBody>
          <a:bodyPr/>
          <a:p/>
        </p:txBody>
      </p:sp>
      <p:sp>
        <p:nvSpPr>
          <p:cNvPr id="11" name="Shape 9"/>
          <p:cNvSpPr/>
          <p:nvPr/>
        </p:nvSpPr>
        <p:spPr>
          <a:xfrm>
            <a:off x="704088" y="2496312"/>
            <a:ext cx="6556248" cy="630936"/>
          </a:xfrm>
          <a:prstGeom prst="rect">
            <a:avLst/>
          </a:prstGeom>
          <a:solidFill>
            <a:srgbClr val="24282C"/>
          </a:solidFill>
          <a:ln w="12700">
            <a:solidFill>
              <a:srgbClr val="24282C"/>
            </a:solidFill>
            <a:prstDash val="solid"/>
          </a:ln>
        </p:spPr>
        <p:txBody>
          <a:bodyPr/>
          <a:p/>
        </p:txBody>
      </p:sp>
      <p:sp>
        <p:nvSpPr>
          <p:cNvPr id="12" name="Text 10"/>
          <p:cNvSpPr/>
          <p:nvPr/>
        </p:nvSpPr>
        <p:spPr>
          <a:xfrm>
            <a:off x="941832" y="2715768"/>
            <a:ext cx="6053328" cy="228600"/>
          </a:xfrm>
          <a:prstGeom prst="rect">
            <a:avLst/>
          </a:prstGeom>
          <a:noFill/>
          <a:ln/>
        </p:spPr>
        <p:txBody>
          <a:bodyPr wrap="square" lIns="0" tIns="0" rIns="0" bIns="0" rtlCol="0" anchor="ctr">
            <a:noAutofit/>
          </a:bodyPr>
          <a:lstStyle/>
          <a:p>
            <a:pPr indent="0" marL="0">
              <a:buNone/>
            </a:pPr>
            <a:r>
              <a:rPr lang="en-US" sz="1160" b="1" spc="70" kern="0" dirty="0">
                <a:solidFill>
                  <a:srgbClr val="FFFFFF"/>
                </a:solidFill>
                <a:latin typeface="Arial" pitchFamily="34" charset="0"/>
                <a:ea typeface="Arial" pitchFamily="34" charset="-122"/>
                <a:cs typeface="Arial" pitchFamily="34" charset="-120"/>
              </a:rPr>
              <a:t>PRODUCT RANGE  /  DISTRIBUTOR  /  PERIOD</a:t>
            </a:r>
            <a:endParaRPr lang="en-US" sz="1160" dirty="0"/>
          </a:p>
        </p:txBody>
      </p:sp>
      <p:sp>
        <p:nvSpPr>
          <p:cNvPr id="13" name="Text 11"/>
          <p:cNvSpPr/>
          <p:nvPr/>
        </p:nvSpPr>
        <p:spPr>
          <a:xfrm>
            <a:off x="950976" y="3337560"/>
            <a:ext cx="2487168" cy="283464"/>
          </a:xfrm>
          <a:prstGeom prst="rect">
            <a:avLst/>
          </a:prstGeom>
          <a:noFill/>
          <a:ln/>
        </p:spPr>
        <p:txBody>
          <a:bodyPr wrap="square" lIns="0" tIns="0" rIns="0" bIns="0" rtlCol="0" anchor="ctr">
            <a:noAutofit/>
          </a:bodyPr>
          <a:lstStyle/>
          <a:p>
            <a:pPr indent="0" marL="0">
              <a:buNone/>
            </a:pPr>
            <a:r>
              <a:rPr lang="en-US" sz="1680" b="1" dirty="0">
                <a:solidFill>
                  <a:srgbClr val="D71920"/>
                </a:solidFill>
                <a:latin typeface="Arial" pitchFamily="34" charset="0"/>
                <a:ea typeface="Arial" pitchFamily="34" charset="-122"/>
                <a:cs typeface="Arial" pitchFamily="34" charset="-120"/>
              </a:rPr>
              <a:t>What we observe</a:t>
            </a:r>
            <a:endParaRPr lang="en-US" sz="1680" dirty="0"/>
          </a:p>
        </p:txBody>
      </p:sp>
      <p:sp>
        <p:nvSpPr>
          <p:cNvPr id="14" name="Text 12"/>
          <p:cNvSpPr/>
          <p:nvPr/>
        </p:nvSpPr>
        <p:spPr>
          <a:xfrm>
            <a:off x="3602736" y="3319272"/>
            <a:ext cx="3337560" cy="475488"/>
          </a:xfrm>
          <a:prstGeom prst="rect">
            <a:avLst/>
          </a:prstGeom>
          <a:noFill/>
          <a:ln/>
        </p:spPr>
        <p:txBody>
          <a:bodyPr wrap="square" lIns="0" tIns="0" rIns="0" bIns="0" rtlCol="0" anchor="ctr">
            <a:noAutofit/>
          </a:bodyPr>
          <a:lstStyle/>
          <a:p>
            <a:pPr indent="0" marL="0">
              <a:buNone/>
            </a:pPr>
            <a:r>
              <a:rPr lang="en-US" sz="1630" dirty="0">
                <a:solidFill>
                  <a:srgbClr val="24282C"/>
                </a:solidFill>
                <a:latin typeface="Arial" pitchFamily="34" charset="0"/>
                <a:ea typeface="Arial" pitchFamily="34" charset="-122"/>
                <a:cs typeface="Arial" pitchFamily="34" charset="-120"/>
              </a:rPr>
              <a:t>Parts billed, repeated orders and relevant fleet.</a:t>
            </a:r>
            <a:endParaRPr lang="en-US" sz="1630" dirty="0"/>
          </a:p>
        </p:txBody>
      </p:sp>
      <p:sp>
        <p:nvSpPr>
          <p:cNvPr id="15" name="Shape 13"/>
          <p:cNvSpPr/>
          <p:nvPr/>
        </p:nvSpPr>
        <p:spPr>
          <a:xfrm>
            <a:off x="960120" y="3904488"/>
            <a:ext cx="6025896" cy="0"/>
          </a:xfrm>
          <a:prstGeom prst="line">
            <a:avLst/>
          </a:prstGeom>
          <a:noFill/>
          <a:ln w="7620">
            <a:solidFill>
              <a:srgbClr val="D9DCDA"/>
            </a:solidFill>
            <a:prstDash val="solid"/>
          </a:ln>
        </p:spPr>
        <p:txBody>
          <a:bodyPr/>
          <a:p/>
        </p:txBody>
      </p:sp>
      <p:sp>
        <p:nvSpPr>
          <p:cNvPr id="16" name="Text 14"/>
          <p:cNvSpPr/>
          <p:nvPr/>
        </p:nvSpPr>
        <p:spPr>
          <a:xfrm>
            <a:off x="950976" y="4087368"/>
            <a:ext cx="2487168" cy="283464"/>
          </a:xfrm>
          <a:prstGeom prst="rect">
            <a:avLst/>
          </a:prstGeom>
          <a:noFill/>
          <a:ln/>
        </p:spPr>
        <p:txBody>
          <a:bodyPr wrap="square" lIns="0" tIns="0" rIns="0" bIns="0" rtlCol="0" anchor="ctr">
            <a:noAutofit/>
          </a:bodyPr>
          <a:lstStyle/>
          <a:p>
            <a:pPr indent="0" marL="0">
              <a:buNone/>
              <a:defRPr sz="1639"/>
            </a:pPr>
            <a:r>
              <a:rPr lang="en-US" sz="1639" b="1" dirty="0">
                <a:solidFill>
                  <a:srgbClr val="D71920"/>
                </a:solidFill>
                <a:latin typeface="Arial" pitchFamily="34" charset="0"/>
                <a:ea typeface="Arial" pitchFamily="34" charset="-122"/>
                <a:cs typeface="Arial" pitchFamily="34" charset="-120"/>
              </a:rPr>
              <a:t>What we need to explain</a:t>
            </a:r>
            <a:endParaRPr lang="en-US" sz="1640" dirty="0"/>
          </a:p>
        </p:txBody>
      </p:sp>
      <p:sp>
        <p:nvSpPr>
          <p:cNvPr id="17" name="Text 15"/>
          <p:cNvSpPr/>
          <p:nvPr/>
        </p:nvSpPr>
        <p:spPr>
          <a:xfrm>
            <a:off x="3602736" y="4069080"/>
            <a:ext cx="3337560" cy="475488"/>
          </a:xfrm>
          <a:prstGeom prst="rect">
            <a:avLst/>
          </a:prstGeom>
          <a:noFill/>
          <a:ln/>
        </p:spPr>
        <p:txBody>
          <a:bodyPr wrap="square" lIns="0" tIns="0" rIns="0" bIns="0" rtlCol="0" anchor="ctr">
            <a:noAutofit/>
          </a:bodyPr>
          <a:lstStyle/>
          <a:p>
            <a:pPr indent="0" marL="0">
              <a:buNone/>
            </a:pPr>
            <a:r>
              <a:rPr lang="en-US" sz="1630" dirty="0">
                <a:solidFill>
                  <a:srgbClr val="24282C"/>
                </a:solidFill>
                <a:latin typeface="Arial" pitchFamily="34" charset="0"/>
                <a:ea typeface="Arial" pitchFamily="34" charset="-122"/>
                <a:cs typeface="Arial" pitchFamily="34" charset="-120"/>
              </a:rPr>
              <a:t>Range, applications, terms and availability.</a:t>
            </a:r>
            <a:endParaRPr lang="en-US" sz="1630" dirty="0"/>
          </a:p>
        </p:txBody>
      </p:sp>
      <p:sp>
        <p:nvSpPr>
          <p:cNvPr id="18" name="Shape 16"/>
          <p:cNvSpPr/>
          <p:nvPr/>
        </p:nvSpPr>
        <p:spPr>
          <a:xfrm>
            <a:off x="960120" y="4654296"/>
            <a:ext cx="6025896" cy="0"/>
          </a:xfrm>
          <a:prstGeom prst="line">
            <a:avLst/>
          </a:prstGeom>
          <a:noFill/>
          <a:ln w="7620">
            <a:solidFill>
              <a:srgbClr val="D9DCDA"/>
            </a:solidFill>
            <a:prstDash val="solid"/>
          </a:ln>
        </p:spPr>
        <p:txBody>
          <a:bodyPr/>
          <a:p/>
        </p:txBody>
      </p:sp>
      <p:sp>
        <p:nvSpPr>
          <p:cNvPr id="19" name="Text 17"/>
          <p:cNvSpPr/>
          <p:nvPr/>
        </p:nvSpPr>
        <p:spPr>
          <a:xfrm>
            <a:off x="950976" y="4837176"/>
            <a:ext cx="2487168" cy="283464"/>
          </a:xfrm>
          <a:prstGeom prst="rect">
            <a:avLst/>
          </a:prstGeom>
          <a:noFill/>
          <a:ln/>
        </p:spPr>
        <p:txBody>
          <a:bodyPr wrap="square" lIns="0" tIns="0" rIns="0" bIns="0" rtlCol="0" anchor="ctr">
            <a:noAutofit/>
          </a:bodyPr>
          <a:lstStyle/>
          <a:p>
            <a:pPr indent="0" marL="0">
              <a:buNone/>
            </a:pPr>
            <a:r>
              <a:rPr lang="en-US" sz="1680" b="1" dirty="0">
                <a:solidFill>
                  <a:srgbClr val="D71920"/>
                </a:solidFill>
                <a:latin typeface="Arial" pitchFamily="34" charset="0"/>
                <a:ea typeface="Arial" pitchFamily="34" charset="-122"/>
                <a:cs typeface="Arial" pitchFamily="34" charset="-120"/>
              </a:rPr>
              <a:t>What we agree</a:t>
            </a:r>
            <a:endParaRPr lang="en-US" sz="1680" dirty="0"/>
          </a:p>
        </p:txBody>
      </p:sp>
      <p:sp>
        <p:nvSpPr>
          <p:cNvPr id="20" name="Text 18"/>
          <p:cNvSpPr/>
          <p:nvPr/>
        </p:nvSpPr>
        <p:spPr>
          <a:xfrm>
            <a:off x="3602736" y="4818888"/>
            <a:ext cx="3337560" cy="475488"/>
          </a:xfrm>
          <a:prstGeom prst="rect">
            <a:avLst/>
          </a:prstGeom>
          <a:noFill/>
          <a:ln/>
        </p:spPr>
        <p:txBody>
          <a:bodyPr wrap="square" lIns="0" tIns="0" rIns="0" bIns="0" rtlCol="0" anchor="ctr">
            <a:noAutofit/>
          </a:bodyPr>
          <a:lstStyle/>
          <a:p>
            <a:pPr indent="0" marL="0">
              <a:buNone/>
            </a:pPr>
            <a:r>
              <a:rPr lang="en-US" sz="1630" dirty="0">
                <a:solidFill>
                  <a:srgbClr val="24282C"/>
                </a:solidFill>
                <a:latin typeface="Arial" pitchFamily="34" charset="0"/>
                <a:ea typeface="Arial" pitchFamily="34" charset="-122"/>
                <a:cs typeface="Arial" pitchFamily="34" charset="-120"/>
              </a:rPr>
              <a:t>Selected product action, owner and review date.</a:t>
            </a:r>
            <a:endParaRPr lang="en-US" sz="1630" dirty="0"/>
          </a:p>
        </p:txBody>
      </p:sp>
      <p:sp>
        <p:nvSpPr>
          <p:cNvPr id="21" name="Text 19"/>
          <p:cNvSpPr/>
          <p:nvPr/>
        </p:nvSpPr>
        <p:spPr>
          <a:xfrm>
            <a:off x="7827264" y="2880360"/>
            <a:ext cx="3639312" cy="777240"/>
          </a:xfrm>
          <a:prstGeom prst="rect">
            <a:avLst/>
          </a:prstGeom>
          <a:noFill/>
          <a:ln/>
        </p:spPr>
        <p:txBody>
          <a:bodyPr wrap="square" lIns="0" tIns="0" rIns="0" bIns="0" rtlCol="0" anchor="ctr">
            <a:noAutofit/>
          </a:bodyPr>
          <a:lstStyle/>
          <a:p>
            <a:pPr indent="0" marL="0">
              <a:buNone/>
              <a:defRPr sz="2780"/>
            </a:pPr>
            <a:r>
              <a:rPr lang="en-US" sz="2780" b="1" dirty="0">
                <a:solidFill>
                  <a:srgbClr val="24282C"/>
                </a:solidFill>
                <a:latin typeface="Arial" pitchFamily="34" charset="0"/>
                <a:ea typeface="Arial" pitchFamily="34" charset="-122"/>
                <a:cs typeface="Arial" pitchFamily="34" charset="-120"/>
              </a:rPr>
              <a:t>Useful for the distributor</a:t>
            </a:r>
            <a:endParaRPr lang="en-US" sz="2780" dirty="0"/>
          </a:p>
        </p:txBody>
      </p:sp>
      <p:sp>
        <p:nvSpPr>
          <p:cNvPr id="22" name="Text 20"/>
          <p:cNvSpPr/>
          <p:nvPr/>
        </p:nvSpPr>
        <p:spPr>
          <a:xfrm>
            <a:off x="7845552" y="3968496"/>
            <a:ext cx="3611880" cy="1417320"/>
          </a:xfrm>
          <a:prstGeom prst="rect">
            <a:avLst/>
          </a:prstGeom>
          <a:noFill/>
          <a:ln/>
        </p:spPr>
        <p:txBody>
          <a:bodyPr wrap="square" lIns="0" tIns="0" rIns="0" bIns="0" rtlCol="0" anchor="t">
            <a:noAutofit/>
          </a:bodyPr>
          <a:lstStyle/>
          <a:p>
            <a:pPr indent="0" marL="0">
              <a:buNone/>
            </a:pPr>
            <a:r>
              <a:rPr lang="en-US" sz="2100" dirty="0">
                <a:solidFill>
                  <a:srgbClr val="626A71"/>
                </a:solidFill>
                <a:latin typeface="Arial" pitchFamily="34" charset="0"/>
                <a:ea typeface="Arial" pitchFamily="34" charset="-122"/>
                <a:cs typeface="Arial" pitchFamily="34" charset="-120"/>
              </a:rPr>
              <a:t>A recognisable range.</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A defined purchasing gap.</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An agreed distributor action.</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A result to review together.</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UPDATEABILITY</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Review the changes, not the whole catalogue.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Vehicle Parts Sales owns the local process within the existing ISZE master.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UPDATEABILITY</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22</a:t>
            </a:r>
            <a:endParaRPr lang="en-US" sz="1050" dirty="0"/>
          </a:p>
        </p:txBody>
      </p:sp>
      <p:sp>
        <p:nvSpPr>
          <p:cNvPr id="10" name="Shape 8"/>
          <p:cNvSpPr/>
          <p:nvPr/>
        </p:nvSpPr>
        <p:spPr>
          <a:xfrm>
            <a:off x="640080" y="2816352"/>
            <a:ext cx="2432304" cy="2103120"/>
          </a:xfrm>
          <a:prstGeom prst="rect">
            <a:avLst/>
          </a:prstGeom>
          <a:solidFill>
            <a:srgbClr val="FFFFFF"/>
          </a:solidFill>
          <a:ln w="12700">
            <a:solidFill>
              <a:srgbClr val="FFFFFF"/>
            </a:solidFill>
            <a:prstDash val="solid"/>
          </a:ln>
        </p:spPr>
        <p:txBody>
          <a:bodyPr/>
          <a:p/>
        </p:txBody>
      </p:sp>
      <p:sp>
        <p:nvSpPr>
          <p:cNvPr id="11" name="Text 9"/>
          <p:cNvSpPr/>
          <p:nvPr/>
        </p:nvSpPr>
        <p:spPr>
          <a:xfrm>
            <a:off x="813816"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Accepted version</a:t>
            </a:r>
            <a:endParaRPr lang="en-US" sz="2200" dirty="0"/>
          </a:p>
        </p:txBody>
      </p:sp>
      <p:sp>
        <p:nvSpPr>
          <p:cNvPr id="12" name="Text 10"/>
          <p:cNvSpPr/>
          <p:nvPr/>
        </p:nvSpPr>
        <p:spPr>
          <a:xfrm>
            <a:off x="813816" y="3968496"/>
            <a:ext cx="2075688" cy="69494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Keep reviewed</a:t>
            </a:r>
            <a:endParaRPr lang="en-US" sz="1800" dirty="0"/>
          </a:p>
          <a:p>
            <a:pPr indent="0" marL="0">
              <a:buNone/>
            </a:pPr>
            <a:r>
              <a:rPr lang="en-US" sz="1800" dirty="0">
                <a:solidFill>
                  <a:srgbClr val="626A71"/>
                </a:solidFill>
                <a:latin typeface="Arial" pitchFamily="34" charset="0"/>
                <a:ea typeface="Arial" pitchFamily="34" charset="-122"/>
                <a:cs typeface="Arial" pitchFamily="34" charset="-120"/>
              </a:rPr>
              <a:t>classifications.</a:t>
            </a:r>
            <a:endParaRPr lang="en-US" sz="1800" dirty="0"/>
          </a:p>
        </p:txBody>
      </p:sp>
      <p:sp>
        <p:nvSpPr>
          <p:cNvPr id="13" name="Shape 11"/>
          <p:cNvSpPr/>
          <p:nvPr/>
        </p:nvSpPr>
        <p:spPr>
          <a:xfrm>
            <a:off x="3163824" y="3867912"/>
            <a:ext cx="237744" cy="0"/>
          </a:xfrm>
          <a:prstGeom prst="line">
            <a:avLst/>
          </a:prstGeom>
          <a:noFill/>
          <a:ln w="21590">
            <a:solidFill>
              <a:srgbClr val="D71920"/>
            </a:solidFill>
            <a:prstDash val="solid"/>
            <a:tailEnd type="triangle"/>
          </a:ln>
        </p:spPr>
        <p:txBody>
          <a:bodyPr/>
          <a:p/>
        </p:txBody>
      </p:sp>
      <p:sp>
        <p:nvSpPr>
          <p:cNvPr id="14" name="Shape 12"/>
          <p:cNvSpPr/>
          <p:nvPr/>
        </p:nvSpPr>
        <p:spPr>
          <a:xfrm>
            <a:off x="3538728" y="2816352"/>
            <a:ext cx="2432304" cy="2103120"/>
          </a:xfrm>
          <a:prstGeom prst="rect">
            <a:avLst/>
          </a:prstGeom>
          <a:solidFill>
            <a:srgbClr val="FFFFFF"/>
          </a:solidFill>
          <a:ln w="12700">
            <a:solidFill>
              <a:srgbClr val="FFFFFF"/>
            </a:solidFill>
            <a:prstDash val="solid"/>
          </a:ln>
        </p:spPr>
        <p:txBody>
          <a:bodyPr/>
          <a:p/>
        </p:txBody>
      </p:sp>
      <p:sp>
        <p:nvSpPr>
          <p:cNvPr id="15" name="Text 13"/>
          <p:cNvSpPr/>
          <p:nvPr/>
        </p:nvSpPr>
        <p:spPr>
          <a:xfrm>
            <a:off x="3712464"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New information</a:t>
            </a:r>
            <a:endParaRPr lang="en-US" sz="2200" dirty="0"/>
          </a:p>
        </p:txBody>
      </p:sp>
      <p:sp>
        <p:nvSpPr>
          <p:cNvPr id="16" name="Text 14"/>
          <p:cNvSpPr/>
          <p:nvPr/>
        </p:nvSpPr>
        <p:spPr>
          <a:xfrm>
            <a:off x="3712464" y="3968496"/>
            <a:ext cx="2075688" cy="694944"/>
          </a:xfrm>
          <a:prstGeom prst="rect">
            <a:avLst/>
          </a:prstGeom>
          <a:noFill/>
          <a:ln/>
        </p:spPr>
        <p:txBody>
          <a:bodyPr wrap="square" lIns="0" tIns="0" rIns="0" bIns="0" rtlCol="0" anchor="ctr">
            <a:noAutofit/>
          </a:bodyPr>
          <a:lstStyle/>
          <a:p>
            <a:pPr indent="0" marL="0">
              <a:buNone/>
              <a:defRPr sz="1680"/>
            </a:pPr>
            <a:r>
              <a:rPr lang="en-US" sz="1680" dirty="0">
                <a:solidFill>
                  <a:srgbClr val="626A71"/>
                </a:solidFill>
                <a:latin typeface="Arial" pitchFamily="34" charset="0"/>
                <a:ea typeface="Arial" pitchFamily="34" charset="-122"/>
                <a:cs typeface="Arial" pitchFamily="34" charset="-120"/>
              </a:rPr>
              <a:t>Identify new parts</a:t>
            </a:r>
            <a:endParaRPr lang="en-US" sz="1680" dirty="0"/>
          </a:p>
          <a:p>
            <a:pPr indent="0" marL="0">
              <a:buNone/>
              <a:defRPr sz="1680"/>
            </a:pPr>
            <a:r>
              <a:rPr lang="en-US" sz="1680" dirty="0">
                <a:solidFill>
                  <a:srgbClr val="626A71"/>
                </a:solidFill>
                <a:latin typeface="Arial" pitchFamily="34" charset="0"/>
                <a:ea typeface="Arial" pitchFamily="34" charset="-122"/>
                <a:cs typeface="Arial" pitchFamily="34" charset="-120"/>
              </a:rPr>
              <a:t>and changed evidence.</a:t>
            </a:r>
            <a:endParaRPr lang="en-US" sz="1680" dirty="0"/>
          </a:p>
        </p:txBody>
      </p:sp>
      <p:sp>
        <p:nvSpPr>
          <p:cNvPr id="17" name="Shape 15"/>
          <p:cNvSpPr/>
          <p:nvPr/>
        </p:nvSpPr>
        <p:spPr>
          <a:xfrm>
            <a:off x="6062472" y="3867912"/>
            <a:ext cx="237744" cy="0"/>
          </a:xfrm>
          <a:prstGeom prst="line">
            <a:avLst/>
          </a:prstGeom>
          <a:noFill/>
          <a:ln w="21590">
            <a:solidFill>
              <a:srgbClr val="D71920"/>
            </a:solidFill>
            <a:prstDash val="solid"/>
            <a:tailEnd type="triangle"/>
          </a:ln>
        </p:spPr>
        <p:txBody>
          <a:bodyPr/>
          <a:p/>
        </p:txBody>
      </p:sp>
      <p:sp>
        <p:nvSpPr>
          <p:cNvPr id="18" name="Shape 16"/>
          <p:cNvSpPr/>
          <p:nvPr/>
        </p:nvSpPr>
        <p:spPr>
          <a:xfrm>
            <a:off x="6437376" y="2816352"/>
            <a:ext cx="2432304" cy="2103120"/>
          </a:xfrm>
          <a:prstGeom prst="rect">
            <a:avLst/>
          </a:prstGeom>
          <a:solidFill>
            <a:srgbClr val="D71920"/>
          </a:solidFill>
          <a:ln w="12700">
            <a:solidFill>
              <a:srgbClr val="D71920"/>
            </a:solidFill>
            <a:prstDash val="solid"/>
          </a:ln>
        </p:spPr>
        <p:txBody>
          <a:bodyPr/>
          <a:p/>
        </p:txBody>
      </p:sp>
      <p:sp>
        <p:nvSpPr>
          <p:cNvPr id="19" name="Text 17"/>
          <p:cNvSpPr/>
          <p:nvPr/>
        </p:nvSpPr>
        <p:spPr>
          <a:xfrm>
            <a:off x="6611112"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FFFFFF"/>
                </a:solidFill>
                <a:latin typeface="Arial" pitchFamily="34" charset="0"/>
                <a:ea typeface="Arial" pitchFamily="34" charset="-122"/>
                <a:cs typeface="Arial" pitchFamily="34" charset="-120"/>
              </a:rPr>
              <a:t>Exception review</a:t>
            </a:r>
            <a:endParaRPr lang="en-US" sz="2200" dirty="0"/>
          </a:p>
        </p:txBody>
      </p:sp>
      <p:sp>
        <p:nvSpPr>
          <p:cNvPr id="20" name="Text 18"/>
          <p:cNvSpPr/>
          <p:nvPr/>
        </p:nvSpPr>
        <p:spPr>
          <a:xfrm>
            <a:off x="6611112" y="3968496"/>
            <a:ext cx="2075688" cy="694944"/>
          </a:xfrm>
          <a:prstGeom prst="rect">
            <a:avLst/>
          </a:prstGeom>
          <a:noFill/>
          <a:ln/>
        </p:spPr>
        <p:txBody>
          <a:bodyPr wrap="square" lIns="0" tIns="0" rIns="0" bIns="0" rtlCol="0" anchor="ctr">
            <a:noAutofit/>
          </a:bodyPr>
          <a:lstStyle/>
          <a:p>
            <a:pPr indent="0" marL="0">
              <a:buNone/>
            </a:pPr>
            <a:r>
              <a:rPr lang="en-US" sz="1800" dirty="0">
                <a:solidFill>
                  <a:srgbClr val="FFFFFF"/>
                </a:solidFill>
                <a:latin typeface="Arial" pitchFamily="34" charset="0"/>
                <a:ea typeface="Arial" pitchFamily="34" charset="-122"/>
                <a:cs typeface="Arial" pitchFamily="34" charset="-120"/>
              </a:rPr>
              <a:t>Resolve only the</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items that need it.</a:t>
            </a:r>
            <a:endParaRPr lang="en-US" sz="1800" dirty="0"/>
          </a:p>
        </p:txBody>
      </p:sp>
      <p:sp>
        <p:nvSpPr>
          <p:cNvPr id="21" name="Shape 19"/>
          <p:cNvSpPr/>
          <p:nvPr/>
        </p:nvSpPr>
        <p:spPr>
          <a:xfrm>
            <a:off x="8961120" y="3867912"/>
            <a:ext cx="237744" cy="0"/>
          </a:xfrm>
          <a:prstGeom prst="line">
            <a:avLst/>
          </a:prstGeom>
          <a:noFill/>
          <a:ln w="21590">
            <a:solidFill>
              <a:srgbClr val="D71920"/>
            </a:solidFill>
            <a:prstDash val="solid"/>
            <a:tailEnd type="triangle"/>
          </a:ln>
        </p:spPr>
        <p:txBody>
          <a:bodyPr/>
          <a:p/>
        </p:txBody>
      </p:sp>
      <p:sp>
        <p:nvSpPr>
          <p:cNvPr id="22" name="Shape 20"/>
          <p:cNvSpPr/>
          <p:nvPr/>
        </p:nvSpPr>
        <p:spPr>
          <a:xfrm>
            <a:off x="9336024" y="2816352"/>
            <a:ext cx="2432304" cy="2103120"/>
          </a:xfrm>
          <a:prstGeom prst="rect">
            <a:avLst/>
          </a:prstGeom>
          <a:solidFill>
            <a:srgbClr val="FFFFFF"/>
          </a:solidFill>
          <a:ln w="12700">
            <a:solidFill>
              <a:srgbClr val="FFFFFF"/>
            </a:solidFill>
            <a:prstDash val="solid"/>
          </a:ln>
        </p:spPr>
        <p:txBody>
          <a:bodyPr/>
          <a:p/>
        </p:txBody>
      </p:sp>
      <p:sp>
        <p:nvSpPr>
          <p:cNvPr id="23" name="Text 21"/>
          <p:cNvSpPr/>
          <p:nvPr/>
        </p:nvSpPr>
        <p:spPr>
          <a:xfrm>
            <a:off x="9509760"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Next accepted version</a:t>
            </a:r>
            <a:endParaRPr lang="en-US" sz="2200" dirty="0"/>
          </a:p>
        </p:txBody>
      </p:sp>
      <p:sp>
        <p:nvSpPr>
          <p:cNvPr id="24" name="Text 22"/>
          <p:cNvSpPr/>
          <p:nvPr/>
        </p:nvSpPr>
        <p:spPr>
          <a:xfrm>
            <a:off x="9509760" y="3968496"/>
            <a:ext cx="2075688" cy="69494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Retain decisions</a:t>
            </a:r>
            <a:endParaRPr lang="en-US" sz="1800" dirty="0"/>
          </a:p>
          <a:p>
            <a:pPr indent="0" marL="0">
              <a:buNone/>
            </a:pPr>
            <a:r>
              <a:rPr lang="en-US" sz="1800" dirty="0">
                <a:solidFill>
                  <a:srgbClr val="626A71"/>
                </a:solidFill>
                <a:latin typeface="Arial" pitchFamily="34" charset="0"/>
                <a:ea typeface="Arial" pitchFamily="34" charset="-122"/>
                <a:cs typeface="Arial" pitchFamily="34" charset="-120"/>
              </a:rPr>
              <a:t>and their history.</a:t>
            </a:r>
            <a:endParaRPr lang="en-US" sz="1800" dirty="0"/>
          </a:p>
        </p:txBody>
      </p:sp>
      <p:sp>
        <p:nvSpPr>
          <p:cNvPr id="25" name="Text 23"/>
          <p:cNvSpPr/>
          <p:nvPr/>
        </p:nvSpPr>
        <p:spPr>
          <a:xfrm>
            <a:off x="722376" y="5431536"/>
            <a:ext cx="6062472" cy="411480"/>
          </a:xfrm>
          <a:prstGeom prst="rect">
            <a:avLst/>
          </a:prstGeom>
          <a:noFill/>
          <a:ln/>
        </p:spPr>
        <p:txBody>
          <a:bodyPr wrap="square" lIns="0" tIns="0" rIns="0" bIns="0" rtlCol="0" anchor="ctr">
            <a:noAutofit/>
          </a:bodyPr>
          <a:lstStyle/>
          <a:p>
            <a:pPr indent="0" marL="0">
              <a:buNone/>
              <a:defRPr sz="2680"/>
            </a:pPr>
            <a:r>
              <a:rPr lang="en-US" sz="2680" b="1" dirty="0">
                <a:solidFill>
                  <a:srgbClr val="24282C"/>
                </a:solidFill>
                <a:latin typeface="Arial" pitchFamily="34" charset="0"/>
                <a:ea typeface="Arial" pitchFamily="34" charset="-122"/>
                <a:cs typeface="Arial" pitchFamily="34" charset="-120"/>
              </a:rPr>
              <a:t>Corrections survive the next update.</a:t>
            </a:r>
            <a:endParaRPr lang="en-US" sz="2680" dirty="0"/>
          </a:p>
        </p:txBody>
      </p:sp>
      <p:sp>
        <p:nvSpPr>
          <p:cNvPr id="26" name="Text 24"/>
          <p:cNvSpPr/>
          <p:nvPr/>
        </p:nvSpPr>
        <p:spPr>
          <a:xfrm>
            <a:off x="7315200" y="5404104"/>
            <a:ext cx="4050792" cy="658368"/>
          </a:xfrm>
          <a:prstGeom prst="rect">
            <a:avLst/>
          </a:prstGeom>
          <a:noFill/>
          <a:ln/>
        </p:spPr>
        <p:txBody>
          <a:bodyPr wrap="square" lIns="0" tIns="0" rIns="0" bIns="0" rtlCol="0" anchor="ctr">
            <a:noAutofit/>
          </a:bodyPr>
          <a:lstStyle/>
          <a:p>
            <a:pPr indent="0" marL="0">
              <a:buNone/>
            </a:pPr>
            <a:r>
              <a:rPr lang="en-US" sz="1900" dirty="0">
                <a:solidFill>
                  <a:srgbClr val="626A71"/>
                </a:solidFill>
                <a:latin typeface="Arial" pitchFamily="34" charset="0"/>
                <a:ea typeface="Arial" pitchFamily="34" charset="-122"/>
                <a:cs typeface="Arial" pitchFamily="34" charset="-120"/>
              </a:rPr>
              <a:t>No dependency on regular bespoke</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updates from Japan.</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NEXT ADDITION: INTERCHANGEABILITY</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A replacement should not look like lost business.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ITC will connect authorised old-to-new relationships when the source is supplied.</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NEXT ADDITION: INTERCHANGEABILITY</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23</a:t>
            </a:r>
            <a:endParaRPr lang="en-US" sz="1050" dirty="0"/>
          </a:p>
        </p:txBody>
      </p:sp>
      <p:sp>
        <p:nvSpPr>
          <p:cNvPr id="10" name="Text 8"/>
          <p:cNvSpPr/>
          <p:nvPr/>
        </p:nvSpPr>
        <p:spPr>
          <a:xfrm>
            <a:off x="740664" y="2734056"/>
            <a:ext cx="4005072" cy="301752"/>
          </a:xfrm>
          <a:prstGeom prst="rect">
            <a:avLst/>
          </a:prstGeom>
          <a:noFill/>
          <a:ln/>
        </p:spPr>
        <p:txBody>
          <a:bodyPr wrap="square" lIns="0" tIns="0" rIns="0" bIns="0" rtlCol="0" anchor="ctr">
            <a:noAutofit/>
          </a:bodyPr>
          <a:lstStyle/>
          <a:p>
            <a:pPr indent="0" marL="0">
              <a:buNone/>
            </a:pPr>
            <a:r>
              <a:rPr lang="en-US" sz="1300" b="1" spc="50" kern="0" dirty="0">
                <a:solidFill>
                  <a:srgbClr val="626A71"/>
                </a:solidFill>
                <a:latin typeface="Arial" pitchFamily="34" charset="0"/>
                <a:ea typeface="Arial" pitchFamily="34" charset="-122"/>
                <a:cs typeface="Arial" pitchFamily="34" charset="-120"/>
              </a:rPr>
              <a:t>OLD PART NUMBER</a:t>
            </a:r>
            <a:endParaRPr lang="en-US" sz="1300" dirty="0"/>
          </a:p>
        </p:txBody>
      </p:sp>
      <p:sp>
        <p:nvSpPr>
          <p:cNvPr id="11" name="Text 9"/>
          <p:cNvSpPr/>
          <p:nvPr/>
        </p:nvSpPr>
        <p:spPr>
          <a:xfrm>
            <a:off x="6830568" y="2734056"/>
            <a:ext cx="4407408" cy="301752"/>
          </a:xfrm>
          <a:prstGeom prst="rect">
            <a:avLst/>
          </a:prstGeom>
          <a:noFill/>
          <a:ln/>
        </p:spPr>
        <p:txBody>
          <a:bodyPr wrap="square" lIns="0" tIns="0" rIns="0" bIns="0" rtlCol="0" anchor="ctr">
            <a:noAutofit/>
          </a:bodyPr>
          <a:lstStyle/>
          <a:p>
            <a:pPr indent="0" marL="0">
              <a:buNone/>
            </a:pPr>
            <a:r>
              <a:rPr lang="en-US" sz="1300" b="1" spc="50" kern="0" dirty="0">
                <a:solidFill>
                  <a:srgbClr val="D71920"/>
                </a:solidFill>
                <a:latin typeface="Arial" pitchFamily="34" charset="0"/>
                <a:ea typeface="Arial" pitchFamily="34" charset="-122"/>
                <a:cs typeface="Arial" pitchFamily="34" charset="-120"/>
              </a:rPr>
              <a:t>REPLACEMENT NUMBER</a:t>
            </a:r>
            <a:endParaRPr lang="en-US" sz="1300" dirty="0"/>
          </a:p>
        </p:txBody>
      </p:sp>
      <p:sp>
        <p:nvSpPr>
          <p:cNvPr id="12" name="Shape 10"/>
          <p:cNvSpPr/>
          <p:nvPr/>
        </p:nvSpPr>
        <p:spPr>
          <a:xfrm>
            <a:off x="786384" y="3575304"/>
            <a:ext cx="3502152" cy="402336"/>
          </a:xfrm>
          <a:prstGeom prst="rect">
            <a:avLst/>
          </a:prstGeom>
          <a:solidFill>
            <a:srgbClr val="24282C"/>
          </a:solidFill>
          <a:ln w="12700">
            <a:solidFill>
              <a:srgbClr val="24282C"/>
            </a:solidFill>
            <a:prstDash val="solid"/>
          </a:ln>
        </p:spPr>
        <p:txBody>
          <a:bodyPr/>
          <a:p/>
        </p:txBody>
      </p:sp>
      <p:sp>
        <p:nvSpPr>
          <p:cNvPr id="13" name="Shape 11"/>
          <p:cNvSpPr/>
          <p:nvPr/>
        </p:nvSpPr>
        <p:spPr>
          <a:xfrm>
            <a:off x="6830568" y="3575304"/>
            <a:ext cx="4050792" cy="402336"/>
          </a:xfrm>
          <a:prstGeom prst="rect">
            <a:avLst/>
          </a:prstGeom>
          <a:solidFill>
            <a:srgbClr val="D71920"/>
          </a:solidFill>
          <a:ln w="12700">
            <a:solidFill>
              <a:srgbClr val="D71920"/>
            </a:solidFill>
            <a:prstDash val="solid"/>
          </a:ln>
        </p:spPr>
        <p:txBody>
          <a:bodyPr/>
          <a:p/>
        </p:txBody>
      </p:sp>
      <p:sp>
        <p:nvSpPr>
          <p:cNvPr id="14" name="Shape 12"/>
          <p:cNvSpPr/>
          <p:nvPr/>
        </p:nvSpPr>
        <p:spPr>
          <a:xfrm>
            <a:off x="4553712" y="3776472"/>
            <a:ext cx="1938528" cy="0"/>
          </a:xfrm>
          <a:prstGeom prst="line">
            <a:avLst/>
          </a:prstGeom>
          <a:noFill/>
          <a:ln w="26670">
            <a:solidFill>
              <a:srgbClr val="D71920"/>
            </a:solidFill>
            <a:prstDash val="solid"/>
            <a:tailEnd type="triangle"/>
          </a:ln>
        </p:spPr>
        <p:txBody>
          <a:bodyPr/>
          <a:p/>
        </p:txBody>
      </p:sp>
      <p:sp>
        <p:nvSpPr>
          <p:cNvPr id="15" name="Text 13"/>
          <p:cNvSpPr/>
          <p:nvPr/>
        </p:nvSpPr>
        <p:spPr>
          <a:xfrm>
            <a:off x="758952" y="4443984"/>
            <a:ext cx="4370832" cy="502920"/>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Purchases on this number fall.</a:t>
            </a:r>
            <a:endParaRPr lang="en-US" sz="2300" dirty="0"/>
          </a:p>
        </p:txBody>
      </p:sp>
      <p:sp>
        <p:nvSpPr>
          <p:cNvPr id="16" name="Text 14"/>
          <p:cNvSpPr/>
          <p:nvPr/>
        </p:nvSpPr>
        <p:spPr>
          <a:xfrm>
            <a:off x="6839712" y="4443984"/>
            <a:ext cx="4279392" cy="502920"/>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Purchases move here.</a:t>
            </a:r>
            <a:endParaRPr lang="en-US" sz="2300" dirty="0"/>
          </a:p>
        </p:txBody>
      </p:sp>
      <p:sp>
        <p:nvSpPr>
          <p:cNvPr id="17" name="Shape 15"/>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18" name="Text 16"/>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Preserve the original invoice; add a validated replacement-family view for sales continuity.</a:t>
            </a:r>
            <a:endParaRPr lang="en-US" sz="1750" dirty="0"/>
          </a:p>
        </p:txBody>
      </p:sp>
      <p:sp>
        <p:nvSpPr>
          <p:cNvPr id="20" name="Text 17"/>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Illustrative relationship only. Interchangeability data has not yet been supplied.</a:t>
            </a:r>
            <a:endParaRPr lang="en-US" sz="8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D71920"/>
          </a:solidFill>
          <a:ln w="12700">
            <a:solidFill>
              <a:srgbClr val="D71920"/>
            </a:solidFill>
            <a:prstDash val="solid"/>
          </a:ln>
        </p:spPr>
        <p:txBody>
          <a:bodyPr/>
          <a:p/>
        </p:txBody>
      </p:sp>
      <p:sp>
        <p:nvSpPr>
          <p:cNvPr id="3" name="Text 1"/>
          <p:cNvSpPr/>
          <p:nvPr/>
        </p:nvSpPr>
        <p:spPr>
          <a:xfrm>
            <a:off x="722376" y="658368"/>
            <a:ext cx="2825496" cy="694944"/>
          </a:xfrm>
          <a:prstGeom prst="rect">
            <a:avLst/>
          </a:prstGeom>
          <a:noFill/>
          <a:ln/>
        </p:spPr>
        <p:txBody>
          <a:bodyPr wrap="square" lIns="0" tIns="0" rIns="0" bIns="0" rtlCol="0" anchor="ctr">
            <a:noAutofit/>
          </a:bodyPr>
          <a:lstStyle/>
          <a:p>
            <a:pPr indent="0" marL="0">
              <a:buNone/>
            </a:pPr>
            <a:r>
              <a:rPr lang="en-US" sz="4700" b="1" dirty="0">
                <a:solidFill>
                  <a:srgbClr val="FFFFFF"/>
                </a:solidFill>
                <a:latin typeface="Arial" pitchFamily="34" charset="0"/>
                <a:ea typeface="Arial" pitchFamily="34" charset="-122"/>
                <a:cs typeface="Arial" pitchFamily="34" charset="-120"/>
              </a:rPr>
              <a:t>AIM</a:t>
            </a:r>
            <a:endParaRPr lang="en-US" sz="4700" dirty="0"/>
          </a:p>
        </p:txBody>
      </p:sp>
      <p:sp>
        <p:nvSpPr>
          <p:cNvPr id="4" name="Text 2"/>
          <p:cNvSpPr/>
          <p:nvPr/>
        </p:nvSpPr>
        <p:spPr>
          <a:xfrm>
            <a:off x="731520" y="1828800"/>
            <a:ext cx="6208776" cy="3026664"/>
          </a:xfrm>
          <a:prstGeom prst="rect">
            <a:avLst/>
          </a:prstGeom>
          <a:noFill/>
          <a:ln/>
        </p:spPr>
        <p:txBody>
          <a:bodyPr wrap="square" lIns="0" tIns="0" rIns="0" bIns="0" rtlCol="0" anchor="t">
            <a:noAutofit/>
          </a:bodyPr>
          <a:lstStyle/>
          <a:p>
            <a:pPr indent="0" marL="0">
              <a:buNone/>
            </a:pPr>
            <a:r>
              <a:rPr lang="en-US" sz="4300" b="1" dirty="0">
                <a:solidFill>
                  <a:srgbClr val="FFFFFF"/>
                </a:solidFill>
                <a:latin typeface="Arial" pitchFamily="34" charset="0"/>
                <a:ea typeface="Arial" pitchFamily="34" charset="-122"/>
                <a:cs typeface="Arial" pitchFamily="34" charset="-120"/>
              </a:rPr>
              <a:t>From "Others"</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to a product.</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From a product</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to an opportunity.</a:t>
            </a:r>
            <a:endParaRPr lang="en-US" sz="4300" dirty="0"/>
          </a:p>
        </p:txBody>
      </p:sp>
      <p:sp>
        <p:nvSpPr>
          <p:cNvPr id="5" name="Text 3"/>
          <p:cNvSpPr/>
          <p:nvPr/>
        </p:nvSpPr>
        <p:spPr>
          <a:xfrm>
            <a:off x="7452360" y="969264"/>
            <a:ext cx="3941064" cy="256032"/>
          </a:xfrm>
          <a:prstGeom prst="rect">
            <a:avLst/>
          </a:prstGeom>
          <a:noFill/>
          <a:ln/>
        </p:spPr>
        <p:txBody>
          <a:bodyPr wrap="square" lIns="0" tIns="0" rIns="0" bIns="0" rtlCol="0" anchor="ctr">
            <a:noAutofit/>
          </a:bodyPr>
          <a:lstStyle/>
          <a:p>
            <a:pPr indent="0" marL="0">
              <a:buNone/>
            </a:pPr>
            <a:r>
              <a:rPr lang="en-US" sz="1130" b="1" spc="100" kern="0" dirty="0">
                <a:solidFill>
                  <a:srgbClr val="F2969B"/>
                </a:solidFill>
                <a:latin typeface="Arial" pitchFamily="34" charset="0"/>
                <a:ea typeface="Arial" pitchFamily="34" charset="-122"/>
                <a:cs typeface="Arial" pitchFamily="34" charset="-120"/>
              </a:rPr>
              <a:t>THE MANAGEMENT DECISION</a:t>
            </a:r>
            <a:endParaRPr lang="en-US" sz="1130" dirty="0"/>
          </a:p>
        </p:txBody>
      </p:sp>
      <p:sp>
        <p:nvSpPr>
          <p:cNvPr id="6" name="Text 4"/>
          <p:cNvSpPr/>
          <p:nvPr/>
        </p:nvSpPr>
        <p:spPr>
          <a:xfrm>
            <a:off x="7470648" y="1618488"/>
            <a:ext cx="3520440" cy="457200"/>
          </a:xfrm>
          <a:prstGeom prst="rect">
            <a:avLst/>
          </a:prstGeom>
          <a:noFill/>
          <a:ln/>
        </p:spPr>
        <p:txBody>
          <a:bodyPr wrap="square" lIns="0" tIns="0" rIns="0" bIns="0" rtlCol="0" anchor="ctr">
            <a:noAutofit/>
          </a:bodyPr>
          <a:lstStyle/>
          <a:p>
            <a:pPr indent="0" marL="0">
              <a:buNone/>
            </a:pPr>
            <a:r>
              <a:rPr lang="en-US" sz="2800" b="1" dirty="0">
                <a:solidFill>
                  <a:srgbClr val="FFFFFF"/>
                </a:solidFill>
                <a:latin typeface="Arial" pitchFamily="34" charset="0"/>
                <a:ea typeface="Arial" pitchFamily="34" charset="-122"/>
                <a:cs typeface="Arial" pitchFamily="34" charset="-120"/>
              </a:rPr>
              <a:t>Use</a:t>
            </a:r>
            <a:endParaRPr lang="en-US" sz="2800" dirty="0"/>
          </a:p>
        </p:txBody>
      </p:sp>
      <p:sp>
        <p:nvSpPr>
          <p:cNvPr id="7" name="Text 5"/>
          <p:cNvSpPr/>
          <p:nvPr/>
        </p:nvSpPr>
        <p:spPr>
          <a:xfrm>
            <a:off x="7488936" y="2212848"/>
            <a:ext cx="3557016" cy="594360"/>
          </a:xfrm>
          <a:prstGeom prst="rect">
            <a:avLst/>
          </a:prstGeom>
          <a:noFill/>
          <a:ln/>
        </p:spPr>
        <p:txBody>
          <a:bodyPr wrap="square" lIns="0" tIns="0" rIns="0" bIns="0" rtlCol="0" anchor="t">
            <a:noAutofit/>
          </a:bodyPr>
          <a:lstStyle/>
          <a:p>
            <a:pPr indent="0" marL="0">
              <a:buNone/>
            </a:pPr>
            <a:r>
              <a:rPr lang="en-US" sz="1850" dirty="0">
                <a:solidFill>
                  <a:srgbClr val="CCD1D2"/>
                </a:solidFill>
                <a:latin typeface="Arial" pitchFamily="34" charset="0"/>
                <a:ea typeface="Arial" pitchFamily="34" charset="-122"/>
                <a:cs typeface="Arial" pitchFamily="34" charset="-120"/>
              </a:rPr>
              <a:t>One accepted product language for distributor sales reviews.</a:t>
            </a:r>
            <a:endParaRPr lang="en-US" sz="1850" dirty="0"/>
          </a:p>
        </p:txBody>
      </p:sp>
      <p:sp>
        <p:nvSpPr>
          <p:cNvPr id="8" name="Text 6"/>
          <p:cNvSpPr/>
          <p:nvPr/>
        </p:nvSpPr>
        <p:spPr>
          <a:xfrm>
            <a:off x="7470648" y="2944368"/>
            <a:ext cx="3520440" cy="457200"/>
          </a:xfrm>
          <a:prstGeom prst="rect">
            <a:avLst/>
          </a:prstGeom>
          <a:noFill/>
          <a:ln/>
        </p:spPr>
        <p:txBody>
          <a:bodyPr wrap="square" lIns="0" tIns="0" rIns="0" bIns="0" rtlCol="0" anchor="ctr">
            <a:noAutofit/>
          </a:bodyPr>
          <a:lstStyle/>
          <a:p>
            <a:pPr indent="0" marL="0">
              <a:buNone/>
            </a:pPr>
            <a:r>
              <a:rPr lang="en-US" sz="2800" b="1" dirty="0">
                <a:solidFill>
                  <a:srgbClr val="FFFFFF"/>
                </a:solidFill>
                <a:latin typeface="Arial" pitchFamily="34" charset="0"/>
                <a:ea typeface="Arial" pitchFamily="34" charset="-122"/>
                <a:cs typeface="Arial" pitchFamily="34" charset="-120"/>
              </a:rPr>
              <a:t>Own</a:t>
            </a:r>
            <a:endParaRPr lang="en-US" sz="2800" dirty="0"/>
          </a:p>
        </p:txBody>
      </p:sp>
      <p:sp>
        <p:nvSpPr>
          <p:cNvPr id="9" name="Text 7"/>
          <p:cNvSpPr/>
          <p:nvPr/>
        </p:nvSpPr>
        <p:spPr>
          <a:xfrm>
            <a:off x="7488936" y="3538728"/>
            <a:ext cx="3557016" cy="594360"/>
          </a:xfrm>
          <a:prstGeom prst="rect">
            <a:avLst/>
          </a:prstGeom>
          <a:noFill/>
          <a:ln/>
        </p:spPr>
        <p:txBody>
          <a:bodyPr wrap="square" lIns="0" tIns="0" rIns="0" bIns="0" rtlCol="0" anchor="t">
            <a:noAutofit/>
          </a:bodyPr>
          <a:lstStyle/>
          <a:p>
            <a:pPr indent="0" marL="0">
              <a:buNone/>
            </a:pPr>
            <a:r>
              <a:rPr lang="en-US" sz="1850" dirty="0">
                <a:solidFill>
                  <a:srgbClr val="CCD1D2"/>
                </a:solidFill>
                <a:latin typeface="Arial" pitchFamily="34" charset="0"/>
                <a:ea typeface="Arial" pitchFamily="34" charset="-122"/>
                <a:cs typeface="Arial" pitchFamily="34" charset="-120"/>
              </a:rPr>
              <a:t>Local maintenance within Vehicle Parts Sales.</a:t>
            </a:r>
            <a:endParaRPr lang="en-US" sz="1850" dirty="0"/>
          </a:p>
        </p:txBody>
      </p:sp>
      <p:sp>
        <p:nvSpPr>
          <p:cNvPr id="10" name="Text 8"/>
          <p:cNvSpPr/>
          <p:nvPr/>
        </p:nvSpPr>
        <p:spPr>
          <a:xfrm>
            <a:off x="7470648" y="4270248"/>
            <a:ext cx="3520440" cy="457200"/>
          </a:xfrm>
          <a:prstGeom prst="rect">
            <a:avLst/>
          </a:prstGeom>
          <a:noFill/>
          <a:ln/>
        </p:spPr>
        <p:txBody>
          <a:bodyPr wrap="square" lIns="0" tIns="0" rIns="0" bIns="0" rtlCol="0" anchor="ctr">
            <a:noAutofit/>
          </a:bodyPr>
          <a:lstStyle/>
          <a:p>
            <a:pPr indent="0" marL="0">
              <a:buNone/>
            </a:pPr>
            <a:r>
              <a:rPr lang="en-US" sz="2800" b="1" dirty="0">
                <a:solidFill>
                  <a:srgbClr val="FFFFFF"/>
                </a:solidFill>
                <a:latin typeface="Arial" pitchFamily="34" charset="0"/>
                <a:ea typeface="Arial" pitchFamily="34" charset="-122"/>
                <a:cs typeface="Arial" pitchFamily="34" charset="-120"/>
              </a:rPr>
              <a:t>Prove</a:t>
            </a:r>
            <a:endParaRPr lang="en-US" sz="2800" dirty="0"/>
          </a:p>
        </p:txBody>
      </p:sp>
      <p:sp>
        <p:nvSpPr>
          <p:cNvPr id="11" name="Text 9"/>
          <p:cNvSpPr/>
          <p:nvPr/>
        </p:nvSpPr>
        <p:spPr>
          <a:xfrm>
            <a:off x="7488936" y="4864608"/>
            <a:ext cx="3557016" cy="594360"/>
          </a:xfrm>
          <a:prstGeom prst="rect">
            <a:avLst/>
          </a:prstGeom>
          <a:noFill/>
          <a:ln/>
        </p:spPr>
        <p:txBody>
          <a:bodyPr wrap="square" lIns="0" tIns="0" rIns="0" bIns="0" rtlCol="0" anchor="t">
            <a:noAutofit/>
          </a:bodyPr>
          <a:lstStyle/>
          <a:p>
            <a:pPr indent="0" marL="0">
              <a:buNone/>
            </a:pPr>
            <a:r>
              <a:rPr lang="en-US" sz="1850" dirty="0">
                <a:solidFill>
                  <a:srgbClr val="CCD1D2"/>
                </a:solidFill>
                <a:latin typeface="Arial" pitchFamily="34" charset="0"/>
                <a:ea typeface="Arial" pitchFamily="34" charset="-122"/>
                <a:cs typeface="Arial" pitchFamily="34" charset="-120"/>
              </a:rPr>
              <a:t>One reviewed range; repeat orders and contribution.</a:t>
            </a:r>
            <a:endParaRPr lang="en-US" sz="1850" dirty="0"/>
          </a:p>
        </p:txBody>
      </p:sp>
      <p:sp>
        <p:nvSpPr>
          <p:cNvPr id="12" name="Text 10"/>
          <p:cNvSpPr/>
          <p:nvPr/>
        </p:nvSpPr>
        <p:spPr>
          <a:xfrm>
            <a:off x="777240" y="6025896"/>
            <a:ext cx="10442448" cy="393192"/>
          </a:xfrm>
          <a:prstGeom prst="rect">
            <a:avLst/>
          </a:prstGeom>
          <a:noFill/>
          <a:ln/>
        </p:spPr>
        <p:txBody>
          <a:bodyPr wrap="square" lIns="0" tIns="0" rIns="0" bIns="0" rtlCol="0" anchor="ctr">
            <a:noAutofit/>
          </a:bodyPr>
          <a:lstStyle/>
          <a:p>
            <a:pPr indent="0" marL="0">
              <a:buNone/>
            </a:pPr>
            <a:r>
              <a:rPr lang="en-US" sz="2200" dirty="0">
                <a:solidFill>
                  <a:srgbClr val="CCD1D2"/>
                </a:solidFill>
                <a:latin typeface="Arial" pitchFamily="34" charset="0"/>
                <a:ea typeface="Arial" pitchFamily="34" charset="-122"/>
                <a:cs typeface="Arial" pitchFamily="34" charset="-120"/>
              </a:rPr>
              <a:t>How AIM can support distributor competitiveness and ISZE growth.</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 - From Others to Opportunity | Compact distributor-analysis edition</dc:title>
  <dc:subject>AIM: from Others to actionable product insight</dc:subject>
  <dc:creator>Isuzu Motors Europe</dc:creator>
  <cp:lastModifiedBy>Isuzu Motors Europe</cp:lastModifiedBy>
  <cp:revision>1</cp:revision>
  <dcterms:created xsi:type="dcterms:W3CDTF">2026-09-20T13:55:04Z</dcterms:created>
  <dcterms:modified xsi:type="dcterms:W3CDTF">2026-09-20T13:55:04Z</dcterms:modified>
</cp:coreProperties>
</file>