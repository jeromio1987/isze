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70" r:id="rId4"/>
    <p:sldId id="271" r:id="rId5"/>
    <p:sldId id="266" r:id="rId6"/>
    <p:sldId id="272" r:id="rId7"/>
    <p:sldId id="269" r:id="rId8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46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74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  <p:guide orient="horz" pos="346"/>
        <p:guide pos="211"/>
        <p:guide pos="744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C8A49-8D98-B94E-0D64-A1BD1D941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24306A-6034-1598-9DD5-19AF22F4D6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B41AB-B213-464B-51E2-70B5F97ED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B724D-3FC7-4B85-83A5-C850B478FF95}" type="datetimeFigureOut">
              <a:rPr lang="LID4096" smtClean="0"/>
              <a:t>11/10/2025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A92F9-A2A9-02B8-B691-0579EF095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68131-821A-5225-F606-AD56C0200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A6586-1A24-4EE0-B6F2-84F03794B1E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72621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FE853-CB99-AAA7-ABA9-8F0082BB4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0B409-3E30-B480-D018-E0482E6C8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862C8-D0A0-8283-FC5E-18FD896AB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B724D-3FC7-4B85-83A5-C850B478FF95}" type="datetimeFigureOut">
              <a:rPr lang="LID4096" smtClean="0"/>
              <a:t>11/10/2025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4E404-2C06-FE1D-2889-1D0AA694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D0BA1-85A6-B5E3-42FB-7013D7050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A6586-1A24-4EE0-B6F2-84F03794B1E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97981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21183-FB83-F24A-9415-489F50E09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B6852A-14AD-3439-E499-2B8863C6A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B4DFA-2A3C-837F-DBCB-1E75B54AB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B724D-3FC7-4B85-83A5-C850B478FF95}" type="datetimeFigureOut">
              <a:rPr lang="LID4096" smtClean="0"/>
              <a:t>11/10/2025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81CEE-4F2D-212C-4C86-EA22D07BB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96B66-BDA8-D567-0E1B-F6C50130A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A6586-1A24-4EE0-B6F2-84F03794B1E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92236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4A155-CAC1-AB44-1801-06962D19A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499C2-81C6-52B6-A898-A253C5EFEF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E8656D-66B5-0B79-0AD6-6F27E40792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C07B-0EB3-FE3E-1260-C2E6E97BC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B724D-3FC7-4B85-83A5-C850B478FF95}" type="datetimeFigureOut">
              <a:rPr lang="LID4096" smtClean="0"/>
              <a:t>11/10/2025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80155-16FB-777E-BE5E-9F7D54C0F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D3469-3CF9-440E-00B3-6ABEF6598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A6586-1A24-4EE0-B6F2-84F03794B1E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7335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B3C0F-F1F7-FFD9-4E26-CBF063F76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24011-3852-2684-09ED-A21C3A9D4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B2B53C-3D32-D98F-53BA-ED1F04D422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D4035-2138-8B64-2620-57D76DEF6A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A160B5-983B-3225-6107-7081037FB6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E96C7A-5916-6F90-410E-1F06E3151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B724D-3FC7-4B85-83A5-C850B478FF95}" type="datetimeFigureOut">
              <a:rPr lang="LID4096" smtClean="0"/>
              <a:t>11/10/2025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A4EFE-E4EB-95F2-D75E-09F19D15E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C46525-AF71-633B-7C8D-CEE2D5008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A6586-1A24-4EE0-B6F2-84F03794B1E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39292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3627C-C3AC-5523-6BF7-3F4712E09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37982B-B91F-398F-3293-925159FB6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B724D-3FC7-4B85-83A5-C850B478FF95}" type="datetimeFigureOut">
              <a:rPr lang="LID4096" smtClean="0"/>
              <a:t>11/10/2025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2AF4C-6BD3-45D4-B589-7816AC5BB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6C6D37-6FA9-703A-4760-01237661A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A6586-1A24-4EE0-B6F2-84F03794B1E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69109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4A7C5A-E1E3-3143-7542-CB7F1D6A5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B724D-3FC7-4B85-83A5-C850B478FF95}" type="datetimeFigureOut">
              <a:rPr lang="LID4096" smtClean="0"/>
              <a:t>11/10/2025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1B9FE8-C376-5AC9-1B8F-DF1167F8A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D1408-D345-7760-3849-BCB01DBA7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A6586-1A24-4EE0-B6F2-84F03794B1E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5993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D7AAA-9872-EBF5-2831-DD2142E40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D6564-FD5A-B53E-AA1E-2EBA16802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4F56BC-67E8-F003-9B27-020863872E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C5342-4EE0-CB8E-55E2-FB94DAD4A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B724D-3FC7-4B85-83A5-C850B478FF95}" type="datetimeFigureOut">
              <a:rPr lang="LID4096" smtClean="0"/>
              <a:t>11/10/2025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BE865-11CC-28DB-DD9C-B2E452426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1600B-485D-3ADE-CA88-D2EC9BF32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A6586-1A24-4EE0-B6F2-84F03794B1E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70562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33C49-9905-0780-E390-F0B337136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88F6C-845B-98B2-D19A-8E594EA40D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7A14C2-A871-36D3-3202-972B5F8A2A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26C3E-5695-A238-4CF6-C8D4F092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B724D-3FC7-4B85-83A5-C850B478FF95}" type="datetimeFigureOut">
              <a:rPr lang="LID4096" smtClean="0"/>
              <a:t>11/10/2025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DE3C50-12DB-8859-0114-93F18D387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00F90C-9E91-9A2A-E68B-7B7BFE5C9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A6586-1A24-4EE0-B6F2-84F03794B1E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59546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05383-3068-1784-9D67-DB5B07A79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B2022-56F8-E877-134E-68E48C0D4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88399-8DD4-AD23-68DB-ABC504CC9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B724D-3FC7-4B85-83A5-C850B478FF95}" type="datetimeFigureOut">
              <a:rPr lang="LID4096" smtClean="0"/>
              <a:t>11/10/2025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FB438-D139-CFB8-76CA-316FEBD6C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55F64-F00B-450C-3562-7A560F094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A6586-1A24-4EE0-B6F2-84F03794B1E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3907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FB1F7E-9D64-059F-2311-FE11C2125C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65F158-68A0-2888-2D8C-75BBF1062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5AA6A-D226-7F4E-5A5C-DEA7297DC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B724D-3FC7-4B85-83A5-C850B478FF95}" type="datetimeFigureOut">
              <a:rPr lang="LID4096" smtClean="0"/>
              <a:t>11/10/2025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61DEB-263C-559C-1CA9-C81C79F6B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D1394-8257-9A1A-B297-2F36973BD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A6586-1A24-4EE0-B6F2-84F03794B1E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69520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BC530A-A734-C125-CCA2-3CD6934A3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AD094-5468-71DF-BDF7-DDF26630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E54AA-57CF-4178-3797-A350BB9C97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7B724D-3FC7-4B85-83A5-C850B478FF95}" type="datetimeFigureOut">
              <a:rPr lang="LID4096" smtClean="0"/>
              <a:t>11/10/2025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2A682-89E0-9D63-1008-179E159BBC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6FCA2-B171-DD29-23A0-91EFA438A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AA6586-1A24-4EE0-B6F2-84F03794B1ED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34369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8D34A-4DFB-6292-648F-3999438AB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A3F28B-2FCB-96D8-16A8-6B8AE21F09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33"/>
          <a:stretch>
            <a:fillRect/>
          </a:stretch>
        </p:blipFill>
        <p:spPr>
          <a:xfrm>
            <a:off x="0" y="6421348"/>
            <a:ext cx="12192000" cy="436652"/>
          </a:xfrm>
          <a:prstGeom prst="rect">
            <a:avLst/>
          </a:prstGeom>
        </p:spPr>
      </p:pic>
      <p:sp>
        <p:nvSpPr>
          <p:cNvPr id="5" name="テキスト ボックス 8">
            <a:extLst>
              <a:ext uri="{FF2B5EF4-FFF2-40B4-BE49-F238E27FC236}">
                <a16:creationId xmlns:a16="http://schemas.microsoft.com/office/drawing/2014/main" id="{0FD70E5C-8658-01C8-1696-FEFA8400CB11}"/>
              </a:ext>
            </a:extLst>
          </p:cNvPr>
          <p:cNvSpPr txBox="1"/>
          <p:nvPr/>
        </p:nvSpPr>
        <p:spPr>
          <a:xfrm>
            <a:off x="0" y="6611179"/>
            <a:ext cx="2038911" cy="246821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June 2025</a:t>
            </a:r>
            <a:endParaRPr lang="en-GB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フッター プレースホルダー 4">
            <a:extLst>
              <a:ext uri="{FF2B5EF4-FFF2-40B4-BE49-F238E27FC236}">
                <a16:creationId xmlns:a16="http://schemas.microsoft.com/office/drawing/2014/main" id="{0EEF2532-840E-7335-4BBE-1B08D75BC712}"/>
              </a:ext>
            </a:extLst>
          </p:cNvPr>
          <p:cNvSpPr txBox="1">
            <a:spLocks/>
          </p:cNvSpPr>
          <p:nvPr/>
        </p:nvSpPr>
        <p:spPr>
          <a:xfrm>
            <a:off x="1210849" y="6606000"/>
            <a:ext cx="3946495" cy="252000"/>
          </a:xfrm>
          <a:prstGeom prst="rect">
            <a:avLst/>
          </a:prstGeom>
          <a:noFill/>
        </p:spPr>
        <p:txBody>
          <a:bodyPr anchor="ctr"/>
          <a:lstStyle>
            <a:defPPr>
              <a:defRPr lang="en-SE"/>
            </a:defPPr>
            <a:lvl1pPr marL="0" algn="l" defTabSz="914400" rtl="0" eaLnBrk="0" latinLnBrk="0" hangingPunct="0">
              <a:defRPr kumimoji="1" sz="2300" b="1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871703" indent="-335270" algn="l" defTabSz="914400" rtl="0" eaLnBrk="0" latinLnBrk="0" hangingPunct="0">
              <a:defRPr kumimoji="1" sz="19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341082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877515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413947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950380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3486813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4023246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4559678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ja-JP" sz="900" b="0" dirty="0">
                <a:solidFill>
                  <a:schemeClr val="bg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CONFIDENTIAL     Copyright© 2025, ISUZU MOTORS EUROPE N.V.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28EED7-D5DA-2370-B2CC-42C2C0416FA9}"/>
              </a:ext>
            </a:extLst>
          </p:cNvPr>
          <p:cNvSpPr txBox="1"/>
          <p:nvPr/>
        </p:nvSpPr>
        <p:spPr>
          <a:xfrm>
            <a:off x="334963" y="179943"/>
            <a:ext cx="4036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ISZE Parts Pricing Structure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527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54878A-04FF-2BC5-3617-9A8A523A81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33"/>
          <a:stretch>
            <a:fillRect/>
          </a:stretch>
        </p:blipFill>
        <p:spPr>
          <a:xfrm>
            <a:off x="0" y="6421348"/>
            <a:ext cx="12192000" cy="436652"/>
          </a:xfrm>
          <a:prstGeom prst="rect">
            <a:avLst/>
          </a:prstGeom>
        </p:spPr>
      </p:pic>
      <p:sp>
        <p:nvSpPr>
          <p:cNvPr id="5" name="テキスト ボックス 8">
            <a:extLst>
              <a:ext uri="{FF2B5EF4-FFF2-40B4-BE49-F238E27FC236}">
                <a16:creationId xmlns:a16="http://schemas.microsoft.com/office/drawing/2014/main" id="{9BAF5354-859E-6048-7CE1-83033B3DA19C}"/>
              </a:ext>
            </a:extLst>
          </p:cNvPr>
          <p:cNvSpPr txBox="1"/>
          <p:nvPr/>
        </p:nvSpPr>
        <p:spPr>
          <a:xfrm>
            <a:off x="0" y="6611179"/>
            <a:ext cx="2038911" cy="246821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June 2025</a:t>
            </a:r>
            <a:endParaRPr lang="en-GB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フッター プレースホルダー 4">
            <a:extLst>
              <a:ext uri="{FF2B5EF4-FFF2-40B4-BE49-F238E27FC236}">
                <a16:creationId xmlns:a16="http://schemas.microsoft.com/office/drawing/2014/main" id="{1194DFB1-3239-6937-D373-DB33C0C8DE68}"/>
              </a:ext>
            </a:extLst>
          </p:cNvPr>
          <p:cNvSpPr txBox="1">
            <a:spLocks/>
          </p:cNvSpPr>
          <p:nvPr/>
        </p:nvSpPr>
        <p:spPr>
          <a:xfrm>
            <a:off x="1210849" y="6606000"/>
            <a:ext cx="3946495" cy="252000"/>
          </a:xfrm>
          <a:prstGeom prst="rect">
            <a:avLst/>
          </a:prstGeom>
          <a:noFill/>
        </p:spPr>
        <p:txBody>
          <a:bodyPr anchor="ctr"/>
          <a:lstStyle>
            <a:defPPr>
              <a:defRPr lang="en-SE"/>
            </a:defPPr>
            <a:lvl1pPr marL="0" algn="l" defTabSz="914400" rtl="0" eaLnBrk="0" latinLnBrk="0" hangingPunct="0">
              <a:defRPr kumimoji="1" sz="2300" b="1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871703" indent="-335270" algn="l" defTabSz="914400" rtl="0" eaLnBrk="0" latinLnBrk="0" hangingPunct="0">
              <a:defRPr kumimoji="1" sz="19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341082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877515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413947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950380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3486813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4023246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4559678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ja-JP" sz="900" b="0" dirty="0">
                <a:solidFill>
                  <a:schemeClr val="bg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CONFIDENTIAL     Copyright© 2025, ISUZU MOTORS EUROPE N.V.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8C876A-A5A1-F9BE-0E30-4B39B65CB000}"/>
              </a:ext>
            </a:extLst>
          </p:cNvPr>
          <p:cNvSpPr txBox="1"/>
          <p:nvPr/>
        </p:nvSpPr>
        <p:spPr>
          <a:xfrm>
            <a:off x="334963" y="179943"/>
            <a:ext cx="544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ISZE Parts Pricing Structure – Vehicle Parts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BD756B-7041-A358-FD8A-E9A52D6C0303}"/>
              </a:ext>
            </a:extLst>
          </p:cNvPr>
          <p:cNvSpPr txBox="1"/>
          <p:nvPr/>
        </p:nvSpPr>
        <p:spPr>
          <a:xfrm>
            <a:off x="334962" y="790267"/>
            <a:ext cx="544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European Standard Price, ex. UK, Iceland, Norway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D37C70D-270C-0105-03FA-F69F24FF6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49220"/>
              </p:ext>
            </p:extLst>
          </p:nvPr>
        </p:nvGraphicFramePr>
        <p:xfrm>
          <a:off x="334962" y="1211263"/>
          <a:ext cx="11485564" cy="5019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667">
                  <a:extLst>
                    <a:ext uri="{9D8B030D-6E8A-4147-A177-3AD203B41FA5}">
                      <a16:colId xmlns:a16="http://schemas.microsoft.com/office/drawing/2014/main" val="2605876857"/>
                    </a:ext>
                  </a:extLst>
                </a:gridCol>
                <a:gridCol w="6057731">
                  <a:extLst>
                    <a:ext uri="{9D8B030D-6E8A-4147-A177-3AD203B41FA5}">
                      <a16:colId xmlns:a16="http://schemas.microsoft.com/office/drawing/2014/main" val="1425695742"/>
                    </a:ext>
                  </a:extLst>
                </a:gridCol>
                <a:gridCol w="1909380">
                  <a:extLst>
                    <a:ext uri="{9D8B030D-6E8A-4147-A177-3AD203B41FA5}">
                      <a16:colId xmlns:a16="http://schemas.microsoft.com/office/drawing/2014/main" val="2791122385"/>
                    </a:ext>
                  </a:extLst>
                </a:gridCol>
                <a:gridCol w="1882786">
                  <a:extLst>
                    <a:ext uri="{9D8B030D-6E8A-4147-A177-3AD203B41FA5}">
                      <a16:colId xmlns:a16="http://schemas.microsoft.com/office/drawing/2014/main" val="403256016"/>
                    </a:ext>
                  </a:extLst>
                </a:gridCol>
              </a:tblGrid>
              <a:tr h="509442">
                <a:tc>
                  <a:txBody>
                    <a:bodyPr/>
                    <a:lstStyle/>
                    <a:p>
                      <a:r>
                        <a:rPr lang="en-GB" dirty="0"/>
                        <a:t>EBP Price Class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Formula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Gross Margin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EBP</a:t>
                      </a:r>
                      <a:r>
                        <a:rPr lang="en-US" dirty="0"/>
                        <a:t>@100JPY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875455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Base price * discount  0,62 (JP) or 0,611 (TH) / exchange rate / 0,518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48,2%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75,08 JP / 73,99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198869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D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 (TH)   / exchange rate  /0,513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48,7%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75,81 JP / 74,71 TH</a:t>
                      </a:r>
                      <a:endParaRPr lang="en-B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86972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F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 (TH) / exchange rate  / 0,58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42%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67,05 JP / 66,08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682813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J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 (TH)  / exchange rate / 0,64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36%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60,75 JP / 59,87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371323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M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0,611(TH)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 / exchange rate / 0,46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54%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72,02 JP / 70,79 TH</a:t>
                      </a:r>
                      <a:endParaRPr lang="en-BE" sz="1400" dirty="0"/>
                    </a:p>
                    <a:p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360088"/>
                  </a:ext>
                </a:extLst>
              </a:tr>
              <a:tr h="530342">
                <a:tc>
                  <a:txBody>
                    <a:bodyPr/>
                    <a:lstStyle/>
                    <a:p>
                      <a:r>
                        <a:rPr lang="en-GB" sz="1400" dirty="0"/>
                        <a:t>P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 (JP) or 0,611 ( TH) /  exchange rate  /0,48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52%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81,02 JP / 79,84TH</a:t>
                      </a:r>
                      <a:endParaRPr lang="en-BE" sz="1400" dirty="0"/>
                    </a:p>
                    <a:p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232780"/>
                  </a:ext>
                </a:extLst>
              </a:tr>
              <a:tr h="429464">
                <a:tc>
                  <a:txBody>
                    <a:bodyPr/>
                    <a:lstStyle/>
                    <a:p>
                      <a:r>
                        <a:rPr lang="en-GB" sz="1400" dirty="0"/>
                        <a:t>V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 or 0,611 (TH) / exchange rate  /0,6</a:t>
                      </a:r>
                      <a:endParaRPr lang="LID4096" sz="1400" dirty="0"/>
                    </a:p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40%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64,99 JP / 64,05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100267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EV unique &gt;EBP 100K JPY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 (TH) / exchange rate /  0,68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32%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57,34 JP / 56,51TH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407320"/>
                  </a:ext>
                </a:extLst>
              </a:tr>
              <a:tr h="603906">
                <a:tc>
                  <a:txBody>
                    <a:bodyPr/>
                    <a:lstStyle/>
                    <a:p>
                      <a:r>
                        <a:rPr lang="en-GB" sz="1400" dirty="0"/>
                        <a:t>EV unique EBP 100k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 ( TH) / exchange rate  / 0,518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48,2%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75,08 JP / 73,99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107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9325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1E3E1-15BE-81DB-60EF-3C5459D1A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1AE1DC-DA06-C78F-B2CB-18E067CD2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33"/>
          <a:stretch>
            <a:fillRect/>
          </a:stretch>
        </p:blipFill>
        <p:spPr>
          <a:xfrm>
            <a:off x="0" y="6421348"/>
            <a:ext cx="12192000" cy="436652"/>
          </a:xfrm>
          <a:prstGeom prst="rect">
            <a:avLst/>
          </a:prstGeom>
        </p:spPr>
      </p:pic>
      <p:sp>
        <p:nvSpPr>
          <p:cNvPr id="5" name="テキスト ボックス 8">
            <a:extLst>
              <a:ext uri="{FF2B5EF4-FFF2-40B4-BE49-F238E27FC236}">
                <a16:creationId xmlns:a16="http://schemas.microsoft.com/office/drawing/2014/main" id="{F19C80D0-2B45-4308-FFE3-AA7BE659AECB}"/>
              </a:ext>
            </a:extLst>
          </p:cNvPr>
          <p:cNvSpPr txBox="1"/>
          <p:nvPr/>
        </p:nvSpPr>
        <p:spPr>
          <a:xfrm>
            <a:off x="0" y="6611179"/>
            <a:ext cx="2038911" cy="246821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June 2025</a:t>
            </a:r>
            <a:endParaRPr lang="en-GB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フッター プレースホルダー 4">
            <a:extLst>
              <a:ext uri="{FF2B5EF4-FFF2-40B4-BE49-F238E27FC236}">
                <a16:creationId xmlns:a16="http://schemas.microsoft.com/office/drawing/2014/main" id="{F07ED3DE-2C61-38D6-8EB1-18B84107185C}"/>
              </a:ext>
            </a:extLst>
          </p:cNvPr>
          <p:cNvSpPr txBox="1">
            <a:spLocks/>
          </p:cNvSpPr>
          <p:nvPr/>
        </p:nvSpPr>
        <p:spPr>
          <a:xfrm>
            <a:off x="1210849" y="6606000"/>
            <a:ext cx="3946495" cy="252000"/>
          </a:xfrm>
          <a:prstGeom prst="rect">
            <a:avLst/>
          </a:prstGeom>
          <a:noFill/>
        </p:spPr>
        <p:txBody>
          <a:bodyPr anchor="ctr"/>
          <a:lstStyle>
            <a:defPPr>
              <a:defRPr lang="en-SE"/>
            </a:defPPr>
            <a:lvl1pPr marL="0" algn="l" defTabSz="914400" rtl="0" eaLnBrk="0" latinLnBrk="0" hangingPunct="0">
              <a:defRPr kumimoji="1" sz="2300" b="1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871703" indent="-335270" algn="l" defTabSz="914400" rtl="0" eaLnBrk="0" latinLnBrk="0" hangingPunct="0">
              <a:defRPr kumimoji="1" sz="19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341082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877515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413947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950380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3486813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4023246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4559678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ja-JP" sz="900" b="0" dirty="0">
                <a:solidFill>
                  <a:schemeClr val="bg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CONFIDENTIAL     Copyright© 2025, ISUZU MOTORS EUROPE N.V.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28E189-269F-DEDF-8473-F8E444408593}"/>
              </a:ext>
            </a:extLst>
          </p:cNvPr>
          <p:cNvSpPr txBox="1"/>
          <p:nvPr/>
        </p:nvSpPr>
        <p:spPr>
          <a:xfrm>
            <a:off x="334963" y="179943"/>
            <a:ext cx="544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ISZE Parts Pricing Structure – Vehicle Parts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EB1BA0-5AC8-A8DF-80D2-E2C3C1771472}"/>
              </a:ext>
            </a:extLst>
          </p:cNvPr>
          <p:cNvSpPr txBox="1"/>
          <p:nvPr/>
        </p:nvSpPr>
        <p:spPr>
          <a:xfrm>
            <a:off x="334962" y="790267"/>
            <a:ext cx="544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UK (European standard price -2,4%) 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4AA5A40-8D66-D730-4E89-6E7EA7186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067501"/>
              </p:ext>
            </p:extLst>
          </p:nvPr>
        </p:nvGraphicFramePr>
        <p:xfrm>
          <a:off x="334962" y="1211263"/>
          <a:ext cx="11485564" cy="5019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667">
                  <a:extLst>
                    <a:ext uri="{9D8B030D-6E8A-4147-A177-3AD203B41FA5}">
                      <a16:colId xmlns:a16="http://schemas.microsoft.com/office/drawing/2014/main" val="2605876857"/>
                    </a:ext>
                  </a:extLst>
                </a:gridCol>
                <a:gridCol w="6057731">
                  <a:extLst>
                    <a:ext uri="{9D8B030D-6E8A-4147-A177-3AD203B41FA5}">
                      <a16:colId xmlns:a16="http://schemas.microsoft.com/office/drawing/2014/main" val="1425695742"/>
                    </a:ext>
                  </a:extLst>
                </a:gridCol>
                <a:gridCol w="1909380">
                  <a:extLst>
                    <a:ext uri="{9D8B030D-6E8A-4147-A177-3AD203B41FA5}">
                      <a16:colId xmlns:a16="http://schemas.microsoft.com/office/drawing/2014/main" val="2791122385"/>
                    </a:ext>
                  </a:extLst>
                </a:gridCol>
                <a:gridCol w="1882786">
                  <a:extLst>
                    <a:ext uri="{9D8B030D-6E8A-4147-A177-3AD203B41FA5}">
                      <a16:colId xmlns:a16="http://schemas.microsoft.com/office/drawing/2014/main" val="403256016"/>
                    </a:ext>
                  </a:extLst>
                </a:gridCol>
              </a:tblGrid>
              <a:tr h="509442">
                <a:tc>
                  <a:txBody>
                    <a:bodyPr/>
                    <a:lstStyle/>
                    <a:p>
                      <a:r>
                        <a:rPr lang="en-GB" dirty="0"/>
                        <a:t>EBP Price Class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Formula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Gross Margin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EBP</a:t>
                      </a:r>
                      <a:r>
                        <a:rPr lang="en-US" dirty="0"/>
                        <a:t>@100JPY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875455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Base price * discount  0,62 (JP) or 0,611 (TH) / exchange rate / 0,518 -2,4%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46%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73,47 JP / 72,40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198869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D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 (TH)   / exchange rate  / 0,513 -2,4%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46,3%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74,19 JP / 73,11 TH</a:t>
                      </a:r>
                      <a:endParaRPr lang="en-B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86972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F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 (TH) / exchange rate  / 0,58 -2,4%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39,6%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65,62 JP / 64,67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682813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J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 (TH)  /  exchange rate  /0,64 -2,4%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33,6%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59,47 JP / 58,61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371323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M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0,611(TH)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 / exchange rate  0,54 -2,4%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51,6%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70,48 JP / 69,46 TH</a:t>
                      </a:r>
                      <a:endParaRPr lang="en-BE" sz="1400" dirty="0"/>
                    </a:p>
                    <a:p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360088"/>
                  </a:ext>
                </a:extLst>
              </a:tr>
              <a:tr h="530342">
                <a:tc>
                  <a:txBody>
                    <a:bodyPr/>
                    <a:lstStyle/>
                    <a:p>
                      <a:r>
                        <a:rPr lang="en-GB" sz="1400" dirty="0"/>
                        <a:t>P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 (JP) or 0,611 ( TH) //exchange rate   0,48 -2,4%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40,6%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79,29 JP / 78,14 TH</a:t>
                      </a:r>
                      <a:endParaRPr lang="en-BE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232780"/>
                  </a:ext>
                </a:extLst>
              </a:tr>
              <a:tr h="429464">
                <a:tc>
                  <a:txBody>
                    <a:bodyPr/>
                    <a:lstStyle/>
                    <a:p>
                      <a:r>
                        <a:rPr lang="en-GB" sz="1400" dirty="0"/>
                        <a:t>V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 or 0,611 (TH)  /exchange rate /0,6  -2,4%</a:t>
                      </a:r>
                      <a:endParaRPr lang="LID4096" sz="1400" dirty="0"/>
                    </a:p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37,6%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65,50 JP / 64,55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100267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EV unique &gt;EBP 100K JPY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 (TH) / exchange rate   0,68 -2,4%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29,6%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55,97 </a:t>
                      </a:r>
                      <a:r>
                        <a:rPr lang="en-US" sz="1400" dirty="0"/>
                        <a:t>JP / 55,16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407320"/>
                  </a:ext>
                </a:extLst>
              </a:tr>
              <a:tr h="603906">
                <a:tc>
                  <a:txBody>
                    <a:bodyPr/>
                    <a:lstStyle/>
                    <a:p>
                      <a:r>
                        <a:rPr lang="en-GB" sz="1400" dirty="0"/>
                        <a:t>EV unique EBP 100k-1m JPY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 ( TH) / exchange rate  / 0,518 -2,4%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45,6%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73,47 </a:t>
                      </a:r>
                      <a:r>
                        <a:rPr lang="en-US" sz="1400" dirty="0"/>
                        <a:t>JP / 72,40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107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6157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8093C-491C-84C9-DAF2-38A0A5E90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991AA5-761B-F1C0-5BF4-8DF5F870A1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33"/>
          <a:stretch>
            <a:fillRect/>
          </a:stretch>
        </p:blipFill>
        <p:spPr>
          <a:xfrm>
            <a:off x="0" y="6421348"/>
            <a:ext cx="12192000" cy="436652"/>
          </a:xfrm>
          <a:prstGeom prst="rect">
            <a:avLst/>
          </a:prstGeom>
        </p:spPr>
      </p:pic>
      <p:sp>
        <p:nvSpPr>
          <p:cNvPr id="5" name="テキスト ボックス 8">
            <a:extLst>
              <a:ext uri="{FF2B5EF4-FFF2-40B4-BE49-F238E27FC236}">
                <a16:creationId xmlns:a16="http://schemas.microsoft.com/office/drawing/2014/main" id="{AB9287CD-5781-ADD9-07B8-149CBC84F1E1}"/>
              </a:ext>
            </a:extLst>
          </p:cNvPr>
          <p:cNvSpPr txBox="1"/>
          <p:nvPr/>
        </p:nvSpPr>
        <p:spPr>
          <a:xfrm>
            <a:off x="0" y="6611179"/>
            <a:ext cx="2038911" cy="246821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June 2025</a:t>
            </a:r>
            <a:endParaRPr lang="en-GB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フッター プレースホルダー 4">
            <a:extLst>
              <a:ext uri="{FF2B5EF4-FFF2-40B4-BE49-F238E27FC236}">
                <a16:creationId xmlns:a16="http://schemas.microsoft.com/office/drawing/2014/main" id="{4AC7E5EA-425B-1C53-72DE-C6D7E1F5989A}"/>
              </a:ext>
            </a:extLst>
          </p:cNvPr>
          <p:cNvSpPr txBox="1">
            <a:spLocks/>
          </p:cNvSpPr>
          <p:nvPr/>
        </p:nvSpPr>
        <p:spPr>
          <a:xfrm>
            <a:off x="1210849" y="6606000"/>
            <a:ext cx="3946495" cy="252000"/>
          </a:xfrm>
          <a:prstGeom prst="rect">
            <a:avLst/>
          </a:prstGeom>
          <a:noFill/>
        </p:spPr>
        <p:txBody>
          <a:bodyPr anchor="ctr"/>
          <a:lstStyle>
            <a:defPPr>
              <a:defRPr lang="en-SE"/>
            </a:defPPr>
            <a:lvl1pPr marL="0" algn="l" defTabSz="914400" rtl="0" eaLnBrk="0" latinLnBrk="0" hangingPunct="0">
              <a:defRPr kumimoji="1" sz="2300" b="1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871703" indent="-335270" algn="l" defTabSz="914400" rtl="0" eaLnBrk="0" latinLnBrk="0" hangingPunct="0">
              <a:defRPr kumimoji="1" sz="19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341082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877515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413947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950380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3486813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4023246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4559678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ja-JP" sz="900" b="0" dirty="0">
                <a:solidFill>
                  <a:schemeClr val="bg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CONFIDENTIAL     Copyright© 2025, ISUZU MOTORS EUROPE N.V.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FA5A1C-80DF-5183-38A8-C4F8E41087EC}"/>
              </a:ext>
            </a:extLst>
          </p:cNvPr>
          <p:cNvSpPr txBox="1"/>
          <p:nvPr/>
        </p:nvSpPr>
        <p:spPr>
          <a:xfrm>
            <a:off x="334963" y="179943"/>
            <a:ext cx="544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ISZE Parts Pricing Structure – Vehicle Parts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C4A338-EC75-02B4-81CC-836004241706}"/>
              </a:ext>
            </a:extLst>
          </p:cNvPr>
          <p:cNvSpPr txBox="1"/>
          <p:nvPr/>
        </p:nvSpPr>
        <p:spPr>
          <a:xfrm>
            <a:off x="334962" y="790267"/>
            <a:ext cx="544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Iceland, Norway (European Standard Price -1.2%) 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CE6D7EB-EE35-49C3-D446-9798D35534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667357"/>
              </p:ext>
            </p:extLst>
          </p:nvPr>
        </p:nvGraphicFramePr>
        <p:xfrm>
          <a:off x="334962" y="1211263"/>
          <a:ext cx="11485564" cy="4924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667">
                  <a:extLst>
                    <a:ext uri="{9D8B030D-6E8A-4147-A177-3AD203B41FA5}">
                      <a16:colId xmlns:a16="http://schemas.microsoft.com/office/drawing/2014/main" val="2605876857"/>
                    </a:ext>
                  </a:extLst>
                </a:gridCol>
                <a:gridCol w="6057731">
                  <a:extLst>
                    <a:ext uri="{9D8B030D-6E8A-4147-A177-3AD203B41FA5}">
                      <a16:colId xmlns:a16="http://schemas.microsoft.com/office/drawing/2014/main" val="1425695742"/>
                    </a:ext>
                  </a:extLst>
                </a:gridCol>
                <a:gridCol w="1909380">
                  <a:extLst>
                    <a:ext uri="{9D8B030D-6E8A-4147-A177-3AD203B41FA5}">
                      <a16:colId xmlns:a16="http://schemas.microsoft.com/office/drawing/2014/main" val="2791122385"/>
                    </a:ext>
                  </a:extLst>
                </a:gridCol>
                <a:gridCol w="1882786">
                  <a:extLst>
                    <a:ext uri="{9D8B030D-6E8A-4147-A177-3AD203B41FA5}">
                      <a16:colId xmlns:a16="http://schemas.microsoft.com/office/drawing/2014/main" val="403256016"/>
                    </a:ext>
                  </a:extLst>
                </a:gridCol>
              </a:tblGrid>
              <a:tr h="509442">
                <a:tc>
                  <a:txBody>
                    <a:bodyPr/>
                    <a:lstStyle/>
                    <a:p>
                      <a:r>
                        <a:rPr lang="en-GB" dirty="0"/>
                        <a:t>EBP Price Class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Formula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Gross Margin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EBP</a:t>
                      </a:r>
                      <a:r>
                        <a:rPr lang="en-US" dirty="0"/>
                        <a:t>@100JPY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875455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Base price * discount  0,62 (JP) or 0,611 (TH) / exchange rate / 0,518 -1,2%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47,2%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74,37 JP / 73,29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198869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D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 (TH)   / /exchange rate /   0,513 -1,2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47,5%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75,10 JP /  74,01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86972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F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 (TH) / exchange rate / 0,58 -1,2%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40,8%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66,42 JP / 65,46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682813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J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 (TH)  / exchange rate  / 0,64 -1,2%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34,8%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60,20 JP / 59,33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371323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M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0,611(TH)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 / exchange rate / 0,54 -1,2%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52;8%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71,34 JP /  70,30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360088"/>
                  </a:ext>
                </a:extLst>
              </a:tr>
              <a:tr h="530342">
                <a:tc>
                  <a:txBody>
                    <a:bodyPr/>
                    <a:lstStyle/>
                    <a:p>
                      <a:r>
                        <a:rPr lang="en-GB" sz="1400" dirty="0"/>
                        <a:t>P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 (JP) or 0,611 ( TH) /  exchange rate  /0,48 -1,2%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49,8%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80,26 JP / 79,09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232780"/>
                  </a:ext>
                </a:extLst>
              </a:tr>
              <a:tr h="429464">
                <a:tc>
                  <a:txBody>
                    <a:bodyPr/>
                    <a:lstStyle/>
                    <a:p>
                      <a:r>
                        <a:rPr lang="en-GB" sz="1400" dirty="0"/>
                        <a:t>V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</a:t>
                      </a:r>
                      <a:r>
                        <a:rPr lang="en-US" sz="1400" baseline="0" dirty="0"/>
                        <a:t> </a:t>
                      </a:r>
                      <a:r>
                        <a:rPr lang="en-US" sz="1400" dirty="0"/>
                        <a:t> or 0,611 (TH) /exchange rate  /0,6 -1,2%</a:t>
                      </a:r>
                      <a:endParaRPr lang="LID4096" sz="1400" dirty="0"/>
                    </a:p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38,8%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64,21 JP / 63,28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100267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EV unique &gt;EBP 100K JPY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 (TH) / exchange rate  / 0,68 -1,2%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30,8%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56,66 JP / 55,84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407320"/>
                  </a:ext>
                </a:extLst>
              </a:tr>
              <a:tr h="603906">
                <a:tc>
                  <a:txBody>
                    <a:bodyPr/>
                    <a:lstStyle/>
                    <a:p>
                      <a:r>
                        <a:rPr lang="en-GB" sz="1400" dirty="0"/>
                        <a:t>EV unique EBP 100k-1m JPY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 ( TH) /exchange rate  / 0,518 -1,2%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46,8%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74,37 JP / 73,29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107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409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D80D9-9A45-11F7-46B0-D849AF10B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0712C8-CB77-7B6E-D607-5D80E5CC3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33"/>
          <a:stretch>
            <a:fillRect/>
          </a:stretch>
        </p:blipFill>
        <p:spPr>
          <a:xfrm>
            <a:off x="0" y="6421348"/>
            <a:ext cx="12192000" cy="436652"/>
          </a:xfrm>
          <a:prstGeom prst="rect">
            <a:avLst/>
          </a:prstGeom>
        </p:spPr>
      </p:pic>
      <p:sp>
        <p:nvSpPr>
          <p:cNvPr id="5" name="テキスト ボックス 8">
            <a:extLst>
              <a:ext uri="{FF2B5EF4-FFF2-40B4-BE49-F238E27FC236}">
                <a16:creationId xmlns:a16="http://schemas.microsoft.com/office/drawing/2014/main" id="{7A86D840-40A4-5D58-1D0F-A43F26562D45}"/>
              </a:ext>
            </a:extLst>
          </p:cNvPr>
          <p:cNvSpPr txBox="1"/>
          <p:nvPr/>
        </p:nvSpPr>
        <p:spPr>
          <a:xfrm>
            <a:off x="0" y="6611179"/>
            <a:ext cx="2038911" cy="246821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June 2025</a:t>
            </a:r>
            <a:endParaRPr lang="en-GB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フッター プレースホルダー 4">
            <a:extLst>
              <a:ext uri="{FF2B5EF4-FFF2-40B4-BE49-F238E27FC236}">
                <a16:creationId xmlns:a16="http://schemas.microsoft.com/office/drawing/2014/main" id="{190E9DAC-4C5D-1D40-47FC-61BB277A75C7}"/>
              </a:ext>
            </a:extLst>
          </p:cNvPr>
          <p:cNvSpPr txBox="1">
            <a:spLocks/>
          </p:cNvSpPr>
          <p:nvPr/>
        </p:nvSpPr>
        <p:spPr>
          <a:xfrm>
            <a:off x="1210849" y="6606000"/>
            <a:ext cx="3946495" cy="252000"/>
          </a:xfrm>
          <a:prstGeom prst="rect">
            <a:avLst/>
          </a:prstGeom>
          <a:noFill/>
        </p:spPr>
        <p:txBody>
          <a:bodyPr anchor="ctr"/>
          <a:lstStyle>
            <a:defPPr>
              <a:defRPr lang="en-SE"/>
            </a:defPPr>
            <a:lvl1pPr marL="0" algn="l" defTabSz="914400" rtl="0" eaLnBrk="0" latinLnBrk="0" hangingPunct="0">
              <a:defRPr kumimoji="1" sz="2300" b="1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871703" indent="-335270" algn="l" defTabSz="914400" rtl="0" eaLnBrk="0" latinLnBrk="0" hangingPunct="0">
              <a:defRPr kumimoji="1" sz="19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341082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877515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413947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950380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3486813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4023246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4559678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ja-JP" sz="900" b="0" dirty="0">
                <a:solidFill>
                  <a:schemeClr val="bg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CONFIDENTIAL     Copyright© 2025, ISUZU MOTORS EUROPE N.V.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ED3069-1ACA-F0EF-6FEB-CE7C4E9FCF54}"/>
              </a:ext>
            </a:extLst>
          </p:cNvPr>
          <p:cNvSpPr txBox="1"/>
          <p:nvPr/>
        </p:nvSpPr>
        <p:spPr>
          <a:xfrm>
            <a:off x="334963" y="179943"/>
            <a:ext cx="544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ISZE Parts Pricing Structure – Vehicle Parts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53C5CE-9A73-0778-EC13-1A462D81CAF4}"/>
              </a:ext>
            </a:extLst>
          </p:cNvPr>
          <p:cNvSpPr txBox="1"/>
          <p:nvPr/>
        </p:nvSpPr>
        <p:spPr>
          <a:xfrm>
            <a:off x="334962" y="790267"/>
            <a:ext cx="544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UTI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64C492A-0CC9-BB42-B764-C54493BA1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733889"/>
              </p:ext>
            </p:extLst>
          </p:nvPr>
        </p:nvGraphicFramePr>
        <p:xfrm>
          <a:off x="334962" y="1211263"/>
          <a:ext cx="11485564" cy="4828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667">
                  <a:extLst>
                    <a:ext uri="{9D8B030D-6E8A-4147-A177-3AD203B41FA5}">
                      <a16:colId xmlns:a16="http://schemas.microsoft.com/office/drawing/2014/main" val="2605876857"/>
                    </a:ext>
                  </a:extLst>
                </a:gridCol>
                <a:gridCol w="6057731">
                  <a:extLst>
                    <a:ext uri="{9D8B030D-6E8A-4147-A177-3AD203B41FA5}">
                      <a16:colId xmlns:a16="http://schemas.microsoft.com/office/drawing/2014/main" val="1425695742"/>
                    </a:ext>
                  </a:extLst>
                </a:gridCol>
                <a:gridCol w="1909380">
                  <a:extLst>
                    <a:ext uri="{9D8B030D-6E8A-4147-A177-3AD203B41FA5}">
                      <a16:colId xmlns:a16="http://schemas.microsoft.com/office/drawing/2014/main" val="2791122385"/>
                    </a:ext>
                  </a:extLst>
                </a:gridCol>
                <a:gridCol w="1882786">
                  <a:extLst>
                    <a:ext uri="{9D8B030D-6E8A-4147-A177-3AD203B41FA5}">
                      <a16:colId xmlns:a16="http://schemas.microsoft.com/office/drawing/2014/main" val="403256016"/>
                    </a:ext>
                  </a:extLst>
                </a:gridCol>
              </a:tblGrid>
              <a:tr h="509442">
                <a:tc>
                  <a:txBody>
                    <a:bodyPr/>
                    <a:lstStyle/>
                    <a:p>
                      <a:r>
                        <a:rPr lang="en-GB" dirty="0"/>
                        <a:t>EBP Price Class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Formula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Gross Margin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EBP</a:t>
                      </a:r>
                      <a:r>
                        <a:rPr lang="en-US" dirty="0"/>
                        <a:t>@100JPY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875455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Base price / Exchange rate * 1,03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43%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64,78 JP &amp;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198869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D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/ Exchange rate * 1,16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46%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72,95 JP  &amp;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86972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F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/ Exchange rate * 1,02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36%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64,15 JP &amp;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682813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J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/ Exchange rate *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32%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62,89 JP &amp;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371323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M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/ Exchange rate * 1,05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44%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66,03 JP &amp;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360088"/>
                  </a:ext>
                </a:extLst>
              </a:tr>
              <a:tr h="530342">
                <a:tc>
                  <a:txBody>
                    <a:bodyPr/>
                    <a:lstStyle/>
                    <a:p>
                      <a:r>
                        <a:rPr lang="en-GB" sz="1400" dirty="0"/>
                        <a:t>P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/ Exchange rate * 0,82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33%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51,57 JP &amp;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232780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V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/ Exchange rate * 0,88</a:t>
                      </a:r>
                    </a:p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30%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55,35 JP &amp;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100267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407320"/>
                  </a:ext>
                </a:extLst>
              </a:tr>
              <a:tr h="603906"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107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3220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BBA98-03CA-CA24-F4BF-5E12F398F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DED897-6563-7650-F08E-EEBEB1FC9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33"/>
          <a:stretch>
            <a:fillRect/>
          </a:stretch>
        </p:blipFill>
        <p:spPr>
          <a:xfrm>
            <a:off x="0" y="6421348"/>
            <a:ext cx="12192000" cy="436652"/>
          </a:xfrm>
          <a:prstGeom prst="rect">
            <a:avLst/>
          </a:prstGeom>
        </p:spPr>
      </p:pic>
      <p:sp>
        <p:nvSpPr>
          <p:cNvPr id="5" name="テキスト ボックス 8">
            <a:extLst>
              <a:ext uri="{FF2B5EF4-FFF2-40B4-BE49-F238E27FC236}">
                <a16:creationId xmlns:a16="http://schemas.microsoft.com/office/drawing/2014/main" id="{E9B85678-DF10-7D93-151E-2401ADF491FB}"/>
              </a:ext>
            </a:extLst>
          </p:cNvPr>
          <p:cNvSpPr txBox="1"/>
          <p:nvPr/>
        </p:nvSpPr>
        <p:spPr>
          <a:xfrm>
            <a:off x="0" y="6611179"/>
            <a:ext cx="2038911" cy="246821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June 2025</a:t>
            </a:r>
            <a:endParaRPr lang="en-GB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フッター プレースホルダー 4">
            <a:extLst>
              <a:ext uri="{FF2B5EF4-FFF2-40B4-BE49-F238E27FC236}">
                <a16:creationId xmlns:a16="http://schemas.microsoft.com/office/drawing/2014/main" id="{7C38887A-5737-9D07-6B31-1874652738DD}"/>
              </a:ext>
            </a:extLst>
          </p:cNvPr>
          <p:cNvSpPr txBox="1">
            <a:spLocks/>
          </p:cNvSpPr>
          <p:nvPr/>
        </p:nvSpPr>
        <p:spPr>
          <a:xfrm>
            <a:off x="1210849" y="6606000"/>
            <a:ext cx="3946495" cy="252000"/>
          </a:xfrm>
          <a:prstGeom prst="rect">
            <a:avLst/>
          </a:prstGeom>
          <a:noFill/>
        </p:spPr>
        <p:txBody>
          <a:bodyPr anchor="ctr"/>
          <a:lstStyle>
            <a:defPPr>
              <a:defRPr lang="en-SE"/>
            </a:defPPr>
            <a:lvl1pPr marL="0" algn="l" defTabSz="914400" rtl="0" eaLnBrk="0" latinLnBrk="0" hangingPunct="0">
              <a:defRPr kumimoji="1" sz="2300" b="1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871703" indent="-335270" algn="l" defTabSz="914400" rtl="0" eaLnBrk="0" latinLnBrk="0" hangingPunct="0">
              <a:defRPr kumimoji="1" sz="19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341082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877515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413947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950380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3486813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4023246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4559678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ja-JP" sz="900" b="0" dirty="0">
                <a:solidFill>
                  <a:schemeClr val="bg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CONFIDENTIAL     Copyright© 2025, ISUZU MOTORS EUROPE N.V.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0F95E6-4C3F-C214-64BA-21DFB2D214AC}"/>
              </a:ext>
            </a:extLst>
          </p:cNvPr>
          <p:cNvSpPr txBox="1"/>
          <p:nvPr/>
        </p:nvSpPr>
        <p:spPr>
          <a:xfrm>
            <a:off x="334963" y="179943"/>
            <a:ext cx="544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ISZE Parts Pricing Structure – Vehicle Parts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C9F788-F054-BE19-3362-06701127C94A}"/>
              </a:ext>
            </a:extLst>
          </p:cNvPr>
          <p:cNvSpPr txBox="1"/>
          <p:nvPr/>
        </p:nvSpPr>
        <p:spPr>
          <a:xfrm>
            <a:off x="334962" y="790267"/>
            <a:ext cx="544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UMI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B15C714-7E9F-0F86-B051-2FD96ABEB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868332"/>
              </p:ext>
            </p:extLst>
          </p:nvPr>
        </p:nvGraphicFramePr>
        <p:xfrm>
          <a:off x="334962" y="1211263"/>
          <a:ext cx="11485564" cy="4828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667">
                  <a:extLst>
                    <a:ext uri="{9D8B030D-6E8A-4147-A177-3AD203B41FA5}">
                      <a16:colId xmlns:a16="http://schemas.microsoft.com/office/drawing/2014/main" val="2605876857"/>
                    </a:ext>
                  </a:extLst>
                </a:gridCol>
                <a:gridCol w="6057731">
                  <a:extLst>
                    <a:ext uri="{9D8B030D-6E8A-4147-A177-3AD203B41FA5}">
                      <a16:colId xmlns:a16="http://schemas.microsoft.com/office/drawing/2014/main" val="1425695742"/>
                    </a:ext>
                  </a:extLst>
                </a:gridCol>
                <a:gridCol w="1909380">
                  <a:extLst>
                    <a:ext uri="{9D8B030D-6E8A-4147-A177-3AD203B41FA5}">
                      <a16:colId xmlns:a16="http://schemas.microsoft.com/office/drawing/2014/main" val="2791122385"/>
                    </a:ext>
                  </a:extLst>
                </a:gridCol>
                <a:gridCol w="1882786">
                  <a:extLst>
                    <a:ext uri="{9D8B030D-6E8A-4147-A177-3AD203B41FA5}">
                      <a16:colId xmlns:a16="http://schemas.microsoft.com/office/drawing/2014/main" val="403256016"/>
                    </a:ext>
                  </a:extLst>
                </a:gridCol>
              </a:tblGrid>
              <a:tr h="509442">
                <a:tc>
                  <a:txBody>
                    <a:bodyPr/>
                    <a:lstStyle/>
                    <a:p>
                      <a:r>
                        <a:rPr lang="en-GB" dirty="0"/>
                        <a:t>EBP Price Class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Formula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Gross Margin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EBP</a:t>
                      </a:r>
                      <a:r>
                        <a:rPr lang="en-US" dirty="0"/>
                        <a:t>@100JPY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875455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/ Exchange rate * 1,07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43%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67,29 JP &amp;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198869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D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/ Exchange rate * 1,15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46%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72,32 JP &amp;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86972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F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/ Exchange rate * 0,95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36%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59,74 JP &amp;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682813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J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/ Exchange rate * 0,88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32%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55,34 JP &amp;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371323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M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/ Exchange rate * 1,05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44%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66,03 JP &amp;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360088"/>
                  </a:ext>
                </a:extLst>
              </a:tr>
              <a:tr h="530342">
                <a:tc>
                  <a:txBody>
                    <a:bodyPr/>
                    <a:lstStyle/>
                    <a:p>
                      <a:r>
                        <a:rPr lang="en-GB" sz="1400" dirty="0"/>
                        <a:t>P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/ Exchange rate * 0,92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37%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57,86 JP &amp;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232780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V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/ Exchange rate * 0,88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30%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55,34 JP &amp; TJ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100267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407320"/>
                  </a:ext>
                </a:extLst>
              </a:tr>
              <a:tr h="603906"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107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6336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104BA-5AC6-E2A0-C61D-977DBA6F2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968D95D-75FC-DDA4-4818-905794095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633"/>
          <a:stretch>
            <a:fillRect/>
          </a:stretch>
        </p:blipFill>
        <p:spPr>
          <a:xfrm>
            <a:off x="0" y="6421348"/>
            <a:ext cx="12192000" cy="436652"/>
          </a:xfrm>
          <a:prstGeom prst="rect">
            <a:avLst/>
          </a:prstGeom>
        </p:spPr>
      </p:pic>
      <p:sp>
        <p:nvSpPr>
          <p:cNvPr id="5" name="テキスト ボックス 8">
            <a:extLst>
              <a:ext uri="{FF2B5EF4-FFF2-40B4-BE49-F238E27FC236}">
                <a16:creationId xmlns:a16="http://schemas.microsoft.com/office/drawing/2014/main" id="{CC8D0829-AE80-30FC-0E0B-295F76802830}"/>
              </a:ext>
            </a:extLst>
          </p:cNvPr>
          <p:cNvSpPr txBox="1"/>
          <p:nvPr/>
        </p:nvSpPr>
        <p:spPr>
          <a:xfrm>
            <a:off x="0" y="6611179"/>
            <a:ext cx="2038911" cy="246821"/>
          </a:xfrm>
          <a:prstGeom prst="rect">
            <a:avLst/>
          </a:prstGeom>
          <a:noFill/>
        </p:spPr>
        <p:txBody>
          <a:bodyPr wrap="square" lIns="107275" tIns="53637" rIns="107275" bIns="53637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 June 2025</a:t>
            </a:r>
            <a:endParaRPr lang="en-GB" sz="9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フッター プレースホルダー 4">
            <a:extLst>
              <a:ext uri="{FF2B5EF4-FFF2-40B4-BE49-F238E27FC236}">
                <a16:creationId xmlns:a16="http://schemas.microsoft.com/office/drawing/2014/main" id="{E3FCF14F-A453-7AAC-865F-1AC7001B3281}"/>
              </a:ext>
            </a:extLst>
          </p:cNvPr>
          <p:cNvSpPr txBox="1">
            <a:spLocks/>
          </p:cNvSpPr>
          <p:nvPr/>
        </p:nvSpPr>
        <p:spPr>
          <a:xfrm>
            <a:off x="1210849" y="6606000"/>
            <a:ext cx="3946495" cy="252000"/>
          </a:xfrm>
          <a:prstGeom prst="rect">
            <a:avLst/>
          </a:prstGeom>
          <a:noFill/>
        </p:spPr>
        <p:txBody>
          <a:bodyPr anchor="ctr"/>
          <a:lstStyle>
            <a:defPPr>
              <a:defRPr lang="en-SE"/>
            </a:defPPr>
            <a:lvl1pPr marL="0" algn="l" defTabSz="914400" rtl="0" eaLnBrk="0" latinLnBrk="0" hangingPunct="0">
              <a:defRPr kumimoji="1" sz="2300" b="1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1pPr>
            <a:lvl2pPr marL="871703" indent="-335270" algn="l" defTabSz="914400" rtl="0" eaLnBrk="0" latinLnBrk="0" hangingPunct="0">
              <a:defRPr kumimoji="1" sz="19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2pPr>
            <a:lvl3pPr marL="1341082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3pPr>
            <a:lvl4pPr marL="1877515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4pPr>
            <a:lvl5pPr marL="2413947" indent="-268216" algn="l" defTabSz="914400" rtl="0" eaLnBrk="0" latinLnBrk="0" hangingPunct="0"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5pPr>
            <a:lvl6pPr marL="2950380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6pPr>
            <a:lvl7pPr marL="3486813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7pPr>
            <a:lvl8pPr marL="4023246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8pPr>
            <a:lvl9pPr marL="4559678" indent="-268216" algn="l" defTabSz="914400" rtl="0" eaLnBrk="0" fontAlgn="base" latinLnBrk="0" hangingPunct="0">
              <a:lnSpc>
                <a:spcPct val="170000"/>
              </a:lnSpc>
              <a:spcBef>
                <a:spcPct val="20000"/>
              </a:spcBef>
              <a:spcAft>
                <a:spcPct val="0"/>
              </a:spcAft>
              <a:buClr>
                <a:srgbClr val="1C1C1C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1C1C1C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defRPr>
            </a:lvl9pPr>
          </a:lstStyle>
          <a:p>
            <a:pPr eaLnBrk="1" hangingPunct="1"/>
            <a:r>
              <a:rPr lang="en-US" altLang="ja-JP" sz="900" b="0" dirty="0">
                <a:solidFill>
                  <a:schemeClr val="bg1"/>
                </a:solidFill>
                <a:ea typeface="Arial Unicode MS" panose="020B0604020202020204" pitchFamily="34" charset="-128"/>
                <a:cs typeface="Arial" panose="020B0604020202020204" pitchFamily="34" charset="0"/>
              </a:rPr>
              <a:t>CONFIDENTIAL     Copyright© 2025, ISUZU MOTORS EUROPE N.V.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8D4192-48A2-D6FC-DDF4-93155648609E}"/>
              </a:ext>
            </a:extLst>
          </p:cNvPr>
          <p:cNvSpPr txBox="1"/>
          <p:nvPr/>
        </p:nvSpPr>
        <p:spPr>
          <a:xfrm>
            <a:off x="334963" y="179943"/>
            <a:ext cx="544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ISZE Parts Pricing Structure – Vehicle Parts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E3001B-684E-D968-144A-C70FFE43828F}"/>
              </a:ext>
            </a:extLst>
          </p:cNvPr>
          <p:cNvSpPr txBox="1"/>
          <p:nvPr/>
        </p:nvSpPr>
        <p:spPr>
          <a:xfrm>
            <a:off x="334962" y="790267"/>
            <a:ext cx="5446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Kazakhstan, Armenia</a:t>
            </a:r>
            <a:endParaRPr lang="LID409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0032890-EA24-F545-9F17-0081BCDE45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079761"/>
              </p:ext>
            </p:extLst>
          </p:nvPr>
        </p:nvGraphicFramePr>
        <p:xfrm>
          <a:off x="334962" y="1211263"/>
          <a:ext cx="11485564" cy="5306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667">
                  <a:extLst>
                    <a:ext uri="{9D8B030D-6E8A-4147-A177-3AD203B41FA5}">
                      <a16:colId xmlns:a16="http://schemas.microsoft.com/office/drawing/2014/main" val="2605876857"/>
                    </a:ext>
                  </a:extLst>
                </a:gridCol>
                <a:gridCol w="6057731">
                  <a:extLst>
                    <a:ext uri="{9D8B030D-6E8A-4147-A177-3AD203B41FA5}">
                      <a16:colId xmlns:a16="http://schemas.microsoft.com/office/drawing/2014/main" val="1425695742"/>
                    </a:ext>
                  </a:extLst>
                </a:gridCol>
                <a:gridCol w="1909380">
                  <a:extLst>
                    <a:ext uri="{9D8B030D-6E8A-4147-A177-3AD203B41FA5}">
                      <a16:colId xmlns:a16="http://schemas.microsoft.com/office/drawing/2014/main" val="2791122385"/>
                    </a:ext>
                  </a:extLst>
                </a:gridCol>
                <a:gridCol w="1882786">
                  <a:extLst>
                    <a:ext uri="{9D8B030D-6E8A-4147-A177-3AD203B41FA5}">
                      <a16:colId xmlns:a16="http://schemas.microsoft.com/office/drawing/2014/main" val="403256016"/>
                    </a:ext>
                  </a:extLst>
                </a:gridCol>
              </a:tblGrid>
              <a:tr h="477067">
                <a:tc>
                  <a:txBody>
                    <a:bodyPr/>
                    <a:lstStyle/>
                    <a:p>
                      <a:r>
                        <a:rPr lang="en-GB" dirty="0"/>
                        <a:t>EBP Price Class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Formula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Gross Margin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EBP</a:t>
                      </a:r>
                      <a:r>
                        <a:rPr lang="en-US" dirty="0"/>
                        <a:t>@100JPY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875455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C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 (TH) / exchange rate / 0,41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59%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95,13 JP / 93,75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198869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D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 (TH) / exchange rate / 0,41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59%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95,13 JP / 93,75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86972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F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 (TH) / exchange rate / 0,41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59%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95,13 JP / 93,75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682813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J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 (TH) / exchange rate / 0,41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59%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95,13 JP  / 93,75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371323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M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 (TH) / exchange rate / 0,41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59%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95,13 JP  / 93,75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360088"/>
                  </a:ext>
                </a:extLst>
              </a:tr>
              <a:tr h="530342">
                <a:tc>
                  <a:txBody>
                    <a:bodyPr/>
                    <a:lstStyle/>
                    <a:p>
                      <a:r>
                        <a:rPr lang="en-GB" sz="1400" dirty="0"/>
                        <a:t>P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 (TH) / exchange rate / 0,41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59%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95,13 JP / 93,75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7232780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r>
                        <a:rPr lang="en-GB" sz="1400" dirty="0"/>
                        <a:t>V</a:t>
                      </a:r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Base price * discount  0,62 (JP) or 0,611 (TH) / exchange rate / 0,41</a:t>
                      </a:r>
                    </a:p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59%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BE" sz="1400" dirty="0"/>
                        <a:t>95,13 JP  / 93,75 TH</a:t>
                      </a:r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5100267"/>
                  </a:ext>
                </a:extLst>
              </a:tr>
              <a:tr h="422734"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2407320"/>
                  </a:ext>
                </a:extLst>
              </a:tr>
              <a:tr h="603906"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107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1619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1394</Words>
  <Application>Microsoft Office PowerPoint</Application>
  <PresentationFormat>Widescreen</PresentationFormat>
  <Paragraphs>243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Arial Unicode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Masumi Hayakawa</dc:creator>
  <cp:lastModifiedBy>Jerome Van Der Pluym</cp:lastModifiedBy>
  <cp:revision>7</cp:revision>
  <dcterms:created xsi:type="dcterms:W3CDTF">2025-06-19T07:52:50Z</dcterms:created>
  <dcterms:modified xsi:type="dcterms:W3CDTF">2025-11-10T12:18:15Z</dcterms:modified>
</cp:coreProperties>
</file>