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41.6%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Hardware &amp; consumables</c:v>
                </c:pt>
                <c:pt idx="1">
                  <c:v>Comfort parts</c:v>
                </c:pt>
                <c:pt idx="2">
                  <c:v>Other / review</c:v>
                </c:pt>
                <c:pt idx="3">
                  <c:v>High value repair</c:v>
                </c:pt>
                <c:pt idx="4">
                  <c:v>Accident parts</c:v>
                </c:pt>
                <c:pt idx="5">
                  <c:v>Repair parts</c:v>
                </c:pt>
                <c:pt idx="6">
                  <c:v>Competitive parts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2.34</c:v>
                </c:pt>
                <c:pt idx="2">
                  <c:v>5.06</c:v>
                </c:pt>
                <c:pt idx="3">
                  <c:v>9.62</c:v>
                </c:pt>
                <c:pt idx="4">
                  <c:v>19.65</c:v>
                </c:pt>
                <c:pt idx="5">
                  <c:v>20.22</c:v>
                </c:pt>
                <c:pt idx="6">
                  <c:v>41.65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38.8%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Labelled anything else (71 of 183)</c:v>
                </c:pt>
                <c:pt idx="1">
                  <c:v>Labelled “Competitive” (66 of 119)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55.5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1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first: we bill about €35 million a year to our distributors (the price revision base, July 2025 – June 2026, 15,872 part numbers). €1.29M of that is rebate, transport and lubricants, so the parts alone are about €33.7M. The question this presentation answers: what are those parts, and what can we do once we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describe a commercial opinion (competitive, repair, accident, high value repair, comfort), not a product. 41.6% of what we billed (€14.57M) sat in 'Competitive parts'. Inside it, by part type: Steering Unit €1.26M, Brake Rotor €1.15M, Brake Pad Kit €0.92M, Air Cleaner Filter €0.80M, EGR Component €0.67M. The new classification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the classification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against our own independent-brand price scrapes (302 parts, not drawn at random, Competitive parts over-represented). Labelled Competitive: 66 of 119 had an independent-brand match (55.5%); labelled anything else: 71 of 183 (38.8%); lift 1.43. Turned round: of the 137 parts with a confirmed alternative, 48.2% sat in Competitive parts. Treat as direction, not measurement. Competition depends on the market, not on the part's name; the classification fixes the product and the competition check sits beside it per market. Steering units: 25 of 26 part numbers billed are under Competitive parts (€1.26M); 13 steering part numbers in the competitive price file, 0 with an independent-brand price. An independent-brand price exists for 30.7% of the euro under Competitive parts, so absence of a price is not proof of absence of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parts classification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 (99.36% of parts alone); 1,342 part numbers (€647k) still open, of which €217k is parts (the rest is the rebate line). Approved releases: 4 and 7 October 2026. A hotfix release of 11 October (119 parts, about €0.2M) is not in these figures; it does not change a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 These are the only photos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(92.3% of parts alone). Code 275 alone holds €14.67M (41.9%) across 197 part types. The other way round, one part type sits under many codes: Air Cleaner Filter 11, Brake Pad Kit 8, Brake Rotor 5, Door 29. Without a Japan code: €3.88M, of which rebate, transport and lubricants €1.29M, 4 steering unit part numbers €1.16M, other parts €1.43M.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7552348290) against Sweden 10 (€18k, 7 of them the same part number).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The euro figure is the factory's yen base-price move on last year's quantities, converted to euro; the same 6.0% applied to our own list prices, weighted on what we billed, is €1.96M (pricing revision presentation). What ISZE does with it is in the pricing revision presentation: our list rises 5.0% on average, each part follows its own factory increase, and the 29 brake pad kits stay at today's price (decided, pricing policy paper of 2 October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uses, each tied to a page: 1 Norway against Sweden (page 8); 2 base-price increase by product group (page 9); 3 element against housing (page 6); 4 one structure for every market (22/116/239) and Japan's code kept on every part (pages 5 and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informs; it does not ask. I use our parts classification as the product language for my sales reviews and price revisions; Vehicle Parts Sales keeps it current through approved, dated releases; and I take the two Nordic findings from page 8 (steering units in Norway, brake pad kits in Sweden) into the next distributor reviews and report back. No catalogue-wide automatic price change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ISZE  ·  VEHICLE PARTS &amp; ACCESSORIES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411480" y="1737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Parts classification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411480" y="38404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DBDBD"/>
                </a:solidFill>
                <a:latin typeface="Aptos"/>
              </a:rPr>
              <a:t>A single product view of the parts we bill to our distributors, used for sales analysis and price revisions.</a:t>
            </a:r>
          </a:p>
        </p:txBody>
      </p:sp>
      <p:sp>
        <p:nvSpPr>
          <p:cNvPr id="6" name="cover_small"/>
          <p:cNvSpPr txBox="1"/>
          <p:nvPr/>
        </p:nvSpPr>
        <p:spPr>
          <a:xfrm>
            <a:off x="411480" y="4892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October 2026  ·  For information, no decision requested</a:t>
            </a:r>
          </a:p>
        </p:txBody>
      </p:sp>
      <p:pic>
        <p:nvPicPr>
          <p:cNvPr id="7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price list filed steering units as “Competitive parts”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Nobody else makes a steering unit. That label mixed captive parts with wear parts under one commercial opinion.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Base: €35.0M billed July 2025 – June 2026 (15,872 part numbers), including €1.29M rebate, transport and lubricants. Old: price-list labels. New: parts classification, release of 7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old top level mixed views on competition with product names. You could not ask “how are brakes selling?” from it.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new top level names what the part is: 22 families, from brakes to lighting.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one product view of everything we bill, so sales and prices can be read per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810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Old top level: share of what we billed</a:t>
            </a:r>
          </a:p>
        </p:txBody>
      </p:sp>
      <p:graphicFrame>
        <p:nvGraphicFramePr>
          <p:cNvPr id="18" name="chart_old"/>
          <p:cNvGraphicFramePr>
            <a:graphicFrameLocks noGrp="1"/>
          </p:cNvGraphicFramePr>
          <p:nvPr/>
        </p:nvGraphicFramePr>
        <p:xfrm>
          <a:off x="228600" y="2103120"/>
          <a:ext cx="4114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1810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New top level: the ten largest of 22 families</a:t>
            </a:r>
          </a:p>
        </p:txBody>
      </p:sp>
      <p:graphicFrame>
        <p:nvGraphicFramePr>
          <p:cNvPr id="20" name="chart_aim"/>
          <p:cNvGraphicFramePr>
            <a:graphicFrameLocks noGrp="1"/>
          </p:cNvGraphicFramePr>
          <p:nvPr/>
        </p:nvGraphicFramePr>
        <p:xfrm>
          <a:off x="4572000" y="2103120"/>
          <a:ext cx="4251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band_bg"/>
          <p:cNvSpPr/>
          <p:nvPr/>
        </p:nvSpPr>
        <p:spPr>
          <a:xfrm>
            <a:off x="228600" y="5303520"/>
            <a:ext cx="8595360" cy="86868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457200" y="5303520"/>
            <a:ext cx="813816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F2F2F2"/>
                </a:solidFill>
                <a:latin typeface="Aptos"/>
              </a:rPr>
              <a:t>€14.6M sat under one commercial label — not a measure of competition. </a:t>
            </a:r>
            <a:r>
              <a:rPr sz="1250" b="0" i="0">
                <a:solidFill>
                  <a:srgbClr val="F2F2F2"/>
                </a:solidFill>
                <a:latin typeface="Aptos"/>
              </a:rPr>
              <a:t>Steering units alone are €1.26M of that pile; they are captive, not competitive.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€1.1M a year sat in the wrong family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old rule read only the price-list text. It could not know that “ACL” means air cleaner.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Old placements: classification audit of 20 September 2026, each confirmed against Isuzu's parts catalogue figures.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 report on air filters, steering or bumpers was wrong by the amounts in this table before anyone looked at a price.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classification reads five facts per part (page 5), so “FILTER; ACL” is an air cleaner element, not air conditioning.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get the family right first. Sales analysis and pricing follow from it.</a:t>
            </a:r>
          </a:p>
        </p:txBody>
      </p:sp>
      <p:sp>
        <p:nvSpPr>
          <p:cNvPr id="17" name="th_PART"/>
          <p:cNvSpPr txBox="1"/>
          <p:nvPr/>
        </p:nvSpPr>
        <p:spPr>
          <a:xfrm>
            <a:off x="411480" y="18288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</a:t>
            </a:r>
          </a:p>
        </p:txBody>
      </p:sp>
      <p:sp>
        <p:nvSpPr>
          <p:cNvPr id="18" name="th_WHAT W"/>
          <p:cNvSpPr txBox="1"/>
          <p:nvPr/>
        </p:nvSpPr>
        <p:spPr>
          <a:xfrm>
            <a:off x="2468880" y="182880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WHAT WE BILLED</a:t>
            </a:r>
          </a:p>
        </p:txBody>
      </p:sp>
      <p:sp>
        <p:nvSpPr>
          <p:cNvPr id="19" name="th_OLD RU"/>
          <p:cNvSpPr txBox="1"/>
          <p:nvPr/>
        </p:nvSpPr>
        <p:spPr>
          <a:xfrm>
            <a:off x="4343400" y="1828800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OLD RULE FILED IT AS</a:t>
            </a:r>
          </a:p>
        </p:txBody>
      </p:sp>
      <p:sp>
        <p:nvSpPr>
          <p:cNvPr id="20" name="th_NEW PL"/>
          <p:cNvSpPr txBox="1"/>
          <p:nvPr/>
        </p:nvSpPr>
        <p:spPr>
          <a:xfrm>
            <a:off x="6583680" y="18288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NEW PLACES IT</a:t>
            </a:r>
          </a:p>
        </p:txBody>
      </p:sp>
      <p:sp>
        <p:nvSpPr>
          <p:cNvPr id="21" name="row_bg0"/>
          <p:cNvSpPr/>
          <p:nvPr/>
        </p:nvSpPr>
        <p:spPr>
          <a:xfrm>
            <a:off x="228600" y="210312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_name0"/>
          <p:cNvSpPr txBox="1"/>
          <p:nvPr/>
        </p:nvSpPr>
        <p:spPr>
          <a:xfrm>
            <a:off x="411480" y="21031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Engine air cleaner elements</a:t>
            </a:r>
          </a:p>
        </p:txBody>
      </p:sp>
      <p:sp>
        <p:nvSpPr>
          <p:cNvPr id="23" name="row_bar0"/>
          <p:cNvSpPr/>
          <p:nvPr/>
        </p:nvSpPr>
        <p:spPr>
          <a:xfrm>
            <a:off x="2468880" y="2286000"/>
            <a:ext cx="105156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_eur0"/>
          <p:cNvSpPr txBox="1"/>
          <p:nvPr/>
        </p:nvSpPr>
        <p:spPr>
          <a:xfrm>
            <a:off x="3611880" y="210312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€672k</a:t>
            </a:r>
          </a:p>
        </p:txBody>
      </p:sp>
      <p:sp>
        <p:nvSpPr>
          <p:cNvPr id="25" name="row_old0"/>
          <p:cNvSpPr txBox="1"/>
          <p:nvPr/>
        </p:nvSpPr>
        <p:spPr>
          <a:xfrm>
            <a:off x="4343400" y="210312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Air conditioning</a:t>
            </a:r>
          </a:p>
        </p:txBody>
      </p:sp>
      <p:sp>
        <p:nvSpPr>
          <p:cNvPr id="26" name="row_aim0"/>
          <p:cNvSpPr txBox="1"/>
          <p:nvPr/>
        </p:nvSpPr>
        <p:spPr>
          <a:xfrm>
            <a:off x="6583680" y="210312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Maintenance service › Air filter</a:t>
            </a:r>
          </a:p>
        </p:txBody>
      </p:sp>
      <p:sp>
        <p:nvSpPr>
          <p:cNvPr id="27" name="row_bg1"/>
          <p:cNvSpPr/>
          <p:nvPr/>
        </p:nvSpPr>
        <p:spPr>
          <a:xfrm>
            <a:off x="228600" y="274320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_name1"/>
          <p:cNvSpPr txBox="1"/>
          <p:nvPr/>
        </p:nvSpPr>
        <p:spPr>
          <a:xfrm>
            <a:off x="411480" y="27432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King pin kits</a:t>
            </a:r>
          </a:p>
        </p:txBody>
      </p:sp>
      <p:sp>
        <p:nvSpPr>
          <p:cNvPr id="29" name="row_bar1"/>
          <p:cNvSpPr/>
          <p:nvPr/>
        </p:nvSpPr>
        <p:spPr>
          <a:xfrm>
            <a:off x="2468880" y="2926080"/>
            <a:ext cx="235333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_eur1"/>
          <p:cNvSpPr txBox="1"/>
          <p:nvPr/>
        </p:nvSpPr>
        <p:spPr>
          <a:xfrm>
            <a:off x="2795653" y="27432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€150k</a:t>
            </a:r>
          </a:p>
        </p:txBody>
      </p:sp>
      <p:sp>
        <p:nvSpPr>
          <p:cNvPr id="31" name="row_old1"/>
          <p:cNvSpPr txBox="1"/>
          <p:nvPr/>
        </p:nvSpPr>
        <p:spPr>
          <a:xfrm>
            <a:off x="4343400" y="274320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Hardware › Pin</a:t>
            </a:r>
          </a:p>
        </p:txBody>
      </p:sp>
      <p:sp>
        <p:nvSpPr>
          <p:cNvPr id="32" name="row_aim1"/>
          <p:cNvSpPr txBox="1"/>
          <p:nvPr/>
        </p:nvSpPr>
        <p:spPr>
          <a:xfrm>
            <a:off x="6583680" y="2743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Knuckle &amp; king pin</a:t>
            </a:r>
          </a:p>
        </p:txBody>
      </p:sp>
      <p:sp>
        <p:nvSpPr>
          <p:cNvPr id="33" name="row_bg2"/>
          <p:cNvSpPr/>
          <p:nvPr/>
        </p:nvSpPr>
        <p:spPr>
          <a:xfrm>
            <a:off x="228600" y="338327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_name2"/>
          <p:cNvSpPr txBox="1"/>
          <p:nvPr/>
        </p:nvSpPr>
        <p:spPr>
          <a:xfrm>
            <a:off x="411480" y="338327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Steering drag links</a:t>
            </a:r>
          </a:p>
        </p:txBody>
      </p:sp>
      <p:sp>
        <p:nvSpPr>
          <p:cNvPr id="35" name="row_bar2"/>
          <p:cNvSpPr/>
          <p:nvPr/>
        </p:nvSpPr>
        <p:spPr>
          <a:xfrm>
            <a:off x="2468880" y="3566160"/>
            <a:ext cx="195334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_eur2"/>
          <p:cNvSpPr txBox="1"/>
          <p:nvPr/>
        </p:nvSpPr>
        <p:spPr>
          <a:xfrm>
            <a:off x="2755654" y="338327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€125k</a:t>
            </a:r>
          </a:p>
        </p:txBody>
      </p:sp>
      <p:sp>
        <p:nvSpPr>
          <p:cNvPr id="37" name="row_old2"/>
          <p:cNvSpPr txBox="1"/>
          <p:nvPr/>
        </p:nvSpPr>
        <p:spPr>
          <a:xfrm>
            <a:off x="4343400" y="338327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38" name="row_aim2"/>
          <p:cNvSpPr txBox="1"/>
          <p:nvPr/>
        </p:nvSpPr>
        <p:spPr>
          <a:xfrm>
            <a:off x="6583680" y="338327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Linkage</a:t>
            </a:r>
          </a:p>
        </p:txBody>
      </p:sp>
      <p:sp>
        <p:nvSpPr>
          <p:cNvPr id="39" name="row_bg3"/>
          <p:cNvSpPr/>
          <p:nvPr/>
        </p:nvSpPr>
        <p:spPr>
          <a:xfrm>
            <a:off x="228600" y="402335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_name3"/>
          <p:cNvSpPr txBox="1"/>
          <p:nvPr/>
        </p:nvSpPr>
        <p:spPr>
          <a:xfrm>
            <a:off x="411480" y="402335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Bumper bars</a:t>
            </a:r>
          </a:p>
        </p:txBody>
      </p:sp>
      <p:sp>
        <p:nvSpPr>
          <p:cNvPr id="41" name="row_bar3"/>
          <p:cNvSpPr/>
          <p:nvPr/>
        </p:nvSpPr>
        <p:spPr>
          <a:xfrm>
            <a:off x="2468880" y="4206240"/>
            <a:ext cx="15529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_eur3"/>
          <p:cNvSpPr txBox="1"/>
          <p:nvPr/>
        </p:nvSpPr>
        <p:spPr>
          <a:xfrm>
            <a:off x="2715610" y="402335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€99k</a:t>
            </a:r>
          </a:p>
        </p:txBody>
      </p:sp>
      <p:sp>
        <p:nvSpPr>
          <p:cNvPr id="43" name="row_old3"/>
          <p:cNvSpPr txBox="1"/>
          <p:nvPr/>
        </p:nvSpPr>
        <p:spPr>
          <a:xfrm>
            <a:off x="4343400" y="402335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Suspension › Leaf spring</a:t>
            </a:r>
          </a:p>
        </p:txBody>
      </p:sp>
      <p:sp>
        <p:nvSpPr>
          <p:cNvPr id="44" name="row_aim3"/>
          <p:cNvSpPr txBox="1"/>
          <p:nvPr/>
        </p:nvSpPr>
        <p:spPr>
          <a:xfrm>
            <a:off x="6583680" y="402335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Accident &amp; body › Bumper</a:t>
            </a:r>
          </a:p>
        </p:txBody>
      </p:sp>
      <p:sp>
        <p:nvSpPr>
          <p:cNvPr id="45" name="row_bg4"/>
          <p:cNvSpPr/>
          <p:nvPr/>
        </p:nvSpPr>
        <p:spPr>
          <a:xfrm>
            <a:off x="228600" y="466344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w_name4"/>
          <p:cNvSpPr txBox="1"/>
          <p:nvPr/>
        </p:nvSpPr>
        <p:spPr>
          <a:xfrm>
            <a:off x="411480" y="46634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Ball joints</a:t>
            </a:r>
          </a:p>
        </p:txBody>
      </p:sp>
      <p:sp>
        <p:nvSpPr>
          <p:cNvPr id="47" name="row_bar4"/>
          <p:cNvSpPr/>
          <p:nvPr/>
        </p:nvSpPr>
        <p:spPr>
          <a:xfrm>
            <a:off x="2468880" y="4846320"/>
            <a:ext cx="13536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w_eur4"/>
          <p:cNvSpPr txBox="1"/>
          <p:nvPr/>
        </p:nvSpPr>
        <p:spPr>
          <a:xfrm>
            <a:off x="2695680" y="466344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€86k</a:t>
            </a:r>
          </a:p>
        </p:txBody>
      </p:sp>
      <p:sp>
        <p:nvSpPr>
          <p:cNvPr id="49" name="row_old4"/>
          <p:cNvSpPr txBox="1"/>
          <p:nvPr/>
        </p:nvSpPr>
        <p:spPr>
          <a:xfrm>
            <a:off x="4343400" y="466344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50" name="row_aim4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Suspension › Suspension arm</a:t>
            </a:r>
          </a:p>
        </p:txBody>
      </p:sp>
      <p:sp>
        <p:nvSpPr>
          <p:cNvPr id="51" name="row_total"/>
          <p:cNvSpPr txBox="1"/>
          <p:nvPr/>
        </p:nvSpPr>
        <p:spPr>
          <a:xfrm>
            <a:off x="41148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Total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€1.13M a year</a:t>
            </a:r>
          </a:p>
        </p:txBody>
      </p:sp>
      <p:sp>
        <p:nvSpPr>
          <p:cNvPr id="52" name="band_bg"/>
          <p:cNvSpPr/>
          <p:nvPr/>
        </p:nvSpPr>
        <p:spPr>
          <a:xfrm>
            <a:off x="228600" y="5715000"/>
            <a:ext cx="8595360" cy="5943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nd"/>
          <p:cNvSpPr txBox="1"/>
          <p:nvPr/>
        </p:nvSpPr>
        <p:spPr>
          <a:xfrm>
            <a:off x="457200" y="5715000"/>
            <a:ext cx="813816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Ask “how are our air filters selling?” and the old tree missed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€0.67M of the €0.80M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“Competitive” label was a weak guide to where independent brands compete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Tested on 302 parts we checked against independent-brand prices. A pointer, not a measurement.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Classification audit, 17 September 2026: 302 parts checked against Autodoc, KS and Mekonomen prices, not a random sample. Steering: parts billed July 2025 – June 2026; competitive price file, 6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4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For a price revision the label is right about half the time, and wrong in both directions.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Raise a “repair part” and you may raise it where the customer already has a cheaper choice. Hold a “competitive part” and you may give margin away where nobody competes.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let price evidence, per product and per market, decide where we compete. Our parts classification gives that evidence a product to attach to.</a:t>
            </a:r>
          </a:p>
        </p:txBody>
      </p:sp>
      <p:sp>
        <p:nvSpPr>
          <p:cNvPr id="17" name="cardL_bg"/>
          <p:cNvSpPr/>
          <p:nvPr/>
        </p:nvSpPr>
        <p:spPr>
          <a:xfrm>
            <a:off x="22860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HOW OFTEN THE LABEL MATCHED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Parts with an independent-brand match, by old label</a:t>
            </a:r>
          </a:p>
        </p:txBody>
      </p:sp>
      <p:graphicFrame>
        <p:nvGraphicFramePr>
          <p:cNvPr id="20" name="chart_hit"/>
          <p:cNvGraphicFramePr>
            <a:graphicFrameLocks noGrp="1"/>
          </p:cNvGraphicFramePr>
          <p:nvPr/>
        </p:nvGraphicFramePr>
        <p:xfrm>
          <a:off x="320040" y="2606040"/>
          <a:ext cx="402336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tat48"/>
          <p:cNvSpPr txBox="1"/>
          <p:nvPr/>
        </p:nvSpPr>
        <p:spPr>
          <a:xfrm>
            <a:off x="411480" y="40233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E30613"/>
                </a:solidFill>
                <a:latin typeface="Aptos"/>
              </a:rPr>
              <a:t>48%</a:t>
            </a:r>
          </a:p>
        </p:txBody>
      </p:sp>
      <p:sp>
        <p:nvSpPr>
          <p:cNvPr id="22" name="stat48_t"/>
          <p:cNvSpPr txBox="1"/>
          <p:nvPr/>
        </p:nvSpPr>
        <p:spPr>
          <a:xfrm>
            <a:off x="1920240" y="4069080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of the 137 parts with a confirmed independent-brand alternative carried the “Competitive” label. The other 52% were filed as repair, accident, comfort or hardware.</a:t>
            </a:r>
          </a:p>
        </p:txBody>
      </p:sp>
      <p:sp>
        <p:nvSpPr>
          <p:cNvPr id="23" name="cardR_bg"/>
          <p:cNvSpPr/>
          <p:nvPr/>
        </p:nvSpPr>
        <p:spPr>
          <a:xfrm>
            <a:off x="461772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THE OTHER WAY: A LABEL WITHOUT EVIDENCE</a:t>
            </a:r>
          </a:p>
        </p:txBody>
      </p:sp>
      <p:sp>
        <p:nvSpPr>
          <p:cNvPr id="25" name="statsteer"/>
          <p:cNvSpPr txBox="1"/>
          <p:nvPr/>
        </p:nvSpPr>
        <p:spPr>
          <a:xfrm>
            <a:off x="4800600" y="22860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E30613"/>
                </a:solidFill>
                <a:latin typeface="Aptos"/>
              </a:rPr>
              <a:t>€1.26M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of steering units billed, filed under “Competitive parts”</a:t>
            </a:r>
          </a:p>
        </p:txBody>
      </p:sp>
      <p:sp>
        <p:nvSpPr>
          <p:cNvPr id="27" name="steer_t"/>
          <p:cNvSpPr txBox="1"/>
          <p:nvPr/>
        </p:nvSpPr>
        <p:spPr>
          <a:xfrm>
            <a:off x="4800600" y="35204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25 of the 26 steering unit part numbers we billed carried that label. One part number, 7552348290, is 67% of the euro.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None of the 13 steering part numbers in our competitive price file has an independent-brand price. Prices exist for 31% of the euro under that label, so this is a pointer, not proof.</a:t>
            </a:r>
          </a:p>
        </p:txBody>
      </p:sp>
      <p:sp>
        <p:nvSpPr>
          <p:cNvPr id="28" name="band_bg"/>
          <p:cNvSpPr/>
          <p:nvPr/>
        </p:nvSpPr>
        <p:spPr>
          <a:xfrm>
            <a:off x="228600" y="5760720"/>
            <a:ext cx="8595360" cy="548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"/>
          <p:cNvSpPr txBox="1"/>
          <p:nvPr/>
        </p:nvSpPr>
        <p:spPr>
          <a:xfrm>
            <a:off x="457200" y="5760720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0" i="0">
                <a:solidFill>
                  <a:srgbClr val="F2F2F2"/>
                </a:solidFill>
                <a:latin typeface="Aptos"/>
              </a:rPr>
              <a:t>A label cannot tell us where we compete. Price evidence can, </a:t>
            </a:r>
            <a:r>
              <a:rPr sz="1200" b="1" i="0">
                <a:solidFill>
                  <a:srgbClr val="F2F2F2"/>
                </a:solidFill>
                <a:latin typeface="Aptos"/>
              </a:rPr>
              <a:t>and it needs a real product to attach to. That is what the classification provides.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ANSWER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Our parts classification gives every part a family, a product group and a part 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It reads five facts about each part together, not just its name.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base. Coverage: share of billed euro with a family, product group and part type.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5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part number now carries a family, a product group and a part type, each with its euro.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Five facts are read together. Where they disagree, the part goes to review instead of being guessed.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any question about sales or prices starts from a product and drills down to the part number.</a:t>
            </a:r>
          </a:p>
        </p:txBody>
      </p:sp>
      <p:sp>
        <p:nvSpPr>
          <p:cNvPr id="17" name="lvl0"/>
          <p:cNvSpPr/>
          <p:nvPr/>
        </p:nvSpPr>
        <p:spPr>
          <a:xfrm>
            <a:off x="228600" y="1828800"/>
            <a:ext cx="4023360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0_k"/>
          <p:cNvSpPr txBox="1"/>
          <p:nvPr/>
        </p:nvSpPr>
        <p:spPr>
          <a:xfrm>
            <a:off x="393192" y="1892807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FAMILY</a:t>
            </a:r>
          </a:p>
        </p:txBody>
      </p:sp>
      <p:sp>
        <p:nvSpPr>
          <p:cNvPr id="19" name="lvl0_n"/>
          <p:cNvSpPr txBox="1"/>
          <p:nvPr/>
        </p:nvSpPr>
        <p:spPr>
          <a:xfrm>
            <a:off x="393192" y="21031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Brakes</a:t>
            </a:r>
          </a:p>
        </p:txBody>
      </p:sp>
      <p:sp>
        <p:nvSpPr>
          <p:cNvPr id="20" name="lvl0_v"/>
          <p:cNvSpPr txBox="1"/>
          <p:nvPr/>
        </p:nvSpPr>
        <p:spPr>
          <a:xfrm>
            <a:off x="3154680" y="1892807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€3.39M</a:t>
            </a:r>
          </a:p>
        </p:txBody>
      </p:sp>
      <p:sp>
        <p:nvSpPr>
          <p:cNvPr id="21" name="lvl1"/>
          <p:cNvSpPr/>
          <p:nvPr/>
        </p:nvSpPr>
        <p:spPr>
          <a:xfrm>
            <a:off x="457200" y="2633472"/>
            <a:ext cx="4023360" cy="676656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vl1_k"/>
          <p:cNvSpPr txBox="1"/>
          <p:nvPr/>
        </p:nvSpPr>
        <p:spPr>
          <a:xfrm>
            <a:off x="621792" y="2697479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PRODUCT GROUP</a:t>
            </a:r>
          </a:p>
        </p:txBody>
      </p:sp>
      <p:sp>
        <p:nvSpPr>
          <p:cNvPr id="23" name="lvl1_n"/>
          <p:cNvSpPr txBox="1"/>
          <p:nvPr/>
        </p:nvSpPr>
        <p:spPr>
          <a:xfrm>
            <a:off x="621792" y="2907791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Pads &amp; shoes</a:t>
            </a:r>
          </a:p>
        </p:txBody>
      </p:sp>
      <p:sp>
        <p:nvSpPr>
          <p:cNvPr id="24" name="lvl1_v"/>
          <p:cNvSpPr txBox="1"/>
          <p:nvPr/>
        </p:nvSpPr>
        <p:spPr>
          <a:xfrm>
            <a:off x="3383280" y="2697479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€1.19M</a:t>
            </a:r>
          </a:p>
        </p:txBody>
      </p:sp>
      <p:sp>
        <p:nvSpPr>
          <p:cNvPr id="25" name="lvl2"/>
          <p:cNvSpPr/>
          <p:nvPr/>
        </p:nvSpPr>
        <p:spPr>
          <a:xfrm>
            <a:off x="685800" y="3438144"/>
            <a:ext cx="4023360" cy="67665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vl2_k"/>
          <p:cNvSpPr txBox="1"/>
          <p:nvPr/>
        </p:nvSpPr>
        <p:spPr>
          <a:xfrm>
            <a:off x="850392" y="3502151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 TYPE</a:t>
            </a:r>
          </a:p>
        </p:txBody>
      </p:sp>
      <p:sp>
        <p:nvSpPr>
          <p:cNvPr id="27" name="lvl2_n"/>
          <p:cNvSpPr txBox="1"/>
          <p:nvPr/>
        </p:nvSpPr>
        <p:spPr>
          <a:xfrm>
            <a:off x="850392" y="3712463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 pad kit</a:t>
            </a:r>
          </a:p>
        </p:txBody>
      </p:sp>
      <p:sp>
        <p:nvSpPr>
          <p:cNvPr id="28" name="lvl2_v"/>
          <p:cNvSpPr txBox="1"/>
          <p:nvPr/>
        </p:nvSpPr>
        <p:spPr>
          <a:xfrm>
            <a:off x="3611880" y="3502151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€0.93M</a:t>
            </a:r>
          </a:p>
        </p:txBody>
      </p:sp>
      <p:sp>
        <p:nvSpPr>
          <p:cNvPr id="29" name="lvl3"/>
          <p:cNvSpPr/>
          <p:nvPr/>
        </p:nvSpPr>
        <p:spPr>
          <a:xfrm>
            <a:off x="914400" y="4242816"/>
            <a:ext cx="4023360" cy="67665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vl3_k"/>
          <p:cNvSpPr txBox="1"/>
          <p:nvPr/>
        </p:nvSpPr>
        <p:spPr>
          <a:xfrm>
            <a:off x="1078992" y="43068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PART NUMBER 8982447940</a:t>
            </a:r>
          </a:p>
        </p:txBody>
      </p:sp>
      <p:sp>
        <p:nvSpPr>
          <p:cNvPr id="31" name="lvl3_n"/>
          <p:cNvSpPr txBox="1"/>
          <p:nvPr/>
        </p:nvSpPr>
        <p:spPr>
          <a:xfrm>
            <a:off x="1078992" y="451713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Front disc brake pad kit</a:t>
            </a:r>
          </a:p>
        </p:txBody>
      </p:sp>
      <p:sp>
        <p:nvSpPr>
          <p:cNvPr id="32" name="lvl3_v"/>
          <p:cNvSpPr txBox="1"/>
          <p:nvPr/>
        </p:nvSpPr>
        <p:spPr>
          <a:xfrm>
            <a:off x="3840480" y="4306824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€0.34M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8C8C8C"/>
                </a:solidFill>
                <a:latin typeface="Aptos"/>
              </a:rPr>
              <a:t>Billed July 2025 – June 2026, price revision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Five facts, read together</a:t>
            </a:r>
          </a:p>
        </p:txBody>
      </p:sp>
      <p:sp>
        <p:nvSpPr>
          <p:cNvPr id="35" name="fact_dot0"/>
          <p:cNvSpPr/>
          <p:nvPr/>
        </p:nvSpPr>
        <p:spPr>
          <a:xfrm>
            <a:off x="5257800" y="2240279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0"/>
          <p:cNvSpPr txBox="1"/>
          <p:nvPr/>
        </p:nvSpPr>
        <p:spPr>
          <a:xfrm>
            <a:off x="5257800" y="224027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fact0"/>
          <p:cNvSpPr txBox="1"/>
          <p:nvPr/>
        </p:nvSpPr>
        <p:spPr>
          <a:xfrm>
            <a:off x="5715000" y="219456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Part number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links sales, prices and the catalogue</a:t>
            </a:r>
          </a:p>
        </p:txBody>
      </p:sp>
      <p:sp>
        <p:nvSpPr>
          <p:cNvPr id="38" name="fact_dot1"/>
          <p:cNvSpPr/>
          <p:nvPr/>
        </p:nvSpPr>
        <p:spPr>
          <a:xfrm>
            <a:off x="5257800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act_n1"/>
          <p:cNvSpPr txBox="1"/>
          <p:nvPr/>
        </p:nvSpPr>
        <p:spPr>
          <a:xfrm>
            <a:off x="5257800" y="2770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fact1"/>
          <p:cNvSpPr txBox="1"/>
          <p:nvPr/>
        </p:nvSpPr>
        <p:spPr>
          <a:xfrm>
            <a:off x="5715000" y="272491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Description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what the price list calls the part</a:t>
            </a:r>
          </a:p>
        </p:txBody>
      </p:sp>
      <p:sp>
        <p:nvSpPr>
          <p:cNvPr id="41" name="fact_dot2"/>
          <p:cNvSpPr/>
          <p:nvPr/>
        </p:nvSpPr>
        <p:spPr>
          <a:xfrm>
            <a:off x="5257800" y="3300983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act_n2"/>
          <p:cNvSpPr txBox="1"/>
          <p:nvPr/>
        </p:nvSpPr>
        <p:spPr>
          <a:xfrm>
            <a:off x="5257800" y="33009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fact2"/>
          <p:cNvSpPr txBox="1"/>
          <p:nvPr/>
        </p:nvSpPr>
        <p:spPr>
          <a:xfrm>
            <a:off x="5715000" y="3255263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Catalogue figure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where Isuzu draws it on the vehicle</a:t>
            </a:r>
          </a:p>
        </p:txBody>
      </p:sp>
      <p:sp>
        <p:nvSpPr>
          <p:cNvPr id="44" name="fact_dot3"/>
          <p:cNvSpPr/>
          <p:nvPr/>
        </p:nvSpPr>
        <p:spPr>
          <a:xfrm>
            <a:off x="5257800" y="3831335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act_n3"/>
          <p:cNvSpPr txBox="1"/>
          <p:nvPr/>
        </p:nvSpPr>
        <p:spPr>
          <a:xfrm>
            <a:off x="5257800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6" name="fact3"/>
          <p:cNvSpPr txBox="1"/>
          <p:nvPr/>
        </p:nvSpPr>
        <p:spPr>
          <a:xfrm>
            <a:off x="5715000" y="3785615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Customs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an independent check on the product</a:t>
            </a:r>
          </a:p>
        </p:txBody>
      </p:sp>
      <p:sp>
        <p:nvSpPr>
          <p:cNvPr id="47" name="fact_dot4"/>
          <p:cNvSpPr/>
          <p:nvPr/>
        </p:nvSpPr>
        <p:spPr>
          <a:xfrm>
            <a:off x="5257800" y="4361688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act_n4"/>
          <p:cNvSpPr txBox="1"/>
          <p:nvPr/>
        </p:nvSpPr>
        <p:spPr>
          <a:xfrm>
            <a:off x="52578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fact4"/>
          <p:cNvSpPr txBox="1"/>
          <p:nvPr/>
        </p:nvSpPr>
        <p:spPr>
          <a:xfrm>
            <a:off x="5715000" y="431596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Price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separates a €11 element from a €154 housing</a:t>
            </a:r>
          </a:p>
        </p:txBody>
      </p:sp>
      <p:sp>
        <p:nvSpPr>
          <p:cNvPr id="50" name="fact_jp"/>
          <p:cNvSpPr txBox="1"/>
          <p:nvPr/>
        </p:nvSpPr>
        <p:spPr>
          <a:xfrm>
            <a:off x="5715000" y="48463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+ Japan's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kept on every part (page 7)</a:t>
            </a:r>
          </a:p>
        </p:txBody>
      </p:sp>
      <p:sp>
        <p:nvSpPr>
          <p:cNvPr id="51" name="kpi_bg0"/>
          <p:cNvSpPr/>
          <p:nvPr/>
        </p:nvSpPr>
        <p:spPr>
          <a:xfrm>
            <a:off x="22860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0"/>
          <p:cNvSpPr txBox="1"/>
          <p:nvPr/>
        </p:nvSpPr>
        <p:spPr>
          <a:xfrm>
            <a:off x="36576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98%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of what we bill has a family, group and part type</a:t>
            </a:r>
          </a:p>
        </p:txBody>
      </p:sp>
      <p:sp>
        <p:nvSpPr>
          <p:cNvPr id="53" name="kpi_bg1"/>
          <p:cNvSpPr/>
          <p:nvPr/>
        </p:nvSpPr>
        <p:spPr>
          <a:xfrm>
            <a:off x="310896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1"/>
          <p:cNvSpPr txBox="1"/>
          <p:nvPr/>
        </p:nvSpPr>
        <p:spPr>
          <a:xfrm>
            <a:off x="324612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22 · 116 · 239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families · product groups · part types</a:t>
            </a:r>
          </a:p>
        </p:txBody>
      </p:sp>
      <p:sp>
        <p:nvSpPr>
          <p:cNvPr id="55" name="kpi_bg2"/>
          <p:cNvSpPr/>
          <p:nvPr/>
        </p:nvSpPr>
        <p:spPr>
          <a:xfrm>
            <a:off x="598932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2"/>
          <p:cNvSpPr txBox="1"/>
          <p:nvPr/>
        </p:nvSpPr>
        <p:spPr>
          <a:xfrm>
            <a:off x="612648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7 Oct 2026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release these figures use, kept by Vehicle Parts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PRECISION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An element and a housing share a family, not a price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classification keeps them apart, so every price and sales comparison is like for like.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base, all filter part numbers marked element or housing / assembly in the classification. Photos: dealer and supplier listings, product form only.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Averaged together, a “filter” costs €13.64 per unit, a price that describes neither product.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An element is bought at every service. A housing is bought after damage or failure. They belong in different parts of a sales review.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compare distributors and years like for like.</a:t>
            </a:r>
          </a:p>
        </p:txBody>
      </p:sp>
      <p:sp>
        <p:nvSpPr>
          <p:cNvPr id="17" name="card0"/>
          <p:cNvSpPr/>
          <p:nvPr/>
        </p:nvSpPr>
        <p:spPr>
          <a:xfrm>
            <a:off x="22860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imgbg0"/>
          <p:cNvSpPr/>
          <p:nvPr/>
        </p:nvSpPr>
        <p:spPr>
          <a:xfrm>
            <a:off x="36576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1792224" cy="1792224"/>
          </a:xfrm>
          <a:prstGeom prst="rect">
            <a:avLst/>
          </a:prstGeom>
        </p:spPr>
      </p:pic>
      <p:sp>
        <p:nvSpPr>
          <p:cNvPr id="20" name="card_c0"/>
          <p:cNvSpPr txBox="1"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21" name="card_k0"/>
          <p:cNvSpPr txBox="1"/>
          <p:nvPr/>
        </p:nvSpPr>
        <p:spPr>
          <a:xfrm>
            <a:off x="23317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ELEMENTS</a:t>
            </a:r>
          </a:p>
        </p:txBody>
      </p:sp>
      <p:sp>
        <p:nvSpPr>
          <p:cNvPr id="22" name="card_v0"/>
          <p:cNvSpPr txBox="1"/>
          <p:nvPr/>
        </p:nvSpPr>
        <p:spPr>
          <a:xfrm>
            <a:off x="2331720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€11.01</a:t>
            </a:r>
          </a:p>
        </p:txBody>
      </p:sp>
      <p:sp>
        <p:nvSpPr>
          <p:cNvPr id="23" name="card_u0"/>
          <p:cNvSpPr txBox="1"/>
          <p:nvPr/>
        </p:nvSpPr>
        <p:spPr>
          <a:xfrm>
            <a:off x="2331720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24" name="card_m0"/>
          <p:cNvSpPr txBox="1"/>
          <p:nvPr/>
        </p:nvSpPr>
        <p:spPr>
          <a:xfrm>
            <a:off x="233172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€2.79M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131 part numbers</a:t>
            </a:r>
          </a:p>
        </p:txBody>
      </p:sp>
      <p:sp>
        <p:nvSpPr>
          <p:cNvPr id="25" name="card_d0"/>
          <p:cNvSpPr txBox="1"/>
          <p:nvPr/>
        </p:nvSpPr>
        <p:spPr>
          <a:xfrm>
            <a:off x="36576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at every service. A routine purchase, bought again and again.</a:t>
            </a:r>
          </a:p>
        </p:txBody>
      </p:sp>
      <p:sp>
        <p:nvSpPr>
          <p:cNvPr id="26" name="card1"/>
          <p:cNvSpPr/>
          <p:nvPr/>
        </p:nvSpPr>
        <p:spPr>
          <a:xfrm>
            <a:off x="466344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_imgbg1"/>
          <p:cNvSpPr/>
          <p:nvPr/>
        </p:nvSpPr>
        <p:spPr>
          <a:xfrm>
            <a:off x="480060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4248"/>
            <a:ext cx="1792224" cy="1792224"/>
          </a:xfrm>
          <a:prstGeom prst="rect">
            <a:avLst/>
          </a:prstGeom>
        </p:spPr>
      </p:pic>
      <p:sp>
        <p:nvSpPr>
          <p:cNvPr id="29" name="card_c1"/>
          <p:cNvSpPr txBox="1"/>
          <p:nvPr/>
        </p:nvSpPr>
        <p:spPr>
          <a:xfrm>
            <a:off x="480060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30" name="card_k1"/>
          <p:cNvSpPr txBox="1"/>
          <p:nvPr/>
        </p:nvSpPr>
        <p:spPr>
          <a:xfrm>
            <a:off x="6766559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HOUSINGS AND ASSEMBLIES</a:t>
            </a:r>
          </a:p>
        </p:txBody>
      </p:sp>
      <p:sp>
        <p:nvSpPr>
          <p:cNvPr id="31" name="card_v1"/>
          <p:cNvSpPr txBox="1"/>
          <p:nvPr/>
        </p:nvSpPr>
        <p:spPr>
          <a:xfrm>
            <a:off x="6766559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€154.47</a:t>
            </a:r>
          </a:p>
        </p:txBody>
      </p:sp>
      <p:sp>
        <p:nvSpPr>
          <p:cNvPr id="32" name="card_u1"/>
          <p:cNvSpPr txBox="1"/>
          <p:nvPr/>
        </p:nvSpPr>
        <p:spPr>
          <a:xfrm>
            <a:off x="6766559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33" name="card_m1"/>
          <p:cNvSpPr txBox="1"/>
          <p:nvPr/>
        </p:nvSpPr>
        <p:spPr>
          <a:xfrm>
            <a:off x="676655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€0.73M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59 part numbers</a:t>
            </a:r>
          </a:p>
        </p:txBody>
      </p:sp>
      <p:sp>
        <p:nvSpPr>
          <p:cNvPr id="34" name="card_d1"/>
          <p:cNvSpPr txBox="1"/>
          <p:nvPr/>
        </p:nvSpPr>
        <p:spPr>
          <a:xfrm>
            <a:off x="480060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after damage or failure. A repair purchase, not a service one.</a:t>
            </a:r>
          </a:p>
        </p:txBody>
      </p:sp>
      <p:sp>
        <p:nvSpPr>
          <p:cNvPr id="35" name="ratio_dot"/>
          <p:cNvSpPr/>
          <p:nvPr/>
        </p:nvSpPr>
        <p:spPr>
          <a:xfrm>
            <a:off x="3931920" y="3017520"/>
            <a:ext cx="685800" cy="68580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tio"/>
          <p:cNvSpPr txBox="1"/>
          <p:nvPr/>
        </p:nvSpPr>
        <p:spPr>
          <a:xfrm>
            <a:off x="3931920" y="3017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14×</a:t>
            </a:r>
          </a:p>
        </p:txBody>
      </p:sp>
      <p:sp>
        <p:nvSpPr>
          <p:cNvPr id="37" name="band_bg"/>
          <p:cNvSpPr/>
          <p:nvPr/>
        </p:nvSpPr>
        <p:spPr>
          <a:xfrm>
            <a:off x="228600" y="5486400"/>
            <a:ext cx="8595360" cy="7315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nd"/>
          <p:cNvSpPr txBox="1"/>
          <p:nvPr/>
        </p:nvSpPr>
        <p:spPr>
          <a:xfrm>
            <a:off x="457200" y="5486400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2F2F2"/>
                </a:solidFill>
                <a:latin typeface="Aptos"/>
              </a:rPr>
              <a:t>Averaged together, a “filter” costs </a:t>
            </a:r>
            <a:r>
              <a:rPr sz="1300" b="1" i="0">
                <a:solidFill>
                  <a:srgbClr val="F2F2F2"/>
                </a:solidFill>
                <a:latin typeface="Aptos"/>
              </a:rPr>
              <a:t>€13.64 per unit</a:t>
            </a:r>
            <a:r>
              <a:rPr sz="1300" b="0" i="0">
                <a:solidFill>
                  <a:srgbClr val="F2F2F2"/>
                </a:solidFill>
                <a:latin typeface="Aptos"/>
              </a:rPr>
              <a:t>, a price that describes neither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JAPAN'S CODE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Japan's code stays on every part, but it cannot replace our parts classification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code says where Japan files a part. Our classification says what the part is. We need both.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Japan's catalogue code (ZKK) from Japan's parts-code file of 12 September 2025.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Japan code holds 42% of what we bill, across 197 part types. A sales chart by Japan code cannot separate brakes from body panels.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Every classification result can be translated back to Japan's own code, so a conversation with Japan can use their terms.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we analyse with our parts classification and talk to Japan in their code. Neither replaces the other.</a:t>
            </a:r>
          </a:p>
        </p:txBody>
      </p:sp>
      <p:sp>
        <p:nvSpPr>
          <p:cNvPr id="17" name="z_left_t"/>
          <p:cNvSpPr txBox="1"/>
          <p:nvPr/>
        </p:nvSpPr>
        <p:spPr>
          <a:xfrm>
            <a:off x="228600" y="18105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Japan code, many products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Code 275: 42% of what we bill, by family</a:t>
            </a:r>
          </a:p>
        </p:txBody>
      </p:sp>
      <p:graphicFrame>
        <p:nvGraphicFramePr>
          <p:cNvPr id="18" name="chart_zkk"/>
          <p:cNvGraphicFramePr>
            <a:graphicFrameLocks noGrp="1"/>
          </p:cNvGraphicFramePr>
          <p:nvPr/>
        </p:nvGraphicFramePr>
        <p:xfrm>
          <a:off x="228600" y="237744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z_right_t"/>
          <p:cNvSpPr txBox="1"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product, many Japan codes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Different Japan codes on the same part type</a:t>
            </a:r>
          </a:p>
        </p:txBody>
      </p:sp>
      <p:sp>
        <p:nvSpPr>
          <p:cNvPr id="20" name="zc_bg0"/>
          <p:cNvSpPr/>
          <p:nvPr/>
        </p:nvSpPr>
        <p:spPr>
          <a:xfrm>
            <a:off x="5349240" y="237744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zc_n0"/>
          <p:cNvSpPr txBox="1"/>
          <p:nvPr/>
        </p:nvSpPr>
        <p:spPr>
          <a:xfrm>
            <a:off x="5486400" y="23774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8</a:t>
            </a:r>
          </a:p>
        </p:txBody>
      </p:sp>
      <p:sp>
        <p:nvSpPr>
          <p:cNvPr id="22" name="zc_t0"/>
          <p:cNvSpPr txBox="1"/>
          <p:nvPr/>
        </p:nvSpPr>
        <p:spPr>
          <a:xfrm>
            <a:off x="6309360" y="237744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brake pad kits</a:t>
            </a:r>
          </a:p>
        </p:txBody>
      </p:sp>
      <p:sp>
        <p:nvSpPr>
          <p:cNvPr id="23" name="zc_bg1"/>
          <p:cNvSpPr/>
          <p:nvPr/>
        </p:nvSpPr>
        <p:spPr>
          <a:xfrm>
            <a:off x="5349240" y="315468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zc_n1"/>
          <p:cNvSpPr txBox="1"/>
          <p:nvPr/>
        </p:nvSpPr>
        <p:spPr>
          <a:xfrm>
            <a:off x="5486400" y="31546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11</a:t>
            </a:r>
          </a:p>
        </p:txBody>
      </p:sp>
      <p:sp>
        <p:nvSpPr>
          <p:cNvPr id="25" name="zc_t1"/>
          <p:cNvSpPr txBox="1"/>
          <p:nvPr/>
        </p:nvSpPr>
        <p:spPr>
          <a:xfrm>
            <a:off x="6309360" y="315468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air cleaner elements</a:t>
            </a:r>
          </a:p>
        </p:txBody>
      </p:sp>
      <p:sp>
        <p:nvSpPr>
          <p:cNvPr id="26" name="zc_bg2"/>
          <p:cNvSpPr/>
          <p:nvPr/>
        </p:nvSpPr>
        <p:spPr>
          <a:xfrm>
            <a:off x="5349240" y="393192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zc_n2"/>
          <p:cNvSpPr txBox="1"/>
          <p:nvPr/>
        </p:nvSpPr>
        <p:spPr>
          <a:xfrm>
            <a:off x="5486400" y="3931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29</a:t>
            </a:r>
          </a:p>
        </p:txBody>
      </p:sp>
      <p:sp>
        <p:nvSpPr>
          <p:cNvPr id="28" name="zc_t2"/>
          <p:cNvSpPr txBox="1"/>
          <p:nvPr/>
        </p:nvSpPr>
        <p:spPr>
          <a:xfrm>
            <a:off x="6309360" y="393192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doors</a:t>
            </a:r>
          </a:p>
        </p:txBody>
      </p:sp>
      <p:sp>
        <p:nvSpPr>
          <p:cNvPr id="29" name="reinf_bg"/>
          <p:cNvSpPr/>
          <p:nvPr/>
        </p:nvSpPr>
        <p:spPr>
          <a:xfrm>
            <a:off x="228600" y="5120640"/>
            <a:ext cx="8595360" cy="1143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inf_t"/>
          <p:cNvSpPr txBox="1"/>
          <p:nvPr/>
        </p:nvSpPr>
        <p:spPr>
          <a:xfrm>
            <a:off x="411480" y="52303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30613"/>
                </a:solidFill>
                <a:latin typeface="Aptos"/>
              </a:rPr>
              <a:t>How the code reinforces the classification</a:t>
            </a:r>
          </a:p>
        </p:txBody>
      </p:sp>
      <p:sp>
        <p:nvSpPr>
          <p:cNvPr id="31" name="reinf1"/>
          <p:cNvSpPr txBox="1"/>
          <p:nvPr/>
        </p:nvSpPr>
        <p:spPr>
          <a:xfrm>
            <a:off x="2468880" y="5230368"/>
            <a:ext cx="256032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bridge to Japan.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Every classification result translates back into Japan's own codes.</a:t>
            </a:r>
          </a:p>
        </p:txBody>
      </p:sp>
      <p:sp>
        <p:nvSpPr>
          <p:cNvPr id="32" name="reinf2"/>
          <p:cNvSpPr txBox="1"/>
          <p:nvPr/>
        </p:nvSpPr>
        <p:spPr>
          <a:xfrm>
            <a:off x="5212080" y="5230368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completeness check.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89% of what we bill carries a Japan code. Of the other €3.9M: €1.3M is rebate, transport and lubricants, €1.2M is 4 steering unit part numbers, €1.4M other parts. Questions for Japan, not gaps in the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SALES ANALYSIS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Norway brings in €22 more per vehicle than Sweden. The classification traces it to two products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Similar light-commercial fleets: 7,929 vehicles in service in Norway, 8,443 in Sweden.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Parts billed July 2025 – June 2026, price revision base. Vehicles in service: 2025 estimates for both markets.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Two similar fleets, two different parts bills: €209 against €187 per vehicle.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Steering units and brake pad kits explain most of it. Both are questions for the distributor, not conclusions.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turn a gap between two distributors into a question about a named product.</a:t>
            </a:r>
          </a:p>
        </p:txBody>
      </p:sp>
      <p:sp>
        <p:nvSpPr>
          <p:cNvPr id="17" name="nv_t"/>
          <p:cNvSpPr txBox="1"/>
          <p:nvPr/>
        </p:nvSpPr>
        <p:spPr>
          <a:xfrm>
            <a:off x="228600" y="1810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€209 against €187 per vehicle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Difference by family, Norway minus Sweden, € per vehicle</a:t>
            </a:r>
          </a:p>
        </p:txBody>
      </p:sp>
      <p:graphicFrame>
        <p:nvGraphicFramePr>
          <p:cNvPr id="18" name="chart_nordic"/>
          <p:cNvGraphicFramePr>
            <a:graphicFrameLocks noGrp="1"/>
          </p:cNvGraphicFramePr>
          <p:nvPr/>
        </p:nvGraphicFramePr>
        <p:xfrm>
          <a:off x="228600" y="2377440"/>
          <a:ext cx="4983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nf_bg0"/>
          <p:cNvSpPr/>
          <p:nvPr/>
        </p:nvSpPr>
        <p:spPr>
          <a:xfrm>
            <a:off x="5394960" y="18105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f_k0"/>
          <p:cNvSpPr txBox="1"/>
          <p:nvPr/>
        </p:nvSpPr>
        <p:spPr>
          <a:xfrm>
            <a:off x="557784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STEERING UNITS</a:t>
            </a:r>
          </a:p>
        </p:txBody>
      </p:sp>
      <p:sp>
        <p:nvSpPr>
          <p:cNvPr id="21" name="nf_v0"/>
          <p:cNvSpPr txBox="1"/>
          <p:nvPr/>
        </p:nvSpPr>
        <p:spPr>
          <a:xfrm>
            <a:off x="5577840" y="21579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€19.56 vs €2.09 per vehicle</a:t>
            </a:r>
          </a:p>
        </p:txBody>
      </p:sp>
      <p:sp>
        <p:nvSpPr>
          <p:cNvPr id="22" name="nf_b0"/>
          <p:cNvSpPr txBox="1"/>
          <p:nvPr/>
        </p:nvSpPr>
        <p:spPr>
          <a:xfrm>
            <a:off x="557784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bought 82, 81 of them one part number. Sweden bought 10. A repair pattern in Norway, or demand Sweden is not getting?</a:t>
            </a:r>
          </a:p>
        </p:txBody>
      </p:sp>
      <p:sp>
        <p:nvSpPr>
          <p:cNvPr id="23" name="nf_bg1"/>
          <p:cNvSpPr/>
          <p:nvPr/>
        </p:nvSpPr>
        <p:spPr>
          <a:xfrm>
            <a:off x="5394960" y="36393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f_k1"/>
          <p:cNvSpPr txBox="1"/>
          <p:nvPr/>
        </p:nvSpPr>
        <p:spPr>
          <a:xfrm>
            <a:off x="5577840" y="3749039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BRAKE PAD KITS</a:t>
            </a:r>
          </a:p>
        </p:txBody>
      </p:sp>
      <p:sp>
        <p:nvSpPr>
          <p:cNvPr id="25" name="nf_v1"/>
          <p:cNvSpPr txBox="1"/>
          <p:nvPr/>
        </p:nvSpPr>
        <p:spPr>
          <a:xfrm>
            <a:off x="5577840" y="39867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€10.72 vs €4.64 per vehicle</a:t>
            </a:r>
          </a:p>
        </p:txBody>
      </p:sp>
      <p:sp>
        <p:nvSpPr>
          <p:cNvPr id="26" name="nf_b1"/>
          <p:cNvSpPr txBox="1"/>
          <p:nvPr/>
        </p:nvSpPr>
        <p:spPr>
          <a:xfrm>
            <a:off x="5577840" y="43708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buys 14 kits per 100 vehicles a year, Sweden 6. Where do Swedish owners buy their brake pads?</a:t>
            </a:r>
          </a:p>
        </p:txBody>
      </p:sp>
      <p:sp>
        <p:nvSpPr>
          <p:cNvPr id="27" name="band_bg"/>
          <p:cNvSpPr/>
          <p:nvPr/>
        </p:nvSpPr>
        <p:spPr>
          <a:xfrm>
            <a:off x="228600" y="5623560"/>
            <a:ext cx="8595360" cy="6858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"/>
          <p:cNvSpPr txBox="1"/>
          <p:nvPr/>
        </p:nvSpPr>
        <p:spPr>
          <a:xfrm>
            <a:off x="457200" y="5623560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Without families this is one number: Norway is 12% ahead.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With the classification it is two concrete distributor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PRICE REVISIONS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factory raised base prices 6.0% on average. By product group it ran from 0.6% to 10.3%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IML and IMIT base prices, September 2026 against September 2025, weighted on what we billed July 2025 – June 2026.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Factory base-price move on billed quantities, not a forecast: €1.65M at last year's volumes in yen prices (our list at 6.0%: €1.96M). Groups with at least €0.5M billed.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Steering gear +0.6%.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One flat 6% would lift our price about ten times more than the factory cost moved.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14553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08152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Air and fuel filters +2.2% to +2.7%.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A flat 6% makes the most frequent service parts dearer than the cost requires.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19709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13308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Brake pads and shoes +10.3%.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Independent brands compete here. The pricing revision keeps the 29 brake pad kits at today's price.</a:t>
            </a:r>
          </a:p>
        </p:txBody>
      </p:sp>
      <p:sp>
        <p:nvSpPr>
          <p:cNvPr id="17" name="panel_dot3"/>
          <p:cNvSpPr/>
          <p:nvPr/>
        </p:nvSpPr>
        <p:spPr>
          <a:xfrm>
            <a:off x="9272015" y="524865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t3"/>
          <p:cNvSpPr txBox="1"/>
          <p:nvPr/>
        </p:nvSpPr>
        <p:spPr>
          <a:xfrm>
            <a:off x="9491472" y="5184648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 price decision per product group instead of one network percentage.</a:t>
            </a:r>
          </a:p>
        </p:txBody>
      </p:sp>
      <p:graphicFrame>
        <p:nvGraphicFramePr>
          <p:cNvPr id="19" name="chart_increase"/>
          <p:cNvGraphicFramePr>
            <a:graphicFrameLocks noGrp="1"/>
          </p:cNvGraphicFramePr>
          <p:nvPr/>
        </p:nvGraphicFramePr>
        <p:xfrm>
          <a:off x="228600" y="1783080"/>
          <a:ext cx="8595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WHAT I USE OUR PARTS CLASSIFICATION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1170432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Four things I use our parts classification for, and the evidence behind each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11704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Each use is shown with real numbers earlier in this presentation.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Figures from pages 5 to 9. Billed July 2025 – June 2026, price revision base.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use_bg0"/>
          <p:cNvSpPr/>
          <p:nvPr/>
        </p:nvSpPr>
        <p:spPr>
          <a:xfrm>
            <a:off x="22860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se_dot0"/>
          <p:cNvSpPr/>
          <p:nvPr/>
        </p:nvSpPr>
        <p:spPr>
          <a:xfrm>
            <a:off x="41148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se_n0"/>
          <p:cNvSpPr txBox="1"/>
          <p:nvPr/>
        </p:nvSpPr>
        <p:spPr>
          <a:xfrm>
            <a:off x="41148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use_h0"/>
          <p:cNvSpPr txBox="1"/>
          <p:nvPr/>
        </p:nvSpPr>
        <p:spPr>
          <a:xfrm>
            <a:off x="91440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Explain sales down to the part</a:t>
            </a:r>
          </a:p>
        </p:txBody>
      </p:sp>
      <p:sp>
        <p:nvSpPr>
          <p:cNvPr id="13" name="use_t0"/>
          <p:cNvSpPr txBox="1"/>
          <p:nvPr/>
        </p:nvSpPr>
        <p:spPr>
          <a:xfrm>
            <a:off x="41148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Compare distributors in euro per vehicle in service, by family and part type, and trace a gap to a named part number.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gap between two markets becomes a question to one distributor about one product, not an average to argue over.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Norway against Sweden: €22 per vehicle, traced to steering units and brake pad kits (page 8).</a:t>
            </a:r>
          </a:p>
        </p:txBody>
      </p:sp>
      <p:sp>
        <p:nvSpPr>
          <p:cNvPr id="14" name="use_bg1"/>
          <p:cNvSpPr/>
          <p:nvPr/>
        </p:nvSpPr>
        <p:spPr>
          <a:xfrm>
            <a:off x="315468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se_dot1"/>
          <p:cNvSpPr/>
          <p:nvPr/>
        </p:nvSpPr>
        <p:spPr>
          <a:xfrm>
            <a:off x="333756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se_n1"/>
          <p:cNvSpPr txBox="1"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use_h1"/>
          <p:cNvSpPr txBox="1"/>
          <p:nvPr/>
        </p:nvSpPr>
        <p:spPr>
          <a:xfrm>
            <a:off x="384048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Set price revisions per product group</a:t>
            </a:r>
          </a:p>
        </p:txBody>
      </p:sp>
      <p:sp>
        <p:nvSpPr>
          <p:cNvPr id="18" name="use_t1"/>
          <p:cNvSpPr txBox="1"/>
          <p:nvPr/>
        </p:nvSpPr>
        <p:spPr>
          <a:xfrm>
            <a:off x="333756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Read the factory increase and our own price decisions per family, product group and part type.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factory increase ran from +0.6% on steering gear to +10.3% on brake pads. One average hides where we compete and where we do not.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6.0% on average, 0.6% to 10.3% by product group (page 9).</a:t>
            </a:r>
          </a:p>
        </p:txBody>
      </p:sp>
      <p:sp>
        <p:nvSpPr>
          <p:cNvPr id="19" name="use_bg2"/>
          <p:cNvSpPr/>
          <p:nvPr/>
        </p:nvSpPr>
        <p:spPr>
          <a:xfrm>
            <a:off x="608076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se_dot2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se_n2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use_h2"/>
          <p:cNvSpPr txBox="1"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Compare like with like</a:t>
            </a:r>
          </a:p>
        </p:txBody>
      </p:sp>
      <p:sp>
        <p:nvSpPr>
          <p:cNvPr id="23" name="use_t2"/>
          <p:cNvSpPr txBox="1"/>
          <p:nvPr/>
        </p:nvSpPr>
        <p:spPr>
          <a:xfrm>
            <a:off x="626364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Keep an element, a housing and a kit apart inside one family.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blended filter price of €13.64 describes neither a €11 element nor a €154 housing.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14 times the price between two products that used to share one average (page 6).</a:t>
            </a:r>
          </a:p>
        </p:txBody>
      </p:sp>
      <p:sp>
        <p:nvSpPr>
          <p:cNvPr id="24" name="use_bg3"/>
          <p:cNvSpPr/>
          <p:nvPr/>
        </p:nvSpPr>
        <p:spPr>
          <a:xfrm>
            <a:off x="900684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se_dot3"/>
          <p:cNvSpPr/>
          <p:nvPr/>
        </p:nvSpPr>
        <p:spPr>
          <a:xfrm>
            <a:off x="918972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_n3"/>
          <p:cNvSpPr txBox="1"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use_h3"/>
          <p:cNvSpPr txBox="1"/>
          <p:nvPr/>
        </p:nvSpPr>
        <p:spPr>
          <a:xfrm>
            <a:off x="969264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One language, with Japan's code kept</a:t>
            </a:r>
          </a:p>
        </p:txBody>
      </p:sp>
      <p:sp>
        <p:nvSpPr>
          <p:cNvPr id="28" name="use_t3"/>
          <p:cNvSpPr txBox="1"/>
          <p:nvPr/>
        </p:nvSpPr>
        <p:spPr>
          <a:xfrm>
            <a:off x="918972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same 22 families, 116 product groups and 239 part types for every distributor. Japan's catalogue code stays on every part.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Distributor reviews, price revisions and talks with Japan refer to the same product.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89% of billed euro already linked to Japan's code (pages 5 and 7).</a:t>
            </a:r>
          </a:p>
        </p:txBody>
      </p:sp>
      <p:sp>
        <p:nvSpPr>
          <p:cNvPr id="29" name="band_bg"/>
          <p:cNvSpPr/>
          <p:nvPr/>
        </p:nvSpPr>
        <p:spPr>
          <a:xfrm>
            <a:off x="228600" y="5852160"/>
            <a:ext cx="11731752" cy="4572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Next: </a:t>
            </a:r>
            <a:r>
              <a:rPr sz="1200" b="0" i="0">
                <a:solidFill>
                  <a:srgbClr val="F2F2F2"/>
                </a:solidFill>
                <a:latin typeface="Aptos"/>
              </a:rPr>
              <a:t>link old and new part numbers, so a superseded part no longer looks like lost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nd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HOW I USE THE CLASSIFICATION FROM NOW ON</a:t>
            </a:r>
          </a:p>
        </p:txBody>
      </p:sp>
      <p:sp>
        <p:nvSpPr>
          <p:cNvPr id="4" name="end_title"/>
          <p:cNvSpPr txBox="1"/>
          <p:nvPr/>
        </p:nvSpPr>
        <p:spPr>
          <a:xfrm>
            <a:off x="411480" y="14630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decision.</a:t>
            </a:r>
          </a:p>
        </p:txBody>
      </p:sp>
      <p:sp>
        <p:nvSpPr>
          <p:cNvPr id="5" name="dec_bg0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_k0"/>
          <p:cNvSpPr txBox="1"/>
          <p:nvPr/>
        </p:nvSpPr>
        <p:spPr>
          <a:xfrm>
            <a:off x="6629400" y="11887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USE</a:t>
            </a:r>
          </a:p>
        </p:txBody>
      </p:sp>
      <p:sp>
        <p:nvSpPr>
          <p:cNvPr id="7" name="dec_t0"/>
          <p:cNvSpPr txBox="1"/>
          <p:nvPr/>
        </p:nvSpPr>
        <p:spPr>
          <a:xfrm>
            <a:off x="7772400" y="11887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Our parts classification is the product language in my distributor sales reviews and in the price revisions.</a:t>
            </a:r>
          </a:p>
        </p:txBody>
      </p:sp>
      <p:sp>
        <p:nvSpPr>
          <p:cNvPr id="8" name="dec_bg1"/>
          <p:cNvSpPr/>
          <p:nvPr/>
        </p:nvSpPr>
        <p:spPr>
          <a:xfrm>
            <a:off x="6400800" y="25603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_k1"/>
          <p:cNvSpPr txBox="1"/>
          <p:nvPr/>
        </p:nvSpPr>
        <p:spPr>
          <a:xfrm>
            <a:off x="6629400" y="25603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KEEP</a:t>
            </a:r>
          </a:p>
        </p:txBody>
      </p:sp>
      <p:sp>
        <p:nvSpPr>
          <p:cNvPr id="10" name="dec_t1"/>
          <p:cNvSpPr txBox="1"/>
          <p:nvPr/>
        </p:nvSpPr>
        <p:spPr>
          <a:xfrm>
            <a:off x="7772400" y="25603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Vehicle Parts Sales maintains it through approved, dated releases (these figures use the release of 7 October 2026). Japan's code stays on every part.</a:t>
            </a:r>
          </a:p>
        </p:txBody>
      </p:sp>
      <p:sp>
        <p:nvSpPr>
          <p:cNvPr id="11" name="dec_bg2"/>
          <p:cNvSpPr/>
          <p:nvPr/>
        </p:nvSpPr>
        <p:spPr>
          <a:xfrm>
            <a:off x="6400800" y="39319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_k2"/>
          <p:cNvSpPr txBox="1"/>
          <p:nvPr/>
        </p:nvSpPr>
        <p:spPr>
          <a:xfrm>
            <a:off x="6629400" y="39319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CHECK</a:t>
            </a:r>
          </a:p>
        </p:txBody>
      </p:sp>
      <p:sp>
        <p:nvSpPr>
          <p:cNvPr id="13" name="dec_t2"/>
          <p:cNvSpPr txBox="1"/>
          <p:nvPr/>
        </p:nvSpPr>
        <p:spPr>
          <a:xfrm>
            <a:off x="7772400" y="39319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I take the two Nordic findings into the next distributor reviews and report what comes back.</a:t>
            </a:r>
          </a:p>
        </p:txBody>
      </p:sp>
      <p:sp>
        <p:nvSpPr>
          <p:cNvPr id="14" name="end_tag"/>
          <p:cNvSpPr txBox="1"/>
          <p:nvPr/>
        </p:nvSpPr>
        <p:spPr>
          <a:xfrm>
            <a:off x="411480" y="4892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One parts classification for sales analysis and price revisions. For information; no decision is requested.</a:t>
            </a:r>
          </a:p>
        </p:txBody>
      </p:sp>
      <p:pic>
        <p:nvPicPr>
          <p:cNvPr id="15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  <p:sp>
        <p:nvSpPr>
          <p:cNvPr id="16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classification</dc:title>
  <dc:subject/>
  <dc:creator>ISZE Vehicle Parts Sales</dc:creator>
  <cp:keywords/>
  <dc:description/>
  <cp:lastModifiedBy>ISZE Vehicle Parts Sales</cp:lastModifiedBy>
  <cp:revision>1</cp:revision>
  <dcterms:created xsi:type="dcterms:W3CDTF">2026-10-11T21:00:00Z</dcterms:created>
  <dcterms:modified xsi:type="dcterms:W3CDTF">2026-10-11T21:00:00Z</dcterms:modified>
  <cp:category/>
</cp:coreProperties>
</file>