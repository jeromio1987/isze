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invertIfNegative val="0"/>
          <c:dPt>
            <c:idx val="0"/>
            <c:invertIfNegative val="0"/>
            <c:spPr>
              <a:solidFill>
                <a:srgbClr val="B8B8B8"/>
              </a:solidFill>
              <a:ln>
                <a:noFill/>
              </a:ln>
            </c:spPr>
          </c:dPt>
          <c:dPt>
            <c:idx val="1"/>
            <c:invertIfNegative val="0"/>
            <c:spPr>
              <a:solidFill>
                <a:srgbClr val="B8B8B8"/>
              </a:solidFill>
              <a:ln>
                <a:noFill/>
              </a:ln>
            </c:spPr>
          </c:dPt>
          <c:dPt>
            <c:idx val="2"/>
            <c:invertIfNegative val="0"/>
            <c:spPr>
              <a:solidFill>
                <a:srgbClr val="B8B8B8"/>
              </a:solidFill>
              <a:ln>
                <a:noFill/>
              </a:ln>
            </c:spPr>
          </c:dPt>
          <c:dPt>
            <c:idx val="3"/>
            <c:invertIfNegative val="0"/>
            <c:spPr>
              <a:solidFill>
                <a:srgbClr val="B8B8B8"/>
              </a:solidFill>
              <a:ln>
                <a:noFill/>
              </a:ln>
            </c:spPr>
          </c:dPt>
          <c:dPt>
            <c:idx val="4"/>
            <c:invertIfNegative val="0"/>
            <c:spPr>
              <a:solidFill>
                <a:srgbClr val="B8B8B8"/>
              </a:solidFill>
              <a:ln>
                <a:noFill/>
              </a:ln>
            </c:spPr>
          </c:dPt>
          <c:dPt>
            <c:idx val="5"/>
            <c:invertIfNegative val="0"/>
            <c:spPr>
              <a:solidFill>
                <a:srgbClr val="B8B8B8"/>
              </a:solidFill>
              <a:ln>
                <a:noFill/>
              </a:ln>
            </c:spPr>
          </c:dPt>
          <c:dPt>
            <c:idx val="6"/>
            <c:invertIfNegative val="0"/>
            <c:spPr>
              <a:solidFill>
                <a:srgbClr val="E30613"/>
              </a:solidFill>
              <a:ln>
                <a:noFill/>
              </a:ln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050" b="1">
                        <a:solidFill>
                          <a:srgbClr val="F2F2F2"/>
                        </a:solidFill>
                        <a:latin typeface="Aptos"/>
                      </a:rPr>
                      <a:t>1.5%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050" b="1">
                        <a:solidFill>
                          <a:srgbClr val="F2F2F2"/>
                        </a:solidFill>
                        <a:latin typeface="Aptos"/>
                      </a:rPr>
                      <a:t>2.3%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050" b="1">
                        <a:solidFill>
                          <a:srgbClr val="F2F2F2"/>
                        </a:solidFill>
                        <a:latin typeface="Aptos"/>
                      </a:rPr>
                      <a:t>5.1%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050" b="1">
                        <a:solidFill>
                          <a:srgbClr val="F2F2F2"/>
                        </a:solidFill>
                        <a:latin typeface="Aptos"/>
                      </a:rPr>
                      <a:t>9.6%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050" b="1">
                        <a:solidFill>
                          <a:srgbClr val="F2F2F2"/>
                        </a:solidFill>
                        <a:latin typeface="Aptos"/>
                      </a:rPr>
                      <a:t>19.6%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1050" b="1">
                        <a:solidFill>
                          <a:srgbClr val="F2F2F2"/>
                        </a:solidFill>
                        <a:latin typeface="Aptos"/>
                      </a:rPr>
                      <a:t>20.2%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sz="1050" b="1">
                        <a:solidFill>
                          <a:srgbClr val="F2F2F2"/>
                        </a:solidFill>
                        <a:latin typeface="Aptos"/>
                      </a:rPr>
                      <a:t>41.6%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Hardware &amp; consumables</c:v>
                </c:pt>
                <c:pt idx="1">
                  <c:v>Comfort parts</c:v>
                </c:pt>
                <c:pt idx="2">
                  <c:v>Other / review</c:v>
                </c:pt>
                <c:pt idx="3">
                  <c:v>High value repair</c:v>
                </c:pt>
                <c:pt idx="4">
                  <c:v>Accident parts</c:v>
                </c:pt>
                <c:pt idx="5">
                  <c:v>Repair parts</c:v>
                </c:pt>
                <c:pt idx="6">
                  <c:v>Competitive parts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1.47</c:v>
                </c:pt>
                <c:pt idx="1">
                  <c:v>2.34</c:v>
                </c:pt>
                <c:pt idx="2">
                  <c:v>5.06</c:v>
                </c:pt>
                <c:pt idx="3">
                  <c:v>9.62</c:v>
                </c:pt>
                <c:pt idx="4">
                  <c:v>19.65</c:v>
                </c:pt>
                <c:pt idx="5">
                  <c:v>20.22</c:v>
                </c:pt>
                <c:pt idx="6">
                  <c:v>41.65</c:v>
                </c:pt>
              </c:numCache>
            </c:numRef>
          </c:val>
        </c:ser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4A4A4A"/>
            </a:solidFill>
          </a:ln>
        </c:spPr>
        <c:txPr>
          <a:bodyPr/>
          <a:lstStyle/>
          <a:p>
            <a:pPr>
              <a:defRPr sz="1050">
                <a:solidFill>
                  <a:srgbClr val="F2F2F2"/>
                </a:solidFill>
                <a:latin typeface="Apto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6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050">
          <a:solidFill>
            <a:srgbClr val="F2F2F2"/>
          </a:solidFill>
          <a:latin typeface="Aptos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invertIfNegative val="0"/>
          <c:dPt>
            <c:idx val="0"/>
            <c:invertIfNegative val="0"/>
            <c:spPr>
              <a:solidFill>
                <a:srgbClr val="DADADA"/>
              </a:solidFill>
              <a:ln>
                <a:noFill/>
              </a:ln>
            </c:spPr>
          </c:dPt>
          <c:dPt>
            <c:idx val="1"/>
            <c:invertIfNegative val="0"/>
            <c:spPr>
              <a:solidFill>
                <a:srgbClr val="DADADA"/>
              </a:solidFill>
              <a:ln>
                <a:noFill/>
              </a:ln>
            </c:spPr>
          </c:dPt>
          <c:dPt>
            <c:idx val="2"/>
            <c:invertIfNegative val="0"/>
            <c:spPr>
              <a:solidFill>
                <a:srgbClr val="DADADA"/>
              </a:solidFill>
              <a:ln>
                <a:noFill/>
              </a:ln>
            </c:spPr>
          </c:dPt>
          <c:dPt>
            <c:idx val="3"/>
            <c:invertIfNegative val="0"/>
            <c:spPr>
              <a:solidFill>
                <a:srgbClr val="DADADA"/>
              </a:solidFill>
              <a:ln>
                <a:noFill/>
              </a:ln>
            </c:spPr>
          </c:dPt>
          <c:dPt>
            <c:idx val="4"/>
            <c:invertIfNegative val="0"/>
            <c:spPr>
              <a:solidFill>
                <a:srgbClr val="DADADA"/>
              </a:solidFill>
              <a:ln>
                <a:noFill/>
              </a:ln>
            </c:spPr>
          </c:dPt>
          <c:dPt>
            <c:idx val="5"/>
            <c:invertIfNegative val="0"/>
            <c:spPr>
              <a:solidFill>
                <a:srgbClr val="DADADA"/>
              </a:solidFill>
              <a:ln>
                <a:noFill/>
              </a:ln>
            </c:spPr>
          </c:dPt>
          <c:dPt>
            <c:idx val="6"/>
            <c:invertIfNegative val="0"/>
            <c:spPr>
              <a:solidFill>
                <a:srgbClr val="DADADA"/>
              </a:solidFill>
              <a:ln>
                <a:noFill/>
              </a:ln>
            </c:spPr>
          </c:dPt>
          <c:dPt>
            <c:idx val="7"/>
            <c:invertIfNegative val="0"/>
            <c:spPr>
              <a:solidFill>
                <a:srgbClr val="DADADA"/>
              </a:solidFill>
              <a:ln>
                <a:noFill/>
              </a:ln>
            </c:spPr>
          </c:dPt>
          <c:dPt>
            <c:idx val="8"/>
            <c:invertIfNegative val="0"/>
            <c:spPr>
              <a:solidFill>
                <a:srgbClr val="DADADA"/>
              </a:solidFill>
              <a:ln>
                <a:noFill/>
              </a:ln>
            </c:spPr>
          </c:dPt>
          <c:dPt>
            <c:idx val="9"/>
            <c:invertIfNegative val="0"/>
            <c:spPr>
              <a:solidFill>
                <a:srgbClr val="DADADA"/>
              </a:solidFill>
              <a:ln>
                <a:noFill/>
              </a:ln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F2F2F2"/>
                        </a:solidFill>
                        <a:latin typeface="Aptos"/>
                      </a:rPr>
                      <a:t>3.2%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F2F2F2"/>
                        </a:solidFill>
                        <a:latin typeface="Aptos"/>
                      </a:rPr>
                      <a:t>3.4%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F2F2F2"/>
                        </a:solidFill>
                        <a:latin typeface="Aptos"/>
                      </a:rPr>
                      <a:t>4.8%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F2F2F2"/>
                        </a:solidFill>
                        <a:latin typeface="Aptos"/>
                      </a:rPr>
                      <a:t>5.3%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F2F2F2"/>
                        </a:solidFill>
                        <a:latin typeface="Aptos"/>
                      </a:rPr>
                      <a:t>5.5%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F2F2F2"/>
                        </a:solidFill>
                        <a:latin typeface="Aptos"/>
                      </a:rPr>
                      <a:t>7.7%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F2F2F2"/>
                        </a:solidFill>
                        <a:latin typeface="Aptos"/>
                      </a:rPr>
                      <a:t>9.6%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F2F2F2"/>
                        </a:solidFill>
                        <a:latin typeface="Aptos"/>
                      </a:rPr>
                      <a:t>9.7%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F2F2F2"/>
                        </a:solidFill>
                        <a:latin typeface="Aptos"/>
                      </a:rPr>
                      <a:t>13.3%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F2F2F2"/>
                        </a:solidFill>
                        <a:latin typeface="Aptos"/>
                      </a:rPr>
                      <a:t>16.5%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Engine</c:v>
                </c:pt>
                <c:pt idx="1">
                  <c:v>Wheels &amp; hubs</c:v>
                </c:pt>
                <c:pt idx="2">
                  <c:v>Lighting</c:v>
                </c:pt>
                <c:pt idx="3">
                  <c:v>Fuel system</c:v>
                </c:pt>
                <c:pt idx="4">
                  <c:v>Steering</c:v>
                </c:pt>
                <c:pt idx="5">
                  <c:v>Electrical</c:v>
                </c:pt>
                <c:pt idx="6">
                  <c:v>Maintenance service</c:v>
                </c:pt>
                <c:pt idx="7">
                  <c:v>Brakes</c:v>
                </c:pt>
                <c:pt idx="8">
                  <c:v>Accident &amp; body</c:v>
                </c:pt>
                <c:pt idx="9">
                  <c:v>Intake, exhaust &amp; emission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3.22</c:v>
                </c:pt>
                <c:pt idx="1">
                  <c:v>3.43</c:v>
                </c:pt>
                <c:pt idx="2">
                  <c:v>4.84</c:v>
                </c:pt>
                <c:pt idx="3">
                  <c:v>5.33</c:v>
                </c:pt>
                <c:pt idx="4">
                  <c:v>5.53</c:v>
                </c:pt>
                <c:pt idx="5">
                  <c:v>7.65</c:v>
                </c:pt>
                <c:pt idx="6">
                  <c:v>9.55</c:v>
                </c:pt>
                <c:pt idx="7">
                  <c:v>9.68</c:v>
                </c:pt>
                <c:pt idx="8">
                  <c:v>13.33</c:v>
                </c:pt>
                <c:pt idx="9">
                  <c:v>16.49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4A4A4A"/>
            </a:solidFill>
          </a:ln>
        </c:spPr>
        <c:txPr>
          <a:bodyPr/>
          <a:lstStyle/>
          <a:p>
            <a:pPr>
              <a:defRPr sz="1000">
                <a:solidFill>
                  <a:srgbClr val="F2F2F2"/>
                </a:solidFill>
                <a:latin typeface="Apto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3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000">
          <a:solidFill>
            <a:srgbClr val="F2F2F2"/>
          </a:solidFill>
          <a:latin typeface="Aptos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invertIfNegative val="0"/>
          <c:dPt>
            <c:idx val="0"/>
            <c:invertIfNegative val="0"/>
            <c:spPr>
              <a:solidFill>
                <a:srgbClr val="B8B8B8"/>
              </a:solidFill>
              <a:ln>
                <a:noFill/>
              </a:ln>
            </c:spPr>
          </c:dPt>
          <c:dPt>
            <c:idx val="1"/>
            <c:invertIfNegative val="0"/>
            <c:spPr>
              <a:solidFill>
                <a:srgbClr val="E30613"/>
              </a:solidFill>
              <a:ln>
                <a:noFill/>
              </a:ln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050" b="1">
                        <a:solidFill>
                          <a:srgbClr val="F2F2F2"/>
                        </a:solidFill>
                        <a:latin typeface="Aptos"/>
                      </a:rPr>
                      <a:t>38.8%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050" b="1">
                        <a:solidFill>
                          <a:srgbClr val="F2F2F2"/>
                        </a:solidFill>
                        <a:latin typeface="Aptos"/>
                      </a:rPr>
                      <a:t>55.5%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Labelled anything else (71 of 183)</c:v>
                </c:pt>
                <c:pt idx="1">
                  <c:v>Labelled “Competitive” (66 of 119)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38.8</c:v>
                </c:pt>
                <c:pt idx="1">
                  <c:v>55.5</c:v>
                </c:pt>
              </c:numCache>
            </c:numRef>
          </c:val>
        </c:ser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4A4A4A"/>
            </a:solidFill>
          </a:ln>
        </c:spPr>
        <c:txPr>
          <a:bodyPr/>
          <a:lstStyle/>
          <a:p>
            <a:pPr>
              <a:defRPr sz="1050">
                <a:solidFill>
                  <a:srgbClr val="F2F2F2"/>
                </a:solidFill>
                <a:latin typeface="Apto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2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050">
          <a:solidFill>
            <a:srgbClr val="F2F2F2"/>
          </a:solidFill>
          <a:latin typeface="Aptos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invertIfNegative val="0"/>
          <c:dPt>
            <c:idx val="0"/>
            <c:invertIfNegative val="0"/>
            <c:spPr>
              <a:solidFill>
                <a:srgbClr val="DADADA"/>
              </a:solidFill>
              <a:ln>
                <a:noFill/>
              </a:ln>
            </c:spPr>
          </c:dPt>
          <c:dPt>
            <c:idx val="1"/>
            <c:invertIfNegative val="0"/>
            <c:spPr>
              <a:solidFill>
                <a:srgbClr val="DADADA"/>
              </a:solidFill>
              <a:ln>
                <a:noFill/>
              </a:ln>
            </c:spPr>
          </c:dPt>
          <c:dPt>
            <c:idx val="2"/>
            <c:invertIfNegative val="0"/>
            <c:spPr>
              <a:solidFill>
                <a:srgbClr val="DADADA"/>
              </a:solidFill>
              <a:ln>
                <a:noFill/>
              </a:ln>
            </c:spPr>
          </c:dPt>
          <c:dPt>
            <c:idx val="3"/>
            <c:invertIfNegative val="0"/>
            <c:spPr>
              <a:solidFill>
                <a:srgbClr val="DADADA"/>
              </a:solidFill>
              <a:ln>
                <a:noFill/>
              </a:ln>
            </c:spPr>
          </c:dPt>
          <c:dPt>
            <c:idx val="4"/>
            <c:invertIfNegative val="0"/>
            <c:spPr>
              <a:solidFill>
                <a:srgbClr val="DADADA"/>
              </a:solidFill>
              <a:ln>
                <a:noFill/>
              </a:ln>
            </c:spPr>
          </c:dPt>
          <c:dPt>
            <c:idx val="5"/>
            <c:invertIfNegative val="0"/>
            <c:spPr>
              <a:solidFill>
                <a:srgbClr val="DADADA"/>
              </a:solidFill>
              <a:ln>
                <a:noFill/>
              </a:ln>
            </c:spPr>
          </c:dPt>
          <c:dPt>
            <c:idx val="6"/>
            <c:invertIfNegative val="0"/>
            <c:spPr>
              <a:solidFill>
                <a:srgbClr val="DADADA"/>
              </a:solidFill>
              <a:ln>
                <a:noFill/>
              </a:ln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F2F2F2"/>
                        </a:solidFill>
                        <a:latin typeface="Aptos"/>
                      </a:rPr>
                      <a:t>€0.8M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F2F2F2"/>
                        </a:solidFill>
                        <a:latin typeface="Aptos"/>
                      </a:rPr>
                      <a:t>€0.9M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F2F2F2"/>
                        </a:solidFill>
                        <a:latin typeface="Aptos"/>
                      </a:rPr>
                      <a:t>€1.1M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F2F2F2"/>
                        </a:solidFill>
                        <a:latin typeface="Aptos"/>
                      </a:rPr>
                      <a:t>€1.2M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F2F2F2"/>
                        </a:solidFill>
                        <a:latin typeface="Aptos"/>
                      </a:rPr>
                      <a:t>€1.4M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F2F2F2"/>
                        </a:solidFill>
                        <a:latin typeface="Aptos"/>
                      </a:rPr>
                      <a:t>€2.7M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F2F2F2"/>
                        </a:solidFill>
                        <a:latin typeface="Aptos"/>
                      </a:rPr>
                      <a:t>€3.2M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Maintenance service</c:v>
                </c:pt>
                <c:pt idx="1">
                  <c:v>Fuel system</c:v>
                </c:pt>
                <c:pt idx="2">
                  <c:v>Lighting</c:v>
                </c:pt>
                <c:pt idx="3">
                  <c:v>Electrical</c:v>
                </c:pt>
                <c:pt idx="4">
                  <c:v>Brakes</c:v>
                </c:pt>
                <c:pt idx="5">
                  <c:v>Intake, exhaust &amp; emission</c:v>
                </c:pt>
                <c:pt idx="6">
                  <c:v>Accident &amp; body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0.83402268</c:v>
                </c:pt>
                <c:pt idx="1">
                  <c:v>0.91805562</c:v>
                </c:pt>
                <c:pt idx="2">
                  <c:v>1.14158621</c:v>
                </c:pt>
                <c:pt idx="3">
                  <c:v>1.1635215</c:v>
                </c:pt>
                <c:pt idx="4">
                  <c:v>1.3541711200000002</c:v>
                </c:pt>
                <c:pt idx="5">
                  <c:v>2.6919545</c:v>
                </c:pt>
                <c:pt idx="6">
                  <c:v>3.2261352000000003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4A4A4A"/>
            </a:solidFill>
          </a:ln>
        </c:spPr>
        <c:txPr>
          <a:bodyPr/>
          <a:lstStyle/>
          <a:p>
            <a:pPr>
              <a:defRPr sz="1000">
                <a:solidFill>
                  <a:srgbClr val="F2F2F2"/>
                </a:solidFill>
                <a:latin typeface="Apto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.2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000">
          <a:solidFill>
            <a:srgbClr val="F2F2F2"/>
          </a:solidFill>
          <a:latin typeface="Aptos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invertIfNegative val="0"/>
          <c:dPt>
            <c:idx val="0"/>
            <c:invertIfNegative val="0"/>
            <c:spPr>
              <a:solidFill>
                <a:srgbClr val="B8B8B8"/>
              </a:solidFill>
              <a:ln>
                <a:noFill/>
              </a:ln>
            </c:spPr>
          </c:dPt>
          <c:dPt>
            <c:idx val="1"/>
            <c:invertIfNegative val="0"/>
            <c:spPr>
              <a:solidFill>
                <a:srgbClr val="B8B8B8"/>
              </a:solidFill>
              <a:ln>
                <a:noFill/>
              </a:ln>
            </c:spPr>
          </c:dPt>
          <c:dPt>
            <c:idx val="2"/>
            <c:invertIfNegative val="0"/>
            <c:spPr>
              <a:solidFill>
                <a:srgbClr val="B8B8B8"/>
              </a:solidFill>
              <a:ln>
                <a:noFill/>
              </a:ln>
            </c:spPr>
          </c:dPt>
          <c:dPt>
            <c:idx val="3"/>
            <c:invertIfNegative val="0"/>
            <c:spPr>
              <a:solidFill>
                <a:srgbClr val="B8B8B8"/>
              </a:solidFill>
              <a:ln>
                <a:noFill/>
              </a:ln>
            </c:spPr>
          </c:dPt>
          <c:dPt>
            <c:idx val="4"/>
            <c:invertIfNegative val="0"/>
            <c:spPr>
              <a:solidFill>
                <a:srgbClr val="B8B8B8"/>
              </a:solidFill>
              <a:ln>
                <a:noFill/>
              </a:ln>
            </c:spPr>
          </c:dPt>
          <c:dPt>
            <c:idx val="5"/>
            <c:invertIfNegative val="0"/>
            <c:spPr>
              <a:solidFill>
                <a:srgbClr val="B8B8B8"/>
              </a:solidFill>
              <a:ln>
                <a:noFill/>
              </a:ln>
            </c:spPr>
          </c:dPt>
          <c:dPt>
            <c:idx val="6"/>
            <c:invertIfNegative val="0"/>
            <c:spPr>
              <a:solidFill>
                <a:srgbClr val="B8B8B8"/>
              </a:solidFill>
              <a:ln>
                <a:noFill/>
              </a:ln>
            </c:spPr>
          </c:dPt>
          <c:dPt>
            <c:idx val="7"/>
            <c:invertIfNegative val="0"/>
            <c:spPr>
              <a:solidFill>
                <a:srgbClr val="E30613"/>
              </a:solidFill>
              <a:ln>
                <a:noFill/>
              </a:ln>
            </c:spPr>
          </c:dPt>
          <c:dPt>
            <c:idx val="8"/>
            <c:invertIfNegative val="0"/>
            <c:spPr>
              <a:solidFill>
                <a:srgbClr val="E30613"/>
              </a:solidFill>
              <a:ln>
                <a:noFill/>
              </a:ln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050" b="1">
                        <a:solidFill>
                          <a:srgbClr val="F2F2F2"/>
                        </a:solidFill>
                        <a:latin typeface="Aptos"/>
                      </a:rPr>
                      <a:t>−€7.8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050" b="1">
                        <a:solidFill>
                          <a:srgbClr val="F2F2F2"/>
                        </a:solidFill>
                        <a:latin typeface="Aptos"/>
                      </a:rPr>
                      <a:t>−€4.3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050" b="1">
                        <a:solidFill>
                          <a:srgbClr val="F2F2F2"/>
                        </a:solidFill>
                        <a:latin typeface="Aptos"/>
                      </a:rPr>
                      <a:t>−€3.1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050" b="1">
                        <a:solidFill>
                          <a:srgbClr val="F2F2F2"/>
                        </a:solidFill>
                        <a:latin typeface="Aptos"/>
                      </a:rPr>
                      <a:t>+€4.8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050" b="1">
                        <a:solidFill>
                          <a:srgbClr val="F2F2F2"/>
                        </a:solidFill>
                        <a:latin typeface="Aptos"/>
                      </a:rPr>
                      <a:t>+€1.0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1050" b="1">
                        <a:solidFill>
                          <a:srgbClr val="F2F2F2"/>
                        </a:solidFill>
                        <a:latin typeface="Aptos"/>
                      </a:rPr>
                      <a:t>+€1.1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sz="1050" b="1">
                        <a:solidFill>
                          <a:srgbClr val="F2F2F2"/>
                        </a:solidFill>
                        <a:latin typeface="Aptos"/>
                      </a:rPr>
                      <a:t>+€1.5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/>
                  <a:lstStyle/>
                  <a:p>
                    <a:r>
                      <a:rPr sz="1050" b="1">
                        <a:solidFill>
                          <a:srgbClr val="F2F2F2"/>
                        </a:solidFill>
                        <a:latin typeface="Aptos"/>
                      </a:rPr>
                      <a:t>+€11.4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/>
                  <a:lstStyle/>
                  <a:p>
                    <a:r>
                      <a:rPr sz="1050" b="1">
                        <a:solidFill>
                          <a:srgbClr val="F2F2F2"/>
                        </a:solidFill>
                        <a:latin typeface="Aptos"/>
                      </a:rPr>
                      <a:t>+€17.8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Accident &amp; body</c:v>
                </c:pt>
                <c:pt idx="1">
                  <c:v>Cabin interior</c:v>
                </c:pt>
                <c:pt idx="2">
                  <c:v>Fuel system</c:v>
                </c:pt>
                <c:pt idx="3">
                  <c:v>All other families</c:v>
                </c:pt>
                <c:pt idx="4">
                  <c:v>Wheels &amp; hubs</c:v>
                </c:pt>
                <c:pt idx="5">
                  <c:v>Suspension</c:v>
                </c:pt>
                <c:pt idx="6">
                  <c:v>Maintenance service</c:v>
                </c:pt>
                <c:pt idx="7">
                  <c:v>Brakes</c:v>
                </c:pt>
                <c:pt idx="8">
                  <c:v>Steering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-7.8</c:v>
                </c:pt>
                <c:pt idx="1">
                  <c:v>-4.29</c:v>
                </c:pt>
                <c:pt idx="2">
                  <c:v>-3.1</c:v>
                </c:pt>
                <c:pt idx="3">
                  <c:v>4.800000000000004</c:v>
                </c:pt>
                <c:pt idx="4">
                  <c:v>1.03</c:v>
                </c:pt>
                <c:pt idx="5">
                  <c:v>1.14</c:v>
                </c:pt>
                <c:pt idx="6">
                  <c:v>1.46</c:v>
                </c:pt>
                <c:pt idx="7">
                  <c:v>11.38</c:v>
                </c:pt>
                <c:pt idx="8">
                  <c:v>17.78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low"/>
        <c:spPr>
          <a:ln>
            <a:solidFill>
              <a:srgbClr val="4A4A4A"/>
            </a:solidFill>
          </a:ln>
        </c:spPr>
        <c:txPr>
          <a:bodyPr/>
          <a:lstStyle/>
          <a:p>
            <a:pPr>
              <a:defRPr sz="1050">
                <a:solidFill>
                  <a:srgbClr val="F2F2F2"/>
                </a:solidFill>
                <a:latin typeface="Apto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4.0"/>
          <c:min val="-12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050">
          <a:solidFill>
            <a:srgbClr val="F2F2F2"/>
          </a:solidFill>
          <a:latin typeface="Aptos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invertIfNegative val="0"/>
          <c:dPt>
            <c:idx val="0"/>
            <c:invertIfNegative val="0"/>
            <c:spPr>
              <a:solidFill>
                <a:srgbClr val="E30613"/>
              </a:solidFill>
              <a:ln>
                <a:noFill/>
              </a:ln>
            </c:spPr>
          </c:dPt>
          <c:dPt>
            <c:idx val="1"/>
            <c:invertIfNegative val="0"/>
            <c:spPr>
              <a:solidFill>
                <a:srgbClr val="B8B8B8"/>
              </a:solidFill>
              <a:ln>
                <a:noFill/>
              </a:ln>
            </c:spPr>
          </c:dPt>
          <c:dPt>
            <c:idx val="2"/>
            <c:invertIfNegative val="0"/>
            <c:spPr>
              <a:solidFill>
                <a:srgbClr val="B8B8B8"/>
              </a:solidFill>
              <a:ln>
                <a:noFill/>
              </a:ln>
            </c:spPr>
          </c:dPt>
          <c:dPt>
            <c:idx val="3"/>
            <c:invertIfNegative val="0"/>
            <c:spPr>
              <a:solidFill>
                <a:srgbClr val="B8B8B8"/>
              </a:solidFill>
              <a:ln>
                <a:noFill/>
              </a:ln>
            </c:spPr>
          </c:dPt>
          <c:dPt>
            <c:idx val="4"/>
            <c:invertIfNegative val="0"/>
            <c:spPr>
              <a:solidFill>
                <a:srgbClr val="B8B8B8"/>
              </a:solidFill>
              <a:ln>
                <a:noFill/>
              </a:ln>
            </c:spPr>
          </c:dPt>
          <c:dPt>
            <c:idx val="5"/>
            <c:invertIfNegative val="0"/>
            <c:spPr>
              <a:solidFill>
                <a:srgbClr val="B8B8B8"/>
              </a:solidFill>
              <a:ln>
                <a:noFill/>
              </a:ln>
            </c:spPr>
          </c:dPt>
          <c:dPt>
            <c:idx val="6"/>
            <c:invertIfNegative val="0"/>
            <c:spPr>
              <a:solidFill>
                <a:srgbClr val="FFFFFF"/>
              </a:solidFill>
              <a:ln>
                <a:noFill/>
              </a:ln>
            </c:spPr>
          </c:dPt>
          <c:dPt>
            <c:idx val="7"/>
            <c:invertIfNegative val="0"/>
            <c:spPr>
              <a:solidFill>
                <a:srgbClr val="B8B8B8"/>
              </a:solidFill>
              <a:ln>
                <a:noFill/>
              </a:ln>
            </c:spPr>
          </c:dPt>
          <c:dPt>
            <c:idx val="8"/>
            <c:invertIfNegative val="0"/>
            <c:spPr>
              <a:solidFill>
                <a:srgbClr val="B8B8B8"/>
              </a:solidFill>
              <a:ln>
                <a:noFill/>
              </a:ln>
            </c:spPr>
          </c:dPt>
          <c:dPt>
            <c:idx val="9"/>
            <c:invertIfNegative val="0"/>
            <c:spPr>
              <a:solidFill>
                <a:srgbClr val="B8B8B8"/>
              </a:solidFill>
              <a:ln>
                <a:noFill/>
              </a:ln>
            </c:spPr>
          </c:dPt>
          <c:dPt>
            <c:idx val="10"/>
            <c:invertIfNegative val="0"/>
            <c:spPr>
              <a:solidFill>
                <a:srgbClr val="B8B8B8"/>
              </a:solidFill>
              <a:ln>
                <a:noFill/>
              </a:ln>
            </c:spPr>
          </c:dPt>
          <c:dPt>
            <c:idx val="11"/>
            <c:invertIfNegative val="0"/>
            <c:spPr>
              <a:solidFill>
                <a:srgbClr val="B8B8B8"/>
              </a:solidFill>
              <a:ln>
                <a:noFill/>
              </a:ln>
            </c:spPr>
          </c:dPt>
          <c:dPt>
            <c:idx val="12"/>
            <c:invertIfNegative val="0"/>
            <c:spPr>
              <a:solidFill>
                <a:srgbClr val="B8B8B8"/>
              </a:solidFill>
              <a:ln>
                <a:noFill/>
              </a:ln>
            </c:spPr>
          </c:dPt>
          <c:dPt>
            <c:idx val="13"/>
            <c:invertIfNegative val="0"/>
            <c:spPr>
              <a:solidFill>
                <a:srgbClr val="E30613"/>
              </a:solidFill>
              <a:ln>
                <a:noFill/>
              </a:ln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2F2F2"/>
                        </a:solidFill>
                        <a:latin typeface="Aptos"/>
                      </a:rPr>
                      <a:t>+10.3%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2F2F2"/>
                        </a:solidFill>
                        <a:latin typeface="Aptos"/>
                      </a:rPr>
                      <a:t>+7.3%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2F2F2"/>
                        </a:solidFill>
                        <a:latin typeface="Aptos"/>
                      </a:rPr>
                      <a:t>+7.1%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2F2F2"/>
                        </a:solidFill>
                        <a:latin typeface="Aptos"/>
                      </a:rPr>
                      <a:t>+7.0%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2F2F2"/>
                        </a:solidFill>
                        <a:latin typeface="Aptos"/>
                      </a:rPr>
                      <a:t>+6.8%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2F2F2"/>
                        </a:solidFill>
                        <a:latin typeface="Aptos"/>
                      </a:rPr>
                      <a:t>+6.3%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2F2F2"/>
                        </a:solidFill>
                        <a:latin typeface="Aptos"/>
                      </a:rPr>
                      <a:t>+6.0%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2F2F2"/>
                        </a:solidFill>
                        <a:latin typeface="Aptos"/>
                      </a:rPr>
                      <a:t>+5.1%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2F2F2"/>
                        </a:solidFill>
                        <a:latin typeface="Aptos"/>
                      </a:rPr>
                      <a:t>+5.1%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2F2F2"/>
                        </a:solidFill>
                        <a:latin typeface="Aptos"/>
                      </a:rPr>
                      <a:t>+4.8%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2F2F2"/>
                        </a:solidFill>
                        <a:latin typeface="Aptos"/>
                      </a:rPr>
                      <a:t>+3.7%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2F2F2"/>
                        </a:solidFill>
                        <a:latin typeface="Aptos"/>
                      </a:rPr>
                      <a:t>+2.7%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2F2F2"/>
                        </a:solidFill>
                        <a:latin typeface="Aptos"/>
                      </a:rPr>
                      <a:t>+2.2%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2F2F2"/>
                        </a:solidFill>
                        <a:latin typeface="Aptos"/>
                      </a:rPr>
                      <a:t>+0.6%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Brake pads &amp; shoes</c:v>
                </c:pt>
                <c:pt idx="1">
                  <c:v>Body panels</c:v>
                </c:pt>
                <c:pt idx="2">
                  <c:v>EGR</c:v>
                </c:pt>
                <c:pt idx="3">
                  <c:v>Emission sensors</c:v>
                </c:pt>
                <c:pt idx="4">
                  <c:v>Wheel rims</c:v>
                </c:pt>
                <c:pt idx="5">
                  <c:v>Brake discs &amp; drums</c:v>
                </c:pt>
                <c:pt idx="6">
                  <c:v>All parts, average</c:v>
                </c:pt>
                <c:pt idx="7">
                  <c:v>Oil filters</c:v>
                </c:pt>
                <c:pt idx="8">
                  <c:v>Lamps</c:v>
                </c:pt>
                <c:pt idx="9">
                  <c:v>Fuel control</c:v>
                </c:pt>
                <c:pt idx="10">
                  <c:v>Injection pumps</c:v>
                </c:pt>
                <c:pt idx="11">
                  <c:v>Fuel filters</c:v>
                </c:pt>
                <c:pt idx="12">
                  <c:v>Air filters</c:v>
                </c:pt>
                <c:pt idx="13">
                  <c:v>Steering gear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10.33</c:v>
                </c:pt>
                <c:pt idx="1">
                  <c:v>7.3</c:v>
                </c:pt>
                <c:pt idx="2">
                  <c:v>7.1</c:v>
                </c:pt>
                <c:pt idx="3">
                  <c:v>7.0</c:v>
                </c:pt>
                <c:pt idx="4">
                  <c:v>6.78</c:v>
                </c:pt>
                <c:pt idx="5">
                  <c:v>6.28</c:v>
                </c:pt>
                <c:pt idx="6">
                  <c:v>5.96</c:v>
                </c:pt>
                <c:pt idx="7">
                  <c:v>5.12</c:v>
                </c:pt>
                <c:pt idx="8">
                  <c:v>5.1</c:v>
                </c:pt>
                <c:pt idx="9">
                  <c:v>4.78</c:v>
                </c:pt>
                <c:pt idx="10">
                  <c:v>3.73</c:v>
                </c:pt>
                <c:pt idx="11">
                  <c:v>2.72</c:v>
                </c:pt>
                <c:pt idx="12">
                  <c:v>2.16</c:v>
                </c:pt>
                <c:pt idx="13">
                  <c:v>0.55</c:v>
                </c:pt>
              </c:numCache>
            </c:numRef>
          </c:val>
        </c:ser>
        <c:gapWidth val="3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4A4A4A"/>
            </a:solidFill>
          </a:ln>
        </c:spPr>
        <c:txPr>
          <a:bodyPr/>
          <a:lstStyle/>
          <a:p>
            <a:pPr>
              <a:defRPr sz="1100">
                <a:solidFill>
                  <a:srgbClr val="F2F2F2"/>
                </a:solidFill>
                <a:latin typeface="Apto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2.5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solidFill>
            <a:srgbClr val="F2F2F2"/>
          </a:solidFill>
          <a:latin typeface="Aptos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money first: we bill about €35 million a year to our distributors (the price revision base, July 2025 – June 2026, 15,872 part numbers). €1.29M of that is rebate, transport and lubricants, so the parts alone are about €33.7M. The question this presentation answers: what are those parts, and what can we do once we know?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old tree had 7 top-level labels. Five describe a commercial opinion (competitive, repair, accident, high value repair, comfort), not a product. 41.6% of what we billed (€14.57M) sat in 'Competitive parts'. Inside it, by part type: Steering Unit €1.26M, Brake Rotor €1.15M, Brake Pad Kit €0.92M, Air Cleaner Filter €0.80M, EGR Component €0.67M. The new classification has 22 families, 116 product groups and 239 part types on this basis; the old tree had 7 / 27 / 171.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classes where the price-list text names the system beyond argument and the old rule still filed the part somewhere physically unrelated. Euro on this basis: Engine air cleaner elements €672k (28 part numbers); King pin kits €150k (37 part numbers); Steering drag links €125k (18 part numbers); Front and rear bumper bars €99k (20 part numbers); Suspension ball joints €86k (11 part numbers). The old placements and their check against Isuzu catalogue figures (1-30 Air Cleaner, 4-10 Front Axle) are in the classification audit of 20 September 2026. Air cleaner elements under the classification today: €0.80M, of which FILTER; ACL lines €0.67M.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Measured in the classification audit against our own independent-brand price scrapes (302 parts, not drawn at random, Competitive parts over-represented). Labelled Competitive: 66 of 119 had an independent-brand match (55.5%); labelled anything else: 71 of 183 (38.8%); lift 1.43. Turned round: of the 137 parts with a confirmed alternative, 48.2% sat in Competitive parts. Treat as direction, not measurement. Competition depends on the market, not on the part's name; the classification fixes the product and the competition check sits beside it per market. Steering units: 25 of 26 part numbers billed are under Competitive parts (€1.26M); 13 steering part numbers in the competitive price file, 0 with an independent-brand price. An independent-brand price exists for 30.7% of the euro under Competitive parts, so absence of a price is not proof of absence of competition.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parts classification gives three levels: family, product group, part type. Example path with billed euro: Brakes €3.39M &gt; Pads &amp; shoes €1.19M &gt; Brake pad kit €0.93M &gt; part 8982447940 (PAD KIT; CALIPER,DISC BRK,FRT) €0.34M. The five facts are read together; where they disagree the part goes to review instead of being guessed. Coverage on this basis: 98.15% of billed euro (99.36% of parts alone); 1,342 part numbers (€647k) still open, of which €217k is parts (the rest is the rebate line). Approved releases: 4 and 7 October 2026. A hotfix release of 11 October (119 parts, about €0.2M) is not in these figures; it does not change a headline.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Filter elements: €2.79M billed, 253,009 units, 131 part numbers, €11.01 per unit. Housings and assemblies: €0.73M, 4,727 units, 59 part numbers, €154.47 per unit, 14.0 times the element. Blended: €13.64. The element photo is an Isuzu Best Value element in its box; the housing photo is a supplier listing. Both show product form only. These are the only photos in the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ZKK is Japan's catalogue code: three characters, carried on 88.9% of billed euro (92.3% of parts alone). Code 275 alone holds €14.67M (41.9%) across 197 part types. The other way round, one part type sits under many codes: Air Cleaner Filter 11, Brake Pad Kit 8, Brake Rotor 5, Door 29. Without a Japan code: €3.88M, of which rebate, transport and lubricants €1.29M, 4 steering unit part numbers €1.16M, other parts €1.43M.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Norway €1.66M on 7,929 vehicles = €209.4; Sweden €1.58M on 8,443 = €187.0. Steering: Norway 82 steering units (€155k, 2 part numbers; 81 of them part 7552348290) against Sweden 10 (€18k, 7 of them the same part number). Brake pad kits: Norway 1138 (€85k), Sweden 492 (€39k). Both fleets are light commercial vehicles; the 2025 fleet counts are estimates. These are questions to take to the two distributors, not conclusions.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Weighted base-price increase 5.96% on the price revision basis (priced lines €32.60M), worth €1.65M on last year's quantities. By product group (groups with at least €0.5M billed): Steering Gear +0.55%; Air Filter +2.16%; Fuel Filter +2.72%; Filters (unspecified) +3.52%; Injection Pump +3.73%; Fuel Control +4.78%; Final Drive +5.00%; Lamps +5.10%; Oil Filter +5.12%; DEF System +5.96%; Turbo +6.03%; Discs &amp; Drums +6.28%; Instruments +6.47%; Radiator +6.62%; Wheel Rim +6.78%; DPF/DPD +6.89%; Sensors +7.00%; HVAC Filters +7.04%; EGR +7.10%; Bumpers +7.27%; Panels +7.30%; Pads &amp; Shoes +10.33%. This is a base-price move on billed quantities, not revenue, margin or demand response. The euro figure is the factory's yen base-price move on last year's quantities, converted to euro; the same 6.0% applied to our own list prices, weighted on what we billed, is €1.96M (pricing revision presentation). What ISZE does with it is in the pricing revision presentation: our list rises 5.0% on average, each part follows its own factory increase, and the 29 brake pad kits stay at today's price (decided, pricing policy paper of 2 October 2026).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uses, each tied to a page: 1 Norway against Sweden (page 8); 2 base-price increase by product group (page 9); 3 element against housing (page 6); 4 one structure for every market (22/116/239) and Japan's code kept on every part (pages 5 and 7). Next step: interchangeability, linking superseded part numbers to their replacements once the source file is supplied.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informs; it does not ask. I use our parts classification as the product language for my sales reviews and price revisions; Vehicle Parts Sales keeps it current through approved, dated releases; and I take the two Nordic findings from page 8 (steering units in Norway, brake pad kits in Sweden) into the next distributor reviews and report back. No catalogue-wide automatic price change is implied.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ver_bar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over_kicker"/>
          <p:cNvSpPr txBox="1"/>
          <p:nvPr/>
        </p:nvSpPr>
        <p:spPr>
          <a:xfrm>
            <a:off x="411480" y="29260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00" b="1" i="0">
                <a:solidFill>
                  <a:srgbClr val="F2F2F2"/>
                </a:solidFill>
                <a:latin typeface="Aptos"/>
              </a:rPr>
              <a:t>ISZE  ·  VEHICLE PARTS &amp; ACCESSORIES  ·  MANAGEMENT PRESENTATION</a:t>
            </a:r>
          </a:p>
        </p:txBody>
      </p:sp>
      <p:sp>
        <p:nvSpPr>
          <p:cNvPr id="4" name="cover_title"/>
          <p:cNvSpPr txBox="1"/>
          <p:nvPr/>
        </p:nvSpPr>
        <p:spPr>
          <a:xfrm>
            <a:off x="411480" y="1737360"/>
            <a:ext cx="10424160" cy="17373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95000"/>
              </a:lnSpc>
            </a:pPr>
            <a:r>
              <a:rPr sz="3600" b="1" i="0">
                <a:solidFill>
                  <a:srgbClr val="F2F2F2"/>
                </a:solidFill>
                <a:latin typeface="Aptos"/>
              </a:rPr>
              <a:t>Parts classification</a:t>
            </a:r>
          </a:p>
        </p:txBody>
      </p:sp>
      <p:sp>
        <p:nvSpPr>
          <p:cNvPr id="5" name="cover_sub"/>
          <p:cNvSpPr txBox="1"/>
          <p:nvPr/>
        </p:nvSpPr>
        <p:spPr>
          <a:xfrm>
            <a:off x="411480" y="3840480"/>
            <a:ext cx="987552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BDBDBD"/>
                </a:solidFill>
                <a:latin typeface="Aptos"/>
              </a:rPr>
              <a:t>A single product view of the parts we bill to our distributors, used for sales analysis and price revisions.</a:t>
            </a:r>
          </a:p>
        </p:txBody>
      </p:sp>
      <p:sp>
        <p:nvSpPr>
          <p:cNvPr id="6" name="cover_small"/>
          <p:cNvSpPr txBox="1"/>
          <p:nvPr/>
        </p:nvSpPr>
        <p:spPr>
          <a:xfrm>
            <a:off x="411480" y="4892040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50" b="0" i="0">
                <a:solidFill>
                  <a:srgbClr val="BDBDBD"/>
                </a:solidFill>
                <a:latin typeface="Aptos"/>
              </a:rPr>
              <a:t>October 2026  ·  For information, no decision requested</a:t>
            </a:r>
          </a:p>
        </p:txBody>
      </p:sp>
      <p:pic>
        <p:nvPicPr>
          <p:cNvPr id="7" name="isuzu_logo" descr="isu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035040"/>
            <a:ext cx="1892807" cy="32971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rand"/>
          <p:cNvSpPr txBox="1"/>
          <p:nvPr/>
        </p:nvSpPr>
        <p:spPr>
          <a:xfrm>
            <a:off x="228600" y="91440"/>
            <a:ext cx="4114800" cy="16459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700" b="1" i="0">
                <a:solidFill>
                  <a:srgbClr val="F2F2F2"/>
                </a:solidFill>
                <a:latin typeface="Aptos"/>
              </a:rPr>
              <a:t>ISZE  ·  VEHICLE PARTS &amp; ACCESSORIES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228600" y="384048"/>
            <a:ext cx="64008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900" b="1" i="0">
                <a:solidFill>
                  <a:srgbClr val="E30613"/>
                </a:solidFill>
                <a:latin typeface="Aptos"/>
              </a:rPr>
              <a:t>THE PROBLEM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228600" y="621792"/>
            <a:ext cx="8549640" cy="7498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92000"/>
              </a:lnSpc>
            </a:pPr>
            <a:r>
              <a:rPr sz="2400" b="1" i="0">
                <a:solidFill>
                  <a:srgbClr val="F2F2F2"/>
                </a:solidFill>
                <a:latin typeface="Aptos"/>
              </a:rPr>
              <a:t>The old price list filed steering units as “Competitive parts”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228600" y="1389888"/>
            <a:ext cx="854964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BDBDBD"/>
                </a:solidFill>
                <a:latin typeface="Aptos"/>
              </a:rPr>
              <a:t>Nobody else makes a steering unit. That label mixed captive parts with wear parts under one commercial opinion.</a:t>
            </a:r>
          </a:p>
        </p:txBody>
      </p:sp>
      <p:cxnSp>
        <p:nvCxnSpPr>
          <p:cNvPr id="6" name="footer_rule"/>
          <p:cNvCxnSpPr/>
          <p:nvPr/>
        </p:nvCxnSpPr>
        <p:spPr>
          <a:xfrm>
            <a:off x="228600" y="6565392"/>
            <a:ext cx="11731752" cy="0"/>
          </a:xfrm>
          <a:prstGeom prst="line">
            <a:avLst/>
          </a:prstGeom>
          <a:ln w="9525">
            <a:solidFill>
              <a:srgbClr val="6A6A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ource"/>
          <p:cNvSpPr txBox="1"/>
          <p:nvPr/>
        </p:nvSpPr>
        <p:spPr>
          <a:xfrm>
            <a:off x="228600" y="6611112"/>
            <a:ext cx="10881360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00" b="0" i="0">
                <a:solidFill>
                  <a:srgbClr val="8C8C8C"/>
                </a:solidFill>
                <a:latin typeface="Aptos"/>
              </a:rPr>
              <a:t>Base: €35.0M billed July 2025 – June 2026 (15,872 part numbers), including €1.29M rebate, transport and lubricants. Old: price-list labels. New: parts classification, release of 7 October 2026.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1475720" y="6611112"/>
            <a:ext cx="484632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800" b="0" i="0">
                <a:solidFill>
                  <a:srgbClr val="BDBDBD"/>
                </a:solidFill>
                <a:latin typeface="Aptos"/>
              </a:rPr>
              <a:t>2</a:t>
            </a:r>
          </a:p>
        </p:txBody>
      </p:sp>
      <p:sp>
        <p:nvSpPr>
          <p:cNvPr id="9" name="panel"/>
          <p:cNvSpPr/>
          <p:nvPr/>
        </p:nvSpPr>
        <p:spPr>
          <a:xfrm>
            <a:off x="9015984" y="1371600"/>
            <a:ext cx="2971800" cy="5074920"/>
          </a:xfrm>
          <a:prstGeom prst="rect">
            <a:avLst/>
          </a:prstGeom>
          <a:solidFill>
            <a:srgbClr val="303030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anel_label"/>
          <p:cNvSpPr txBox="1"/>
          <p:nvPr/>
        </p:nvSpPr>
        <p:spPr>
          <a:xfrm>
            <a:off x="9272015" y="1591056"/>
            <a:ext cx="25146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50" b="1" i="0">
                <a:solidFill>
                  <a:srgbClr val="E30613"/>
                </a:solidFill>
                <a:latin typeface="Aptos"/>
              </a:rPr>
              <a:t>WHAT THIS MEANS</a:t>
            </a:r>
          </a:p>
        </p:txBody>
      </p:sp>
      <p:sp>
        <p:nvSpPr>
          <p:cNvPr id="11" name="panel_dot0"/>
          <p:cNvSpPr/>
          <p:nvPr/>
        </p:nvSpPr>
        <p:spPr>
          <a:xfrm>
            <a:off x="9272015" y="2093975"/>
            <a:ext cx="91440" cy="91440"/>
          </a:xfrm>
          <a:prstGeom prst="ellipse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anel_t0"/>
          <p:cNvSpPr txBox="1"/>
          <p:nvPr/>
        </p:nvSpPr>
        <p:spPr>
          <a:xfrm>
            <a:off x="9491472" y="2029967"/>
            <a:ext cx="2258568" cy="12923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50" b="0" i="0">
                <a:solidFill>
                  <a:srgbClr val="F2F2F2"/>
                </a:solidFill>
                <a:latin typeface="Aptos"/>
              </a:rPr>
              <a:t>The old top level mixed views on competition with product names. You could not ask “how are brakes selling?” from it.</a:t>
            </a:r>
          </a:p>
        </p:txBody>
      </p:sp>
      <p:sp>
        <p:nvSpPr>
          <p:cNvPr id="13" name="panel_dot1"/>
          <p:cNvSpPr/>
          <p:nvPr/>
        </p:nvSpPr>
        <p:spPr>
          <a:xfrm>
            <a:off x="9272015" y="3496055"/>
            <a:ext cx="91440" cy="91440"/>
          </a:xfrm>
          <a:prstGeom prst="ellipse">
            <a:avLst/>
          </a:prstGeom>
          <a:solidFill>
            <a:srgbClr val="F5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anel_t1"/>
          <p:cNvSpPr txBox="1"/>
          <p:nvPr/>
        </p:nvSpPr>
        <p:spPr>
          <a:xfrm>
            <a:off x="9491472" y="3432047"/>
            <a:ext cx="2258568" cy="12923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50" b="0" i="0">
                <a:solidFill>
                  <a:srgbClr val="F2F2F2"/>
                </a:solidFill>
                <a:latin typeface="Aptos"/>
              </a:rPr>
              <a:t>The new top level names what the part is: 22 families, from brakes to lighting.</a:t>
            </a:r>
          </a:p>
        </p:txBody>
      </p:sp>
      <p:sp>
        <p:nvSpPr>
          <p:cNvPr id="15" name="panel_dot2"/>
          <p:cNvSpPr/>
          <p:nvPr/>
        </p:nvSpPr>
        <p:spPr>
          <a:xfrm>
            <a:off x="9272015" y="4898136"/>
            <a:ext cx="91440" cy="91440"/>
          </a:xfrm>
          <a:prstGeom prst="ellipse">
            <a:avLst/>
          </a:prstGeom>
          <a:solidFill>
            <a:srgbClr val="F5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panel_t2"/>
          <p:cNvSpPr txBox="1"/>
          <p:nvPr/>
        </p:nvSpPr>
        <p:spPr>
          <a:xfrm>
            <a:off x="9491472" y="4834128"/>
            <a:ext cx="2258568" cy="12923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50" b="0" i="0">
                <a:solidFill>
                  <a:srgbClr val="F2F2F2"/>
                </a:solidFill>
                <a:latin typeface="Aptos"/>
              </a:rPr>
              <a:t>Purpose: one product view of everything we bill, so sales and prices can be read per product.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" y="181051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1" i="0">
                <a:solidFill>
                  <a:srgbClr val="F2F2F2"/>
                </a:solidFill>
                <a:latin typeface="Aptos"/>
              </a:rPr>
              <a:t>Old top level: share of what we billed</a:t>
            </a:r>
          </a:p>
        </p:txBody>
      </p:sp>
      <p:graphicFrame>
        <p:nvGraphicFramePr>
          <p:cNvPr id="18" name="chart_old"/>
          <p:cNvGraphicFramePr>
            <a:graphicFrameLocks noGrp="1"/>
          </p:cNvGraphicFramePr>
          <p:nvPr/>
        </p:nvGraphicFramePr>
        <p:xfrm>
          <a:off x="228600" y="2103120"/>
          <a:ext cx="4114800" cy="2971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4572000" y="1810512"/>
            <a:ext cx="425196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1" i="0">
                <a:solidFill>
                  <a:srgbClr val="F2F2F2"/>
                </a:solidFill>
                <a:latin typeface="Aptos"/>
              </a:rPr>
              <a:t>New top level: the ten largest of 22 families</a:t>
            </a:r>
          </a:p>
        </p:txBody>
      </p:sp>
      <p:graphicFrame>
        <p:nvGraphicFramePr>
          <p:cNvPr id="20" name="chart_aim"/>
          <p:cNvGraphicFramePr>
            <a:graphicFrameLocks noGrp="1"/>
          </p:cNvGraphicFramePr>
          <p:nvPr/>
        </p:nvGraphicFramePr>
        <p:xfrm>
          <a:off x="4572000" y="2103120"/>
          <a:ext cx="4251960" cy="2971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1" name="band_bg"/>
          <p:cNvSpPr/>
          <p:nvPr/>
        </p:nvSpPr>
        <p:spPr>
          <a:xfrm>
            <a:off x="228600" y="5303520"/>
            <a:ext cx="8595360" cy="868680"/>
          </a:xfrm>
          <a:prstGeom prst="rect">
            <a:avLst/>
          </a:prstGeom>
          <a:solidFill>
            <a:srgbClr val="303030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band"/>
          <p:cNvSpPr txBox="1"/>
          <p:nvPr/>
        </p:nvSpPr>
        <p:spPr>
          <a:xfrm>
            <a:off x="457200" y="5303520"/>
            <a:ext cx="813816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250" b="1" i="0">
                <a:solidFill>
                  <a:srgbClr val="F2F2F2"/>
                </a:solidFill>
                <a:latin typeface="Aptos"/>
              </a:rPr>
              <a:t>€14.6M sat under one commercial label — not a measure of competition. </a:t>
            </a:r>
            <a:r>
              <a:rPr sz="1250" b="0" i="0">
                <a:solidFill>
                  <a:srgbClr val="F2F2F2"/>
                </a:solidFill>
                <a:latin typeface="Aptos"/>
              </a:rPr>
              <a:t>Steering units alone are €1.26M of that pile; they are captive, not competitive.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rand"/>
          <p:cNvSpPr txBox="1"/>
          <p:nvPr/>
        </p:nvSpPr>
        <p:spPr>
          <a:xfrm>
            <a:off x="228600" y="91440"/>
            <a:ext cx="4114800" cy="16459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700" b="1" i="0">
                <a:solidFill>
                  <a:srgbClr val="F2F2F2"/>
                </a:solidFill>
                <a:latin typeface="Aptos"/>
              </a:rPr>
              <a:t>ISZE  ·  VEHICLE PARTS &amp; ACCESSORIES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228600" y="384048"/>
            <a:ext cx="64008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900" b="1" i="0">
                <a:solidFill>
                  <a:srgbClr val="E30613"/>
                </a:solidFill>
                <a:latin typeface="Aptos"/>
              </a:rPr>
              <a:t>THE PROBLEM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228600" y="621792"/>
            <a:ext cx="8549640" cy="7498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92000"/>
              </a:lnSpc>
            </a:pPr>
            <a:r>
              <a:rPr sz="2400" b="1" i="0">
                <a:solidFill>
                  <a:srgbClr val="F2F2F2"/>
                </a:solidFill>
                <a:latin typeface="Aptos"/>
              </a:rPr>
              <a:t>€1.1M a year sat in the wrong family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228600" y="1389888"/>
            <a:ext cx="854964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BDBDBD"/>
                </a:solidFill>
                <a:latin typeface="Aptos"/>
              </a:rPr>
              <a:t>The old rule read only the price-list text. It could not know that “ACL” means air cleaner.</a:t>
            </a:r>
          </a:p>
        </p:txBody>
      </p:sp>
      <p:cxnSp>
        <p:nvCxnSpPr>
          <p:cNvPr id="6" name="footer_rule"/>
          <p:cNvCxnSpPr/>
          <p:nvPr/>
        </p:nvCxnSpPr>
        <p:spPr>
          <a:xfrm>
            <a:off x="228600" y="6565392"/>
            <a:ext cx="11731752" cy="0"/>
          </a:xfrm>
          <a:prstGeom prst="line">
            <a:avLst/>
          </a:prstGeom>
          <a:ln w="9525">
            <a:solidFill>
              <a:srgbClr val="6A6A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ource"/>
          <p:cNvSpPr txBox="1"/>
          <p:nvPr/>
        </p:nvSpPr>
        <p:spPr>
          <a:xfrm>
            <a:off x="228600" y="6611112"/>
            <a:ext cx="10881360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00" b="0" i="0">
                <a:solidFill>
                  <a:srgbClr val="8C8C8C"/>
                </a:solidFill>
                <a:latin typeface="Aptos"/>
              </a:rPr>
              <a:t>Old placements: classification audit of 20 September 2026, each confirmed against Isuzu's parts catalogue figures. Euro: price revision base, July 2025 – June 2026.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1475720" y="6611112"/>
            <a:ext cx="484632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800" b="0" i="0">
                <a:solidFill>
                  <a:srgbClr val="BDBDBD"/>
                </a:solidFill>
                <a:latin typeface="Aptos"/>
              </a:rPr>
              <a:t>3</a:t>
            </a:r>
          </a:p>
        </p:txBody>
      </p:sp>
      <p:sp>
        <p:nvSpPr>
          <p:cNvPr id="9" name="panel"/>
          <p:cNvSpPr/>
          <p:nvPr/>
        </p:nvSpPr>
        <p:spPr>
          <a:xfrm>
            <a:off x="9015984" y="1371600"/>
            <a:ext cx="2971800" cy="5074920"/>
          </a:xfrm>
          <a:prstGeom prst="rect">
            <a:avLst/>
          </a:prstGeom>
          <a:solidFill>
            <a:srgbClr val="303030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anel_label"/>
          <p:cNvSpPr txBox="1"/>
          <p:nvPr/>
        </p:nvSpPr>
        <p:spPr>
          <a:xfrm>
            <a:off x="9272015" y="1591056"/>
            <a:ext cx="25146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50" b="1" i="0">
                <a:solidFill>
                  <a:srgbClr val="E30613"/>
                </a:solidFill>
                <a:latin typeface="Aptos"/>
              </a:rPr>
              <a:t>WHAT THIS MEANS</a:t>
            </a:r>
          </a:p>
        </p:txBody>
      </p:sp>
      <p:sp>
        <p:nvSpPr>
          <p:cNvPr id="11" name="panel_dot0"/>
          <p:cNvSpPr/>
          <p:nvPr/>
        </p:nvSpPr>
        <p:spPr>
          <a:xfrm>
            <a:off x="9272015" y="2093975"/>
            <a:ext cx="91440" cy="91440"/>
          </a:xfrm>
          <a:prstGeom prst="ellipse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anel_t0"/>
          <p:cNvSpPr txBox="1"/>
          <p:nvPr/>
        </p:nvSpPr>
        <p:spPr>
          <a:xfrm>
            <a:off x="9491472" y="2029967"/>
            <a:ext cx="2258568" cy="12923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50" b="0" i="0">
                <a:solidFill>
                  <a:srgbClr val="F2F2F2"/>
                </a:solidFill>
                <a:latin typeface="Aptos"/>
              </a:rPr>
              <a:t>A report on air filters, steering or bumpers was wrong by the amounts in this table before anyone looked at a price.</a:t>
            </a:r>
          </a:p>
        </p:txBody>
      </p:sp>
      <p:sp>
        <p:nvSpPr>
          <p:cNvPr id="13" name="panel_dot1"/>
          <p:cNvSpPr/>
          <p:nvPr/>
        </p:nvSpPr>
        <p:spPr>
          <a:xfrm>
            <a:off x="9272015" y="3496055"/>
            <a:ext cx="91440" cy="91440"/>
          </a:xfrm>
          <a:prstGeom prst="ellipse">
            <a:avLst/>
          </a:prstGeom>
          <a:solidFill>
            <a:srgbClr val="F5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anel_t1"/>
          <p:cNvSpPr txBox="1"/>
          <p:nvPr/>
        </p:nvSpPr>
        <p:spPr>
          <a:xfrm>
            <a:off x="9491472" y="3432047"/>
            <a:ext cx="2258568" cy="12923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50" b="0" i="0">
                <a:solidFill>
                  <a:srgbClr val="F2F2F2"/>
                </a:solidFill>
                <a:latin typeface="Aptos"/>
              </a:rPr>
              <a:t>The classification reads five facts per part (page 5), so “FILTER; ACL” is an air cleaner element, not air conditioning.</a:t>
            </a:r>
          </a:p>
        </p:txBody>
      </p:sp>
      <p:sp>
        <p:nvSpPr>
          <p:cNvPr id="15" name="panel_dot2"/>
          <p:cNvSpPr/>
          <p:nvPr/>
        </p:nvSpPr>
        <p:spPr>
          <a:xfrm>
            <a:off x="9272015" y="4898136"/>
            <a:ext cx="91440" cy="91440"/>
          </a:xfrm>
          <a:prstGeom prst="ellipse">
            <a:avLst/>
          </a:prstGeom>
          <a:solidFill>
            <a:srgbClr val="F5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panel_t2"/>
          <p:cNvSpPr txBox="1"/>
          <p:nvPr/>
        </p:nvSpPr>
        <p:spPr>
          <a:xfrm>
            <a:off x="9491472" y="4834128"/>
            <a:ext cx="2258568" cy="12923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50" b="0" i="0">
                <a:solidFill>
                  <a:srgbClr val="F2F2F2"/>
                </a:solidFill>
                <a:latin typeface="Aptos"/>
              </a:rPr>
              <a:t>Purpose: get the family right first. Sales analysis and pricing follow from it.</a:t>
            </a:r>
          </a:p>
        </p:txBody>
      </p:sp>
      <p:sp>
        <p:nvSpPr>
          <p:cNvPr id="17" name="th_PART"/>
          <p:cNvSpPr txBox="1"/>
          <p:nvPr/>
        </p:nvSpPr>
        <p:spPr>
          <a:xfrm>
            <a:off x="411480" y="1828800"/>
            <a:ext cx="19659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50" b="1" i="0">
                <a:solidFill>
                  <a:srgbClr val="BDBDBD"/>
                </a:solidFill>
                <a:latin typeface="Aptos"/>
              </a:rPr>
              <a:t>PART</a:t>
            </a:r>
          </a:p>
        </p:txBody>
      </p:sp>
      <p:sp>
        <p:nvSpPr>
          <p:cNvPr id="18" name="th_WHAT W"/>
          <p:cNvSpPr txBox="1"/>
          <p:nvPr/>
        </p:nvSpPr>
        <p:spPr>
          <a:xfrm>
            <a:off x="2468880" y="1828800"/>
            <a:ext cx="17373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50" b="1" i="0">
                <a:solidFill>
                  <a:srgbClr val="BDBDBD"/>
                </a:solidFill>
                <a:latin typeface="Aptos"/>
              </a:rPr>
              <a:t>WHAT WE BILLED</a:t>
            </a:r>
          </a:p>
        </p:txBody>
      </p:sp>
      <p:sp>
        <p:nvSpPr>
          <p:cNvPr id="19" name="th_OLD RU"/>
          <p:cNvSpPr txBox="1"/>
          <p:nvPr/>
        </p:nvSpPr>
        <p:spPr>
          <a:xfrm>
            <a:off x="4343400" y="1828800"/>
            <a:ext cx="214884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50" b="1" i="0">
                <a:solidFill>
                  <a:srgbClr val="BDBDBD"/>
                </a:solidFill>
                <a:latin typeface="Aptos"/>
              </a:rPr>
              <a:t>OLD RULE FILED IT AS</a:t>
            </a:r>
          </a:p>
        </p:txBody>
      </p:sp>
      <p:sp>
        <p:nvSpPr>
          <p:cNvPr id="20" name="th_NEW PL"/>
          <p:cNvSpPr txBox="1"/>
          <p:nvPr/>
        </p:nvSpPr>
        <p:spPr>
          <a:xfrm>
            <a:off x="6583680" y="1828800"/>
            <a:ext cx="2194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50" b="1" i="0">
                <a:solidFill>
                  <a:srgbClr val="BDBDBD"/>
                </a:solidFill>
                <a:latin typeface="Aptos"/>
              </a:rPr>
              <a:t>NEW PLACES IT</a:t>
            </a:r>
          </a:p>
        </p:txBody>
      </p:sp>
      <p:sp>
        <p:nvSpPr>
          <p:cNvPr id="21" name="row_bg0"/>
          <p:cNvSpPr/>
          <p:nvPr/>
        </p:nvSpPr>
        <p:spPr>
          <a:xfrm>
            <a:off x="228600" y="2103120"/>
            <a:ext cx="8595360" cy="566928"/>
          </a:xfrm>
          <a:prstGeom prst="rect">
            <a:avLst/>
          </a:prstGeom>
          <a:solidFill>
            <a:srgbClr val="3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w_name0"/>
          <p:cNvSpPr txBox="1"/>
          <p:nvPr/>
        </p:nvSpPr>
        <p:spPr>
          <a:xfrm>
            <a:off x="411480" y="2103120"/>
            <a:ext cx="201168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200" b="1" i="0">
                <a:solidFill>
                  <a:srgbClr val="F2F2F2"/>
                </a:solidFill>
                <a:latin typeface="Aptos"/>
              </a:rPr>
              <a:t>Engine air cleaner elements</a:t>
            </a:r>
          </a:p>
        </p:txBody>
      </p:sp>
      <p:sp>
        <p:nvSpPr>
          <p:cNvPr id="23" name="row_bar0"/>
          <p:cNvSpPr/>
          <p:nvPr/>
        </p:nvSpPr>
        <p:spPr>
          <a:xfrm>
            <a:off x="2468880" y="2286000"/>
            <a:ext cx="1051560" cy="20116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w_eur0"/>
          <p:cNvSpPr txBox="1"/>
          <p:nvPr/>
        </p:nvSpPr>
        <p:spPr>
          <a:xfrm>
            <a:off x="3611880" y="2103120"/>
            <a:ext cx="73152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150" b="1" i="0">
                <a:solidFill>
                  <a:srgbClr val="F2F2F2"/>
                </a:solidFill>
                <a:latin typeface="Aptos"/>
              </a:rPr>
              <a:t>€672k</a:t>
            </a:r>
          </a:p>
        </p:txBody>
      </p:sp>
      <p:sp>
        <p:nvSpPr>
          <p:cNvPr id="25" name="row_old0"/>
          <p:cNvSpPr txBox="1"/>
          <p:nvPr/>
        </p:nvSpPr>
        <p:spPr>
          <a:xfrm>
            <a:off x="4343400" y="2103120"/>
            <a:ext cx="214884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050" b="0" i="0" strike="sngStrike">
                <a:solidFill>
                  <a:srgbClr val="BDBDBD"/>
                </a:solidFill>
                <a:latin typeface="Aptos"/>
              </a:rPr>
              <a:t>Air conditioning</a:t>
            </a:r>
          </a:p>
        </p:txBody>
      </p:sp>
      <p:sp>
        <p:nvSpPr>
          <p:cNvPr id="26" name="row_aim0"/>
          <p:cNvSpPr txBox="1"/>
          <p:nvPr/>
        </p:nvSpPr>
        <p:spPr>
          <a:xfrm>
            <a:off x="6583680" y="2103120"/>
            <a:ext cx="219456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050" b="1" i="0">
                <a:solidFill>
                  <a:srgbClr val="F2F2F2"/>
                </a:solidFill>
                <a:latin typeface="Aptos"/>
              </a:rPr>
              <a:t>Maintenance service › Air filter</a:t>
            </a:r>
          </a:p>
        </p:txBody>
      </p:sp>
      <p:sp>
        <p:nvSpPr>
          <p:cNvPr id="27" name="row_bg1"/>
          <p:cNvSpPr/>
          <p:nvPr/>
        </p:nvSpPr>
        <p:spPr>
          <a:xfrm>
            <a:off x="228600" y="2743200"/>
            <a:ext cx="8595360" cy="566928"/>
          </a:xfrm>
          <a:prstGeom prst="rect">
            <a:avLst/>
          </a:prstGeom>
          <a:solidFill>
            <a:srgbClr val="3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w_name1"/>
          <p:cNvSpPr txBox="1"/>
          <p:nvPr/>
        </p:nvSpPr>
        <p:spPr>
          <a:xfrm>
            <a:off x="411480" y="2743200"/>
            <a:ext cx="201168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200" b="1" i="0">
                <a:solidFill>
                  <a:srgbClr val="F2F2F2"/>
                </a:solidFill>
                <a:latin typeface="Aptos"/>
              </a:rPr>
              <a:t>King pin kits</a:t>
            </a:r>
          </a:p>
        </p:txBody>
      </p:sp>
      <p:sp>
        <p:nvSpPr>
          <p:cNvPr id="29" name="row_bar1"/>
          <p:cNvSpPr/>
          <p:nvPr/>
        </p:nvSpPr>
        <p:spPr>
          <a:xfrm>
            <a:off x="2468880" y="2926080"/>
            <a:ext cx="235333" cy="201168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w_eur1"/>
          <p:cNvSpPr txBox="1"/>
          <p:nvPr/>
        </p:nvSpPr>
        <p:spPr>
          <a:xfrm>
            <a:off x="2795653" y="2743200"/>
            <a:ext cx="73152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150" b="1" i="0">
                <a:solidFill>
                  <a:srgbClr val="F2F2F2"/>
                </a:solidFill>
                <a:latin typeface="Aptos"/>
              </a:rPr>
              <a:t>€150k</a:t>
            </a:r>
          </a:p>
        </p:txBody>
      </p:sp>
      <p:sp>
        <p:nvSpPr>
          <p:cNvPr id="31" name="row_old1"/>
          <p:cNvSpPr txBox="1"/>
          <p:nvPr/>
        </p:nvSpPr>
        <p:spPr>
          <a:xfrm>
            <a:off x="4343400" y="2743200"/>
            <a:ext cx="214884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050" b="0" i="0" strike="sngStrike">
                <a:solidFill>
                  <a:srgbClr val="BDBDBD"/>
                </a:solidFill>
                <a:latin typeface="Aptos"/>
              </a:rPr>
              <a:t>Hardware › Pin</a:t>
            </a:r>
          </a:p>
        </p:txBody>
      </p:sp>
      <p:sp>
        <p:nvSpPr>
          <p:cNvPr id="32" name="row_aim1"/>
          <p:cNvSpPr txBox="1"/>
          <p:nvPr/>
        </p:nvSpPr>
        <p:spPr>
          <a:xfrm>
            <a:off x="6583680" y="2743200"/>
            <a:ext cx="219456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050" b="1" i="0">
                <a:solidFill>
                  <a:srgbClr val="F2F2F2"/>
                </a:solidFill>
                <a:latin typeface="Aptos"/>
              </a:rPr>
              <a:t>Steering › Knuckle &amp; king pin</a:t>
            </a:r>
          </a:p>
        </p:txBody>
      </p:sp>
      <p:sp>
        <p:nvSpPr>
          <p:cNvPr id="33" name="row_bg2"/>
          <p:cNvSpPr/>
          <p:nvPr/>
        </p:nvSpPr>
        <p:spPr>
          <a:xfrm>
            <a:off x="228600" y="3383279"/>
            <a:ext cx="8595360" cy="566928"/>
          </a:xfrm>
          <a:prstGeom prst="rect">
            <a:avLst/>
          </a:prstGeom>
          <a:solidFill>
            <a:srgbClr val="3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w_name2"/>
          <p:cNvSpPr txBox="1"/>
          <p:nvPr/>
        </p:nvSpPr>
        <p:spPr>
          <a:xfrm>
            <a:off x="411480" y="3383279"/>
            <a:ext cx="201168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200" b="1" i="0">
                <a:solidFill>
                  <a:srgbClr val="F2F2F2"/>
                </a:solidFill>
                <a:latin typeface="Aptos"/>
              </a:rPr>
              <a:t>Steering drag links</a:t>
            </a:r>
          </a:p>
        </p:txBody>
      </p:sp>
      <p:sp>
        <p:nvSpPr>
          <p:cNvPr id="35" name="row_bar2"/>
          <p:cNvSpPr/>
          <p:nvPr/>
        </p:nvSpPr>
        <p:spPr>
          <a:xfrm>
            <a:off x="2468880" y="3566160"/>
            <a:ext cx="195334" cy="201168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w_eur2"/>
          <p:cNvSpPr txBox="1"/>
          <p:nvPr/>
        </p:nvSpPr>
        <p:spPr>
          <a:xfrm>
            <a:off x="2755654" y="3383279"/>
            <a:ext cx="73152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150" b="1" i="0">
                <a:solidFill>
                  <a:srgbClr val="F2F2F2"/>
                </a:solidFill>
                <a:latin typeface="Aptos"/>
              </a:rPr>
              <a:t>€125k</a:t>
            </a:r>
          </a:p>
        </p:txBody>
      </p:sp>
      <p:sp>
        <p:nvSpPr>
          <p:cNvPr id="37" name="row_old2"/>
          <p:cNvSpPr txBox="1"/>
          <p:nvPr/>
        </p:nvSpPr>
        <p:spPr>
          <a:xfrm>
            <a:off x="4343400" y="3383279"/>
            <a:ext cx="214884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050" b="0" i="0" strike="sngStrike">
                <a:solidFill>
                  <a:srgbClr val="BDBDBD"/>
                </a:solidFill>
                <a:latin typeface="Aptos"/>
              </a:rPr>
              <a:t>Linkage (hydraulic / mechanical)</a:t>
            </a:r>
          </a:p>
        </p:txBody>
      </p:sp>
      <p:sp>
        <p:nvSpPr>
          <p:cNvPr id="38" name="row_aim2"/>
          <p:cNvSpPr txBox="1"/>
          <p:nvPr/>
        </p:nvSpPr>
        <p:spPr>
          <a:xfrm>
            <a:off x="6583680" y="3383279"/>
            <a:ext cx="219456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050" b="1" i="0">
                <a:solidFill>
                  <a:srgbClr val="F2F2F2"/>
                </a:solidFill>
                <a:latin typeface="Aptos"/>
              </a:rPr>
              <a:t>Steering › Linkage</a:t>
            </a:r>
          </a:p>
        </p:txBody>
      </p:sp>
      <p:sp>
        <p:nvSpPr>
          <p:cNvPr id="39" name="row_bg3"/>
          <p:cNvSpPr/>
          <p:nvPr/>
        </p:nvSpPr>
        <p:spPr>
          <a:xfrm>
            <a:off x="228600" y="4023359"/>
            <a:ext cx="8595360" cy="566928"/>
          </a:xfrm>
          <a:prstGeom prst="rect">
            <a:avLst/>
          </a:prstGeom>
          <a:solidFill>
            <a:srgbClr val="3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w_name3"/>
          <p:cNvSpPr txBox="1"/>
          <p:nvPr/>
        </p:nvSpPr>
        <p:spPr>
          <a:xfrm>
            <a:off x="411480" y="4023359"/>
            <a:ext cx="201168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200" b="1" i="0">
                <a:solidFill>
                  <a:srgbClr val="F2F2F2"/>
                </a:solidFill>
                <a:latin typeface="Aptos"/>
              </a:rPr>
              <a:t>Bumper bars</a:t>
            </a:r>
          </a:p>
        </p:txBody>
      </p:sp>
      <p:sp>
        <p:nvSpPr>
          <p:cNvPr id="41" name="row_bar3"/>
          <p:cNvSpPr/>
          <p:nvPr/>
        </p:nvSpPr>
        <p:spPr>
          <a:xfrm>
            <a:off x="2468880" y="4206240"/>
            <a:ext cx="155290" cy="201168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w_eur3"/>
          <p:cNvSpPr txBox="1"/>
          <p:nvPr/>
        </p:nvSpPr>
        <p:spPr>
          <a:xfrm>
            <a:off x="2715610" y="4023359"/>
            <a:ext cx="73152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150" b="1" i="0">
                <a:solidFill>
                  <a:srgbClr val="F2F2F2"/>
                </a:solidFill>
                <a:latin typeface="Aptos"/>
              </a:rPr>
              <a:t>€99k</a:t>
            </a:r>
          </a:p>
        </p:txBody>
      </p:sp>
      <p:sp>
        <p:nvSpPr>
          <p:cNvPr id="43" name="row_old3"/>
          <p:cNvSpPr txBox="1"/>
          <p:nvPr/>
        </p:nvSpPr>
        <p:spPr>
          <a:xfrm>
            <a:off x="4343400" y="4023359"/>
            <a:ext cx="214884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050" b="0" i="0" strike="sngStrike">
                <a:solidFill>
                  <a:srgbClr val="BDBDBD"/>
                </a:solidFill>
                <a:latin typeface="Aptos"/>
              </a:rPr>
              <a:t>Suspension › Leaf spring</a:t>
            </a:r>
          </a:p>
        </p:txBody>
      </p:sp>
      <p:sp>
        <p:nvSpPr>
          <p:cNvPr id="44" name="row_aim3"/>
          <p:cNvSpPr txBox="1"/>
          <p:nvPr/>
        </p:nvSpPr>
        <p:spPr>
          <a:xfrm>
            <a:off x="6583680" y="4023359"/>
            <a:ext cx="219456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050" b="1" i="0">
                <a:solidFill>
                  <a:srgbClr val="F2F2F2"/>
                </a:solidFill>
                <a:latin typeface="Aptos"/>
              </a:rPr>
              <a:t>Accident &amp; body › Bumper</a:t>
            </a:r>
          </a:p>
        </p:txBody>
      </p:sp>
      <p:sp>
        <p:nvSpPr>
          <p:cNvPr id="45" name="row_bg4"/>
          <p:cNvSpPr/>
          <p:nvPr/>
        </p:nvSpPr>
        <p:spPr>
          <a:xfrm>
            <a:off x="228600" y="4663440"/>
            <a:ext cx="8595360" cy="566928"/>
          </a:xfrm>
          <a:prstGeom prst="rect">
            <a:avLst/>
          </a:prstGeom>
          <a:solidFill>
            <a:srgbClr val="3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w_name4"/>
          <p:cNvSpPr txBox="1"/>
          <p:nvPr/>
        </p:nvSpPr>
        <p:spPr>
          <a:xfrm>
            <a:off x="411480" y="4663440"/>
            <a:ext cx="201168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200" b="1" i="0">
                <a:solidFill>
                  <a:srgbClr val="F2F2F2"/>
                </a:solidFill>
                <a:latin typeface="Aptos"/>
              </a:rPr>
              <a:t>Ball joints</a:t>
            </a:r>
          </a:p>
        </p:txBody>
      </p:sp>
      <p:sp>
        <p:nvSpPr>
          <p:cNvPr id="47" name="row_bar4"/>
          <p:cNvSpPr/>
          <p:nvPr/>
        </p:nvSpPr>
        <p:spPr>
          <a:xfrm>
            <a:off x="2468880" y="4846320"/>
            <a:ext cx="135360" cy="201168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w_eur4"/>
          <p:cNvSpPr txBox="1"/>
          <p:nvPr/>
        </p:nvSpPr>
        <p:spPr>
          <a:xfrm>
            <a:off x="2695680" y="4663440"/>
            <a:ext cx="73152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150" b="1" i="0">
                <a:solidFill>
                  <a:srgbClr val="F2F2F2"/>
                </a:solidFill>
                <a:latin typeface="Aptos"/>
              </a:rPr>
              <a:t>€86k</a:t>
            </a:r>
          </a:p>
        </p:txBody>
      </p:sp>
      <p:sp>
        <p:nvSpPr>
          <p:cNvPr id="49" name="row_old4"/>
          <p:cNvSpPr txBox="1"/>
          <p:nvPr/>
        </p:nvSpPr>
        <p:spPr>
          <a:xfrm>
            <a:off x="4343400" y="4663440"/>
            <a:ext cx="214884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050" b="0" i="0" strike="sngStrike">
                <a:solidFill>
                  <a:srgbClr val="BDBDBD"/>
                </a:solidFill>
                <a:latin typeface="Aptos"/>
              </a:rPr>
              <a:t>Linkage (hydraulic / mechanical)</a:t>
            </a:r>
          </a:p>
        </p:txBody>
      </p:sp>
      <p:sp>
        <p:nvSpPr>
          <p:cNvPr id="50" name="row_aim4"/>
          <p:cNvSpPr txBox="1"/>
          <p:nvPr/>
        </p:nvSpPr>
        <p:spPr>
          <a:xfrm>
            <a:off x="6583680" y="4663440"/>
            <a:ext cx="219456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050" b="1" i="0">
                <a:solidFill>
                  <a:srgbClr val="F2F2F2"/>
                </a:solidFill>
                <a:latin typeface="Aptos"/>
              </a:rPr>
              <a:t>Suspension › Suspension arm</a:t>
            </a:r>
          </a:p>
        </p:txBody>
      </p:sp>
      <p:sp>
        <p:nvSpPr>
          <p:cNvPr id="51" name="row_total"/>
          <p:cNvSpPr txBox="1"/>
          <p:nvPr/>
        </p:nvSpPr>
        <p:spPr>
          <a:xfrm>
            <a:off x="411480" y="53492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50" b="0" i="0">
                <a:solidFill>
                  <a:srgbClr val="F2F2F2"/>
                </a:solidFill>
                <a:latin typeface="Aptos"/>
              </a:rPr>
              <a:t>Total </a:t>
            </a:r>
            <a:r>
              <a:rPr sz="1250" b="1" i="0">
                <a:solidFill>
                  <a:srgbClr val="F2F2F2"/>
                </a:solidFill>
                <a:latin typeface="Aptos"/>
              </a:rPr>
              <a:t>€1.13M a year</a:t>
            </a:r>
          </a:p>
        </p:txBody>
      </p:sp>
      <p:sp>
        <p:nvSpPr>
          <p:cNvPr id="52" name="band_bg"/>
          <p:cNvSpPr/>
          <p:nvPr/>
        </p:nvSpPr>
        <p:spPr>
          <a:xfrm>
            <a:off x="228600" y="5715000"/>
            <a:ext cx="8595360" cy="594360"/>
          </a:xfrm>
          <a:prstGeom prst="rect">
            <a:avLst/>
          </a:prstGeom>
          <a:solidFill>
            <a:srgbClr val="303030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band"/>
          <p:cNvSpPr txBox="1"/>
          <p:nvPr/>
        </p:nvSpPr>
        <p:spPr>
          <a:xfrm>
            <a:off x="457200" y="5715000"/>
            <a:ext cx="8138160" cy="5943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250" b="0" i="0">
                <a:solidFill>
                  <a:srgbClr val="F2F2F2"/>
                </a:solidFill>
                <a:latin typeface="Aptos"/>
              </a:rPr>
              <a:t>Ask “how are our air filters selling?” and the old tree missed </a:t>
            </a:r>
            <a:r>
              <a:rPr sz="1250" b="1" i="0">
                <a:solidFill>
                  <a:srgbClr val="F2F2F2"/>
                </a:solidFill>
                <a:latin typeface="Aptos"/>
              </a:rPr>
              <a:t>€0.67M of the €0.80M answer.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rand"/>
          <p:cNvSpPr txBox="1"/>
          <p:nvPr/>
        </p:nvSpPr>
        <p:spPr>
          <a:xfrm>
            <a:off x="228600" y="91440"/>
            <a:ext cx="4114800" cy="16459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700" b="1" i="0">
                <a:solidFill>
                  <a:srgbClr val="F2F2F2"/>
                </a:solidFill>
                <a:latin typeface="Aptos"/>
              </a:rPr>
              <a:t>ISZE  ·  VEHICLE PARTS &amp; ACCESSORIES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228600" y="384048"/>
            <a:ext cx="64008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900" b="1" i="0">
                <a:solidFill>
                  <a:srgbClr val="E30613"/>
                </a:solidFill>
                <a:latin typeface="Aptos"/>
              </a:rPr>
              <a:t>THE PROBLEM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228600" y="621792"/>
            <a:ext cx="8549640" cy="7498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92000"/>
              </a:lnSpc>
            </a:pPr>
            <a:r>
              <a:rPr sz="2400" b="1" i="0">
                <a:solidFill>
                  <a:srgbClr val="F2F2F2"/>
                </a:solidFill>
                <a:latin typeface="Aptos"/>
              </a:rPr>
              <a:t>The old “Competitive” label was a weak guide to where independent brands compete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228600" y="1389888"/>
            <a:ext cx="854964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BDBDBD"/>
                </a:solidFill>
                <a:latin typeface="Aptos"/>
              </a:rPr>
              <a:t>Tested on 302 parts we checked against independent-brand prices. A pointer, not a measurement.</a:t>
            </a:r>
          </a:p>
        </p:txBody>
      </p:sp>
      <p:cxnSp>
        <p:nvCxnSpPr>
          <p:cNvPr id="6" name="footer_rule"/>
          <p:cNvCxnSpPr/>
          <p:nvPr/>
        </p:nvCxnSpPr>
        <p:spPr>
          <a:xfrm>
            <a:off x="228600" y="6565392"/>
            <a:ext cx="11731752" cy="0"/>
          </a:xfrm>
          <a:prstGeom prst="line">
            <a:avLst/>
          </a:prstGeom>
          <a:ln w="9525">
            <a:solidFill>
              <a:srgbClr val="6A6A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ource"/>
          <p:cNvSpPr txBox="1"/>
          <p:nvPr/>
        </p:nvSpPr>
        <p:spPr>
          <a:xfrm>
            <a:off x="228600" y="6611112"/>
            <a:ext cx="10881360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00" b="0" i="0">
                <a:solidFill>
                  <a:srgbClr val="8C8C8C"/>
                </a:solidFill>
                <a:latin typeface="Aptos"/>
              </a:rPr>
              <a:t>Classification audit, 17 September 2026: 302 parts checked against Autodoc, KS and Mekonomen prices, not a random sample. Steering: parts billed July 2025 – June 2026; competitive price file, 6 October 2026.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1475720" y="6611112"/>
            <a:ext cx="484632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800" b="0" i="0">
                <a:solidFill>
                  <a:srgbClr val="BDBDBD"/>
                </a:solidFill>
                <a:latin typeface="Aptos"/>
              </a:rPr>
              <a:t>4</a:t>
            </a:r>
          </a:p>
        </p:txBody>
      </p:sp>
      <p:sp>
        <p:nvSpPr>
          <p:cNvPr id="9" name="panel"/>
          <p:cNvSpPr/>
          <p:nvPr/>
        </p:nvSpPr>
        <p:spPr>
          <a:xfrm>
            <a:off x="9015984" y="1371600"/>
            <a:ext cx="2971800" cy="5074920"/>
          </a:xfrm>
          <a:prstGeom prst="rect">
            <a:avLst/>
          </a:prstGeom>
          <a:solidFill>
            <a:srgbClr val="303030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anel_label"/>
          <p:cNvSpPr txBox="1"/>
          <p:nvPr/>
        </p:nvSpPr>
        <p:spPr>
          <a:xfrm>
            <a:off x="9272015" y="1591056"/>
            <a:ext cx="25146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50" b="1" i="0">
                <a:solidFill>
                  <a:srgbClr val="E30613"/>
                </a:solidFill>
                <a:latin typeface="Aptos"/>
              </a:rPr>
              <a:t>WHAT THIS MEANS</a:t>
            </a:r>
          </a:p>
        </p:txBody>
      </p:sp>
      <p:sp>
        <p:nvSpPr>
          <p:cNvPr id="11" name="panel_dot0"/>
          <p:cNvSpPr/>
          <p:nvPr/>
        </p:nvSpPr>
        <p:spPr>
          <a:xfrm>
            <a:off x="9272015" y="2093975"/>
            <a:ext cx="91440" cy="91440"/>
          </a:xfrm>
          <a:prstGeom prst="ellipse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anel_t0"/>
          <p:cNvSpPr txBox="1"/>
          <p:nvPr/>
        </p:nvSpPr>
        <p:spPr>
          <a:xfrm>
            <a:off x="9491472" y="2029967"/>
            <a:ext cx="2258568" cy="12923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50" b="0" i="0">
                <a:solidFill>
                  <a:srgbClr val="F2F2F2"/>
                </a:solidFill>
                <a:latin typeface="Aptos"/>
              </a:rPr>
              <a:t>For a price revision the label is right about half the time, and wrong in both directions.</a:t>
            </a:r>
          </a:p>
        </p:txBody>
      </p:sp>
      <p:sp>
        <p:nvSpPr>
          <p:cNvPr id="13" name="panel_dot1"/>
          <p:cNvSpPr/>
          <p:nvPr/>
        </p:nvSpPr>
        <p:spPr>
          <a:xfrm>
            <a:off x="9272015" y="3496055"/>
            <a:ext cx="91440" cy="91440"/>
          </a:xfrm>
          <a:prstGeom prst="ellipse">
            <a:avLst/>
          </a:prstGeom>
          <a:solidFill>
            <a:srgbClr val="F5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anel_t1"/>
          <p:cNvSpPr txBox="1"/>
          <p:nvPr/>
        </p:nvSpPr>
        <p:spPr>
          <a:xfrm>
            <a:off x="9491472" y="3432047"/>
            <a:ext cx="2258568" cy="12923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50" b="0" i="0">
                <a:solidFill>
                  <a:srgbClr val="F2F2F2"/>
                </a:solidFill>
                <a:latin typeface="Aptos"/>
              </a:rPr>
              <a:t>Raise a “repair part” and you may raise it where the customer already has a cheaper choice. Hold a “competitive part” and you may give margin away where nobody competes.</a:t>
            </a:r>
          </a:p>
        </p:txBody>
      </p:sp>
      <p:sp>
        <p:nvSpPr>
          <p:cNvPr id="15" name="panel_dot2"/>
          <p:cNvSpPr/>
          <p:nvPr/>
        </p:nvSpPr>
        <p:spPr>
          <a:xfrm>
            <a:off x="9272015" y="4898136"/>
            <a:ext cx="91440" cy="91440"/>
          </a:xfrm>
          <a:prstGeom prst="ellipse">
            <a:avLst/>
          </a:prstGeom>
          <a:solidFill>
            <a:srgbClr val="F5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panel_t2"/>
          <p:cNvSpPr txBox="1"/>
          <p:nvPr/>
        </p:nvSpPr>
        <p:spPr>
          <a:xfrm>
            <a:off x="9491472" y="4834128"/>
            <a:ext cx="2258568" cy="12923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50" b="0" i="0">
                <a:solidFill>
                  <a:srgbClr val="F2F2F2"/>
                </a:solidFill>
                <a:latin typeface="Aptos"/>
              </a:rPr>
              <a:t>Purpose: let price evidence, per product and per market, decide where we compete. Our parts classification gives that evidence a product to attach to.</a:t>
            </a:r>
          </a:p>
        </p:txBody>
      </p:sp>
      <p:sp>
        <p:nvSpPr>
          <p:cNvPr id="17" name="cardL_bg"/>
          <p:cNvSpPr/>
          <p:nvPr/>
        </p:nvSpPr>
        <p:spPr>
          <a:xfrm>
            <a:off x="228600" y="1810512"/>
            <a:ext cx="4206240" cy="3794760"/>
          </a:xfrm>
          <a:prstGeom prst="rect">
            <a:avLst/>
          </a:prstGeom>
          <a:solidFill>
            <a:srgbClr val="303030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1938528"/>
            <a:ext cx="384048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50" b="1" i="0">
                <a:solidFill>
                  <a:srgbClr val="E30613"/>
                </a:solidFill>
                <a:latin typeface="Aptos"/>
              </a:rPr>
              <a:t>HOW OFTEN THE LABEL MATCHED THE EVIDENCE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219456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BDBDBD"/>
                </a:solidFill>
                <a:latin typeface="Aptos"/>
              </a:rPr>
              <a:t>Parts with an independent-brand match, by old label</a:t>
            </a:r>
          </a:p>
        </p:txBody>
      </p:sp>
      <p:graphicFrame>
        <p:nvGraphicFramePr>
          <p:cNvPr id="20" name="chart_hit"/>
          <p:cNvGraphicFramePr>
            <a:graphicFrameLocks noGrp="1"/>
          </p:cNvGraphicFramePr>
          <p:nvPr/>
        </p:nvGraphicFramePr>
        <p:xfrm>
          <a:off x="320040" y="2606040"/>
          <a:ext cx="4023360" cy="1234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1" name="stat48"/>
          <p:cNvSpPr txBox="1"/>
          <p:nvPr/>
        </p:nvSpPr>
        <p:spPr>
          <a:xfrm>
            <a:off x="411480" y="4023360"/>
            <a:ext cx="146304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4000" b="1" i="0">
                <a:solidFill>
                  <a:srgbClr val="E30613"/>
                </a:solidFill>
                <a:latin typeface="Aptos"/>
              </a:rPr>
              <a:t>48%</a:t>
            </a:r>
          </a:p>
        </p:txBody>
      </p:sp>
      <p:sp>
        <p:nvSpPr>
          <p:cNvPr id="22" name="stat48_t"/>
          <p:cNvSpPr txBox="1"/>
          <p:nvPr/>
        </p:nvSpPr>
        <p:spPr>
          <a:xfrm>
            <a:off x="1920240" y="4069080"/>
            <a:ext cx="2377440" cy="1417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F2F2F2"/>
                </a:solidFill>
                <a:latin typeface="Aptos"/>
              </a:rPr>
              <a:t>of the 137 parts with a confirmed independent-brand alternative carried the “Competitive” label. The other 52% were filed as repair, accident, comfort or hardware.</a:t>
            </a:r>
          </a:p>
        </p:txBody>
      </p:sp>
      <p:sp>
        <p:nvSpPr>
          <p:cNvPr id="23" name="cardR_bg"/>
          <p:cNvSpPr/>
          <p:nvPr/>
        </p:nvSpPr>
        <p:spPr>
          <a:xfrm>
            <a:off x="4617720" y="1810512"/>
            <a:ext cx="4206240" cy="3794760"/>
          </a:xfrm>
          <a:prstGeom prst="rect">
            <a:avLst/>
          </a:prstGeom>
          <a:solidFill>
            <a:srgbClr val="303030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00600" y="1938528"/>
            <a:ext cx="384048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50" b="1" i="0">
                <a:solidFill>
                  <a:srgbClr val="E30613"/>
                </a:solidFill>
                <a:latin typeface="Aptos"/>
              </a:rPr>
              <a:t>THE OTHER WAY: A LABEL WITHOUT EVIDENCE</a:t>
            </a:r>
          </a:p>
        </p:txBody>
      </p:sp>
      <p:sp>
        <p:nvSpPr>
          <p:cNvPr id="25" name="statsteer"/>
          <p:cNvSpPr txBox="1"/>
          <p:nvPr/>
        </p:nvSpPr>
        <p:spPr>
          <a:xfrm>
            <a:off x="4800600" y="2286000"/>
            <a:ext cx="38404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600" b="1" i="0">
                <a:solidFill>
                  <a:srgbClr val="E30613"/>
                </a:solidFill>
                <a:latin typeface="Aptos"/>
              </a:rPr>
              <a:t>€1.26M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00600" y="297180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1" i="0">
                <a:solidFill>
                  <a:srgbClr val="F2F2F2"/>
                </a:solidFill>
                <a:latin typeface="Aptos"/>
              </a:rPr>
              <a:t>of steering units billed, filed under “Competitive parts”</a:t>
            </a:r>
          </a:p>
        </p:txBody>
      </p:sp>
      <p:sp>
        <p:nvSpPr>
          <p:cNvPr id="27" name="steer_t"/>
          <p:cNvSpPr txBox="1"/>
          <p:nvPr/>
        </p:nvSpPr>
        <p:spPr>
          <a:xfrm>
            <a:off x="4800600" y="3520440"/>
            <a:ext cx="384048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F2F2F2"/>
                </a:solidFill>
                <a:latin typeface="Aptos"/>
              </a:rPr>
              <a:t>25 of the 26 steering unit part numbers we billed carried that label. One part number, 7552348290, is 67% of the euro.</a:t>
            </a:r>
          </a:p>
          <a:p>
            <a:pPr algn="l">
              <a:spcBef>
                <a:spcPts val="800"/>
              </a:spcBef>
            </a:pPr>
            <a:r>
              <a:rPr sz="1100" b="0" i="0">
                <a:solidFill>
                  <a:srgbClr val="F2F2F2"/>
                </a:solidFill>
                <a:latin typeface="Aptos"/>
              </a:rPr>
              <a:t>None of the 13 steering part numbers in our competitive price file has an independent-brand price. Prices exist for 31% of the euro under that label, so this is a pointer, not proof.</a:t>
            </a:r>
          </a:p>
        </p:txBody>
      </p:sp>
      <p:sp>
        <p:nvSpPr>
          <p:cNvPr id="28" name="band_bg"/>
          <p:cNvSpPr/>
          <p:nvPr/>
        </p:nvSpPr>
        <p:spPr>
          <a:xfrm>
            <a:off x="228600" y="5760720"/>
            <a:ext cx="8595360" cy="548640"/>
          </a:xfrm>
          <a:prstGeom prst="rect">
            <a:avLst/>
          </a:prstGeom>
          <a:solidFill>
            <a:srgbClr val="303030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band"/>
          <p:cNvSpPr txBox="1"/>
          <p:nvPr/>
        </p:nvSpPr>
        <p:spPr>
          <a:xfrm>
            <a:off x="457200" y="5760720"/>
            <a:ext cx="8138160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200" b="0" i="0">
                <a:solidFill>
                  <a:srgbClr val="F2F2F2"/>
                </a:solidFill>
                <a:latin typeface="Aptos"/>
              </a:rPr>
              <a:t>A label cannot tell us where we compete. Price evidence can, </a:t>
            </a:r>
            <a:r>
              <a:rPr sz="1200" b="1" i="0">
                <a:solidFill>
                  <a:srgbClr val="F2F2F2"/>
                </a:solidFill>
                <a:latin typeface="Aptos"/>
              </a:rPr>
              <a:t>and it needs a real product to attach to. That is what the classification provides.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rand"/>
          <p:cNvSpPr txBox="1"/>
          <p:nvPr/>
        </p:nvSpPr>
        <p:spPr>
          <a:xfrm>
            <a:off x="228600" y="91440"/>
            <a:ext cx="4114800" cy="16459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700" b="1" i="0">
                <a:solidFill>
                  <a:srgbClr val="F2F2F2"/>
                </a:solidFill>
                <a:latin typeface="Aptos"/>
              </a:rPr>
              <a:t>ISZE  ·  VEHICLE PARTS &amp; ACCESSORIES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228600" y="384048"/>
            <a:ext cx="64008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900" b="1" i="0">
                <a:solidFill>
                  <a:srgbClr val="E30613"/>
                </a:solidFill>
                <a:latin typeface="Aptos"/>
              </a:rPr>
              <a:t>THE ANSWER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228600" y="621792"/>
            <a:ext cx="8549640" cy="7498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92000"/>
              </a:lnSpc>
            </a:pPr>
            <a:r>
              <a:rPr sz="2400" b="1" i="0">
                <a:solidFill>
                  <a:srgbClr val="F2F2F2"/>
                </a:solidFill>
                <a:latin typeface="Aptos"/>
              </a:rPr>
              <a:t>Our parts classification gives every part a family, a product group and a part type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228600" y="1389888"/>
            <a:ext cx="854964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BDBDBD"/>
                </a:solidFill>
                <a:latin typeface="Aptos"/>
              </a:rPr>
              <a:t>It reads five facts about each part together, not just its name.</a:t>
            </a:r>
          </a:p>
        </p:txBody>
      </p:sp>
      <p:cxnSp>
        <p:nvCxnSpPr>
          <p:cNvPr id="6" name="footer_rule"/>
          <p:cNvCxnSpPr/>
          <p:nvPr/>
        </p:nvCxnSpPr>
        <p:spPr>
          <a:xfrm>
            <a:off x="228600" y="6565392"/>
            <a:ext cx="11731752" cy="0"/>
          </a:xfrm>
          <a:prstGeom prst="line">
            <a:avLst/>
          </a:prstGeom>
          <a:ln w="9525">
            <a:solidFill>
              <a:srgbClr val="6A6A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ource"/>
          <p:cNvSpPr txBox="1"/>
          <p:nvPr/>
        </p:nvSpPr>
        <p:spPr>
          <a:xfrm>
            <a:off x="228600" y="6611112"/>
            <a:ext cx="10881360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00" b="0" i="0">
                <a:solidFill>
                  <a:srgbClr val="8C8C8C"/>
                </a:solidFill>
                <a:latin typeface="Aptos"/>
              </a:rPr>
              <a:t>Billed July 2025 – June 2026, price revision base. Coverage: share of billed euro with a family, product group and part type.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1475720" y="6611112"/>
            <a:ext cx="484632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800" b="0" i="0">
                <a:solidFill>
                  <a:srgbClr val="BDBDBD"/>
                </a:solidFill>
                <a:latin typeface="Aptos"/>
              </a:rPr>
              <a:t>5</a:t>
            </a:r>
          </a:p>
        </p:txBody>
      </p:sp>
      <p:sp>
        <p:nvSpPr>
          <p:cNvPr id="9" name="panel"/>
          <p:cNvSpPr/>
          <p:nvPr/>
        </p:nvSpPr>
        <p:spPr>
          <a:xfrm>
            <a:off x="9015984" y="1371600"/>
            <a:ext cx="2971800" cy="5074920"/>
          </a:xfrm>
          <a:prstGeom prst="rect">
            <a:avLst/>
          </a:prstGeom>
          <a:solidFill>
            <a:srgbClr val="303030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anel_label"/>
          <p:cNvSpPr txBox="1"/>
          <p:nvPr/>
        </p:nvSpPr>
        <p:spPr>
          <a:xfrm>
            <a:off x="9272015" y="1591056"/>
            <a:ext cx="25146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50" b="1" i="0">
                <a:solidFill>
                  <a:srgbClr val="E30613"/>
                </a:solidFill>
                <a:latin typeface="Aptos"/>
              </a:rPr>
              <a:t>WHAT THIS MEANS</a:t>
            </a:r>
          </a:p>
        </p:txBody>
      </p:sp>
      <p:sp>
        <p:nvSpPr>
          <p:cNvPr id="11" name="panel_dot0"/>
          <p:cNvSpPr/>
          <p:nvPr/>
        </p:nvSpPr>
        <p:spPr>
          <a:xfrm>
            <a:off x="9272015" y="2093975"/>
            <a:ext cx="91440" cy="91440"/>
          </a:xfrm>
          <a:prstGeom prst="ellipse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anel_t0"/>
          <p:cNvSpPr txBox="1"/>
          <p:nvPr/>
        </p:nvSpPr>
        <p:spPr>
          <a:xfrm>
            <a:off x="9491472" y="2029967"/>
            <a:ext cx="2258568" cy="12923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50" b="0" i="0">
                <a:solidFill>
                  <a:srgbClr val="F2F2F2"/>
                </a:solidFill>
                <a:latin typeface="Aptos"/>
              </a:rPr>
              <a:t>One part number now carries a family, a product group and a part type, each with its euro.</a:t>
            </a:r>
          </a:p>
        </p:txBody>
      </p:sp>
      <p:sp>
        <p:nvSpPr>
          <p:cNvPr id="13" name="panel_dot1"/>
          <p:cNvSpPr/>
          <p:nvPr/>
        </p:nvSpPr>
        <p:spPr>
          <a:xfrm>
            <a:off x="9272015" y="3496055"/>
            <a:ext cx="91440" cy="91440"/>
          </a:xfrm>
          <a:prstGeom prst="ellipse">
            <a:avLst/>
          </a:prstGeom>
          <a:solidFill>
            <a:srgbClr val="F5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anel_t1"/>
          <p:cNvSpPr txBox="1"/>
          <p:nvPr/>
        </p:nvSpPr>
        <p:spPr>
          <a:xfrm>
            <a:off x="9491472" y="3432047"/>
            <a:ext cx="2258568" cy="12923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50" b="0" i="0">
                <a:solidFill>
                  <a:srgbClr val="F2F2F2"/>
                </a:solidFill>
                <a:latin typeface="Aptos"/>
              </a:rPr>
              <a:t>Five facts are read together. Where they disagree, the part goes to review instead of being guessed.</a:t>
            </a:r>
          </a:p>
        </p:txBody>
      </p:sp>
      <p:sp>
        <p:nvSpPr>
          <p:cNvPr id="15" name="panel_dot2"/>
          <p:cNvSpPr/>
          <p:nvPr/>
        </p:nvSpPr>
        <p:spPr>
          <a:xfrm>
            <a:off x="9272015" y="4898136"/>
            <a:ext cx="91440" cy="91440"/>
          </a:xfrm>
          <a:prstGeom prst="ellipse">
            <a:avLst/>
          </a:prstGeom>
          <a:solidFill>
            <a:srgbClr val="F5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panel_t2"/>
          <p:cNvSpPr txBox="1"/>
          <p:nvPr/>
        </p:nvSpPr>
        <p:spPr>
          <a:xfrm>
            <a:off x="9491472" y="4834128"/>
            <a:ext cx="2258568" cy="12923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50" b="0" i="0">
                <a:solidFill>
                  <a:srgbClr val="F2F2F2"/>
                </a:solidFill>
                <a:latin typeface="Aptos"/>
              </a:rPr>
              <a:t>Purpose: any question about sales or prices starts from a product and drills down to the part number.</a:t>
            </a:r>
          </a:p>
        </p:txBody>
      </p:sp>
      <p:sp>
        <p:nvSpPr>
          <p:cNvPr id="17" name="lvl0"/>
          <p:cNvSpPr/>
          <p:nvPr/>
        </p:nvSpPr>
        <p:spPr>
          <a:xfrm>
            <a:off x="228600" y="1828800"/>
            <a:ext cx="4023360" cy="676656"/>
          </a:xfrm>
          <a:prstGeom prst="rect">
            <a:avLst/>
          </a:prstGeom>
          <a:solidFill>
            <a:srgbClr val="1F1F1F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lvl0_k"/>
          <p:cNvSpPr txBox="1"/>
          <p:nvPr/>
        </p:nvSpPr>
        <p:spPr>
          <a:xfrm>
            <a:off x="393192" y="1892807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50" b="1" i="0">
                <a:solidFill>
                  <a:srgbClr val="BDBDBD"/>
                </a:solidFill>
                <a:latin typeface="Aptos"/>
              </a:rPr>
              <a:t>FAMILY</a:t>
            </a:r>
          </a:p>
        </p:txBody>
      </p:sp>
      <p:sp>
        <p:nvSpPr>
          <p:cNvPr id="19" name="lvl0_n"/>
          <p:cNvSpPr txBox="1"/>
          <p:nvPr/>
        </p:nvSpPr>
        <p:spPr>
          <a:xfrm>
            <a:off x="393192" y="2103120"/>
            <a:ext cx="274320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F2F2F2"/>
                </a:solidFill>
                <a:latin typeface="Aptos"/>
              </a:rPr>
              <a:t>Brakes</a:t>
            </a:r>
          </a:p>
        </p:txBody>
      </p:sp>
      <p:sp>
        <p:nvSpPr>
          <p:cNvPr id="20" name="lvl0_v"/>
          <p:cNvSpPr txBox="1"/>
          <p:nvPr/>
        </p:nvSpPr>
        <p:spPr>
          <a:xfrm>
            <a:off x="3154680" y="1892807"/>
            <a:ext cx="960120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/>
            <a:r>
              <a:rPr sz="1400" b="1" i="0">
                <a:solidFill>
                  <a:srgbClr val="F2F2F2"/>
                </a:solidFill>
                <a:latin typeface="Aptos"/>
              </a:rPr>
              <a:t>€3.39M</a:t>
            </a:r>
          </a:p>
        </p:txBody>
      </p:sp>
      <p:sp>
        <p:nvSpPr>
          <p:cNvPr id="21" name="lvl1"/>
          <p:cNvSpPr/>
          <p:nvPr/>
        </p:nvSpPr>
        <p:spPr>
          <a:xfrm>
            <a:off x="457200" y="2633472"/>
            <a:ext cx="4023360" cy="676656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lvl1_k"/>
          <p:cNvSpPr txBox="1"/>
          <p:nvPr/>
        </p:nvSpPr>
        <p:spPr>
          <a:xfrm>
            <a:off x="621792" y="2697479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50" b="1" i="0">
                <a:solidFill>
                  <a:srgbClr val="BDBDBD"/>
                </a:solidFill>
                <a:latin typeface="Aptos"/>
              </a:rPr>
              <a:t>PRODUCT GROUP</a:t>
            </a:r>
          </a:p>
        </p:txBody>
      </p:sp>
      <p:sp>
        <p:nvSpPr>
          <p:cNvPr id="23" name="lvl1_n"/>
          <p:cNvSpPr txBox="1"/>
          <p:nvPr/>
        </p:nvSpPr>
        <p:spPr>
          <a:xfrm>
            <a:off x="621792" y="2907791"/>
            <a:ext cx="274320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F2F2F2"/>
                </a:solidFill>
                <a:latin typeface="Aptos"/>
              </a:rPr>
              <a:t>Pads &amp; shoes</a:t>
            </a:r>
          </a:p>
        </p:txBody>
      </p:sp>
      <p:sp>
        <p:nvSpPr>
          <p:cNvPr id="24" name="lvl1_v"/>
          <p:cNvSpPr txBox="1"/>
          <p:nvPr/>
        </p:nvSpPr>
        <p:spPr>
          <a:xfrm>
            <a:off x="3383280" y="2697479"/>
            <a:ext cx="960120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/>
            <a:r>
              <a:rPr sz="1400" b="1" i="0">
                <a:solidFill>
                  <a:srgbClr val="F2F2F2"/>
                </a:solidFill>
                <a:latin typeface="Aptos"/>
              </a:rPr>
              <a:t>€1.19M</a:t>
            </a:r>
          </a:p>
        </p:txBody>
      </p:sp>
      <p:sp>
        <p:nvSpPr>
          <p:cNvPr id="25" name="lvl2"/>
          <p:cNvSpPr/>
          <p:nvPr/>
        </p:nvSpPr>
        <p:spPr>
          <a:xfrm>
            <a:off x="685800" y="3438144"/>
            <a:ext cx="4023360" cy="676656"/>
          </a:xfrm>
          <a:prstGeom prst="rect">
            <a:avLst/>
          </a:prstGeom>
          <a:solidFill>
            <a:srgbClr val="56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lvl2_k"/>
          <p:cNvSpPr txBox="1"/>
          <p:nvPr/>
        </p:nvSpPr>
        <p:spPr>
          <a:xfrm>
            <a:off x="850392" y="3502151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50" b="1" i="0">
                <a:solidFill>
                  <a:srgbClr val="BDBDBD"/>
                </a:solidFill>
                <a:latin typeface="Aptos"/>
              </a:rPr>
              <a:t>PART TYPE</a:t>
            </a:r>
          </a:p>
        </p:txBody>
      </p:sp>
      <p:sp>
        <p:nvSpPr>
          <p:cNvPr id="27" name="lvl2_n"/>
          <p:cNvSpPr txBox="1"/>
          <p:nvPr/>
        </p:nvSpPr>
        <p:spPr>
          <a:xfrm>
            <a:off x="850392" y="3712463"/>
            <a:ext cx="274320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F2F2F2"/>
                </a:solidFill>
                <a:latin typeface="Aptos"/>
              </a:rPr>
              <a:t>Brake pad kit</a:t>
            </a:r>
          </a:p>
        </p:txBody>
      </p:sp>
      <p:sp>
        <p:nvSpPr>
          <p:cNvPr id="28" name="lvl2_v"/>
          <p:cNvSpPr txBox="1"/>
          <p:nvPr/>
        </p:nvSpPr>
        <p:spPr>
          <a:xfrm>
            <a:off x="3611880" y="3502151"/>
            <a:ext cx="960120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/>
            <a:r>
              <a:rPr sz="1400" b="1" i="0">
                <a:solidFill>
                  <a:srgbClr val="F2F2F2"/>
                </a:solidFill>
                <a:latin typeface="Aptos"/>
              </a:rPr>
              <a:t>€0.93M</a:t>
            </a:r>
          </a:p>
        </p:txBody>
      </p:sp>
      <p:sp>
        <p:nvSpPr>
          <p:cNvPr id="29" name="lvl3"/>
          <p:cNvSpPr/>
          <p:nvPr/>
        </p:nvSpPr>
        <p:spPr>
          <a:xfrm>
            <a:off x="914400" y="4242816"/>
            <a:ext cx="4023360" cy="676656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lvl3_k"/>
          <p:cNvSpPr txBox="1"/>
          <p:nvPr/>
        </p:nvSpPr>
        <p:spPr>
          <a:xfrm>
            <a:off x="1078992" y="4306824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50" b="1" i="0">
                <a:solidFill>
                  <a:srgbClr val="FFFFFF"/>
                </a:solidFill>
                <a:latin typeface="Aptos"/>
              </a:rPr>
              <a:t>PART NUMBER 8982447940</a:t>
            </a:r>
          </a:p>
        </p:txBody>
      </p:sp>
      <p:sp>
        <p:nvSpPr>
          <p:cNvPr id="31" name="lvl3_n"/>
          <p:cNvSpPr txBox="1"/>
          <p:nvPr/>
        </p:nvSpPr>
        <p:spPr>
          <a:xfrm>
            <a:off x="1078992" y="4517136"/>
            <a:ext cx="274320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FFFFFF"/>
                </a:solidFill>
                <a:latin typeface="Aptos"/>
              </a:rPr>
              <a:t>Front disc brake pad kit</a:t>
            </a:r>
          </a:p>
        </p:txBody>
      </p:sp>
      <p:sp>
        <p:nvSpPr>
          <p:cNvPr id="32" name="lvl3_v"/>
          <p:cNvSpPr txBox="1"/>
          <p:nvPr/>
        </p:nvSpPr>
        <p:spPr>
          <a:xfrm>
            <a:off x="3840480" y="4306824"/>
            <a:ext cx="960120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/>
            <a:r>
              <a:rPr sz="1400" b="1" i="0">
                <a:solidFill>
                  <a:srgbClr val="FFFFFF"/>
                </a:solidFill>
                <a:latin typeface="Aptos"/>
              </a:rPr>
              <a:t>€0.34M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8600" y="5138928"/>
            <a:ext cx="475488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950" b="0" i="0">
                <a:solidFill>
                  <a:srgbClr val="8C8C8C"/>
                </a:solidFill>
                <a:latin typeface="Aptos"/>
              </a:rPr>
              <a:t>Billed July 2025 – June 2026, price revision base.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57800" y="1810512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F2F2F2"/>
                </a:solidFill>
                <a:latin typeface="Aptos"/>
              </a:rPr>
              <a:t>Five facts, read together</a:t>
            </a:r>
          </a:p>
        </p:txBody>
      </p:sp>
      <p:sp>
        <p:nvSpPr>
          <p:cNvPr id="35" name="fact_dot0"/>
          <p:cNvSpPr/>
          <p:nvPr/>
        </p:nvSpPr>
        <p:spPr>
          <a:xfrm>
            <a:off x="5257800" y="2240279"/>
            <a:ext cx="310896" cy="310896"/>
          </a:xfrm>
          <a:prstGeom prst="ellipse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act_n0"/>
          <p:cNvSpPr txBox="1"/>
          <p:nvPr/>
        </p:nvSpPr>
        <p:spPr>
          <a:xfrm>
            <a:off x="5257800" y="2240279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37" name="fact0"/>
          <p:cNvSpPr txBox="1"/>
          <p:nvPr/>
        </p:nvSpPr>
        <p:spPr>
          <a:xfrm>
            <a:off x="5715000" y="2194560"/>
            <a:ext cx="3108960" cy="4206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100" b="1" i="0">
                <a:solidFill>
                  <a:srgbClr val="F2F2F2"/>
                </a:solidFill>
                <a:latin typeface="Aptos"/>
              </a:rPr>
              <a:t>Part number  </a:t>
            </a:r>
            <a:r>
              <a:rPr sz="1100" b="0" i="0">
                <a:solidFill>
                  <a:srgbClr val="BDBDBD"/>
                </a:solidFill>
                <a:latin typeface="Aptos"/>
              </a:rPr>
              <a:t>links sales, prices and the catalogue</a:t>
            </a:r>
          </a:p>
        </p:txBody>
      </p:sp>
      <p:sp>
        <p:nvSpPr>
          <p:cNvPr id="38" name="fact_dot1"/>
          <p:cNvSpPr/>
          <p:nvPr/>
        </p:nvSpPr>
        <p:spPr>
          <a:xfrm>
            <a:off x="5257800" y="2770632"/>
            <a:ext cx="310896" cy="310896"/>
          </a:xfrm>
          <a:prstGeom prst="ellipse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act_n1"/>
          <p:cNvSpPr txBox="1"/>
          <p:nvPr/>
        </p:nvSpPr>
        <p:spPr>
          <a:xfrm>
            <a:off x="5257800" y="27706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40" name="fact1"/>
          <p:cNvSpPr txBox="1"/>
          <p:nvPr/>
        </p:nvSpPr>
        <p:spPr>
          <a:xfrm>
            <a:off x="5715000" y="2724912"/>
            <a:ext cx="3108960" cy="4206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100" b="1" i="0">
                <a:solidFill>
                  <a:srgbClr val="F2F2F2"/>
                </a:solidFill>
                <a:latin typeface="Aptos"/>
              </a:rPr>
              <a:t>Description  </a:t>
            </a:r>
            <a:r>
              <a:rPr sz="1100" b="0" i="0">
                <a:solidFill>
                  <a:srgbClr val="BDBDBD"/>
                </a:solidFill>
                <a:latin typeface="Aptos"/>
              </a:rPr>
              <a:t>what the price list calls the part</a:t>
            </a:r>
          </a:p>
        </p:txBody>
      </p:sp>
      <p:sp>
        <p:nvSpPr>
          <p:cNvPr id="41" name="fact_dot2"/>
          <p:cNvSpPr/>
          <p:nvPr/>
        </p:nvSpPr>
        <p:spPr>
          <a:xfrm>
            <a:off x="5257800" y="3300983"/>
            <a:ext cx="310896" cy="310896"/>
          </a:xfrm>
          <a:prstGeom prst="ellipse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act_n2"/>
          <p:cNvSpPr txBox="1"/>
          <p:nvPr/>
        </p:nvSpPr>
        <p:spPr>
          <a:xfrm>
            <a:off x="5257800" y="3300983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43" name="fact2"/>
          <p:cNvSpPr txBox="1"/>
          <p:nvPr/>
        </p:nvSpPr>
        <p:spPr>
          <a:xfrm>
            <a:off x="5715000" y="3255263"/>
            <a:ext cx="3108960" cy="4206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100" b="1" i="0">
                <a:solidFill>
                  <a:srgbClr val="F2F2F2"/>
                </a:solidFill>
                <a:latin typeface="Aptos"/>
              </a:rPr>
              <a:t>Catalogue figure  </a:t>
            </a:r>
            <a:r>
              <a:rPr sz="1100" b="0" i="0">
                <a:solidFill>
                  <a:srgbClr val="BDBDBD"/>
                </a:solidFill>
                <a:latin typeface="Aptos"/>
              </a:rPr>
              <a:t>where Isuzu draws it on the vehicle</a:t>
            </a:r>
          </a:p>
        </p:txBody>
      </p:sp>
      <p:sp>
        <p:nvSpPr>
          <p:cNvPr id="44" name="fact_dot3"/>
          <p:cNvSpPr/>
          <p:nvPr/>
        </p:nvSpPr>
        <p:spPr>
          <a:xfrm>
            <a:off x="5257800" y="3831335"/>
            <a:ext cx="310896" cy="310896"/>
          </a:xfrm>
          <a:prstGeom prst="ellipse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act_n3"/>
          <p:cNvSpPr txBox="1"/>
          <p:nvPr/>
        </p:nvSpPr>
        <p:spPr>
          <a:xfrm>
            <a:off x="5257800" y="3831335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6" name="fact3"/>
          <p:cNvSpPr txBox="1"/>
          <p:nvPr/>
        </p:nvSpPr>
        <p:spPr>
          <a:xfrm>
            <a:off x="5715000" y="3785615"/>
            <a:ext cx="3108960" cy="4206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100" b="1" i="0">
                <a:solidFill>
                  <a:srgbClr val="F2F2F2"/>
                </a:solidFill>
                <a:latin typeface="Aptos"/>
              </a:rPr>
              <a:t>Customs code  </a:t>
            </a:r>
            <a:r>
              <a:rPr sz="1100" b="0" i="0">
                <a:solidFill>
                  <a:srgbClr val="BDBDBD"/>
                </a:solidFill>
                <a:latin typeface="Aptos"/>
              </a:rPr>
              <a:t>an independent check on the product</a:t>
            </a:r>
          </a:p>
        </p:txBody>
      </p:sp>
      <p:sp>
        <p:nvSpPr>
          <p:cNvPr id="47" name="fact_dot4"/>
          <p:cNvSpPr/>
          <p:nvPr/>
        </p:nvSpPr>
        <p:spPr>
          <a:xfrm>
            <a:off x="5257800" y="4361688"/>
            <a:ext cx="310896" cy="310896"/>
          </a:xfrm>
          <a:prstGeom prst="ellipse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act_n4"/>
          <p:cNvSpPr txBox="1"/>
          <p:nvPr/>
        </p:nvSpPr>
        <p:spPr>
          <a:xfrm>
            <a:off x="5257800" y="43616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9" name="fact4"/>
          <p:cNvSpPr txBox="1"/>
          <p:nvPr/>
        </p:nvSpPr>
        <p:spPr>
          <a:xfrm>
            <a:off x="5715000" y="4315968"/>
            <a:ext cx="3108960" cy="4206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100" b="1" i="0">
                <a:solidFill>
                  <a:srgbClr val="F2F2F2"/>
                </a:solidFill>
                <a:latin typeface="Aptos"/>
              </a:rPr>
              <a:t>Price  </a:t>
            </a:r>
            <a:r>
              <a:rPr sz="1100" b="0" i="0">
                <a:solidFill>
                  <a:srgbClr val="BDBDBD"/>
                </a:solidFill>
                <a:latin typeface="Aptos"/>
              </a:rPr>
              <a:t>separates a €11 element from a €154 housing</a:t>
            </a:r>
          </a:p>
        </p:txBody>
      </p:sp>
      <p:sp>
        <p:nvSpPr>
          <p:cNvPr id="50" name="fact_jp"/>
          <p:cNvSpPr txBox="1"/>
          <p:nvPr/>
        </p:nvSpPr>
        <p:spPr>
          <a:xfrm>
            <a:off x="5715000" y="4846320"/>
            <a:ext cx="3108960" cy="3657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100" b="1" i="0">
                <a:solidFill>
                  <a:srgbClr val="F2F2F2"/>
                </a:solidFill>
                <a:latin typeface="Aptos"/>
              </a:rPr>
              <a:t>+ Japan's code  </a:t>
            </a:r>
            <a:r>
              <a:rPr sz="1100" b="0" i="0">
                <a:solidFill>
                  <a:srgbClr val="BDBDBD"/>
                </a:solidFill>
                <a:latin typeface="Aptos"/>
              </a:rPr>
              <a:t>kept on every part (page 7)</a:t>
            </a:r>
          </a:p>
        </p:txBody>
      </p:sp>
      <p:sp>
        <p:nvSpPr>
          <p:cNvPr id="51" name="kpi_bg0"/>
          <p:cNvSpPr/>
          <p:nvPr/>
        </p:nvSpPr>
        <p:spPr>
          <a:xfrm>
            <a:off x="228600" y="5532120"/>
            <a:ext cx="2788920" cy="777240"/>
          </a:xfrm>
          <a:prstGeom prst="rect">
            <a:avLst/>
          </a:prstGeom>
          <a:solidFill>
            <a:srgbClr val="303030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kpi0"/>
          <p:cNvSpPr txBox="1"/>
          <p:nvPr/>
        </p:nvSpPr>
        <p:spPr>
          <a:xfrm>
            <a:off x="365760" y="5532120"/>
            <a:ext cx="2560320" cy="7772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500" b="1" i="0">
                <a:solidFill>
                  <a:srgbClr val="E30613"/>
                </a:solidFill>
                <a:latin typeface="Aptos"/>
              </a:rPr>
              <a:t>98%</a:t>
            </a:r>
          </a:p>
          <a:p>
            <a:pPr algn="l"/>
            <a:r>
              <a:rPr sz="950" b="0" i="0">
                <a:solidFill>
                  <a:srgbClr val="BDBDBD"/>
                </a:solidFill>
                <a:latin typeface="Aptos"/>
              </a:rPr>
              <a:t>of what we bill has a family, group and part type</a:t>
            </a:r>
          </a:p>
        </p:txBody>
      </p:sp>
      <p:sp>
        <p:nvSpPr>
          <p:cNvPr id="53" name="kpi_bg1"/>
          <p:cNvSpPr/>
          <p:nvPr/>
        </p:nvSpPr>
        <p:spPr>
          <a:xfrm>
            <a:off x="3108960" y="5532120"/>
            <a:ext cx="2788920" cy="777240"/>
          </a:xfrm>
          <a:prstGeom prst="rect">
            <a:avLst/>
          </a:prstGeom>
          <a:solidFill>
            <a:srgbClr val="303030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kpi1"/>
          <p:cNvSpPr txBox="1"/>
          <p:nvPr/>
        </p:nvSpPr>
        <p:spPr>
          <a:xfrm>
            <a:off x="3246120" y="5532120"/>
            <a:ext cx="2560320" cy="7772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500" b="1" i="0">
                <a:solidFill>
                  <a:srgbClr val="E30613"/>
                </a:solidFill>
                <a:latin typeface="Aptos"/>
              </a:rPr>
              <a:t>22 · 116 · 239</a:t>
            </a:r>
          </a:p>
          <a:p>
            <a:pPr algn="l"/>
            <a:r>
              <a:rPr sz="950" b="0" i="0">
                <a:solidFill>
                  <a:srgbClr val="BDBDBD"/>
                </a:solidFill>
                <a:latin typeface="Aptos"/>
              </a:rPr>
              <a:t>families · product groups · part types</a:t>
            </a:r>
          </a:p>
        </p:txBody>
      </p:sp>
      <p:sp>
        <p:nvSpPr>
          <p:cNvPr id="55" name="kpi_bg2"/>
          <p:cNvSpPr/>
          <p:nvPr/>
        </p:nvSpPr>
        <p:spPr>
          <a:xfrm>
            <a:off x="5989320" y="5532120"/>
            <a:ext cx="2788920" cy="777240"/>
          </a:xfrm>
          <a:prstGeom prst="rect">
            <a:avLst/>
          </a:prstGeom>
          <a:solidFill>
            <a:srgbClr val="303030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kpi2"/>
          <p:cNvSpPr txBox="1"/>
          <p:nvPr/>
        </p:nvSpPr>
        <p:spPr>
          <a:xfrm>
            <a:off x="6126480" y="5532120"/>
            <a:ext cx="2560320" cy="7772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500" b="1" i="0">
                <a:solidFill>
                  <a:srgbClr val="E30613"/>
                </a:solidFill>
                <a:latin typeface="Aptos"/>
              </a:rPr>
              <a:t>7 Oct 2026</a:t>
            </a:r>
          </a:p>
          <a:p>
            <a:pPr algn="l"/>
            <a:r>
              <a:rPr sz="950" b="0" i="0">
                <a:solidFill>
                  <a:srgbClr val="BDBDBD"/>
                </a:solidFill>
                <a:latin typeface="Aptos"/>
              </a:rPr>
              <a:t>release these figures use, kept by Vehicle Parts Sales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rand"/>
          <p:cNvSpPr txBox="1"/>
          <p:nvPr/>
        </p:nvSpPr>
        <p:spPr>
          <a:xfrm>
            <a:off x="228600" y="91440"/>
            <a:ext cx="4114800" cy="16459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700" b="1" i="0">
                <a:solidFill>
                  <a:srgbClr val="F2F2F2"/>
                </a:solidFill>
                <a:latin typeface="Aptos"/>
              </a:rPr>
              <a:t>ISZE  ·  VEHICLE PARTS &amp; ACCESSORIES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228600" y="384048"/>
            <a:ext cx="64008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900" b="1" i="0">
                <a:solidFill>
                  <a:srgbClr val="E30613"/>
                </a:solidFill>
                <a:latin typeface="Aptos"/>
              </a:rPr>
              <a:t>PRECISION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228600" y="621792"/>
            <a:ext cx="8549640" cy="7498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92000"/>
              </a:lnSpc>
            </a:pPr>
            <a:r>
              <a:rPr sz="2400" b="1" i="0">
                <a:solidFill>
                  <a:srgbClr val="F2F2F2"/>
                </a:solidFill>
                <a:latin typeface="Aptos"/>
              </a:rPr>
              <a:t>An element and a housing share a family, not a price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228600" y="1389888"/>
            <a:ext cx="854964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BDBDBD"/>
                </a:solidFill>
                <a:latin typeface="Aptos"/>
              </a:rPr>
              <a:t>The classification keeps them apart, so every price and sales comparison is like for like.</a:t>
            </a:r>
          </a:p>
        </p:txBody>
      </p:sp>
      <p:cxnSp>
        <p:nvCxnSpPr>
          <p:cNvPr id="6" name="footer_rule"/>
          <p:cNvCxnSpPr/>
          <p:nvPr/>
        </p:nvCxnSpPr>
        <p:spPr>
          <a:xfrm>
            <a:off x="228600" y="6565392"/>
            <a:ext cx="11731752" cy="0"/>
          </a:xfrm>
          <a:prstGeom prst="line">
            <a:avLst/>
          </a:prstGeom>
          <a:ln w="9525">
            <a:solidFill>
              <a:srgbClr val="6A6A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ource"/>
          <p:cNvSpPr txBox="1"/>
          <p:nvPr/>
        </p:nvSpPr>
        <p:spPr>
          <a:xfrm>
            <a:off x="228600" y="6611112"/>
            <a:ext cx="10881360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00" b="0" i="0">
                <a:solidFill>
                  <a:srgbClr val="8C8C8C"/>
                </a:solidFill>
                <a:latin typeface="Aptos"/>
              </a:rPr>
              <a:t>Billed July 2025 – June 2026, price revision base, all filter part numbers marked element or housing / assembly in the classification. Photos: dealer and supplier listings, product form only.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1475720" y="6611112"/>
            <a:ext cx="484632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800" b="0" i="0">
                <a:solidFill>
                  <a:srgbClr val="BDBDBD"/>
                </a:solidFill>
                <a:latin typeface="Aptos"/>
              </a:rPr>
              <a:t>6</a:t>
            </a:r>
          </a:p>
        </p:txBody>
      </p:sp>
      <p:sp>
        <p:nvSpPr>
          <p:cNvPr id="9" name="panel"/>
          <p:cNvSpPr/>
          <p:nvPr/>
        </p:nvSpPr>
        <p:spPr>
          <a:xfrm>
            <a:off x="9015984" y="1371600"/>
            <a:ext cx="2971800" cy="5074920"/>
          </a:xfrm>
          <a:prstGeom prst="rect">
            <a:avLst/>
          </a:prstGeom>
          <a:solidFill>
            <a:srgbClr val="303030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anel_label"/>
          <p:cNvSpPr txBox="1"/>
          <p:nvPr/>
        </p:nvSpPr>
        <p:spPr>
          <a:xfrm>
            <a:off x="9272015" y="1591056"/>
            <a:ext cx="25146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50" b="1" i="0">
                <a:solidFill>
                  <a:srgbClr val="E30613"/>
                </a:solidFill>
                <a:latin typeface="Aptos"/>
              </a:rPr>
              <a:t>WHAT THIS MEANS</a:t>
            </a:r>
          </a:p>
        </p:txBody>
      </p:sp>
      <p:sp>
        <p:nvSpPr>
          <p:cNvPr id="11" name="panel_dot0"/>
          <p:cNvSpPr/>
          <p:nvPr/>
        </p:nvSpPr>
        <p:spPr>
          <a:xfrm>
            <a:off x="9272015" y="2093975"/>
            <a:ext cx="91440" cy="91440"/>
          </a:xfrm>
          <a:prstGeom prst="ellipse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anel_t0"/>
          <p:cNvSpPr txBox="1"/>
          <p:nvPr/>
        </p:nvSpPr>
        <p:spPr>
          <a:xfrm>
            <a:off x="9491472" y="2029967"/>
            <a:ext cx="2258568" cy="12923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50" b="0" i="0">
                <a:solidFill>
                  <a:srgbClr val="F2F2F2"/>
                </a:solidFill>
                <a:latin typeface="Aptos"/>
              </a:rPr>
              <a:t>Averaged together, a “filter” costs €13.64 per unit, a price that describes neither product.</a:t>
            </a:r>
          </a:p>
        </p:txBody>
      </p:sp>
      <p:sp>
        <p:nvSpPr>
          <p:cNvPr id="13" name="panel_dot1"/>
          <p:cNvSpPr/>
          <p:nvPr/>
        </p:nvSpPr>
        <p:spPr>
          <a:xfrm>
            <a:off x="9272015" y="3496055"/>
            <a:ext cx="91440" cy="91440"/>
          </a:xfrm>
          <a:prstGeom prst="ellipse">
            <a:avLst/>
          </a:prstGeom>
          <a:solidFill>
            <a:srgbClr val="F5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anel_t1"/>
          <p:cNvSpPr txBox="1"/>
          <p:nvPr/>
        </p:nvSpPr>
        <p:spPr>
          <a:xfrm>
            <a:off x="9491472" y="3432047"/>
            <a:ext cx="2258568" cy="12923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50" b="0" i="0">
                <a:solidFill>
                  <a:srgbClr val="F2F2F2"/>
                </a:solidFill>
                <a:latin typeface="Aptos"/>
              </a:rPr>
              <a:t>An element is bought at every service. A housing is bought after damage or failure. They belong in different parts of a sales review.</a:t>
            </a:r>
          </a:p>
        </p:txBody>
      </p:sp>
      <p:sp>
        <p:nvSpPr>
          <p:cNvPr id="15" name="panel_dot2"/>
          <p:cNvSpPr/>
          <p:nvPr/>
        </p:nvSpPr>
        <p:spPr>
          <a:xfrm>
            <a:off x="9272015" y="4898136"/>
            <a:ext cx="91440" cy="91440"/>
          </a:xfrm>
          <a:prstGeom prst="ellipse">
            <a:avLst/>
          </a:prstGeom>
          <a:solidFill>
            <a:srgbClr val="F5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panel_t2"/>
          <p:cNvSpPr txBox="1"/>
          <p:nvPr/>
        </p:nvSpPr>
        <p:spPr>
          <a:xfrm>
            <a:off x="9491472" y="4834128"/>
            <a:ext cx="2258568" cy="12923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50" b="0" i="0">
                <a:solidFill>
                  <a:srgbClr val="F2F2F2"/>
                </a:solidFill>
                <a:latin typeface="Aptos"/>
              </a:rPr>
              <a:t>Purpose: compare distributors and years like for like.</a:t>
            </a:r>
          </a:p>
        </p:txBody>
      </p:sp>
      <p:sp>
        <p:nvSpPr>
          <p:cNvPr id="17" name="card0"/>
          <p:cNvSpPr/>
          <p:nvPr/>
        </p:nvSpPr>
        <p:spPr>
          <a:xfrm>
            <a:off x="228600" y="1828800"/>
            <a:ext cx="4160520" cy="3429000"/>
          </a:xfrm>
          <a:prstGeom prst="rect">
            <a:avLst/>
          </a:prstGeom>
          <a:solidFill>
            <a:srgbClr val="303030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ard_imgbg0"/>
          <p:cNvSpPr/>
          <p:nvPr/>
        </p:nvSpPr>
        <p:spPr>
          <a:xfrm>
            <a:off x="365760" y="1965960"/>
            <a:ext cx="18288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card_img0" descr="elem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984248"/>
            <a:ext cx="1792224" cy="1792224"/>
          </a:xfrm>
          <a:prstGeom prst="rect">
            <a:avLst/>
          </a:prstGeom>
        </p:spPr>
      </p:pic>
      <p:sp>
        <p:nvSpPr>
          <p:cNvPr id="20" name="card_c0"/>
          <p:cNvSpPr txBox="1"/>
          <p:nvPr/>
        </p:nvSpPr>
        <p:spPr>
          <a:xfrm>
            <a:off x="365760" y="38404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00" b="0" i="0">
                <a:solidFill>
                  <a:srgbClr val="8C8C8C"/>
                </a:solidFill>
                <a:latin typeface="Aptos"/>
              </a:rPr>
              <a:t>Product form only; not a specific part number.</a:t>
            </a:r>
          </a:p>
        </p:txBody>
      </p:sp>
      <p:sp>
        <p:nvSpPr>
          <p:cNvPr id="21" name="card_k0"/>
          <p:cNvSpPr txBox="1"/>
          <p:nvPr/>
        </p:nvSpPr>
        <p:spPr>
          <a:xfrm>
            <a:off x="2331720" y="196596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900" b="1" i="0">
                <a:solidFill>
                  <a:srgbClr val="E30613"/>
                </a:solidFill>
                <a:latin typeface="Aptos"/>
              </a:rPr>
              <a:t>FILTER ELEMENTS</a:t>
            </a:r>
          </a:p>
        </p:txBody>
      </p:sp>
      <p:sp>
        <p:nvSpPr>
          <p:cNvPr id="22" name="card_v0"/>
          <p:cNvSpPr txBox="1"/>
          <p:nvPr/>
        </p:nvSpPr>
        <p:spPr>
          <a:xfrm>
            <a:off x="2331720" y="2468880"/>
            <a:ext cx="192024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1" i="0">
                <a:solidFill>
                  <a:srgbClr val="F2F2F2"/>
                </a:solidFill>
                <a:latin typeface="Aptos"/>
              </a:rPr>
              <a:t>€11.01</a:t>
            </a:r>
          </a:p>
        </p:txBody>
      </p:sp>
      <p:sp>
        <p:nvSpPr>
          <p:cNvPr id="23" name="card_u0"/>
          <p:cNvSpPr txBox="1"/>
          <p:nvPr/>
        </p:nvSpPr>
        <p:spPr>
          <a:xfrm>
            <a:off x="2331720" y="2999232"/>
            <a:ext cx="192024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BDBDBD"/>
                </a:solidFill>
                <a:latin typeface="Aptos"/>
              </a:rPr>
              <a:t>average per unit</a:t>
            </a:r>
          </a:p>
        </p:txBody>
      </p:sp>
      <p:sp>
        <p:nvSpPr>
          <p:cNvPr id="24" name="card_m0"/>
          <p:cNvSpPr txBox="1"/>
          <p:nvPr/>
        </p:nvSpPr>
        <p:spPr>
          <a:xfrm>
            <a:off x="2331720" y="333756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BDBDBD"/>
                </a:solidFill>
                <a:latin typeface="Aptos"/>
              </a:rPr>
              <a:t>€2.79M billed</a:t>
            </a:r>
          </a:p>
          <a:p>
            <a:pPr algn="l"/>
            <a:r>
              <a:rPr sz="1000" b="0" i="0">
                <a:solidFill>
                  <a:srgbClr val="BDBDBD"/>
                </a:solidFill>
                <a:latin typeface="Aptos"/>
              </a:rPr>
              <a:t>131 part numbers</a:t>
            </a:r>
          </a:p>
        </p:txBody>
      </p:sp>
      <p:sp>
        <p:nvSpPr>
          <p:cNvPr id="25" name="card_d0"/>
          <p:cNvSpPr txBox="1"/>
          <p:nvPr/>
        </p:nvSpPr>
        <p:spPr>
          <a:xfrm>
            <a:off x="365760" y="4343400"/>
            <a:ext cx="388620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F2F2F2"/>
                </a:solidFill>
                <a:latin typeface="Aptos"/>
              </a:rPr>
              <a:t>Replaced at every service. A routine purchase, bought again and again.</a:t>
            </a:r>
          </a:p>
        </p:txBody>
      </p:sp>
      <p:sp>
        <p:nvSpPr>
          <p:cNvPr id="26" name="card1"/>
          <p:cNvSpPr/>
          <p:nvPr/>
        </p:nvSpPr>
        <p:spPr>
          <a:xfrm>
            <a:off x="4663440" y="1828800"/>
            <a:ext cx="4160520" cy="3429000"/>
          </a:xfrm>
          <a:prstGeom prst="rect">
            <a:avLst/>
          </a:prstGeom>
          <a:solidFill>
            <a:srgbClr val="303030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ard_imgbg1"/>
          <p:cNvSpPr/>
          <p:nvPr/>
        </p:nvSpPr>
        <p:spPr>
          <a:xfrm>
            <a:off x="4800600" y="1965960"/>
            <a:ext cx="18288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card_img1" descr="hous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888" y="1984248"/>
            <a:ext cx="1792224" cy="1792224"/>
          </a:xfrm>
          <a:prstGeom prst="rect">
            <a:avLst/>
          </a:prstGeom>
        </p:spPr>
      </p:pic>
      <p:sp>
        <p:nvSpPr>
          <p:cNvPr id="29" name="card_c1"/>
          <p:cNvSpPr txBox="1"/>
          <p:nvPr/>
        </p:nvSpPr>
        <p:spPr>
          <a:xfrm>
            <a:off x="4800600" y="38404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00" b="0" i="0">
                <a:solidFill>
                  <a:srgbClr val="8C8C8C"/>
                </a:solidFill>
                <a:latin typeface="Aptos"/>
              </a:rPr>
              <a:t>Product form only; not a specific part number.</a:t>
            </a:r>
          </a:p>
        </p:txBody>
      </p:sp>
      <p:sp>
        <p:nvSpPr>
          <p:cNvPr id="30" name="card_k1"/>
          <p:cNvSpPr txBox="1"/>
          <p:nvPr/>
        </p:nvSpPr>
        <p:spPr>
          <a:xfrm>
            <a:off x="6766559" y="196596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900" b="1" i="0">
                <a:solidFill>
                  <a:srgbClr val="E30613"/>
                </a:solidFill>
                <a:latin typeface="Aptos"/>
              </a:rPr>
              <a:t>FILTER HOUSINGS AND ASSEMBLIES</a:t>
            </a:r>
          </a:p>
        </p:txBody>
      </p:sp>
      <p:sp>
        <p:nvSpPr>
          <p:cNvPr id="31" name="card_v1"/>
          <p:cNvSpPr txBox="1"/>
          <p:nvPr/>
        </p:nvSpPr>
        <p:spPr>
          <a:xfrm>
            <a:off x="6766559" y="2468880"/>
            <a:ext cx="192024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1" i="0">
                <a:solidFill>
                  <a:srgbClr val="F2F2F2"/>
                </a:solidFill>
                <a:latin typeface="Aptos"/>
              </a:rPr>
              <a:t>€154.47</a:t>
            </a:r>
          </a:p>
        </p:txBody>
      </p:sp>
      <p:sp>
        <p:nvSpPr>
          <p:cNvPr id="32" name="card_u1"/>
          <p:cNvSpPr txBox="1"/>
          <p:nvPr/>
        </p:nvSpPr>
        <p:spPr>
          <a:xfrm>
            <a:off x="6766559" y="2999232"/>
            <a:ext cx="192024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BDBDBD"/>
                </a:solidFill>
                <a:latin typeface="Aptos"/>
              </a:rPr>
              <a:t>average per unit</a:t>
            </a:r>
          </a:p>
        </p:txBody>
      </p:sp>
      <p:sp>
        <p:nvSpPr>
          <p:cNvPr id="33" name="card_m1"/>
          <p:cNvSpPr txBox="1"/>
          <p:nvPr/>
        </p:nvSpPr>
        <p:spPr>
          <a:xfrm>
            <a:off x="6766559" y="333756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BDBDBD"/>
                </a:solidFill>
                <a:latin typeface="Aptos"/>
              </a:rPr>
              <a:t>€0.73M billed</a:t>
            </a:r>
          </a:p>
          <a:p>
            <a:pPr algn="l"/>
            <a:r>
              <a:rPr sz="1000" b="0" i="0">
                <a:solidFill>
                  <a:srgbClr val="BDBDBD"/>
                </a:solidFill>
                <a:latin typeface="Aptos"/>
              </a:rPr>
              <a:t>59 part numbers</a:t>
            </a:r>
          </a:p>
        </p:txBody>
      </p:sp>
      <p:sp>
        <p:nvSpPr>
          <p:cNvPr id="34" name="card_d1"/>
          <p:cNvSpPr txBox="1"/>
          <p:nvPr/>
        </p:nvSpPr>
        <p:spPr>
          <a:xfrm>
            <a:off x="4800600" y="4343400"/>
            <a:ext cx="388620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F2F2F2"/>
                </a:solidFill>
                <a:latin typeface="Aptos"/>
              </a:rPr>
              <a:t>Replaced after damage or failure. A repair purchase, not a service one.</a:t>
            </a:r>
          </a:p>
        </p:txBody>
      </p:sp>
      <p:sp>
        <p:nvSpPr>
          <p:cNvPr id="35" name="ratio_dot"/>
          <p:cNvSpPr/>
          <p:nvPr/>
        </p:nvSpPr>
        <p:spPr>
          <a:xfrm>
            <a:off x="3931920" y="3017520"/>
            <a:ext cx="685800" cy="685800"/>
          </a:xfrm>
          <a:prstGeom prst="ellipse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atio"/>
          <p:cNvSpPr txBox="1"/>
          <p:nvPr/>
        </p:nvSpPr>
        <p:spPr>
          <a:xfrm>
            <a:off x="3931920" y="3017520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700" b="1" i="0">
                <a:solidFill>
                  <a:srgbClr val="FFFFFF"/>
                </a:solidFill>
                <a:latin typeface="Aptos"/>
              </a:rPr>
              <a:t>14×</a:t>
            </a:r>
          </a:p>
        </p:txBody>
      </p:sp>
      <p:sp>
        <p:nvSpPr>
          <p:cNvPr id="37" name="band_bg"/>
          <p:cNvSpPr/>
          <p:nvPr/>
        </p:nvSpPr>
        <p:spPr>
          <a:xfrm>
            <a:off x="228600" y="5486400"/>
            <a:ext cx="8595360" cy="731520"/>
          </a:xfrm>
          <a:prstGeom prst="rect">
            <a:avLst/>
          </a:prstGeom>
          <a:solidFill>
            <a:srgbClr val="303030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band"/>
          <p:cNvSpPr txBox="1"/>
          <p:nvPr/>
        </p:nvSpPr>
        <p:spPr>
          <a:xfrm>
            <a:off x="457200" y="5486400"/>
            <a:ext cx="8138160" cy="7315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300" b="0" i="0">
                <a:solidFill>
                  <a:srgbClr val="F2F2F2"/>
                </a:solidFill>
                <a:latin typeface="Aptos"/>
              </a:rPr>
              <a:t>Averaged together, a “filter” costs </a:t>
            </a:r>
            <a:r>
              <a:rPr sz="1300" b="1" i="0">
                <a:solidFill>
                  <a:srgbClr val="F2F2F2"/>
                </a:solidFill>
                <a:latin typeface="Aptos"/>
              </a:rPr>
              <a:t>€13.64 per unit</a:t>
            </a:r>
            <a:r>
              <a:rPr sz="1300" b="0" i="0">
                <a:solidFill>
                  <a:srgbClr val="F2F2F2"/>
                </a:solidFill>
                <a:latin typeface="Aptos"/>
              </a:rPr>
              <a:t>, a price that describes neither product.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rand"/>
          <p:cNvSpPr txBox="1"/>
          <p:nvPr/>
        </p:nvSpPr>
        <p:spPr>
          <a:xfrm>
            <a:off x="228600" y="91440"/>
            <a:ext cx="4114800" cy="16459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700" b="1" i="0">
                <a:solidFill>
                  <a:srgbClr val="F2F2F2"/>
                </a:solidFill>
                <a:latin typeface="Aptos"/>
              </a:rPr>
              <a:t>ISZE  ·  VEHICLE PARTS &amp; ACCESSORIES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228600" y="384048"/>
            <a:ext cx="64008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900" b="1" i="0">
                <a:solidFill>
                  <a:srgbClr val="E30613"/>
                </a:solidFill>
                <a:latin typeface="Aptos"/>
              </a:rPr>
              <a:t>JAPAN'S CODE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228600" y="621792"/>
            <a:ext cx="8549640" cy="7498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92000"/>
              </a:lnSpc>
            </a:pPr>
            <a:r>
              <a:rPr sz="2400" b="1" i="0">
                <a:solidFill>
                  <a:srgbClr val="F2F2F2"/>
                </a:solidFill>
                <a:latin typeface="Aptos"/>
              </a:rPr>
              <a:t>Japan's code stays on every part, but it cannot replace our parts classification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228600" y="1389888"/>
            <a:ext cx="854964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BDBDBD"/>
                </a:solidFill>
                <a:latin typeface="Aptos"/>
              </a:rPr>
              <a:t>The code says where Japan files a part. Our classification says what the part is. We need both.</a:t>
            </a:r>
          </a:p>
        </p:txBody>
      </p:sp>
      <p:cxnSp>
        <p:nvCxnSpPr>
          <p:cNvPr id="6" name="footer_rule"/>
          <p:cNvCxnSpPr/>
          <p:nvPr/>
        </p:nvCxnSpPr>
        <p:spPr>
          <a:xfrm>
            <a:off x="228600" y="6565392"/>
            <a:ext cx="11731752" cy="0"/>
          </a:xfrm>
          <a:prstGeom prst="line">
            <a:avLst/>
          </a:prstGeom>
          <a:ln w="9525">
            <a:solidFill>
              <a:srgbClr val="6A6A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ource"/>
          <p:cNvSpPr txBox="1"/>
          <p:nvPr/>
        </p:nvSpPr>
        <p:spPr>
          <a:xfrm>
            <a:off x="228600" y="6611112"/>
            <a:ext cx="10881360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00" b="0" i="0">
                <a:solidFill>
                  <a:srgbClr val="8C8C8C"/>
                </a:solidFill>
                <a:latin typeface="Aptos"/>
              </a:rPr>
              <a:t>Japan's catalogue code (ZKK) from Japan's parts-code file of 12 September 2025. Euro: price revision base, July 2025 – June 2026.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1475720" y="6611112"/>
            <a:ext cx="484632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800" b="0" i="0">
                <a:solidFill>
                  <a:srgbClr val="BDBDBD"/>
                </a:solidFill>
                <a:latin typeface="Aptos"/>
              </a:rPr>
              <a:t>7</a:t>
            </a:r>
          </a:p>
        </p:txBody>
      </p:sp>
      <p:sp>
        <p:nvSpPr>
          <p:cNvPr id="9" name="panel"/>
          <p:cNvSpPr/>
          <p:nvPr/>
        </p:nvSpPr>
        <p:spPr>
          <a:xfrm>
            <a:off x="9015984" y="1371600"/>
            <a:ext cx="2971800" cy="5074920"/>
          </a:xfrm>
          <a:prstGeom prst="rect">
            <a:avLst/>
          </a:prstGeom>
          <a:solidFill>
            <a:srgbClr val="303030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anel_label"/>
          <p:cNvSpPr txBox="1"/>
          <p:nvPr/>
        </p:nvSpPr>
        <p:spPr>
          <a:xfrm>
            <a:off x="9272015" y="1591056"/>
            <a:ext cx="25146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50" b="1" i="0">
                <a:solidFill>
                  <a:srgbClr val="E30613"/>
                </a:solidFill>
                <a:latin typeface="Aptos"/>
              </a:rPr>
              <a:t>WHAT THIS MEANS</a:t>
            </a:r>
          </a:p>
        </p:txBody>
      </p:sp>
      <p:sp>
        <p:nvSpPr>
          <p:cNvPr id="11" name="panel_dot0"/>
          <p:cNvSpPr/>
          <p:nvPr/>
        </p:nvSpPr>
        <p:spPr>
          <a:xfrm>
            <a:off x="9272015" y="2093975"/>
            <a:ext cx="91440" cy="91440"/>
          </a:xfrm>
          <a:prstGeom prst="ellipse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anel_t0"/>
          <p:cNvSpPr txBox="1"/>
          <p:nvPr/>
        </p:nvSpPr>
        <p:spPr>
          <a:xfrm>
            <a:off x="9491472" y="2029967"/>
            <a:ext cx="2258568" cy="12923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50" b="0" i="0">
                <a:solidFill>
                  <a:srgbClr val="F2F2F2"/>
                </a:solidFill>
                <a:latin typeface="Aptos"/>
              </a:rPr>
              <a:t>One Japan code holds 42% of what we bill, across 197 part types. A sales chart by Japan code cannot separate brakes from body panels.</a:t>
            </a:r>
          </a:p>
        </p:txBody>
      </p:sp>
      <p:sp>
        <p:nvSpPr>
          <p:cNvPr id="13" name="panel_dot1"/>
          <p:cNvSpPr/>
          <p:nvPr/>
        </p:nvSpPr>
        <p:spPr>
          <a:xfrm>
            <a:off x="9272015" y="3496055"/>
            <a:ext cx="91440" cy="91440"/>
          </a:xfrm>
          <a:prstGeom prst="ellipse">
            <a:avLst/>
          </a:prstGeom>
          <a:solidFill>
            <a:srgbClr val="F5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anel_t1"/>
          <p:cNvSpPr txBox="1"/>
          <p:nvPr/>
        </p:nvSpPr>
        <p:spPr>
          <a:xfrm>
            <a:off x="9491472" y="3432047"/>
            <a:ext cx="2258568" cy="12923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50" b="0" i="0">
                <a:solidFill>
                  <a:srgbClr val="F2F2F2"/>
                </a:solidFill>
                <a:latin typeface="Aptos"/>
              </a:rPr>
              <a:t>Every classification result can be translated back to Japan's own code, so a conversation with Japan can use their terms.</a:t>
            </a:r>
          </a:p>
        </p:txBody>
      </p:sp>
      <p:sp>
        <p:nvSpPr>
          <p:cNvPr id="15" name="panel_dot2"/>
          <p:cNvSpPr/>
          <p:nvPr/>
        </p:nvSpPr>
        <p:spPr>
          <a:xfrm>
            <a:off x="9272015" y="4898136"/>
            <a:ext cx="91440" cy="91440"/>
          </a:xfrm>
          <a:prstGeom prst="ellipse">
            <a:avLst/>
          </a:prstGeom>
          <a:solidFill>
            <a:srgbClr val="F5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panel_t2"/>
          <p:cNvSpPr txBox="1"/>
          <p:nvPr/>
        </p:nvSpPr>
        <p:spPr>
          <a:xfrm>
            <a:off x="9491472" y="4834128"/>
            <a:ext cx="2258568" cy="12923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50" b="0" i="0">
                <a:solidFill>
                  <a:srgbClr val="F2F2F2"/>
                </a:solidFill>
                <a:latin typeface="Aptos"/>
              </a:rPr>
              <a:t>Purpose: we analyse with our parts classification and talk to Japan in their code. Neither replaces the other.</a:t>
            </a:r>
          </a:p>
        </p:txBody>
      </p:sp>
      <p:sp>
        <p:nvSpPr>
          <p:cNvPr id="17" name="z_left_t"/>
          <p:cNvSpPr txBox="1"/>
          <p:nvPr/>
        </p:nvSpPr>
        <p:spPr>
          <a:xfrm>
            <a:off x="228600" y="1810512"/>
            <a:ext cx="475488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F2F2F2"/>
                </a:solidFill>
                <a:latin typeface="Aptos"/>
              </a:rPr>
              <a:t>One Japan code, many products</a:t>
            </a:r>
          </a:p>
          <a:p>
            <a:pPr algn="l"/>
            <a:r>
              <a:rPr sz="1050" b="0" i="0">
                <a:solidFill>
                  <a:srgbClr val="BDBDBD"/>
                </a:solidFill>
                <a:latin typeface="Aptos"/>
              </a:rPr>
              <a:t>Code 275: 42% of what we bill, by family</a:t>
            </a:r>
          </a:p>
        </p:txBody>
      </p:sp>
      <p:graphicFrame>
        <p:nvGraphicFramePr>
          <p:cNvPr id="18" name="chart_zkk"/>
          <p:cNvGraphicFramePr>
            <a:graphicFrameLocks noGrp="1"/>
          </p:cNvGraphicFramePr>
          <p:nvPr/>
        </p:nvGraphicFramePr>
        <p:xfrm>
          <a:off x="228600" y="2377440"/>
          <a:ext cx="48463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z_right_t"/>
          <p:cNvSpPr txBox="1"/>
          <p:nvPr/>
        </p:nvSpPr>
        <p:spPr>
          <a:xfrm>
            <a:off x="5349240" y="1810512"/>
            <a:ext cx="347472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F2F2F2"/>
                </a:solidFill>
                <a:latin typeface="Aptos"/>
              </a:rPr>
              <a:t>One product, many Japan codes</a:t>
            </a:r>
          </a:p>
          <a:p>
            <a:pPr algn="l"/>
            <a:r>
              <a:rPr sz="1050" b="0" i="0">
                <a:solidFill>
                  <a:srgbClr val="BDBDBD"/>
                </a:solidFill>
                <a:latin typeface="Aptos"/>
              </a:rPr>
              <a:t>Different Japan codes on the same part type</a:t>
            </a:r>
          </a:p>
        </p:txBody>
      </p:sp>
      <p:sp>
        <p:nvSpPr>
          <p:cNvPr id="20" name="zc_bg0"/>
          <p:cNvSpPr/>
          <p:nvPr/>
        </p:nvSpPr>
        <p:spPr>
          <a:xfrm>
            <a:off x="5349240" y="2377440"/>
            <a:ext cx="3474720" cy="658368"/>
          </a:xfrm>
          <a:prstGeom prst="rect">
            <a:avLst/>
          </a:prstGeom>
          <a:solidFill>
            <a:srgbClr val="3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zc_n0"/>
          <p:cNvSpPr txBox="1"/>
          <p:nvPr/>
        </p:nvSpPr>
        <p:spPr>
          <a:xfrm>
            <a:off x="5486400" y="2377440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400" b="1" i="0">
                <a:solidFill>
                  <a:srgbClr val="E30613"/>
                </a:solidFill>
                <a:latin typeface="Aptos"/>
              </a:rPr>
              <a:t>8</a:t>
            </a:r>
          </a:p>
        </p:txBody>
      </p:sp>
      <p:sp>
        <p:nvSpPr>
          <p:cNvPr id="22" name="zc_t0"/>
          <p:cNvSpPr txBox="1"/>
          <p:nvPr/>
        </p:nvSpPr>
        <p:spPr>
          <a:xfrm>
            <a:off x="6309360" y="2377440"/>
            <a:ext cx="2423160" cy="65836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150" b="0" i="0">
                <a:solidFill>
                  <a:srgbClr val="F2F2F2"/>
                </a:solidFill>
                <a:latin typeface="Aptos"/>
              </a:rPr>
              <a:t>Japan codes for brake pad kits</a:t>
            </a:r>
          </a:p>
        </p:txBody>
      </p:sp>
      <p:sp>
        <p:nvSpPr>
          <p:cNvPr id="23" name="zc_bg1"/>
          <p:cNvSpPr/>
          <p:nvPr/>
        </p:nvSpPr>
        <p:spPr>
          <a:xfrm>
            <a:off x="5349240" y="3154680"/>
            <a:ext cx="3474720" cy="658368"/>
          </a:xfrm>
          <a:prstGeom prst="rect">
            <a:avLst/>
          </a:prstGeom>
          <a:solidFill>
            <a:srgbClr val="3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zc_n1"/>
          <p:cNvSpPr txBox="1"/>
          <p:nvPr/>
        </p:nvSpPr>
        <p:spPr>
          <a:xfrm>
            <a:off x="5486400" y="3154680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400" b="1" i="0">
                <a:solidFill>
                  <a:srgbClr val="E30613"/>
                </a:solidFill>
                <a:latin typeface="Aptos"/>
              </a:rPr>
              <a:t>11</a:t>
            </a:r>
          </a:p>
        </p:txBody>
      </p:sp>
      <p:sp>
        <p:nvSpPr>
          <p:cNvPr id="25" name="zc_t1"/>
          <p:cNvSpPr txBox="1"/>
          <p:nvPr/>
        </p:nvSpPr>
        <p:spPr>
          <a:xfrm>
            <a:off x="6309360" y="3154680"/>
            <a:ext cx="2423160" cy="65836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150" b="0" i="0">
                <a:solidFill>
                  <a:srgbClr val="F2F2F2"/>
                </a:solidFill>
                <a:latin typeface="Aptos"/>
              </a:rPr>
              <a:t>Japan codes for air cleaner elements</a:t>
            </a:r>
          </a:p>
        </p:txBody>
      </p:sp>
      <p:sp>
        <p:nvSpPr>
          <p:cNvPr id="26" name="zc_bg2"/>
          <p:cNvSpPr/>
          <p:nvPr/>
        </p:nvSpPr>
        <p:spPr>
          <a:xfrm>
            <a:off x="5349240" y="3931920"/>
            <a:ext cx="3474720" cy="658368"/>
          </a:xfrm>
          <a:prstGeom prst="rect">
            <a:avLst/>
          </a:prstGeom>
          <a:solidFill>
            <a:srgbClr val="3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zc_n2"/>
          <p:cNvSpPr txBox="1"/>
          <p:nvPr/>
        </p:nvSpPr>
        <p:spPr>
          <a:xfrm>
            <a:off x="5486400" y="3931920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400" b="1" i="0">
                <a:solidFill>
                  <a:srgbClr val="E30613"/>
                </a:solidFill>
                <a:latin typeface="Aptos"/>
              </a:rPr>
              <a:t>29</a:t>
            </a:r>
          </a:p>
        </p:txBody>
      </p:sp>
      <p:sp>
        <p:nvSpPr>
          <p:cNvPr id="28" name="zc_t2"/>
          <p:cNvSpPr txBox="1"/>
          <p:nvPr/>
        </p:nvSpPr>
        <p:spPr>
          <a:xfrm>
            <a:off x="6309360" y="3931920"/>
            <a:ext cx="2423160" cy="65836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150" b="0" i="0">
                <a:solidFill>
                  <a:srgbClr val="F2F2F2"/>
                </a:solidFill>
                <a:latin typeface="Aptos"/>
              </a:rPr>
              <a:t>Japan codes for doors</a:t>
            </a:r>
          </a:p>
        </p:txBody>
      </p:sp>
      <p:sp>
        <p:nvSpPr>
          <p:cNvPr id="29" name="reinf_bg"/>
          <p:cNvSpPr/>
          <p:nvPr/>
        </p:nvSpPr>
        <p:spPr>
          <a:xfrm>
            <a:off x="228600" y="5120640"/>
            <a:ext cx="8595360" cy="1143000"/>
          </a:xfrm>
          <a:prstGeom prst="rect">
            <a:avLst/>
          </a:prstGeom>
          <a:solidFill>
            <a:srgbClr val="303030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inf_t"/>
          <p:cNvSpPr txBox="1"/>
          <p:nvPr/>
        </p:nvSpPr>
        <p:spPr>
          <a:xfrm>
            <a:off x="411480" y="5230368"/>
            <a:ext cx="192024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1" i="0">
                <a:solidFill>
                  <a:srgbClr val="E30613"/>
                </a:solidFill>
                <a:latin typeface="Aptos"/>
              </a:rPr>
              <a:t>How the code reinforces the classification</a:t>
            </a:r>
          </a:p>
        </p:txBody>
      </p:sp>
      <p:sp>
        <p:nvSpPr>
          <p:cNvPr id="31" name="reinf1"/>
          <p:cNvSpPr txBox="1"/>
          <p:nvPr/>
        </p:nvSpPr>
        <p:spPr>
          <a:xfrm>
            <a:off x="2468880" y="5230368"/>
            <a:ext cx="2560320" cy="9601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50" b="1" i="0">
                <a:solidFill>
                  <a:srgbClr val="F2F2F2"/>
                </a:solidFill>
                <a:latin typeface="Aptos"/>
              </a:rPr>
              <a:t>A bridge to Japan. </a:t>
            </a:r>
            <a:r>
              <a:rPr sz="1050" b="0" i="0">
                <a:solidFill>
                  <a:srgbClr val="F2F2F2"/>
                </a:solidFill>
                <a:latin typeface="Aptos"/>
              </a:rPr>
              <a:t>Every classification result translates back into Japan's own codes.</a:t>
            </a:r>
          </a:p>
        </p:txBody>
      </p:sp>
      <p:sp>
        <p:nvSpPr>
          <p:cNvPr id="32" name="reinf2"/>
          <p:cNvSpPr txBox="1"/>
          <p:nvPr/>
        </p:nvSpPr>
        <p:spPr>
          <a:xfrm>
            <a:off x="5212080" y="5230368"/>
            <a:ext cx="3520440" cy="9601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50" b="1" i="0">
                <a:solidFill>
                  <a:srgbClr val="F2F2F2"/>
                </a:solidFill>
                <a:latin typeface="Aptos"/>
              </a:rPr>
              <a:t>A completeness check. </a:t>
            </a:r>
            <a:r>
              <a:rPr sz="1050" b="0" i="0">
                <a:solidFill>
                  <a:srgbClr val="F2F2F2"/>
                </a:solidFill>
                <a:latin typeface="Aptos"/>
              </a:rPr>
              <a:t>89% of what we bill carries a Japan code. Of the other €3.9M: €1.3M is rebate, transport and lubricants, €1.2M is 4 steering unit part numbers, €1.4M other parts. Questions for Japan, not gaps in the classification.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rand"/>
          <p:cNvSpPr txBox="1"/>
          <p:nvPr/>
        </p:nvSpPr>
        <p:spPr>
          <a:xfrm>
            <a:off x="228600" y="91440"/>
            <a:ext cx="4114800" cy="16459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700" b="1" i="0">
                <a:solidFill>
                  <a:srgbClr val="F2F2F2"/>
                </a:solidFill>
                <a:latin typeface="Aptos"/>
              </a:rPr>
              <a:t>ISZE  ·  VEHICLE PARTS &amp; ACCESSORIES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228600" y="384048"/>
            <a:ext cx="64008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900" b="1" i="0">
                <a:solidFill>
                  <a:srgbClr val="E30613"/>
                </a:solidFill>
                <a:latin typeface="Aptos"/>
              </a:rPr>
              <a:t>SALES ANALYSIS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228600" y="621792"/>
            <a:ext cx="8549640" cy="7498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92000"/>
              </a:lnSpc>
            </a:pPr>
            <a:r>
              <a:rPr sz="2400" b="1" i="0">
                <a:solidFill>
                  <a:srgbClr val="F2F2F2"/>
                </a:solidFill>
                <a:latin typeface="Aptos"/>
              </a:rPr>
              <a:t>Norway brings in €22 more per vehicle than Sweden. The classification traces it to two products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228600" y="1389888"/>
            <a:ext cx="854964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BDBDBD"/>
                </a:solidFill>
                <a:latin typeface="Aptos"/>
              </a:rPr>
              <a:t>Similar light-commercial fleets: 7,929 vehicles in service in Norway, 8,443 in Sweden.</a:t>
            </a:r>
          </a:p>
        </p:txBody>
      </p:sp>
      <p:cxnSp>
        <p:nvCxnSpPr>
          <p:cNvPr id="6" name="footer_rule"/>
          <p:cNvCxnSpPr/>
          <p:nvPr/>
        </p:nvCxnSpPr>
        <p:spPr>
          <a:xfrm>
            <a:off x="228600" y="6565392"/>
            <a:ext cx="11731752" cy="0"/>
          </a:xfrm>
          <a:prstGeom prst="line">
            <a:avLst/>
          </a:prstGeom>
          <a:ln w="9525">
            <a:solidFill>
              <a:srgbClr val="6A6A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ource"/>
          <p:cNvSpPr txBox="1"/>
          <p:nvPr/>
        </p:nvSpPr>
        <p:spPr>
          <a:xfrm>
            <a:off x="228600" y="6611112"/>
            <a:ext cx="10881360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00" b="0" i="0">
                <a:solidFill>
                  <a:srgbClr val="8C8C8C"/>
                </a:solidFill>
                <a:latin typeface="Aptos"/>
              </a:rPr>
              <a:t>Parts billed July 2025 – June 2026, price revision base. Vehicles in service: 2025 estimates for both markets.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1475720" y="6611112"/>
            <a:ext cx="484632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800" b="0" i="0">
                <a:solidFill>
                  <a:srgbClr val="BDBDBD"/>
                </a:solidFill>
                <a:latin typeface="Aptos"/>
              </a:rPr>
              <a:t>8</a:t>
            </a:r>
          </a:p>
        </p:txBody>
      </p:sp>
      <p:sp>
        <p:nvSpPr>
          <p:cNvPr id="9" name="panel"/>
          <p:cNvSpPr/>
          <p:nvPr/>
        </p:nvSpPr>
        <p:spPr>
          <a:xfrm>
            <a:off x="9015984" y="1371600"/>
            <a:ext cx="2971800" cy="5074920"/>
          </a:xfrm>
          <a:prstGeom prst="rect">
            <a:avLst/>
          </a:prstGeom>
          <a:solidFill>
            <a:srgbClr val="303030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anel_label"/>
          <p:cNvSpPr txBox="1"/>
          <p:nvPr/>
        </p:nvSpPr>
        <p:spPr>
          <a:xfrm>
            <a:off x="9272015" y="1591056"/>
            <a:ext cx="25146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50" b="1" i="0">
                <a:solidFill>
                  <a:srgbClr val="E30613"/>
                </a:solidFill>
                <a:latin typeface="Aptos"/>
              </a:rPr>
              <a:t>WHAT THIS MEANS</a:t>
            </a:r>
          </a:p>
        </p:txBody>
      </p:sp>
      <p:sp>
        <p:nvSpPr>
          <p:cNvPr id="11" name="panel_dot0"/>
          <p:cNvSpPr/>
          <p:nvPr/>
        </p:nvSpPr>
        <p:spPr>
          <a:xfrm>
            <a:off x="9272015" y="2093975"/>
            <a:ext cx="91440" cy="91440"/>
          </a:xfrm>
          <a:prstGeom prst="ellipse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anel_t0"/>
          <p:cNvSpPr txBox="1"/>
          <p:nvPr/>
        </p:nvSpPr>
        <p:spPr>
          <a:xfrm>
            <a:off x="9491472" y="2029967"/>
            <a:ext cx="2258568" cy="12923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50" b="0" i="0">
                <a:solidFill>
                  <a:srgbClr val="F2F2F2"/>
                </a:solidFill>
                <a:latin typeface="Aptos"/>
              </a:rPr>
              <a:t>Two similar fleets, two different parts bills: €209 against €187 per vehicle.</a:t>
            </a:r>
          </a:p>
        </p:txBody>
      </p:sp>
      <p:sp>
        <p:nvSpPr>
          <p:cNvPr id="13" name="panel_dot1"/>
          <p:cNvSpPr/>
          <p:nvPr/>
        </p:nvSpPr>
        <p:spPr>
          <a:xfrm>
            <a:off x="9272015" y="3496055"/>
            <a:ext cx="91440" cy="91440"/>
          </a:xfrm>
          <a:prstGeom prst="ellipse">
            <a:avLst/>
          </a:prstGeom>
          <a:solidFill>
            <a:srgbClr val="F5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anel_t1"/>
          <p:cNvSpPr txBox="1"/>
          <p:nvPr/>
        </p:nvSpPr>
        <p:spPr>
          <a:xfrm>
            <a:off x="9491472" y="3432047"/>
            <a:ext cx="2258568" cy="12923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50" b="0" i="0">
                <a:solidFill>
                  <a:srgbClr val="F2F2F2"/>
                </a:solidFill>
                <a:latin typeface="Aptos"/>
              </a:rPr>
              <a:t>Steering units and brake pad kits explain most of it. Both are questions for the distributor, not conclusions.</a:t>
            </a:r>
          </a:p>
        </p:txBody>
      </p:sp>
      <p:sp>
        <p:nvSpPr>
          <p:cNvPr id="15" name="panel_dot2"/>
          <p:cNvSpPr/>
          <p:nvPr/>
        </p:nvSpPr>
        <p:spPr>
          <a:xfrm>
            <a:off x="9272015" y="4898136"/>
            <a:ext cx="91440" cy="91440"/>
          </a:xfrm>
          <a:prstGeom prst="ellipse">
            <a:avLst/>
          </a:prstGeom>
          <a:solidFill>
            <a:srgbClr val="F5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panel_t2"/>
          <p:cNvSpPr txBox="1"/>
          <p:nvPr/>
        </p:nvSpPr>
        <p:spPr>
          <a:xfrm>
            <a:off x="9491472" y="4834128"/>
            <a:ext cx="2258568" cy="12923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50" b="0" i="0">
                <a:solidFill>
                  <a:srgbClr val="F2F2F2"/>
                </a:solidFill>
                <a:latin typeface="Aptos"/>
              </a:rPr>
              <a:t>Purpose: turn a gap between two distributors into a question about a named product.</a:t>
            </a:r>
          </a:p>
        </p:txBody>
      </p:sp>
      <p:sp>
        <p:nvSpPr>
          <p:cNvPr id="17" name="nv_t"/>
          <p:cNvSpPr txBox="1"/>
          <p:nvPr/>
        </p:nvSpPr>
        <p:spPr>
          <a:xfrm>
            <a:off x="228600" y="1810512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F2F2F2"/>
                </a:solidFill>
                <a:latin typeface="Aptos"/>
              </a:rPr>
              <a:t>€209 against €187 per vehicle</a:t>
            </a:r>
          </a:p>
          <a:p>
            <a:pPr algn="l"/>
            <a:r>
              <a:rPr sz="1050" b="0" i="0">
                <a:solidFill>
                  <a:srgbClr val="BDBDBD"/>
                </a:solidFill>
                <a:latin typeface="Aptos"/>
              </a:rPr>
              <a:t>Difference by family, Norway minus Sweden, € per vehicle</a:t>
            </a:r>
          </a:p>
        </p:txBody>
      </p:sp>
      <p:graphicFrame>
        <p:nvGraphicFramePr>
          <p:cNvPr id="18" name="chart_nordic"/>
          <p:cNvGraphicFramePr>
            <a:graphicFrameLocks noGrp="1"/>
          </p:cNvGraphicFramePr>
          <p:nvPr/>
        </p:nvGraphicFramePr>
        <p:xfrm>
          <a:off x="228600" y="2377440"/>
          <a:ext cx="4983480" cy="3063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nf_bg0"/>
          <p:cNvSpPr/>
          <p:nvPr/>
        </p:nvSpPr>
        <p:spPr>
          <a:xfrm>
            <a:off x="5394960" y="1810512"/>
            <a:ext cx="3429000" cy="1691640"/>
          </a:xfrm>
          <a:prstGeom prst="rect">
            <a:avLst/>
          </a:prstGeom>
          <a:solidFill>
            <a:srgbClr val="303030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nf_k0"/>
          <p:cNvSpPr txBox="1"/>
          <p:nvPr/>
        </p:nvSpPr>
        <p:spPr>
          <a:xfrm>
            <a:off x="5577840" y="1920240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50" b="1" i="0">
                <a:solidFill>
                  <a:srgbClr val="E30613"/>
                </a:solidFill>
                <a:latin typeface="Aptos"/>
              </a:rPr>
              <a:t>STEERING UNITS</a:t>
            </a:r>
          </a:p>
        </p:txBody>
      </p:sp>
      <p:sp>
        <p:nvSpPr>
          <p:cNvPr id="21" name="nf_v0"/>
          <p:cNvSpPr txBox="1"/>
          <p:nvPr/>
        </p:nvSpPr>
        <p:spPr>
          <a:xfrm>
            <a:off x="5577840" y="21579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F2F2F2"/>
                </a:solidFill>
                <a:latin typeface="Aptos"/>
              </a:rPr>
              <a:t>€19.56 vs €2.09 per vehicle</a:t>
            </a:r>
          </a:p>
        </p:txBody>
      </p:sp>
      <p:sp>
        <p:nvSpPr>
          <p:cNvPr id="22" name="nf_b0"/>
          <p:cNvSpPr txBox="1"/>
          <p:nvPr/>
        </p:nvSpPr>
        <p:spPr>
          <a:xfrm>
            <a:off x="5577840" y="2542032"/>
            <a:ext cx="310896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50" b="0" i="0">
                <a:solidFill>
                  <a:srgbClr val="BDBDBD"/>
                </a:solidFill>
                <a:latin typeface="Aptos"/>
              </a:rPr>
              <a:t>Norway bought 82, 81 of them one part number. Sweden bought 10. A repair pattern in Norway, or demand Sweden is not getting?</a:t>
            </a:r>
          </a:p>
        </p:txBody>
      </p:sp>
      <p:sp>
        <p:nvSpPr>
          <p:cNvPr id="23" name="nf_bg1"/>
          <p:cNvSpPr/>
          <p:nvPr/>
        </p:nvSpPr>
        <p:spPr>
          <a:xfrm>
            <a:off x="5394960" y="3639312"/>
            <a:ext cx="3429000" cy="1691640"/>
          </a:xfrm>
          <a:prstGeom prst="rect">
            <a:avLst/>
          </a:prstGeom>
          <a:solidFill>
            <a:srgbClr val="303030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nf_k1"/>
          <p:cNvSpPr txBox="1"/>
          <p:nvPr/>
        </p:nvSpPr>
        <p:spPr>
          <a:xfrm>
            <a:off x="5577840" y="3749039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50" b="1" i="0">
                <a:solidFill>
                  <a:srgbClr val="E30613"/>
                </a:solidFill>
                <a:latin typeface="Aptos"/>
              </a:rPr>
              <a:t>BRAKE PAD KITS</a:t>
            </a:r>
          </a:p>
        </p:txBody>
      </p:sp>
      <p:sp>
        <p:nvSpPr>
          <p:cNvPr id="25" name="nf_v1"/>
          <p:cNvSpPr txBox="1"/>
          <p:nvPr/>
        </p:nvSpPr>
        <p:spPr>
          <a:xfrm>
            <a:off x="5577840" y="39867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F2F2F2"/>
                </a:solidFill>
                <a:latin typeface="Aptos"/>
              </a:rPr>
              <a:t>€10.72 vs €4.64 per vehicle</a:t>
            </a:r>
          </a:p>
        </p:txBody>
      </p:sp>
      <p:sp>
        <p:nvSpPr>
          <p:cNvPr id="26" name="nf_b1"/>
          <p:cNvSpPr txBox="1"/>
          <p:nvPr/>
        </p:nvSpPr>
        <p:spPr>
          <a:xfrm>
            <a:off x="5577840" y="4370832"/>
            <a:ext cx="310896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50" b="0" i="0">
                <a:solidFill>
                  <a:srgbClr val="BDBDBD"/>
                </a:solidFill>
                <a:latin typeface="Aptos"/>
              </a:rPr>
              <a:t>Norway buys 14 kits per 100 vehicles a year, Sweden 6. Where do Swedish owners buy their brake pads?</a:t>
            </a:r>
          </a:p>
        </p:txBody>
      </p:sp>
      <p:sp>
        <p:nvSpPr>
          <p:cNvPr id="27" name="band_bg"/>
          <p:cNvSpPr/>
          <p:nvPr/>
        </p:nvSpPr>
        <p:spPr>
          <a:xfrm>
            <a:off x="228600" y="5623560"/>
            <a:ext cx="8595360" cy="685800"/>
          </a:xfrm>
          <a:prstGeom prst="rect">
            <a:avLst/>
          </a:prstGeom>
          <a:solidFill>
            <a:srgbClr val="303030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band"/>
          <p:cNvSpPr txBox="1"/>
          <p:nvPr/>
        </p:nvSpPr>
        <p:spPr>
          <a:xfrm>
            <a:off x="457200" y="5623560"/>
            <a:ext cx="8138160" cy="6858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250" b="0" i="0">
                <a:solidFill>
                  <a:srgbClr val="F2F2F2"/>
                </a:solidFill>
                <a:latin typeface="Aptos"/>
              </a:rPr>
              <a:t>Without families this is one number: Norway is 12% ahead. </a:t>
            </a:r>
            <a:r>
              <a:rPr sz="1250" b="1" i="0">
                <a:solidFill>
                  <a:srgbClr val="F2F2F2"/>
                </a:solidFill>
                <a:latin typeface="Aptos"/>
              </a:rPr>
              <a:t>With the classification it is two concrete distributor conversations.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rand"/>
          <p:cNvSpPr txBox="1"/>
          <p:nvPr/>
        </p:nvSpPr>
        <p:spPr>
          <a:xfrm>
            <a:off x="228600" y="91440"/>
            <a:ext cx="4114800" cy="16459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700" b="1" i="0">
                <a:solidFill>
                  <a:srgbClr val="F2F2F2"/>
                </a:solidFill>
                <a:latin typeface="Aptos"/>
              </a:rPr>
              <a:t>ISZE  ·  VEHICLE PARTS &amp; ACCESSORIES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228600" y="384048"/>
            <a:ext cx="64008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900" b="1" i="0">
                <a:solidFill>
                  <a:srgbClr val="E30613"/>
                </a:solidFill>
                <a:latin typeface="Aptos"/>
              </a:rPr>
              <a:t>PRICE REVISIONS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228600" y="621792"/>
            <a:ext cx="8549640" cy="7498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92000"/>
              </a:lnSpc>
            </a:pPr>
            <a:r>
              <a:rPr sz="2400" b="1" i="0">
                <a:solidFill>
                  <a:srgbClr val="F2F2F2"/>
                </a:solidFill>
                <a:latin typeface="Aptos"/>
              </a:rPr>
              <a:t>The factory raised base prices 6.0% on average. By product group it ran from 0.6% to 10.3%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228600" y="1389888"/>
            <a:ext cx="854964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BDBDBD"/>
                </a:solidFill>
                <a:latin typeface="Aptos"/>
              </a:rPr>
              <a:t>IML and IMIT base prices, September 2026 against September 2025, weighted on what we billed July 2025 – June 2026.</a:t>
            </a:r>
          </a:p>
        </p:txBody>
      </p:sp>
      <p:cxnSp>
        <p:nvCxnSpPr>
          <p:cNvPr id="6" name="footer_rule"/>
          <p:cNvCxnSpPr/>
          <p:nvPr/>
        </p:nvCxnSpPr>
        <p:spPr>
          <a:xfrm>
            <a:off x="228600" y="6565392"/>
            <a:ext cx="11731752" cy="0"/>
          </a:xfrm>
          <a:prstGeom prst="line">
            <a:avLst/>
          </a:prstGeom>
          <a:ln w="9525">
            <a:solidFill>
              <a:srgbClr val="6A6A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ource"/>
          <p:cNvSpPr txBox="1"/>
          <p:nvPr/>
        </p:nvSpPr>
        <p:spPr>
          <a:xfrm>
            <a:off x="228600" y="6611112"/>
            <a:ext cx="10881360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00" b="0" i="0">
                <a:solidFill>
                  <a:srgbClr val="8C8C8C"/>
                </a:solidFill>
                <a:latin typeface="Aptos"/>
              </a:rPr>
              <a:t>Factory base-price move on billed quantities, not a forecast: €1.65M at last year's volumes in yen prices (our list at 6.0%: €1.96M). Groups with at least €0.5M billed.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1475720" y="6611112"/>
            <a:ext cx="484632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800" b="0" i="0">
                <a:solidFill>
                  <a:srgbClr val="BDBDBD"/>
                </a:solidFill>
                <a:latin typeface="Aptos"/>
              </a:rPr>
              <a:t>9</a:t>
            </a:r>
          </a:p>
        </p:txBody>
      </p:sp>
      <p:sp>
        <p:nvSpPr>
          <p:cNvPr id="9" name="panel"/>
          <p:cNvSpPr/>
          <p:nvPr/>
        </p:nvSpPr>
        <p:spPr>
          <a:xfrm>
            <a:off x="9015984" y="1371600"/>
            <a:ext cx="2971800" cy="5074920"/>
          </a:xfrm>
          <a:prstGeom prst="rect">
            <a:avLst/>
          </a:prstGeom>
          <a:solidFill>
            <a:srgbClr val="303030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anel_label"/>
          <p:cNvSpPr txBox="1"/>
          <p:nvPr/>
        </p:nvSpPr>
        <p:spPr>
          <a:xfrm>
            <a:off x="9272015" y="1591056"/>
            <a:ext cx="25146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50" b="1" i="0">
                <a:solidFill>
                  <a:srgbClr val="E30613"/>
                </a:solidFill>
                <a:latin typeface="Aptos"/>
              </a:rPr>
              <a:t>WHAT THIS MEANS</a:t>
            </a:r>
          </a:p>
        </p:txBody>
      </p:sp>
      <p:sp>
        <p:nvSpPr>
          <p:cNvPr id="11" name="panel_dot0"/>
          <p:cNvSpPr/>
          <p:nvPr/>
        </p:nvSpPr>
        <p:spPr>
          <a:xfrm>
            <a:off x="9272015" y="2093975"/>
            <a:ext cx="91440" cy="91440"/>
          </a:xfrm>
          <a:prstGeom prst="ellipse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anel_t0"/>
          <p:cNvSpPr txBox="1"/>
          <p:nvPr/>
        </p:nvSpPr>
        <p:spPr>
          <a:xfrm>
            <a:off x="9491472" y="2029967"/>
            <a:ext cx="2258568" cy="94183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50" b="1" i="0">
                <a:solidFill>
                  <a:srgbClr val="F2F2F2"/>
                </a:solidFill>
                <a:latin typeface="Aptos"/>
              </a:rPr>
              <a:t>Steering gear +0.6%. </a:t>
            </a:r>
            <a:r>
              <a:rPr sz="1150" b="0" i="0">
                <a:solidFill>
                  <a:srgbClr val="F2F2F2"/>
                </a:solidFill>
                <a:latin typeface="Aptos"/>
              </a:rPr>
              <a:t>One flat 6% would lift our price about ten times more than the factory cost moved.</a:t>
            </a:r>
          </a:p>
        </p:txBody>
      </p:sp>
      <p:sp>
        <p:nvSpPr>
          <p:cNvPr id="13" name="panel_dot1"/>
          <p:cNvSpPr/>
          <p:nvPr/>
        </p:nvSpPr>
        <p:spPr>
          <a:xfrm>
            <a:off x="9272015" y="3145535"/>
            <a:ext cx="91440" cy="91440"/>
          </a:xfrm>
          <a:prstGeom prst="ellipse">
            <a:avLst/>
          </a:prstGeom>
          <a:solidFill>
            <a:srgbClr val="F5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anel_t1"/>
          <p:cNvSpPr txBox="1"/>
          <p:nvPr/>
        </p:nvSpPr>
        <p:spPr>
          <a:xfrm>
            <a:off x="9491472" y="3081527"/>
            <a:ext cx="2258568" cy="94183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50" b="1" i="0">
                <a:solidFill>
                  <a:srgbClr val="F2F2F2"/>
                </a:solidFill>
                <a:latin typeface="Aptos"/>
              </a:rPr>
              <a:t>Air and fuel filters +2.2% to +2.7%. </a:t>
            </a:r>
            <a:r>
              <a:rPr sz="1150" b="0" i="0">
                <a:solidFill>
                  <a:srgbClr val="F2F2F2"/>
                </a:solidFill>
                <a:latin typeface="Aptos"/>
              </a:rPr>
              <a:t>A flat 6% makes the most frequent service parts dearer than the cost requires.</a:t>
            </a:r>
          </a:p>
        </p:txBody>
      </p:sp>
      <p:sp>
        <p:nvSpPr>
          <p:cNvPr id="15" name="panel_dot2"/>
          <p:cNvSpPr/>
          <p:nvPr/>
        </p:nvSpPr>
        <p:spPr>
          <a:xfrm>
            <a:off x="9272015" y="4197096"/>
            <a:ext cx="91440" cy="91440"/>
          </a:xfrm>
          <a:prstGeom prst="ellipse">
            <a:avLst/>
          </a:prstGeom>
          <a:solidFill>
            <a:srgbClr val="F5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panel_t2"/>
          <p:cNvSpPr txBox="1"/>
          <p:nvPr/>
        </p:nvSpPr>
        <p:spPr>
          <a:xfrm>
            <a:off x="9491472" y="4133087"/>
            <a:ext cx="2258568" cy="94183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50" b="1" i="0">
                <a:solidFill>
                  <a:srgbClr val="F2F2F2"/>
                </a:solidFill>
                <a:latin typeface="Aptos"/>
              </a:rPr>
              <a:t>Brake pads and shoes +10.3%. </a:t>
            </a:r>
            <a:r>
              <a:rPr sz="1150" b="0" i="0">
                <a:solidFill>
                  <a:srgbClr val="F2F2F2"/>
                </a:solidFill>
                <a:latin typeface="Aptos"/>
              </a:rPr>
              <a:t>Independent brands compete here. The pricing revision keeps the 29 brake pad kits at today's price.</a:t>
            </a:r>
          </a:p>
        </p:txBody>
      </p:sp>
      <p:sp>
        <p:nvSpPr>
          <p:cNvPr id="17" name="panel_dot3"/>
          <p:cNvSpPr/>
          <p:nvPr/>
        </p:nvSpPr>
        <p:spPr>
          <a:xfrm>
            <a:off x="9272015" y="5248656"/>
            <a:ext cx="91440" cy="91440"/>
          </a:xfrm>
          <a:prstGeom prst="ellipse">
            <a:avLst/>
          </a:prstGeom>
          <a:solidFill>
            <a:srgbClr val="F5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panel_t3"/>
          <p:cNvSpPr txBox="1"/>
          <p:nvPr/>
        </p:nvSpPr>
        <p:spPr>
          <a:xfrm>
            <a:off x="9491472" y="5184648"/>
            <a:ext cx="2258568" cy="94183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50" b="0" i="0">
                <a:solidFill>
                  <a:srgbClr val="F2F2F2"/>
                </a:solidFill>
                <a:latin typeface="Aptos"/>
              </a:rPr>
              <a:t>Purpose: a price decision per product group instead of one network percentage.</a:t>
            </a:r>
          </a:p>
        </p:txBody>
      </p:sp>
      <p:graphicFrame>
        <p:nvGraphicFramePr>
          <p:cNvPr id="19" name="chart_increase"/>
          <p:cNvGraphicFramePr>
            <a:graphicFrameLocks noGrp="1"/>
          </p:cNvGraphicFramePr>
          <p:nvPr/>
        </p:nvGraphicFramePr>
        <p:xfrm>
          <a:off x="228600" y="1783080"/>
          <a:ext cx="8595360" cy="4526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rand"/>
          <p:cNvSpPr txBox="1"/>
          <p:nvPr/>
        </p:nvSpPr>
        <p:spPr>
          <a:xfrm>
            <a:off x="228600" y="91440"/>
            <a:ext cx="4114800" cy="16459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700" b="1" i="0">
                <a:solidFill>
                  <a:srgbClr val="F2F2F2"/>
                </a:solidFill>
                <a:latin typeface="Aptos"/>
              </a:rPr>
              <a:t>ISZE  ·  VEHICLE PARTS &amp; ACCESSORIES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228600" y="384048"/>
            <a:ext cx="64008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900" b="1" i="0">
                <a:solidFill>
                  <a:srgbClr val="E30613"/>
                </a:solidFill>
                <a:latin typeface="Aptos"/>
              </a:rPr>
              <a:t>WHAT I USE OUR PARTS CLASSIFICATION FOR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228600" y="621792"/>
            <a:ext cx="11704320" cy="7498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92000"/>
              </a:lnSpc>
            </a:pPr>
            <a:r>
              <a:rPr sz="2400" b="1" i="0">
                <a:solidFill>
                  <a:srgbClr val="F2F2F2"/>
                </a:solidFill>
                <a:latin typeface="Aptos"/>
              </a:rPr>
              <a:t>Four things I use our parts classification for, and the evidence behind each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228600" y="1389888"/>
            <a:ext cx="1170432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BDBDBD"/>
                </a:solidFill>
                <a:latin typeface="Aptos"/>
              </a:rPr>
              <a:t>Each use is shown with real numbers earlier in this presentation.</a:t>
            </a:r>
          </a:p>
        </p:txBody>
      </p:sp>
      <p:cxnSp>
        <p:nvCxnSpPr>
          <p:cNvPr id="6" name="footer_rule"/>
          <p:cNvCxnSpPr/>
          <p:nvPr/>
        </p:nvCxnSpPr>
        <p:spPr>
          <a:xfrm>
            <a:off x="228600" y="6565392"/>
            <a:ext cx="11731752" cy="0"/>
          </a:xfrm>
          <a:prstGeom prst="line">
            <a:avLst/>
          </a:prstGeom>
          <a:ln w="9525">
            <a:solidFill>
              <a:srgbClr val="6A6A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ource"/>
          <p:cNvSpPr txBox="1"/>
          <p:nvPr/>
        </p:nvSpPr>
        <p:spPr>
          <a:xfrm>
            <a:off x="228600" y="6611112"/>
            <a:ext cx="10881360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00" b="0" i="0">
                <a:solidFill>
                  <a:srgbClr val="8C8C8C"/>
                </a:solidFill>
                <a:latin typeface="Aptos"/>
              </a:rPr>
              <a:t>Figures from pages 5 to 9. Billed July 2025 – June 2026, price revision base.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1475720" y="6611112"/>
            <a:ext cx="484632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800" b="0" i="0">
                <a:solidFill>
                  <a:srgbClr val="BDBDBD"/>
                </a:solidFill>
                <a:latin typeface="Aptos"/>
              </a:rPr>
              <a:t>10</a:t>
            </a:r>
          </a:p>
        </p:txBody>
      </p:sp>
      <p:sp>
        <p:nvSpPr>
          <p:cNvPr id="9" name="use_bg0"/>
          <p:cNvSpPr/>
          <p:nvPr/>
        </p:nvSpPr>
        <p:spPr>
          <a:xfrm>
            <a:off x="228600" y="1810512"/>
            <a:ext cx="2788920" cy="3931920"/>
          </a:xfrm>
          <a:prstGeom prst="rect">
            <a:avLst/>
          </a:prstGeom>
          <a:solidFill>
            <a:srgbClr val="303030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use_dot0"/>
          <p:cNvSpPr/>
          <p:nvPr/>
        </p:nvSpPr>
        <p:spPr>
          <a:xfrm>
            <a:off x="411480" y="1965960"/>
            <a:ext cx="384048" cy="384048"/>
          </a:xfrm>
          <a:prstGeom prst="ellipse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use_n0"/>
          <p:cNvSpPr txBox="1"/>
          <p:nvPr/>
        </p:nvSpPr>
        <p:spPr>
          <a:xfrm>
            <a:off x="411480" y="196596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2" name="use_h0"/>
          <p:cNvSpPr txBox="1"/>
          <p:nvPr/>
        </p:nvSpPr>
        <p:spPr>
          <a:xfrm>
            <a:off x="914400" y="1920240"/>
            <a:ext cx="2011680" cy="5029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200" b="1" i="0">
                <a:solidFill>
                  <a:srgbClr val="F2F2F2"/>
                </a:solidFill>
                <a:latin typeface="Aptos"/>
              </a:rPr>
              <a:t>Explain sales down to the part</a:t>
            </a:r>
          </a:p>
        </p:txBody>
      </p:sp>
      <p:sp>
        <p:nvSpPr>
          <p:cNvPr id="13" name="use_t0"/>
          <p:cNvSpPr txBox="1"/>
          <p:nvPr/>
        </p:nvSpPr>
        <p:spPr>
          <a:xfrm>
            <a:off x="411480" y="2560320"/>
            <a:ext cx="2468880" cy="3108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00" b="1" i="0">
                <a:solidFill>
                  <a:srgbClr val="E30613"/>
                </a:solidFill>
                <a:latin typeface="Aptos"/>
              </a:rPr>
              <a:t>WHAT IT DOES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F2F2F2"/>
                </a:solidFill>
                <a:latin typeface="Aptos"/>
              </a:rPr>
              <a:t>Compare distributors in euro per vehicle in service, by family and part type, and trace a gap to a named part number.</a:t>
            </a:r>
          </a:p>
          <a:p>
            <a:pPr algn="l">
              <a:spcBef>
                <a:spcPts val="1000"/>
              </a:spcBef>
            </a:pPr>
            <a:r>
              <a:rPr sz="800" b="1" i="0">
                <a:solidFill>
                  <a:srgbClr val="E30613"/>
                </a:solidFill>
                <a:latin typeface="Aptos"/>
              </a:rPr>
              <a:t>WHY IT MATTERS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F2F2F2"/>
                </a:solidFill>
                <a:latin typeface="Aptos"/>
              </a:rPr>
              <a:t>A gap between two markets becomes a question to one distributor about one product, not an average to argue over.</a:t>
            </a:r>
          </a:p>
          <a:p>
            <a:pPr algn="l">
              <a:spcBef>
                <a:spcPts val="1000"/>
              </a:spcBef>
            </a:pPr>
            <a:r>
              <a:rPr sz="800" b="1" i="0">
                <a:solidFill>
                  <a:srgbClr val="E30613"/>
                </a:solidFill>
                <a:latin typeface="Aptos"/>
              </a:rPr>
              <a:t>SHOWN IN THIS PRESENTATION</a:t>
            </a:r>
          </a:p>
          <a:p>
            <a:pPr algn="l">
              <a:spcBef>
                <a:spcPts val="300"/>
              </a:spcBef>
            </a:pPr>
            <a:r>
              <a:rPr sz="1100" b="1" i="0">
                <a:solidFill>
                  <a:srgbClr val="F2F2F2"/>
                </a:solidFill>
                <a:latin typeface="Aptos"/>
              </a:rPr>
              <a:t>Norway against Sweden: €22 per vehicle, traced to steering units and brake pad kits (page 8).</a:t>
            </a:r>
          </a:p>
        </p:txBody>
      </p:sp>
      <p:sp>
        <p:nvSpPr>
          <p:cNvPr id="14" name="use_bg1"/>
          <p:cNvSpPr/>
          <p:nvPr/>
        </p:nvSpPr>
        <p:spPr>
          <a:xfrm>
            <a:off x="3154680" y="1810512"/>
            <a:ext cx="2788920" cy="3931920"/>
          </a:xfrm>
          <a:prstGeom prst="rect">
            <a:avLst/>
          </a:prstGeom>
          <a:solidFill>
            <a:srgbClr val="303030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use_dot1"/>
          <p:cNvSpPr/>
          <p:nvPr/>
        </p:nvSpPr>
        <p:spPr>
          <a:xfrm>
            <a:off x="3337560" y="1965960"/>
            <a:ext cx="384048" cy="384048"/>
          </a:xfrm>
          <a:prstGeom prst="ellipse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use_n1"/>
          <p:cNvSpPr txBox="1"/>
          <p:nvPr/>
        </p:nvSpPr>
        <p:spPr>
          <a:xfrm>
            <a:off x="3337560" y="196596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use_h1"/>
          <p:cNvSpPr txBox="1"/>
          <p:nvPr/>
        </p:nvSpPr>
        <p:spPr>
          <a:xfrm>
            <a:off x="3840480" y="1920240"/>
            <a:ext cx="2011680" cy="5029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200" b="1" i="0">
                <a:solidFill>
                  <a:srgbClr val="F2F2F2"/>
                </a:solidFill>
                <a:latin typeface="Aptos"/>
              </a:rPr>
              <a:t>Set price revisions per product group</a:t>
            </a:r>
          </a:p>
        </p:txBody>
      </p:sp>
      <p:sp>
        <p:nvSpPr>
          <p:cNvPr id="18" name="use_t1"/>
          <p:cNvSpPr txBox="1"/>
          <p:nvPr/>
        </p:nvSpPr>
        <p:spPr>
          <a:xfrm>
            <a:off x="3337560" y="2560320"/>
            <a:ext cx="2468880" cy="3108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00" b="1" i="0">
                <a:solidFill>
                  <a:srgbClr val="E30613"/>
                </a:solidFill>
                <a:latin typeface="Aptos"/>
              </a:rPr>
              <a:t>WHAT IT DOES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F2F2F2"/>
                </a:solidFill>
                <a:latin typeface="Aptos"/>
              </a:rPr>
              <a:t>Read the factory increase and our own price decisions per family, product group and part type.</a:t>
            </a:r>
          </a:p>
          <a:p>
            <a:pPr algn="l">
              <a:spcBef>
                <a:spcPts val="1000"/>
              </a:spcBef>
            </a:pPr>
            <a:r>
              <a:rPr sz="800" b="1" i="0">
                <a:solidFill>
                  <a:srgbClr val="E30613"/>
                </a:solidFill>
                <a:latin typeface="Aptos"/>
              </a:rPr>
              <a:t>WHY IT MATTERS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F2F2F2"/>
                </a:solidFill>
                <a:latin typeface="Aptos"/>
              </a:rPr>
              <a:t>The factory increase ran from +0.6% on steering gear to +10.3% on brake pads. One average hides where we compete and where we do not.</a:t>
            </a:r>
          </a:p>
          <a:p>
            <a:pPr algn="l">
              <a:spcBef>
                <a:spcPts val="1000"/>
              </a:spcBef>
            </a:pPr>
            <a:r>
              <a:rPr sz="800" b="1" i="0">
                <a:solidFill>
                  <a:srgbClr val="E30613"/>
                </a:solidFill>
                <a:latin typeface="Aptos"/>
              </a:rPr>
              <a:t>SHOWN IN THIS PRESENTATION</a:t>
            </a:r>
          </a:p>
          <a:p>
            <a:pPr algn="l">
              <a:spcBef>
                <a:spcPts val="300"/>
              </a:spcBef>
            </a:pPr>
            <a:r>
              <a:rPr sz="1100" b="1" i="0">
                <a:solidFill>
                  <a:srgbClr val="F2F2F2"/>
                </a:solidFill>
                <a:latin typeface="Aptos"/>
              </a:rPr>
              <a:t>6.0% on average, 0.6% to 10.3% by product group (page 9).</a:t>
            </a:r>
          </a:p>
        </p:txBody>
      </p:sp>
      <p:sp>
        <p:nvSpPr>
          <p:cNvPr id="19" name="use_bg2"/>
          <p:cNvSpPr/>
          <p:nvPr/>
        </p:nvSpPr>
        <p:spPr>
          <a:xfrm>
            <a:off x="6080760" y="1810512"/>
            <a:ext cx="2788920" cy="3931920"/>
          </a:xfrm>
          <a:prstGeom prst="rect">
            <a:avLst/>
          </a:prstGeom>
          <a:solidFill>
            <a:srgbClr val="303030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use_dot2"/>
          <p:cNvSpPr/>
          <p:nvPr/>
        </p:nvSpPr>
        <p:spPr>
          <a:xfrm>
            <a:off x="6263640" y="1965960"/>
            <a:ext cx="384048" cy="384048"/>
          </a:xfrm>
          <a:prstGeom prst="ellipse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use_n2"/>
          <p:cNvSpPr txBox="1"/>
          <p:nvPr/>
        </p:nvSpPr>
        <p:spPr>
          <a:xfrm>
            <a:off x="6263640" y="196596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2" name="use_h2"/>
          <p:cNvSpPr txBox="1"/>
          <p:nvPr/>
        </p:nvSpPr>
        <p:spPr>
          <a:xfrm>
            <a:off x="6766560" y="1920240"/>
            <a:ext cx="2011680" cy="5029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200" b="1" i="0">
                <a:solidFill>
                  <a:srgbClr val="F2F2F2"/>
                </a:solidFill>
                <a:latin typeface="Aptos"/>
              </a:rPr>
              <a:t>Compare like with like</a:t>
            </a:r>
          </a:p>
        </p:txBody>
      </p:sp>
      <p:sp>
        <p:nvSpPr>
          <p:cNvPr id="23" name="use_t2"/>
          <p:cNvSpPr txBox="1"/>
          <p:nvPr/>
        </p:nvSpPr>
        <p:spPr>
          <a:xfrm>
            <a:off x="6263640" y="2560320"/>
            <a:ext cx="2468880" cy="3108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00" b="1" i="0">
                <a:solidFill>
                  <a:srgbClr val="E30613"/>
                </a:solidFill>
                <a:latin typeface="Aptos"/>
              </a:rPr>
              <a:t>WHAT IT DOES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F2F2F2"/>
                </a:solidFill>
                <a:latin typeface="Aptos"/>
              </a:rPr>
              <a:t>Keep an element, a housing and a kit apart inside one family.</a:t>
            </a:r>
          </a:p>
          <a:p>
            <a:pPr algn="l">
              <a:spcBef>
                <a:spcPts val="1000"/>
              </a:spcBef>
            </a:pPr>
            <a:r>
              <a:rPr sz="800" b="1" i="0">
                <a:solidFill>
                  <a:srgbClr val="E30613"/>
                </a:solidFill>
                <a:latin typeface="Aptos"/>
              </a:rPr>
              <a:t>WHY IT MATTERS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F2F2F2"/>
                </a:solidFill>
                <a:latin typeface="Aptos"/>
              </a:rPr>
              <a:t>A blended filter price of €13.64 describes neither a €11 element nor a €154 housing.</a:t>
            </a:r>
          </a:p>
          <a:p>
            <a:pPr algn="l">
              <a:spcBef>
                <a:spcPts val="1000"/>
              </a:spcBef>
            </a:pPr>
            <a:r>
              <a:rPr sz="800" b="1" i="0">
                <a:solidFill>
                  <a:srgbClr val="E30613"/>
                </a:solidFill>
                <a:latin typeface="Aptos"/>
              </a:rPr>
              <a:t>SHOWN IN THIS PRESENTATION</a:t>
            </a:r>
          </a:p>
          <a:p>
            <a:pPr algn="l">
              <a:spcBef>
                <a:spcPts val="300"/>
              </a:spcBef>
            </a:pPr>
            <a:r>
              <a:rPr sz="1100" b="1" i="0">
                <a:solidFill>
                  <a:srgbClr val="F2F2F2"/>
                </a:solidFill>
                <a:latin typeface="Aptos"/>
              </a:rPr>
              <a:t>14 times the price between two products that used to share one average (page 6).</a:t>
            </a:r>
          </a:p>
        </p:txBody>
      </p:sp>
      <p:sp>
        <p:nvSpPr>
          <p:cNvPr id="24" name="use_bg3"/>
          <p:cNvSpPr/>
          <p:nvPr/>
        </p:nvSpPr>
        <p:spPr>
          <a:xfrm>
            <a:off x="9006840" y="1810512"/>
            <a:ext cx="2788920" cy="3931920"/>
          </a:xfrm>
          <a:prstGeom prst="rect">
            <a:avLst/>
          </a:prstGeom>
          <a:solidFill>
            <a:srgbClr val="303030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use_dot3"/>
          <p:cNvSpPr/>
          <p:nvPr/>
        </p:nvSpPr>
        <p:spPr>
          <a:xfrm>
            <a:off x="9189720" y="1965960"/>
            <a:ext cx="384048" cy="384048"/>
          </a:xfrm>
          <a:prstGeom prst="ellipse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use_n3"/>
          <p:cNvSpPr txBox="1"/>
          <p:nvPr/>
        </p:nvSpPr>
        <p:spPr>
          <a:xfrm>
            <a:off x="9189720" y="196596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7" name="use_h3"/>
          <p:cNvSpPr txBox="1"/>
          <p:nvPr/>
        </p:nvSpPr>
        <p:spPr>
          <a:xfrm>
            <a:off x="9692640" y="1920240"/>
            <a:ext cx="2011680" cy="5029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200" b="1" i="0">
                <a:solidFill>
                  <a:srgbClr val="F2F2F2"/>
                </a:solidFill>
                <a:latin typeface="Aptos"/>
              </a:rPr>
              <a:t>One language, with Japan's code kept</a:t>
            </a:r>
          </a:p>
        </p:txBody>
      </p:sp>
      <p:sp>
        <p:nvSpPr>
          <p:cNvPr id="28" name="use_t3"/>
          <p:cNvSpPr txBox="1"/>
          <p:nvPr/>
        </p:nvSpPr>
        <p:spPr>
          <a:xfrm>
            <a:off x="9189720" y="2560320"/>
            <a:ext cx="2468880" cy="3108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00" b="1" i="0">
                <a:solidFill>
                  <a:srgbClr val="E30613"/>
                </a:solidFill>
                <a:latin typeface="Aptos"/>
              </a:rPr>
              <a:t>WHAT IT DOES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F2F2F2"/>
                </a:solidFill>
                <a:latin typeface="Aptos"/>
              </a:rPr>
              <a:t>The same 22 families, 116 product groups and 239 part types for every distributor. Japan's catalogue code stays on every part.</a:t>
            </a:r>
          </a:p>
          <a:p>
            <a:pPr algn="l">
              <a:spcBef>
                <a:spcPts val="1000"/>
              </a:spcBef>
            </a:pPr>
            <a:r>
              <a:rPr sz="800" b="1" i="0">
                <a:solidFill>
                  <a:srgbClr val="E30613"/>
                </a:solidFill>
                <a:latin typeface="Aptos"/>
              </a:rPr>
              <a:t>WHY IT MATTERS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F2F2F2"/>
                </a:solidFill>
                <a:latin typeface="Aptos"/>
              </a:rPr>
              <a:t>Distributor reviews, price revisions and talks with Japan refer to the same product.</a:t>
            </a:r>
          </a:p>
          <a:p>
            <a:pPr algn="l">
              <a:spcBef>
                <a:spcPts val="1000"/>
              </a:spcBef>
            </a:pPr>
            <a:r>
              <a:rPr sz="800" b="1" i="0">
                <a:solidFill>
                  <a:srgbClr val="E30613"/>
                </a:solidFill>
                <a:latin typeface="Aptos"/>
              </a:rPr>
              <a:t>SHOWN IN THIS PRESENTATION</a:t>
            </a:r>
          </a:p>
          <a:p>
            <a:pPr algn="l">
              <a:spcBef>
                <a:spcPts val="300"/>
              </a:spcBef>
            </a:pPr>
            <a:r>
              <a:rPr sz="1100" b="1" i="0">
                <a:solidFill>
                  <a:srgbClr val="F2F2F2"/>
                </a:solidFill>
                <a:latin typeface="Aptos"/>
              </a:rPr>
              <a:t>89% of billed euro already linked to Japan's code (pages 5 and 7).</a:t>
            </a:r>
          </a:p>
        </p:txBody>
      </p:sp>
      <p:sp>
        <p:nvSpPr>
          <p:cNvPr id="29" name="band_bg"/>
          <p:cNvSpPr/>
          <p:nvPr/>
        </p:nvSpPr>
        <p:spPr>
          <a:xfrm>
            <a:off x="228600" y="5852160"/>
            <a:ext cx="11731752" cy="457200"/>
          </a:xfrm>
          <a:prstGeom prst="rect">
            <a:avLst/>
          </a:prstGeom>
          <a:solidFill>
            <a:srgbClr val="303030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band"/>
          <p:cNvSpPr txBox="1"/>
          <p:nvPr/>
        </p:nvSpPr>
        <p:spPr>
          <a:xfrm>
            <a:off x="457200" y="5852160"/>
            <a:ext cx="11274552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200" b="1" i="0">
                <a:solidFill>
                  <a:srgbClr val="F2F2F2"/>
                </a:solidFill>
                <a:latin typeface="Aptos"/>
              </a:rPr>
              <a:t>Next: </a:t>
            </a:r>
            <a:r>
              <a:rPr sz="1200" b="0" i="0">
                <a:solidFill>
                  <a:srgbClr val="F2F2F2"/>
                </a:solidFill>
                <a:latin typeface="Aptos"/>
              </a:rPr>
              <a:t>link old and new part numbers, so a superseded part no longer looks like lost business.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nd_bar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nd_kicker"/>
          <p:cNvSpPr txBox="1"/>
          <p:nvPr/>
        </p:nvSpPr>
        <p:spPr>
          <a:xfrm>
            <a:off x="411480" y="29260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00" b="1" i="0">
                <a:solidFill>
                  <a:srgbClr val="F2F2F2"/>
                </a:solidFill>
                <a:latin typeface="Aptos"/>
              </a:rPr>
              <a:t>HOW I USE THE CLASSIFICATION FROM NOW ON</a:t>
            </a:r>
          </a:p>
        </p:txBody>
      </p:sp>
      <p:sp>
        <p:nvSpPr>
          <p:cNvPr id="4" name="end_title"/>
          <p:cNvSpPr txBox="1"/>
          <p:nvPr/>
        </p:nvSpPr>
        <p:spPr>
          <a:xfrm>
            <a:off x="411480" y="1463040"/>
            <a:ext cx="5486400" cy="2926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95000"/>
              </a:lnSpc>
            </a:pPr>
            <a:r>
              <a:rPr sz="3600" b="1" i="0">
                <a:solidFill>
                  <a:srgbClr val="F2F2F2"/>
                </a:solidFill>
                <a:latin typeface="Aptos"/>
              </a:rPr>
              <a:t>From a label</a:t>
            </a:r>
          </a:p>
          <a:p>
            <a:pPr algn="l">
              <a:lnSpc>
                <a:spcPct val="95000"/>
              </a:lnSpc>
            </a:pPr>
            <a:r>
              <a:rPr sz="3600" b="1" i="0">
                <a:solidFill>
                  <a:srgbClr val="F2F2F2"/>
                </a:solidFill>
                <a:latin typeface="Aptos"/>
              </a:rPr>
              <a:t>to a product.</a:t>
            </a:r>
          </a:p>
          <a:p>
            <a:pPr algn="l">
              <a:lnSpc>
                <a:spcPct val="95000"/>
              </a:lnSpc>
            </a:pPr>
            <a:r>
              <a:rPr sz="3600" b="1" i="0">
                <a:solidFill>
                  <a:srgbClr val="F2F2F2"/>
                </a:solidFill>
                <a:latin typeface="Aptos"/>
              </a:rPr>
              <a:t>From a product</a:t>
            </a:r>
          </a:p>
          <a:p>
            <a:pPr algn="l">
              <a:lnSpc>
                <a:spcPct val="95000"/>
              </a:lnSpc>
            </a:pPr>
            <a:r>
              <a:rPr sz="3600" b="1" i="0">
                <a:solidFill>
                  <a:srgbClr val="F2F2F2"/>
                </a:solidFill>
                <a:latin typeface="Aptos"/>
              </a:rPr>
              <a:t>to a decision.</a:t>
            </a:r>
          </a:p>
        </p:txBody>
      </p:sp>
      <p:sp>
        <p:nvSpPr>
          <p:cNvPr id="5" name="dec_bg0"/>
          <p:cNvSpPr/>
          <p:nvPr/>
        </p:nvSpPr>
        <p:spPr>
          <a:xfrm>
            <a:off x="6400800" y="1188720"/>
            <a:ext cx="5303520" cy="1188720"/>
          </a:xfrm>
          <a:prstGeom prst="rect">
            <a:avLst/>
          </a:prstGeom>
          <a:solidFill>
            <a:srgbClr val="303030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ec_k0"/>
          <p:cNvSpPr txBox="1"/>
          <p:nvPr/>
        </p:nvSpPr>
        <p:spPr>
          <a:xfrm>
            <a:off x="6629400" y="118872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800" b="1" i="0">
                <a:solidFill>
                  <a:srgbClr val="E30613"/>
                </a:solidFill>
                <a:latin typeface="Aptos"/>
              </a:rPr>
              <a:t>USE</a:t>
            </a:r>
          </a:p>
        </p:txBody>
      </p:sp>
      <p:sp>
        <p:nvSpPr>
          <p:cNvPr id="7" name="dec_t0"/>
          <p:cNvSpPr txBox="1"/>
          <p:nvPr/>
        </p:nvSpPr>
        <p:spPr>
          <a:xfrm>
            <a:off x="7772400" y="1188720"/>
            <a:ext cx="3749039" cy="11887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250" b="0" i="0">
                <a:solidFill>
                  <a:srgbClr val="F2F2F2"/>
                </a:solidFill>
                <a:latin typeface="Aptos"/>
              </a:rPr>
              <a:t>Our parts classification is the product language in my distributor sales reviews and in the price revisions.</a:t>
            </a:r>
          </a:p>
        </p:txBody>
      </p:sp>
      <p:sp>
        <p:nvSpPr>
          <p:cNvPr id="8" name="dec_bg1"/>
          <p:cNvSpPr/>
          <p:nvPr/>
        </p:nvSpPr>
        <p:spPr>
          <a:xfrm>
            <a:off x="6400800" y="2560320"/>
            <a:ext cx="5303520" cy="1188720"/>
          </a:xfrm>
          <a:prstGeom prst="rect">
            <a:avLst/>
          </a:prstGeom>
          <a:solidFill>
            <a:srgbClr val="303030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ec_k1"/>
          <p:cNvSpPr txBox="1"/>
          <p:nvPr/>
        </p:nvSpPr>
        <p:spPr>
          <a:xfrm>
            <a:off x="6629400" y="256032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800" b="1" i="0">
                <a:solidFill>
                  <a:srgbClr val="E30613"/>
                </a:solidFill>
                <a:latin typeface="Aptos"/>
              </a:rPr>
              <a:t>KEEP</a:t>
            </a:r>
          </a:p>
        </p:txBody>
      </p:sp>
      <p:sp>
        <p:nvSpPr>
          <p:cNvPr id="10" name="dec_t1"/>
          <p:cNvSpPr txBox="1"/>
          <p:nvPr/>
        </p:nvSpPr>
        <p:spPr>
          <a:xfrm>
            <a:off x="7772400" y="2560320"/>
            <a:ext cx="3749039" cy="11887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250" b="0" i="0">
                <a:solidFill>
                  <a:srgbClr val="F2F2F2"/>
                </a:solidFill>
                <a:latin typeface="Aptos"/>
              </a:rPr>
              <a:t>Vehicle Parts Sales maintains it through approved, dated releases (these figures use the release of 7 October 2026). Japan's code stays on every part.</a:t>
            </a:r>
          </a:p>
        </p:txBody>
      </p:sp>
      <p:sp>
        <p:nvSpPr>
          <p:cNvPr id="11" name="dec_bg2"/>
          <p:cNvSpPr/>
          <p:nvPr/>
        </p:nvSpPr>
        <p:spPr>
          <a:xfrm>
            <a:off x="6400800" y="3931920"/>
            <a:ext cx="5303520" cy="1188720"/>
          </a:xfrm>
          <a:prstGeom prst="rect">
            <a:avLst/>
          </a:prstGeom>
          <a:solidFill>
            <a:srgbClr val="303030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ec_k2"/>
          <p:cNvSpPr txBox="1"/>
          <p:nvPr/>
        </p:nvSpPr>
        <p:spPr>
          <a:xfrm>
            <a:off x="6629400" y="393192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800" b="1" i="0">
                <a:solidFill>
                  <a:srgbClr val="E30613"/>
                </a:solidFill>
                <a:latin typeface="Aptos"/>
              </a:rPr>
              <a:t>CHECK</a:t>
            </a:r>
          </a:p>
        </p:txBody>
      </p:sp>
      <p:sp>
        <p:nvSpPr>
          <p:cNvPr id="13" name="dec_t2"/>
          <p:cNvSpPr txBox="1"/>
          <p:nvPr/>
        </p:nvSpPr>
        <p:spPr>
          <a:xfrm>
            <a:off x="7772400" y="3931920"/>
            <a:ext cx="3749039" cy="11887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250" b="0" i="0">
                <a:solidFill>
                  <a:srgbClr val="F2F2F2"/>
                </a:solidFill>
                <a:latin typeface="Aptos"/>
              </a:rPr>
              <a:t>I take the two Nordic findings into the next distributor reviews and report what comes back.</a:t>
            </a:r>
          </a:p>
        </p:txBody>
      </p:sp>
      <p:sp>
        <p:nvSpPr>
          <p:cNvPr id="14" name="end_tag"/>
          <p:cNvSpPr txBox="1"/>
          <p:nvPr/>
        </p:nvSpPr>
        <p:spPr>
          <a:xfrm>
            <a:off x="411480" y="489204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BDBDBD"/>
                </a:solidFill>
                <a:latin typeface="Aptos"/>
              </a:rPr>
              <a:t>One parts classification for sales analysis and price revisions. For information; no decision is requested.</a:t>
            </a:r>
          </a:p>
        </p:txBody>
      </p:sp>
      <p:pic>
        <p:nvPicPr>
          <p:cNvPr id="15" name="isuzu_logo" descr="isu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035040"/>
            <a:ext cx="1892807" cy="329715"/>
          </a:xfrm>
          <a:prstGeom prst="rect">
            <a:avLst/>
          </a:prstGeom>
        </p:spPr>
      </p:pic>
      <p:sp>
        <p:nvSpPr>
          <p:cNvPr id="16" name="page"/>
          <p:cNvSpPr txBox="1"/>
          <p:nvPr/>
        </p:nvSpPr>
        <p:spPr>
          <a:xfrm>
            <a:off x="11475720" y="6611112"/>
            <a:ext cx="484632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800" b="0" i="0">
                <a:solidFill>
                  <a:srgbClr val="BDBDBD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