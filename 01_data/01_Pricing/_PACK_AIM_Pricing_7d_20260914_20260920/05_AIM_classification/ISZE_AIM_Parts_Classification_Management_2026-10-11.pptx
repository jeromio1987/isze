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9AA1A6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9AA1A6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9AA1A6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9AA1A6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9AA1A6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9AA1A6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D71920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24282C"/>
                        </a:solidFill>
                        <a:latin typeface="Arial"/>
                      </a:rPr>
                      <a:t>1.5%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24282C"/>
                        </a:solidFill>
                        <a:latin typeface="Arial"/>
                      </a:rPr>
                      <a:t>2.3%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24282C"/>
                        </a:solidFill>
                        <a:latin typeface="Arial"/>
                      </a:rPr>
                      <a:t>5.1%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24282C"/>
                        </a:solidFill>
                        <a:latin typeface="Arial"/>
                      </a:rPr>
                      <a:t>9.6%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24282C"/>
                        </a:solidFill>
                        <a:latin typeface="Arial"/>
                      </a:rPr>
                      <a:t>19.6%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24282C"/>
                        </a:solidFill>
                        <a:latin typeface="Arial"/>
                      </a:rPr>
                      <a:t>20.2%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24282C"/>
                        </a:solidFill>
                        <a:latin typeface="Arial"/>
                      </a:rPr>
                      <a:t>41.6%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Hardware &amp; consumables</c:v>
                </c:pt>
                <c:pt idx="1">
                  <c:v>Comfort parts</c:v>
                </c:pt>
                <c:pt idx="2">
                  <c:v>Other / review</c:v>
                </c:pt>
                <c:pt idx="3">
                  <c:v>High value repair</c:v>
                </c:pt>
                <c:pt idx="4">
                  <c:v>Accident parts</c:v>
                </c:pt>
                <c:pt idx="5">
                  <c:v>Repair parts</c:v>
                </c:pt>
                <c:pt idx="6">
                  <c:v>Competitive parts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1.47</c:v>
                </c:pt>
                <c:pt idx="1">
                  <c:v>2.34</c:v>
                </c:pt>
                <c:pt idx="2">
                  <c:v>5.06</c:v>
                </c:pt>
                <c:pt idx="3">
                  <c:v>9.62</c:v>
                </c:pt>
                <c:pt idx="4">
                  <c:v>19.65</c:v>
                </c:pt>
                <c:pt idx="5">
                  <c:v>20.22</c:v>
                </c:pt>
                <c:pt idx="6">
                  <c:v>41.65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solidFill>
                    <a:srgbClr val="24282C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9DCDA"/>
            </a:solidFill>
          </a:ln>
        </c:spPr>
        <c:txPr>
          <a:bodyPr/>
          <a:lstStyle/>
          <a:p>
            <a:pPr>
              <a:defRPr sz="1100">
                <a:solidFill>
                  <a:srgbClr val="24282C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2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4282C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24282C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24282C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24282C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24282C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24282C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24282C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24282C"/>
              </a:solidFill>
              <a:ln>
                <a:noFill/>
              </a:ln>
            </c:spPr>
          </c:dPt>
          <c:dPt>
            <c:idx val="7"/>
            <c:invertIfNegative val="0"/>
            <c:spPr>
              <a:solidFill>
                <a:srgbClr val="24282C"/>
              </a:solidFill>
              <a:ln>
                <a:noFill/>
              </a:ln>
            </c:spPr>
          </c:dPt>
          <c:dPt>
            <c:idx val="8"/>
            <c:invertIfNegative val="0"/>
            <c:spPr>
              <a:solidFill>
                <a:srgbClr val="24282C"/>
              </a:solidFill>
              <a:ln>
                <a:noFill/>
              </a:ln>
            </c:spPr>
          </c:dPt>
          <c:dPt>
            <c:idx val="9"/>
            <c:invertIfNegative val="0"/>
            <c:spPr>
              <a:solidFill>
                <a:srgbClr val="24282C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24282C"/>
                        </a:solidFill>
                        <a:latin typeface="Arial"/>
                      </a:rPr>
                      <a:t>3.2%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24282C"/>
                        </a:solidFill>
                        <a:latin typeface="Arial"/>
                      </a:rPr>
                      <a:t>3.4%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24282C"/>
                        </a:solidFill>
                        <a:latin typeface="Arial"/>
                      </a:rPr>
                      <a:t>4.8%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24282C"/>
                        </a:solidFill>
                        <a:latin typeface="Arial"/>
                      </a:rPr>
                      <a:t>5.3%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24282C"/>
                        </a:solidFill>
                        <a:latin typeface="Arial"/>
                      </a:rPr>
                      <a:t>5.5%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24282C"/>
                        </a:solidFill>
                        <a:latin typeface="Arial"/>
                      </a:rPr>
                      <a:t>7.7%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24282C"/>
                        </a:solidFill>
                        <a:latin typeface="Arial"/>
                      </a:rPr>
                      <a:t>9.6%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24282C"/>
                        </a:solidFill>
                        <a:latin typeface="Arial"/>
                      </a:rPr>
                      <a:t>9.7%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24282C"/>
                        </a:solidFill>
                        <a:latin typeface="Arial"/>
                      </a:rPr>
                      <a:t>13.3%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24282C"/>
                        </a:solidFill>
                        <a:latin typeface="Arial"/>
                      </a:rPr>
                      <a:t>16.5%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Engine</c:v>
                </c:pt>
                <c:pt idx="1">
                  <c:v>Wheels &amp; hubs</c:v>
                </c:pt>
                <c:pt idx="2">
                  <c:v>Lighting</c:v>
                </c:pt>
                <c:pt idx="3">
                  <c:v>Fuel system</c:v>
                </c:pt>
                <c:pt idx="4">
                  <c:v>Steering</c:v>
                </c:pt>
                <c:pt idx="5">
                  <c:v>Electrical</c:v>
                </c:pt>
                <c:pt idx="6">
                  <c:v>Maintenance service</c:v>
                </c:pt>
                <c:pt idx="7">
                  <c:v>Brakes</c:v>
                </c:pt>
                <c:pt idx="8">
                  <c:v>Accident &amp; body</c:v>
                </c:pt>
                <c:pt idx="9">
                  <c:v>Intake, exhaust &amp; emission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3.22</c:v>
                </c:pt>
                <c:pt idx="1">
                  <c:v>3.43</c:v>
                </c:pt>
                <c:pt idx="2">
                  <c:v>4.84</c:v>
                </c:pt>
                <c:pt idx="3">
                  <c:v>5.33</c:v>
                </c:pt>
                <c:pt idx="4">
                  <c:v>5.53</c:v>
                </c:pt>
                <c:pt idx="5">
                  <c:v>7.65</c:v>
                </c:pt>
                <c:pt idx="6">
                  <c:v>9.55</c:v>
                </c:pt>
                <c:pt idx="7">
                  <c:v>9.68</c:v>
                </c:pt>
                <c:pt idx="8">
                  <c:v>13.33</c:v>
                </c:pt>
                <c:pt idx="9">
                  <c:v>16.49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>
                  <a:solidFill>
                    <a:srgbClr val="24282C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9DCDA"/>
            </a:solidFill>
          </a:ln>
        </c:spPr>
        <c:txPr>
          <a:bodyPr/>
          <a:lstStyle/>
          <a:p>
            <a:pPr>
              <a:defRPr sz="1000">
                <a:solidFill>
                  <a:srgbClr val="24282C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4282C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24282C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24282C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24282C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24282C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24282C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24282C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24282C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24282C"/>
                        </a:solidFill>
                        <a:latin typeface="Arial"/>
                      </a:rPr>
                      <a:t>€0.8M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24282C"/>
                        </a:solidFill>
                        <a:latin typeface="Arial"/>
                      </a:rPr>
                      <a:t>€0.9M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24282C"/>
                        </a:solidFill>
                        <a:latin typeface="Arial"/>
                      </a:rPr>
                      <a:t>€1.1M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24282C"/>
                        </a:solidFill>
                        <a:latin typeface="Arial"/>
                      </a:rPr>
                      <a:t>€1.2M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24282C"/>
                        </a:solidFill>
                        <a:latin typeface="Arial"/>
                      </a:rPr>
                      <a:t>€1.4M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24282C"/>
                        </a:solidFill>
                        <a:latin typeface="Arial"/>
                      </a:rPr>
                      <a:t>€2.7M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24282C"/>
                        </a:solidFill>
                        <a:latin typeface="Arial"/>
                      </a:rPr>
                      <a:t>€3.2M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Maintenance service</c:v>
                </c:pt>
                <c:pt idx="1">
                  <c:v>Fuel system</c:v>
                </c:pt>
                <c:pt idx="2">
                  <c:v>Lighting</c:v>
                </c:pt>
                <c:pt idx="3">
                  <c:v>Electrical</c:v>
                </c:pt>
                <c:pt idx="4">
                  <c:v>Brakes</c:v>
                </c:pt>
                <c:pt idx="5">
                  <c:v>Intake, exhaust &amp; emission</c:v>
                </c:pt>
                <c:pt idx="6">
                  <c:v>Accident &amp; body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0.83402268</c:v>
                </c:pt>
                <c:pt idx="1">
                  <c:v>0.91805562</c:v>
                </c:pt>
                <c:pt idx="2">
                  <c:v>1.14158621</c:v>
                </c:pt>
                <c:pt idx="3">
                  <c:v>1.1635215</c:v>
                </c:pt>
                <c:pt idx="4">
                  <c:v>1.3541711200000002</c:v>
                </c:pt>
                <c:pt idx="5">
                  <c:v>2.6919545</c:v>
                </c:pt>
                <c:pt idx="6">
                  <c:v>3.2261352000000003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>
                  <a:solidFill>
                    <a:srgbClr val="24282C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9DCDA"/>
            </a:solidFill>
          </a:ln>
        </c:spPr>
        <c:txPr>
          <a:bodyPr/>
          <a:lstStyle/>
          <a:p>
            <a:pPr>
              <a:defRPr sz="1000">
                <a:solidFill>
                  <a:srgbClr val="24282C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9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4282C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9AA1A6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9AA1A6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9AA1A6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9AA1A6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9AA1A6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9AA1A6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9AA1A6"/>
              </a:solidFill>
              <a:ln>
                <a:noFill/>
              </a:ln>
            </c:spPr>
          </c:dPt>
          <c:dPt>
            <c:idx val="7"/>
            <c:invertIfNegative val="0"/>
            <c:spPr>
              <a:solidFill>
                <a:srgbClr val="D71920"/>
              </a:solidFill>
              <a:ln>
                <a:noFill/>
              </a:ln>
            </c:spPr>
          </c:dPt>
          <c:dPt>
            <c:idx val="8"/>
            <c:invertIfNegative val="0"/>
            <c:spPr>
              <a:solidFill>
                <a:srgbClr val="D71920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24282C"/>
                        </a:solidFill>
                        <a:latin typeface="Arial"/>
                      </a:rPr>
                      <a:t>−€7.8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24282C"/>
                        </a:solidFill>
                        <a:latin typeface="Arial"/>
                      </a:rPr>
                      <a:t>−€4.3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24282C"/>
                        </a:solidFill>
                        <a:latin typeface="Arial"/>
                      </a:rPr>
                      <a:t>−€3.1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24282C"/>
                        </a:solidFill>
                        <a:latin typeface="Arial"/>
                      </a:rPr>
                      <a:t>+€4.8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24282C"/>
                        </a:solidFill>
                        <a:latin typeface="Arial"/>
                      </a:rPr>
                      <a:t>+€1.0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24282C"/>
                        </a:solidFill>
                        <a:latin typeface="Arial"/>
                      </a:rPr>
                      <a:t>+€1.1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24282C"/>
                        </a:solidFill>
                        <a:latin typeface="Arial"/>
                      </a:rPr>
                      <a:t>+€1.5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24282C"/>
                        </a:solidFill>
                        <a:latin typeface="Arial"/>
                      </a:rPr>
                      <a:t>+€11.4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24282C"/>
                        </a:solidFill>
                        <a:latin typeface="Arial"/>
                      </a:rPr>
                      <a:t>+€17.8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Accident &amp; body</c:v>
                </c:pt>
                <c:pt idx="1">
                  <c:v>Cabin interior</c:v>
                </c:pt>
                <c:pt idx="2">
                  <c:v>Fuel system</c:v>
                </c:pt>
                <c:pt idx="3">
                  <c:v>All other families</c:v>
                </c:pt>
                <c:pt idx="4">
                  <c:v>Wheels &amp; hubs</c:v>
                </c:pt>
                <c:pt idx="5">
                  <c:v>Suspension</c:v>
                </c:pt>
                <c:pt idx="6">
                  <c:v>Maintenance service</c:v>
                </c:pt>
                <c:pt idx="7">
                  <c:v>Brakes</c:v>
                </c:pt>
                <c:pt idx="8">
                  <c:v>Steering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-7.8</c:v>
                </c:pt>
                <c:pt idx="1">
                  <c:v>-4.29</c:v>
                </c:pt>
                <c:pt idx="2">
                  <c:v>-3.1</c:v>
                </c:pt>
                <c:pt idx="3">
                  <c:v>4.800000000000004</c:v>
                </c:pt>
                <c:pt idx="4">
                  <c:v>1.03</c:v>
                </c:pt>
                <c:pt idx="5">
                  <c:v>1.14</c:v>
                </c:pt>
                <c:pt idx="6">
                  <c:v>1.46</c:v>
                </c:pt>
                <c:pt idx="7">
                  <c:v>11.38</c:v>
                </c:pt>
                <c:pt idx="8">
                  <c:v>17.78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solidFill>
                    <a:srgbClr val="24282C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9DCDA"/>
            </a:solidFill>
          </a:ln>
        </c:spPr>
        <c:txPr>
          <a:bodyPr/>
          <a:lstStyle/>
          <a:p>
            <a:pPr>
              <a:defRPr sz="1100">
                <a:solidFill>
                  <a:srgbClr val="24282C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3.0"/>
          <c:min val="-11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4282C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D71920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9AA1A6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9AA1A6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9AA1A6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9AA1A6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9AA1A6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24282C"/>
              </a:solidFill>
              <a:ln>
                <a:noFill/>
              </a:ln>
            </c:spPr>
          </c:dPt>
          <c:dPt>
            <c:idx val="7"/>
            <c:invertIfNegative val="0"/>
            <c:spPr>
              <a:solidFill>
                <a:srgbClr val="9AA1A6"/>
              </a:solidFill>
              <a:ln>
                <a:noFill/>
              </a:ln>
            </c:spPr>
          </c:dPt>
          <c:dPt>
            <c:idx val="8"/>
            <c:invertIfNegative val="0"/>
            <c:spPr>
              <a:solidFill>
                <a:srgbClr val="9AA1A6"/>
              </a:solidFill>
              <a:ln>
                <a:noFill/>
              </a:ln>
            </c:spPr>
          </c:dPt>
          <c:dPt>
            <c:idx val="9"/>
            <c:invertIfNegative val="0"/>
            <c:spPr>
              <a:solidFill>
                <a:srgbClr val="9AA1A6"/>
              </a:solidFill>
              <a:ln>
                <a:noFill/>
              </a:ln>
            </c:spPr>
          </c:dPt>
          <c:dPt>
            <c:idx val="10"/>
            <c:invertIfNegative val="0"/>
            <c:spPr>
              <a:solidFill>
                <a:srgbClr val="9AA1A6"/>
              </a:solidFill>
              <a:ln>
                <a:noFill/>
              </a:ln>
            </c:spPr>
          </c:dPt>
          <c:dPt>
            <c:idx val="11"/>
            <c:invertIfNegative val="0"/>
            <c:spPr>
              <a:solidFill>
                <a:srgbClr val="9AA1A6"/>
              </a:solidFill>
              <a:ln>
                <a:noFill/>
              </a:ln>
            </c:spPr>
          </c:dPt>
          <c:dPt>
            <c:idx val="12"/>
            <c:invertIfNegative val="0"/>
            <c:spPr>
              <a:solidFill>
                <a:srgbClr val="9AA1A6"/>
              </a:solidFill>
              <a:ln>
                <a:noFill/>
              </a:ln>
            </c:spPr>
          </c:dPt>
          <c:dPt>
            <c:idx val="13"/>
            <c:invertIfNegative val="0"/>
            <c:spPr>
              <a:solidFill>
                <a:srgbClr val="D71920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24282C"/>
                        </a:solidFill>
                        <a:latin typeface="Arial"/>
                      </a:rPr>
                      <a:t>+10.3%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24282C"/>
                        </a:solidFill>
                        <a:latin typeface="Arial"/>
                      </a:rPr>
                      <a:t>+7.3%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24282C"/>
                        </a:solidFill>
                        <a:latin typeface="Arial"/>
                      </a:rPr>
                      <a:t>+7.1%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24282C"/>
                        </a:solidFill>
                        <a:latin typeface="Arial"/>
                      </a:rPr>
                      <a:t>+7.0%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24282C"/>
                        </a:solidFill>
                        <a:latin typeface="Arial"/>
                      </a:rPr>
                      <a:t>+6.8%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24282C"/>
                        </a:solidFill>
                        <a:latin typeface="Arial"/>
                      </a:rPr>
                      <a:t>+6.3%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24282C"/>
                        </a:solidFill>
                        <a:latin typeface="Arial"/>
                      </a:rPr>
                      <a:t>+6.0%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24282C"/>
                        </a:solidFill>
                        <a:latin typeface="Arial"/>
                      </a:rPr>
                      <a:t>+5.1%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24282C"/>
                        </a:solidFill>
                        <a:latin typeface="Arial"/>
                      </a:rPr>
                      <a:t>+5.1%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24282C"/>
                        </a:solidFill>
                        <a:latin typeface="Arial"/>
                      </a:rPr>
                      <a:t>+4.8%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24282C"/>
                        </a:solidFill>
                        <a:latin typeface="Arial"/>
                      </a:rPr>
                      <a:t>+3.7%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24282C"/>
                        </a:solidFill>
                        <a:latin typeface="Arial"/>
                      </a:rPr>
                      <a:t>+2.7%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24282C"/>
                        </a:solidFill>
                        <a:latin typeface="Arial"/>
                      </a:rPr>
                      <a:t>+2.2%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24282C"/>
                        </a:solidFill>
                        <a:latin typeface="Arial"/>
                      </a:rPr>
                      <a:t>+0.6%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Brake pads &amp; shoes</c:v>
                </c:pt>
                <c:pt idx="1">
                  <c:v>Body panels</c:v>
                </c:pt>
                <c:pt idx="2">
                  <c:v>EGR</c:v>
                </c:pt>
                <c:pt idx="3">
                  <c:v>Emission sensors</c:v>
                </c:pt>
                <c:pt idx="4">
                  <c:v>Wheel rims</c:v>
                </c:pt>
                <c:pt idx="5">
                  <c:v>Brake discs &amp; drums</c:v>
                </c:pt>
                <c:pt idx="6">
                  <c:v>All parts, average</c:v>
                </c:pt>
                <c:pt idx="7">
                  <c:v>Oil filters</c:v>
                </c:pt>
                <c:pt idx="8">
                  <c:v>Lamps</c:v>
                </c:pt>
                <c:pt idx="9">
                  <c:v>Fuel control</c:v>
                </c:pt>
                <c:pt idx="10">
                  <c:v>Injection pumps</c:v>
                </c:pt>
                <c:pt idx="11">
                  <c:v>Fuel filters</c:v>
                </c:pt>
                <c:pt idx="12">
                  <c:v>Air filters</c:v>
                </c:pt>
                <c:pt idx="13">
                  <c:v>Steering gear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10.33</c:v>
                </c:pt>
                <c:pt idx="1">
                  <c:v>7.3</c:v>
                </c:pt>
                <c:pt idx="2">
                  <c:v>7.1</c:v>
                </c:pt>
                <c:pt idx="3">
                  <c:v>7.0</c:v>
                </c:pt>
                <c:pt idx="4">
                  <c:v>6.78</c:v>
                </c:pt>
                <c:pt idx="5">
                  <c:v>6.28</c:v>
                </c:pt>
                <c:pt idx="6">
                  <c:v>5.96</c:v>
                </c:pt>
                <c:pt idx="7">
                  <c:v>5.12</c:v>
                </c:pt>
                <c:pt idx="8">
                  <c:v>5.1</c:v>
                </c:pt>
                <c:pt idx="9">
                  <c:v>4.78</c:v>
                </c:pt>
                <c:pt idx="10">
                  <c:v>3.73</c:v>
                </c:pt>
                <c:pt idx="11">
                  <c:v>2.72</c:v>
                </c:pt>
                <c:pt idx="12">
                  <c:v>2.16</c:v>
                </c:pt>
                <c:pt idx="13">
                  <c:v>0.55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solidFill>
                    <a:srgbClr val="24282C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9DCDA"/>
            </a:solidFill>
          </a:ln>
        </c:spPr>
        <c:txPr>
          <a:bodyPr/>
          <a:lstStyle/>
          <a:p>
            <a:pPr>
              <a:defRPr sz="1100">
                <a:solidFill>
                  <a:srgbClr val="24282C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4282C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money, not the method. We bill about €35 million of parts a year to our distributors (the price revision basis, July 2025 – June 2026, 15,872 part numbers). The question this presentation answers: what are those parts, and what can we do once we know?</a:t>
            </a:r>
          </a:p>
          <a:p>
            <a:r>
              <a:t>Photo credit: Isuzu Genuine Parts shelf, Isuzu Truck (UK) Ltd website; internal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old tree had 7 top-level labels. Five of them describe a commercial opinion (competitive, repair, accident, high value repair, comfort), not a product. 41.6% of what we billed (€14.57M) sat in 'Competitive parts'. Inside it, by AIM part type: Steering Unit €1.26M, Brake Rotor €1.15M, Brake Pad Kit €0.92M, Air Cleaner Filter €0.80M, EGR Component €0.67M. AIM has 22 families, 116 product groups and 239 part types on this basis; the old tree had 7 / 27 / 171.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classes where the price-list text names the system beyond argument and the old rule still filed the part somewhere physically unrelated. Euro on this basis: Engine air cleaner elements €672k (28 part numbers); King pin kits €150k (37 part numbers); Steering drag links €125k (18 part numbers); Front and rear bumper bars €99k (20 part numbers); Suspension ball joints €86k (11 part numbers). The old placements and their check against Isuzu catalogue figures (1-30 Air Cleaner, 4-10 Front Axle) are in the classification audit of 20 September 2026. Air cleaner elements under AIM today: €0.80M, of which FILTER; ACL lines €0.67M.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Measured in the classification audit of 20 September 2026 against our own independent-brand price scrapes: parts labelled Competitive were 1.43 times more likely to have an aftermarket rival, but of the parts where a rival was confirmed only 48.2% carried the Competitive label. Counted on part numbers. Competition depends on the market, not on the part's name; AIM fixes the product, and the competition check sits beside it per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AIM (our parts classification) gives three levels: family, product group, part type. Example path with billed euro: Brakes €3.39M &gt; Pads &amp; shoes €1.19M &gt; Brake pad kit €0.93M &gt; part 8982447940 (PAD KIT; CALIPER,DISC BRK,FRT) €0.34M. The five facts are read together; where they disagree the part goes to review instead of being guessed. Coverage on this basis: 98.15% of billed euro; 1,342 part numbers (€647k) still open. Approved releases: 4 and 7 October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Filter elements: €2.79M billed, 253,009 units, 131 part numbers, €11.01 per unit. Housings and assemblies: €0.73M, 4,727 units, 59 part numbers, €154.47 per unit, 14.0 times the element. Blended: €13.64. The element photo is an Isuzu Best Value element in its box; the housing photo is a supplier listing. Both show product form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ZKK is Japan's catalogue code: three characters, carried on 88.9% of billed euro in this basis. Code 275 alone holds €14.67M (41.9%) across 197 AIM part types, so a sales chart by Japan code cannot separate brakes from body panels. The other way round, one AIM part type sits under many codes: Air Cleaner Filter 11, Brake Pad Kit 8, Brake Rotor 5, Door 29. So we keep Japan's code as a reference on every part (traceability to Japan, completeness check) and use AIM for analysis. Settled position on the Japan codes: 90_INBOX/SETTLED_POSITION_JP_CODES_2026-09-20.md.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Norway €1.66M on 7,929 vehicles = €209.4; Sweden €1.58M on 8,443 = €187.0. Steering: Norway 82 steering units (€155k, 2 part numbers; 81 of them part 7552348290 on stock orders of 15 to 20 every two months) against Sweden 10 (€18k). Brake pad kits: Norway 1138 (€85k), Sweden 492 (€39k). Both fleets are light commercial vehicles; the 2025 fleet counts are estimates. These are questions to take to the two distributors, not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Weighted base-price increase 5.96% on the price revision basis (priced lines €32.60M), worth €1.65M on last year's quantities. By AIM product group (groups with at least €0.5M billed): Steering Gear +0.55%; Air Filter +2.16%; Fuel Filter +2.72%; Filters (unspecified) +3.52%; Injection Pump +3.73%; Fuel Control +4.78%; Final Drive +5.00%; Lamps +5.10%; Oil Filter +5.12%; DEF System +5.96%; Turbo +6.03%; Discs &amp; Drums +6.28%; Instruments +6.47%; Radiator +6.62%; Wheel Rim +6.78%; DPF/DPD +6.89%; Sensors +7.00%; HVAC Filters +7.04%; EGR +7.10%; Bumpers +7.27%; Panels +7.30%; Pads &amp; Shoes +10.33%. This is a base-price move on billed quantities, not revenue, margin or demand response. Same basis as the price revision workbook (5.9616%, €1,652,140.71).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six advantages, each tied to a page: 1 Norway against Sweden (page 8); 2 base-price increase by product group (page 9); 3 element against housing (page 6); 4 parts back in the right family (page 3); 5 one structure for every market (22/116/239); 6 Japan's code kept on every part (page 7). Next step: interchangeability, linking superseded part numbers to their replacements once the source file is supplied.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Management is asked to endorse three things: use AIM as the one product language for sales reviews and price revisions; keep maintenance local in Vehicle Parts Sales through approved, dated releases; and prove it on two real cases from page 8 (steering units in Norway, brake pad kits in Sweden). No catalogue-wide automatic price change is proposed.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8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over_photo" descr="cover_shel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0"/>
            <a:ext cx="5287975" cy="6858000"/>
          </a:xfrm>
          <a:prstGeom prst="rect">
            <a:avLst/>
          </a:prstGeom>
        </p:spPr>
      </p:pic>
      <p:sp>
        <p:nvSpPr>
          <p:cNvPr id="3" name="cover_kicker"/>
          <p:cNvSpPr txBox="1"/>
          <p:nvPr/>
        </p:nvSpPr>
        <p:spPr>
          <a:xfrm>
            <a:off x="640080" y="566928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CCD1D2"/>
                </a:solidFill>
                <a:latin typeface="Arial"/>
              </a:rPr>
              <a:t>ISUZU EUROPE  ·  AFTERSALES  ·  MANAGEMENT PRESENTATION</a:t>
            </a:r>
          </a:p>
        </p:txBody>
      </p:sp>
      <p:sp>
        <p:nvSpPr>
          <p:cNvPr id="4" name="cover_title"/>
          <p:cNvSpPr txBox="1"/>
          <p:nvPr/>
        </p:nvSpPr>
        <p:spPr>
          <a:xfrm>
            <a:off x="640080" y="1234440"/>
            <a:ext cx="5943600" cy="2514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5000"/>
              </a:lnSpc>
            </a:pPr>
            <a:r>
              <a:rPr sz="3800" b="1" i="0">
                <a:solidFill>
                  <a:srgbClr val="FFFFFF"/>
                </a:solidFill>
                <a:latin typeface="Arial"/>
              </a:rPr>
              <a:t>We bill </a:t>
            </a:r>
            <a:r>
              <a:rPr sz="3800" b="1" i="0">
                <a:solidFill>
                  <a:srgbClr val="F2969B"/>
                </a:solidFill>
                <a:latin typeface="Arial"/>
              </a:rPr>
              <a:t>€35 million</a:t>
            </a:r>
            <a:r>
              <a:rPr sz="3800" b="1" i="0">
                <a:solidFill>
                  <a:srgbClr val="FFFFFF"/>
                </a:solidFill>
                <a:latin typeface="Arial"/>
              </a:rPr>
              <a:t> of parts a year.</a:t>
            </a:r>
          </a:p>
          <a:p>
            <a:pPr algn="l">
              <a:lnSpc>
                <a:spcPct val="95000"/>
              </a:lnSpc>
              <a:spcBef>
                <a:spcPts val="1000"/>
              </a:spcBef>
            </a:pPr>
            <a:r>
              <a:rPr sz="3800" b="1" i="0">
                <a:solidFill>
                  <a:srgbClr val="FFFFFF"/>
                </a:solidFill>
                <a:latin typeface="Arial"/>
              </a:rPr>
              <a:t>Now we can see what they are.</a:t>
            </a:r>
          </a:p>
        </p:txBody>
      </p:sp>
      <p:sp>
        <p:nvSpPr>
          <p:cNvPr id="5" name="cover_sub"/>
          <p:cNvSpPr txBox="1"/>
          <p:nvPr/>
        </p:nvSpPr>
        <p:spPr>
          <a:xfrm>
            <a:off x="640080" y="3977639"/>
            <a:ext cx="576072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CCD1D2"/>
                </a:solidFill>
                <a:latin typeface="Arial"/>
              </a:rPr>
              <a:t>AIM, our new parts classification, shows what is selling, where it is selling, and how each product range should be priced.</a:t>
            </a:r>
          </a:p>
        </p:txBody>
      </p:sp>
      <p:sp>
        <p:nvSpPr>
          <p:cNvPr id="6" name="cover_date"/>
          <p:cNvSpPr txBox="1"/>
          <p:nvPr/>
        </p:nvSpPr>
        <p:spPr>
          <a:xfrm>
            <a:off x="640080" y="5349240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October 2026</a:t>
            </a:r>
          </a:p>
        </p:txBody>
      </p:sp>
      <p:sp>
        <p:nvSpPr>
          <p:cNvPr id="7" name="cover_note"/>
          <p:cNvSpPr txBox="1"/>
          <p:nvPr/>
        </p:nvSpPr>
        <p:spPr>
          <a:xfrm>
            <a:off x="640080" y="598932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9AA1A6"/>
                </a:solidFill>
                <a:latin typeface="Arial"/>
              </a:rPr>
              <a:t>€35.0M = parts billed to our distributors, July 2025 – June 2026. Photo: Isuzu Genuine Parts, Isuzu Truck (UK) Ltd.</a:t>
            </a:r>
          </a:p>
        </p:txBody>
      </p:sp>
      <p:sp>
        <p:nvSpPr>
          <p:cNvPr id="8" name="ft_brand"/>
          <p:cNvSpPr txBox="1"/>
          <p:nvPr/>
        </p:nvSpPr>
        <p:spPr>
          <a:xfrm>
            <a:off x="640080" y="6419088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1" i="0">
                <a:solidFill>
                  <a:srgbClr val="D71920"/>
                </a:solidFill>
                <a:latin typeface="Arial"/>
              </a:rPr>
              <a:t>ISUZU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65759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D71920"/>
                </a:solidFill>
                <a:latin typeface="Arial"/>
              </a:rPr>
              <a:t>THE PROBLEM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64240" cy="8961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24282C"/>
                </a:solidFill>
                <a:latin typeface="Arial"/>
              </a:rPr>
              <a:t>Our old classification sorted €35 million of parts by how we thought they compete, not by what they are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48640" y="1609344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626A71"/>
                </a:solidFill>
                <a:latin typeface="Arial"/>
              </a:rPr>
              <a:t>Five of its seven top-level labels were commercial opinions. None of them named a product.</a:t>
            </a:r>
          </a:p>
        </p:txBody>
      </p:sp>
      <p:sp>
        <p:nvSpPr>
          <p:cNvPr id="5" name="c1_title"/>
          <p:cNvSpPr txBox="1"/>
          <p:nvPr/>
        </p:nvSpPr>
        <p:spPr>
          <a:xfrm>
            <a:off x="548640" y="219456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24282C"/>
                </a:solidFill>
                <a:latin typeface="Arial"/>
              </a:rPr>
              <a:t>Old top level: share of what we billed</a:t>
            </a:r>
          </a:p>
        </p:txBody>
      </p:sp>
      <p:graphicFrame>
        <p:nvGraphicFramePr>
          <p:cNvPr id="6" name="chart_old"/>
          <p:cNvGraphicFramePr>
            <a:graphicFrameLocks noGrp="1"/>
          </p:cNvGraphicFramePr>
          <p:nvPr/>
        </p:nvGraphicFramePr>
        <p:xfrm>
          <a:off x="548640" y="2514600"/>
          <a:ext cx="5394960" cy="2788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c2_title"/>
          <p:cNvSpPr txBox="1"/>
          <p:nvPr/>
        </p:nvSpPr>
        <p:spPr>
          <a:xfrm>
            <a:off x="6263640" y="219456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24282C"/>
                </a:solidFill>
                <a:latin typeface="Arial"/>
              </a:rPr>
              <a:t>AIM top level: the ten largest of 22 families</a:t>
            </a:r>
          </a:p>
        </p:txBody>
      </p:sp>
      <p:graphicFrame>
        <p:nvGraphicFramePr>
          <p:cNvPr id="8" name="chart_aim"/>
          <p:cNvGraphicFramePr>
            <a:graphicFrameLocks noGrp="1"/>
          </p:cNvGraphicFramePr>
          <p:nvPr/>
        </p:nvGraphicFramePr>
        <p:xfrm>
          <a:off x="6263640" y="2514600"/>
          <a:ext cx="5394960" cy="2788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band_bg"/>
          <p:cNvSpPr/>
          <p:nvPr/>
        </p:nvSpPr>
        <p:spPr>
          <a:xfrm>
            <a:off x="548640" y="5440680"/>
            <a:ext cx="11091672" cy="566928"/>
          </a:xfrm>
          <a:prstGeom prst="rect">
            <a:avLst/>
          </a:prstGeom>
          <a:solidFill>
            <a:srgbClr val="F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and"/>
          <p:cNvSpPr txBox="1"/>
          <p:nvPr/>
        </p:nvSpPr>
        <p:spPr>
          <a:xfrm>
            <a:off x="777240" y="5440680"/>
            <a:ext cx="1065276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1" i="0">
                <a:solidFill>
                  <a:srgbClr val="24282C"/>
                </a:solidFill>
                <a:latin typeface="Arial"/>
              </a:rPr>
              <a:t>€14.6M, 42% of what we billed, sat under one label. </a:t>
            </a:r>
            <a:r>
              <a:rPr sz="1400" b="0" i="0">
                <a:solidFill>
                  <a:srgbClr val="24282C"/>
                </a:solidFill>
                <a:latin typeface="Arial"/>
              </a:rPr>
              <a:t>Steering units, brake discs, brake pads, air filters and EGR valves all read “Competitive parts”.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548640" y="6089904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626A71"/>
                </a:solidFill>
                <a:latin typeface="Arial"/>
              </a:rPr>
              <a:t>Base: parts billed to distributors used for the 2026 price revision, July 2025 – June 2026 (€35.0M, 15,872 part numbers). Old top level: price-list classification. AIM: approved release of 7 October 2026.</a:t>
            </a:r>
          </a:p>
        </p:txBody>
      </p:sp>
      <p:sp>
        <p:nvSpPr>
          <p:cNvPr id="12" name="ft_brand"/>
          <p:cNvSpPr txBox="1"/>
          <p:nvPr/>
        </p:nvSpPr>
        <p:spPr>
          <a:xfrm>
            <a:off x="548640" y="6419088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1" i="0">
                <a:solidFill>
                  <a:srgbClr val="D71920"/>
                </a:solidFill>
                <a:latin typeface="Arial"/>
              </a:rPr>
              <a:t>ISUZU</a:t>
            </a:r>
          </a:p>
        </p:txBody>
      </p:sp>
      <p:sp>
        <p:nvSpPr>
          <p:cNvPr id="13" name="ft_section"/>
          <p:cNvSpPr txBox="1"/>
          <p:nvPr/>
        </p:nvSpPr>
        <p:spPr>
          <a:xfrm>
            <a:off x="1325880" y="6428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626A71"/>
                </a:solidFill>
                <a:latin typeface="Arial"/>
              </a:rPr>
              <a:t>EUROPE  /  AIM  /  THE PROBLEM</a:t>
            </a:r>
          </a:p>
        </p:txBody>
      </p:sp>
      <p:sp>
        <p:nvSpPr>
          <p:cNvPr id="14" name="ft_page"/>
          <p:cNvSpPr txBox="1"/>
          <p:nvPr/>
        </p:nvSpPr>
        <p:spPr>
          <a:xfrm>
            <a:off x="10908792" y="641908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1" i="0">
                <a:solidFill>
                  <a:srgbClr val="24282C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758951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D71920"/>
                </a:solidFill>
                <a:latin typeface="Arial"/>
              </a:rPr>
              <a:t>THE PROBLEM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24282C"/>
                </a:solidFill>
                <a:latin typeface="Arial"/>
              </a:rPr>
              <a:t>€1.1M a year sat in families the parts have nothing to do with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48640" y="1609344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626A71"/>
                </a:solidFill>
                <a:latin typeface="Arial"/>
              </a:rPr>
              <a:t>The old rule read only the price-list text. It could not know that “ACL” means air cleaner.</a:t>
            </a:r>
          </a:p>
        </p:txBody>
      </p:sp>
      <p:sp>
        <p:nvSpPr>
          <p:cNvPr id="5" name="photo_frame"/>
          <p:cNvSpPr/>
          <p:nvPr/>
        </p:nvSpPr>
        <p:spPr>
          <a:xfrm>
            <a:off x="548640" y="2194560"/>
            <a:ext cx="301752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hoto_acl" descr="filter_ac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31720"/>
            <a:ext cx="2743200" cy="2743200"/>
          </a:xfrm>
          <a:prstGeom prst="rect">
            <a:avLst/>
          </a:prstGeom>
        </p:spPr>
      </p:pic>
      <p:sp>
        <p:nvSpPr>
          <p:cNvPr id="7" name="photo_caption"/>
          <p:cNvSpPr txBox="1"/>
          <p:nvPr/>
        </p:nvSpPr>
        <p:spPr>
          <a:xfrm>
            <a:off x="548640" y="530352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24282C"/>
                </a:solidFill>
                <a:latin typeface="Arial"/>
              </a:rPr>
              <a:t>Price list: FILTER; ACL. </a:t>
            </a:r>
            <a:r>
              <a:rPr sz="1100" b="0" i="0">
                <a:solidFill>
                  <a:srgbClr val="24282C"/>
                </a:solidFill>
                <a:latin typeface="Arial"/>
              </a:rPr>
              <a:t>An engine air cleaner element, filed under air conditioning.</a:t>
            </a:r>
          </a:p>
        </p:txBody>
      </p:sp>
      <p:sp>
        <p:nvSpPr>
          <p:cNvPr id="8" name="th_PART"/>
          <p:cNvSpPr txBox="1"/>
          <p:nvPr/>
        </p:nvSpPr>
        <p:spPr>
          <a:xfrm>
            <a:off x="3931920" y="2212848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626A71"/>
                </a:solidFill>
                <a:latin typeface="Arial"/>
              </a:rPr>
              <a:t>PART</a:t>
            </a:r>
          </a:p>
        </p:txBody>
      </p:sp>
      <p:sp>
        <p:nvSpPr>
          <p:cNvPr id="9" name="th_WHAT W"/>
          <p:cNvSpPr txBox="1"/>
          <p:nvPr/>
        </p:nvSpPr>
        <p:spPr>
          <a:xfrm>
            <a:off x="6172200" y="2212848"/>
            <a:ext cx="16002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626A71"/>
                </a:solidFill>
                <a:latin typeface="Arial"/>
              </a:rPr>
              <a:t>WHAT WE BILLED</a:t>
            </a:r>
          </a:p>
        </p:txBody>
      </p:sp>
      <p:sp>
        <p:nvSpPr>
          <p:cNvPr id="10" name="th_OLD RU"/>
          <p:cNvSpPr txBox="1"/>
          <p:nvPr/>
        </p:nvSpPr>
        <p:spPr>
          <a:xfrm>
            <a:off x="7863840" y="221284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626A71"/>
                </a:solidFill>
                <a:latin typeface="Arial"/>
              </a:rPr>
              <a:t>OLD RULE FILED IT AS</a:t>
            </a:r>
          </a:p>
        </p:txBody>
      </p:sp>
      <p:sp>
        <p:nvSpPr>
          <p:cNvPr id="11" name="th_AIM PL"/>
          <p:cNvSpPr txBox="1"/>
          <p:nvPr/>
        </p:nvSpPr>
        <p:spPr>
          <a:xfrm>
            <a:off x="9784080" y="2212848"/>
            <a:ext cx="1856231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626A71"/>
                </a:solidFill>
                <a:latin typeface="Arial"/>
              </a:rPr>
              <a:t>AIM PLACES IT</a:t>
            </a:r>
          </a:p>
        </p:txBody>
      </p:sp>
      <p:sp>
        <p:nvSpPr>
          <p:cNvPr id="12" name="row_bg0"/>
          <p:cNvSpPr/>
          <p:nvPr/>
        </p:nvSpPr>
        <p:spPr>
          <a:xfrm>
            <a:off x="3931920" y="2505456"/>
            <a:ext cx="770839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_name0"/>
          <p:cNvSpPr txBox="1"/>
          <p:nvPr/>
        </p:nvSpPr>
        <p:spPr>
          <a:xfrm>
            <a:off x="4069080" y="2542032"/>
            <a:ext cx="2057400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00" b="1" i="0">
                <a:solidFill>
                  <a:srgbClr val="24282C"/>
                </a:solidFill>
                <a:latin typeface="Arial"/>
              </a:rPr>
              <a:t>Engine air cleaner elements</a:t>
            </a:r>
          </a:p>
        </p:txBody>
      </p:sp>
      <p:sp>
        <p:nvSpPr>
          <p:cNvPr id="14" name="row_bar0"/>
          <p:cNvSpPr/>
          <p:nvPr/>
        </p:nvSpPr>
        <p:spPr>
          <a:xfrm>
            <a:off x="6172200" y="2651760"/>
            <a:ext cx="914400" cy="182880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_eur0"/>
          <p:cNvSpPr txBox="1"/>
          <p:nvPr/>
        </p:nvSpPr>
        <p:spPr>
          <a:xfrm>
            <a:off x="7159752" y="2542032"/>
            <a:ext cx="685800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24282C"/>
                </a:solidFill>
                <a:latin typeface="Arial"/>
              </a:rPr>
              <a:t>€672k</a:t>
            </a:r>
          </a:p>
        </p:txBody>
      </p:sp>
      <p:sp>
        <p:nvSpPr>
          <p:cNvPr id="16" name="row_old0"/>
          <p:cNvSpPr txBox="1"/>
          <p:nvPr/>
        </p:nvSpPr>
        <p:spPr>
          <a:xfrm>
            <a:off x="7863840" y="2542032"/>
            <a:ext cx="1828800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0" i="0" strike="sngStrike">
                <a:solidFill>
                  <a:srgbClr val="626A71"/>
                </a:solidFill>
                <a:latin typeface="Arial"/>
              </a:rPr>
              <a:t>Air conditioning</a:t>
            </a:r>
          </a:p>
        </p:txBody>
      </p:sp>
      <p:sp>
        <p:nvSpPr>
          <p:cNvPr id="17" name="row_aim0"/>
          <p:cNvSpPr txBox="1"/>
          <p:nvPr/>
        </p:nvSpPr>
        <p:spPr>
          <a:xfrm>
            <a:off x="9784080" y="2542032"/>
            <a:ext cx="1810512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24282C"/>
                </a:solidFill>
                <a:latin typeface="Arial"/>
              </a:rPr>
              <a:t>Maintenance service › Air filter</a:t>
            </a:r>
          </a:p>
        </p:txBody>
      </p:sp>
      <p:sp>
        <p:nvSpPr>
          <p:cNvPr id="18" name="row_bg1"/>
          <p:cNvSpPr/>
          <p:nvPr/>
        </p:nvSpPr>
        <p:spPr>
          <a:xfrm>
            <a:off x="3931920" y="3054096"/>
            <a:ext cx="770839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_name1"/>
          <p:cNvSpPr txBox="1"/>
          <p:nvPr/>
        </p:nvSpPr>
        <p:spPr>
          <a:xfrm>
            <a:off x="4069080" y="3090672"/>
            <a:ext cx="2057400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00" b="1" i="0">
                <a:solidFill>
                  <a:srgbClr val="24282C"/>
                </a:solidFill>
                <a:latin typeface="Arial"/>
              </a:rPr>
              <a:t>King pin kits</a:t>
            </a:r>
          </a:p>
        </p:txBody>
      </p:sp>
      <p:sp>
        <p:nvSpPr>
          <p:cNvPr id="20" name="row_bar1"/>
          <p:cNvSpPr/>
          <p:nvPr/>
        </p:nvSpPr>
        <p:spPr>
          <a:xfrm>
            <a:off x="6172200" y="3200400"/>
            <a:ext cx="204637" cy="182880"/>
          </a:xfrm>
          <a:prstGeom prst="rect">
            <a:avLst/>
          </a:prstGeom>
          <a:solidFill>
            <a:srgbClr val="9AA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_eur1"/>
          <p:cNvSpPr txBox="1"/>
          <p:nvPr/>
        </p:nvSpPr>
        <p:spPr>
          <a:xfrm>
            <a:off x="6449989" y="3090672"/>
            <a:ext cx="685800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24282C"/>
                </a:solidFill>
                <a:latin typeface="Arial"/>
              </a:rPr>
              <a:t>€150k</a:t>
            </a:r>
          </a:p>
        </p:txBody>
      </p:sp>
      <p:sp>
        <p:nvSpPr>
          <p:cNvPr id="22" name="row_old1"/>
          <p:cNvSpPr txBox="1"/>
          <p:nvPr/>
        </p:nvSpPr>
        <p:spPr>
          <a:xfrm>
            <a:off x="7863840" y="3090672"/>
            <a:ext cx="1828800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0" i="0" strike="sngStrike">
                <a:solidFill>
                  <a:srgbClr val="626A71"/>
                </a:solidFill>
                <a:latin typeface="Arial"/>
              </a:rPr>
              <a:t>Hardware › Pin</a:t>
            </a:r>
          </a:p>
        </p:txBody>
      </p:sp>
      <p:sp>
        <p:nvSpPr>
          <p:cNvPr id="23" name="row_aim1"/>
          <p:cNvSpPr txBox="1"/>
          <p:nvPr/>
        </p:nvSpPr>
        <p:spPr>
          <a:xfrm>
            <a:off x="9784080" y="3090672"/>
            <a:ext cx="1810512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24282C"/>
                </a:solidFill>
                <a:latin typeface="Arial"/>
              </a:rPr>
              <a:t>Steering › Knuckle &amp; king pin</a:t>
            </a:r>
          </a:p>
        </p:txBody>
      </p:sp>
      <p:sp>
        <p:nvSpPr>
          <p:cNvPr id="24" name="row_bg2"/>
          <p:cNvSpPr/>
          <p:nvPr/>
        </p:nvSpPr>
        <p:spPr>
          <a:xfrm>
            <a:off x="3931920" y="3602735"/>
            <a:ext cx="770839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_name2"/>
          <p:cNvSpPr txBox="1"/>
          <p:nvPr/>
        </p:nvSpPr>
        <p:spPr>
          <a:xfrm>
            <a:off x="4069080" y="3639311"/>
            <a:ext cx="2057400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00" b="1" i="0">
                <a:solidFill>
                  <a:srgbClr val="24282C"/>
                </a:solidFill>
                <a:latin typeface="Arial"/>
              </a:rPr>
              <a:t>Steering drag links</a:t>
            </a:r>
          </a:p>
        </p:txBody>
      </p:sp>
      <p:sp>
        <p:nvSpPr>
          <p:cNvPr id="26" name="row_bar2"/>
          <p:cNvSpPr/>
          <p:nvPr/>
        </p:nvSpPr>
        <p:spPr>
          <a:xfrm>
            <a:off x="6172200" y="3749039"/>
            <a:ext cx="169855" cy="182880"/>
          </a:xfrm>
          <a:prstGeom prst="rect">
            <a:avLst/>
          </a:prstGeom>
          <a:solidFill>
            <a:srgbClr val="9AA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_eur2"/>
          <p:cNvSpPr txBox="1"/>
          <p:nvPr/>
        </p:nvSpPr>
        <p:spPr>
          <a:xfrm>
            <a:off x="6415207" y="3639311"/>
            <a:ext cx="685800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24282C"/>
                </a:solidFill>
                <a:latin typeface="Arial"/>
              </a:rPr>
              <a:t>€125k</a:t>
            </a:r>
          </a:p>
        </p:txBody>
      </p:sp>
      <p:sp>
        <p:nvSpPr>
          <p:cNvPr id="28" name="row_old2"/>
          <p:cNvSpPr txBox="1"/>
          <p:nvPr/>
        </p:nvSpPr>
        <p:spPr>
          <a:xfrm>
            <a:off x="7863840" y="3639311"/>
            <a:ext cx="1828800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0" i="0" strike="sngStrike">
                <a:solidFill>
                  <a:srgbClr val="626A71"/>
                </a:solidFill>
                <a:latin typeface="Arial"/>
              </a:rPr>
              <a:t>Linkage (hydraulic / mechanical)</a:t>
            </a:r>
          </a:p>
        </p:txBody>
      </p:sp>
      <p:sp>
        <p:nvSpPr>
          <p:cNvPr id="29" name="row_aim2"/>
          <p:cNvSpPr txBox="1"/>
          <p:nvPr/>
        </p:nvSpPr>
        <p:spPr>
          <a:xfrm>
            <a:off x="9784080" y="3639311"/>
            <a:ext cx="1810512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24282C"/>
                </a:solidFill>
                <a:latin typeface="Arial"/>
              </a:rPr>
              <a:t>Steering › Linkage</a:t>
            </a:r>
          </a:p>
        </p:txBody>
      </p:sp>
      <p:sp>
        <p:nvSpPr>
          <p:cNvPr id="30" name="row_bg3"/>
          <p:cNvSpPr/>
          <p:nvPr/>
        </p:nvSpPr>
        <p:spPr>
          <a:xfrm>
            <a:off x="3931920" y="4151376"/>
            <a:ext cx="770839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_name3"/>
          <p:cNvSpPr txBox="1"/>
          <p:nvPr/>
        </p:nvSpPr>
        <p:spPr>
          <a:xfrm>
            <a:off x="4069080" y="4187952"/>
            <a:ext cx="2057400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00" b="1" i="0">
                <a:solidFill>
                  <a:srgbClr val="24282C"/>
                </a:solidFill>
                <a:latin typeface="Arial"/>
              </a:rPr>
              <a:t>Bumper bars</a:t>
            </a:r>
          </a:p>
        </p:txBody>
      </p:sp>
      <p:sp>
        <p:nvSpPr>
          <p:cNvPr id="32" name="row_bar3"/>
          <p:cNvSpPr/>
          <p:nvPr/>
        </p:nvSpPr>
        <p:spPr>
          <a:xfrm>
            <a:off x="6172200" y="4297680"/>
            <a:ext cx="135034" cy="182880"/>
          </a:xfrm>
          <a:prstGeom prst="rect">
            <a:avLst/>
          </a:prstGeom>
          <a:solidFill>
            <a:srgbClr val="9AA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_eur3"/>
          <p:cNvSpPr txBox="1"/>
          <p:nvPr/>
        </p:nvSpPr>
        <p:spPr>
          <a:xfrm>
            <a:off x="6380386" y="4187952"/>
            <a:ext cx="685800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24282C"/>
                </a:solidFill>
                <a:latin typeface="Arial"/>
              </a:rPr>
              <a:t>€99k</a:t>
            </a:r>
          </a:p>
        </p:txBody>
      </p:sp>
      <p:sp>
        <p:nvSpPr>
          <p:cNvPr id="34" name="row_old3"/>
          <p:cNvSpPr txBox="1"/>
          <p:nvPr/>
        </p:nvSpPr>
        <p:spPr>
          <a:xfrm>
            <a:off x="7863840" y="4187952"/>
            <a:ext cx="1828800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0" i="0" strike="sngStrike">
                <a:solidFill>
                  <a:srgbClr val="626A71"/>
                </a:solidFill>
                <a:latin typeface="Arial"/>
              </a:rPr>
              <a:t>Suspension › Leaf spring</a:t>
            </a:r>
          </a:p>
        </p:txBody>
      </p:sp>
      <p:sp>
        <p:nvSpPr>
          <p:cNvPr id="35" name="row_aim3"/>
          <p:cNvSpPr txBox="1"/>
          <p:nvPr/>
        </p:nvSpPr>
        <p:spPr>
          <a:xfrm>
            <a:off x="9784080" y="4187952"/>
            <a:ext cx="1810512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24282C"/>
                </a:solidFill>
                <a:latin typeface="Arial"/>
              </a:rPr>
              <a:t>Accident &amp; body › Bumper</a:t>
            </a:r>
          </a:p>
        </p:txBody>
      </p:sp>
      <p:sp>
        <p:nvSpPr>
          <p:cNvPr id="36" name="row_bg4"/>
          <p:cNvSpPr/>
          <p:nvPr/>
        </p:nvSpPr>
        <p:spPr>
          <a:xfrm>
            <a:off x="3931920" y="4700016"/>
            <a:ext cx="770839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w_name4"/>
          <p:cNvSpPr txBox="1"/>
          <p:nvPr/>
        </p:nvSpPr>
        <p:spPr>
          <a:xfrm>
            <a:off x="4069080" y="4736592"/>
            <a:ext cx="2057400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00" b="1" i="0">
                <a:solidFill>
                  <a:srgbClr val="24282C"/>
                </a:solidFill>
                <a:latin typeface="Arial"/>
              </a:rPr>
              <a:t>Ball joints</a:t>
            </a:r>
          </a:p>
        </p:txBody>
      </p:sp>
      <p:sp>
        <p:nvSpPr>
          <p:cNvPr id="38" name="row_bar4"/>
          <p:cNvSpPr/>
          <p:nvPr/>
        </p:nvSpPr>
        <p:spPr>
          <a:xfrm>
            <a:off x="6172200" y="4846320"/>
            <a:ext cx="117705" cy="182880"/>
          </a:xfrm>
          <a:prstGeom prst="rect">
            <a:avLst/>
          </a:prstGeom>
          <a:solidFill>
            <a:srgbClr val="9AA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w_eur4"/>
          <p:cNvSpPr txBox="1"/>
          <p:nvPr/>
        </p:nvSpPr>
        <p:spPr>
          <a:xfrm>
            <a:off x="6363057" y="4736592"/>
            <a:ext cx="685800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24282C"/>
                </a:solidFill>
                <a:latin typeface="Arial"/>
              </a:rPr>
              <a:t>€86k</a:t>
            </a:r>
          </a:p>
        </p:txBody>
      </p:sp>
      <p:sp>
        <p:nvSpPr>
          <p:cNvPr id="40" name="row_old4"/>
          <p:cNvSpPr txBox="1"/>
          <p:nvPr/>
        </p:nvSpPr>
        <p:spPr>
          <a:xfrm>
            <a:off x="7863840" y="4736592"/>
            <a:ext cx="1828800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0" i="0" strike="sngStrike">
                <a:solidFill>
                  <a:srgbClr val="626A71"/>
                </a:solidFill>
                <a:latin typeface="Arial"/>
              </a:rPr>
              <a:t>Linkage (hydraulic / mechanical)</a:t>
            </a:r>
          </a:p>
        </p:txBody>
      </p:sp>
      <p:sp>
        <p:nvSpPr>
          <p:cNvPr id="41" name="row_aim4"/>
          <p:cNvSpPr txBox="1"/>
          <p:nvPr/>
        </p:nvSpPr>
        <p:spPr>
          <a:xfrm>
            <a:off x="9784080" y="4736592"/>
            <a:ext cx="1810512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24282C"/>
                </a:solidFill>
                <a:latin typeface="Arial"/>
              </a:rPr>
              <a:t>Suspension › Suspension arm</a:t>
            </a:r>
          </a:p>
        </p:txBody>
      </p:sp>
      <p:sp>
        <p:nvSpPr>
          <p:cNvPr id="42" name="row_total"/>
          <p:cNvSpPr txBox="1"/>
          <p:nvPr/>
        </p:nvSpPr>
        <p:spPr>
          <a:xfrm>
            <a:off x="4069080" y="5330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24282C"/>
                </a:solidFill>
                <a:latin typeface="Arial"/>
              </a:rPr>
              <a:t>Total </a:t>
            </a:r>
            <a:r>
              <a:rPr sz="1300" b="1" i="0">
                <a:solidFill>
                  <a:srgbClr val="24282C"/>
                </a:solidFill>
                <a:latin typeface="Arial"/>
              </a:rPr>
              <a:t>€1.13M a year</a:t>
            </a:r>
          </a:p>
        </p:txBody>
      </p:sp>
      <p:sp>
        <p:nvSpPr>
          <p:cNvPr id="43" name="acl_band_bg"/>
          <p:cNvSpPr/>
          <p:nvPr/>
        </p:nvSpPr>
        <p:spPr>
          <a:xfrm>
            <a:off x="3931920" y="5641848"/>
            <a:ext cx="7708392" cy="411480"/>
          </a:xfrm>
          <a:prstGeom prst="rect">
            <a:avLst/>
          </a:prstGeom>
          <a:solidFill>
            <a:srgbClr val="F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acl_band"/>
          <p:cNvSpPr txBox="1"/>
          <p:nvPr/>
        </p:nvSpPr>
        <p:spPr>
          <a:xfrm>
            <a:off x="4069080" y="5641848"/>
            <a:ext cx="7498079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00" b="0" i="0">
                <a:solidFill>
                  <a:srgbClr val="24282C"/>
                </a:solidFill>
                <a:latin typeface="Arial"/>
              </a:rPr>
              <a:t>Ask “how are our air filters selling?” and the old tree missed </a:t>
            </a:r>
            <a:r>
              <a:rPr sz="1300" b="1" i="0">
                <a:solidFill>
                  <a:srgbClr val="24282C"/>
                </a:solidFill>
                <a:latin typeface="Arial"/>
              </a:rPr>
              <a:t>€0.67M of the €0.80M answer.</a:t>
            </a:r>
          </a:p>
        </p:txBody>
      </p:sp>
      <p:sp>
        <p:nvSpPr>
          <p:cNvPr id="45" name="source"/>
          <p:cNvSpPr txBox="1"/>
          <p:nvPr/>
        </p:nvSpPr>
        <p:spPr>
          <a:xfrm>
            <a:off x="548640" y="6089904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626A71"/>
                </a:solidFill>
                <a:latin typeface="Arial"/>
              </a:rPr>
              <a:t>Old placements: classification audit of 20 September 2026, each confirmed against Isuzu's parts catalogue figures. Euro: price revision basis, July 2025 – June 2026. Photo: Isuzu Truck UK dealer listing.</a:t>
            </a:r>
          </a:p>
        </p:txBody>
      </p:sp>
      <p:sp>
        <p:nvSpPr>
          <p:cNvPr id="46" name="ft_brand"/>
          <p:cNvSpPr txBox="1"/>
          <p:nvPr/>
        </p:nvSpPr>
        <p:spPr>
          <a:xfrm>
            <a:off x="548640" y="6419088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1" i="0">
                <a:solidFill>
                  <a:srgbClr val="D71920"/>
                </a:solidFill>
                <a:latin typeface="Arial"/>
              </a:rPr>
              <a:t>ISUZU</a:t>
            </a:r>
          </a:p>
        </p:txBody>
      </p:sp>
      <p:sp>
        <p:nvSpPr>
          <p:cNvPr id="47" name="ft_section"/>
          <p:cNvSpPr txBox="1"/>
          <p:nvPr/>
        </p:nvSpPr>
        <p:spPr>
          <a:xfrm>
            <a:off x="1325880" y="6428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626A71"/>
                </a:solidFill>
                <a:latin typeface="Arial"/>
              </a:rPr>
              <a:t>EUROPE  /  AIM  /  THE PROBLEM</a:t>
            </a:r>
          </a:p>
        </p:txBody>
      </p:sp>
      <p:sp>
        <p:nvSpPr>
          <p:cNvPr id="48" name="ft_page"/>
          <p:cNvSpPr txBox="1"/>
          <p:nvPr/>
        </p:nvSpPr>
        <p:spPr>
          <a:xfrm>
            <a:off x="10908792" y="641908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1" i="0">
                <a:solidFill>
                  <a:srgbClr val="24282C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758951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D71920"/>
                </a:solidFill>
                <a:latin typeface="Arial"/>
              </a:rPr>
              <a:t>THE PROBLEM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24282C"/>
                </a:solidFill>
                <a:latin typeface="Arial"/>
              </a:rPr>
              <a:t>For pricing, the old “Competitive” label was wrong half the time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48640" y="1609344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626A71"/>
                </a:solidFill>
                <a:latin typeface="Arial"/>
              </a:rPr>
              <a:t>We tested it against the independent-brand prices we collect ourselves.</a:t>
            </a:r>
          </a:p>
        </p:txBody>
      </p:sp>
      <p:sp>
        <p:nvSpPr>
          <p:cNvPr id="5" name="w0"/>
          <p:cNvSpPr/>
          <p:nvPr/>
        </p:nvSpPr>
        <p:spPr>
          <a:xfrm>
            <a:off x="548640" y="2240280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w1"/>
          <p:cNvSpPr/>
          <p:nvPr/>
        </p:nvSpPr>
        <p:spPr>
          <a:xfrm>
            <a:off x="795528" y="2240280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2"/>
          <p:cNvSpPr/>
          <p:nvPr/>
        </p:nvSpPr>
        <p:spPr>
          <a:xfrm>
            <a:off x="1042416" y="2240280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3"/>
          <p:cNvSpPr/>
          <p:nvPr/>
        </p:nvSpPr>
        <p:spPr>
          <a:xfrm>
            <a:off x="1289304" y="2240280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4"/>
          <p:cNvSpPr/>
          <p:nvPr/>
        </p:nvSpPr>
        <p:spPr>
          <a:xfrm>
            <a:off x="1536192" y="2240280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w5"/>
          <p:cNvSpPr/>
          <p:nvPr/>
        </p:nvSpPr>
        <p:spPr>
          <a:xfrm>
            <a:off x="1783080" y="2240280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6"/>
          <p:cNvSpPr/>
          <p:nvPr/>
        </p:nvSpPr>
        <p:spPr>
          <a:xfrm>
            <a:off x="2029968" y="2240280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w7"/>
          <p:cNvSpPr/>
          <p:nvPr/>
        </p:nvSpPr>
        <p:spPr>
          <a:xfrm>
            <a:off x="2276856" y="2240280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w8"/>
          <p:cNvSpPr/>
          <p:nvPr/>
        </p:nvSpPr>
        <p:spPr>
          <a:xfrm>
            <a:off x="2523744" y="2240280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w9"/>
          <p:cNvSpPr/>
          <p:nvPr/>
        </p:nvSpPr>
        <p:spPr>
          <a:xfrm>
            <a:off x="2770632" y="2240280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w10"/>
          <p:cNvSpPr/>
          <p:nvPr/>
        </p:nvSpPr>
        <p:spPr>
          <a:xfrm>
            <a:off x="548640" y="2487168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w11"/>
          <p:cNvSpPr/>
          <p:nvPr/>
        </p:nvSpPr>
        <p:spPr>
          <a:xfrm>
            <a:off x="795528" y="2487168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w12"/>
          <p:cNvSpPr/>
          <p:nvPr/>
        </p:nvSpPr>
        <p:spPr>
          <a:xfrm>
            <a:off x="1042416" y="2487168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w13"/>
          <p:cNvSpPr/>
          <p:nvPr/>
        </p:nvSpPr>
        <p:spPr>
          <a:xfrm>
            <a:off x="1289304" y="2487168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w14"/>
          <p:cNvSpPr/>
          <p:nvPr/>
        </p:nvSpPr>
        <p:spPr>
          <a:xfrm>
            <a:off x="1536192" y="2487168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w15"/>
          <p:cNvSpPr/>
          <p:nvPr/>
        </p:nvSpPr>
        <p:spPr>
          <a:xfrm>
            <a:off x="1783080" y="2487168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w16"/>
          <p:cNvSpPr/>
          <p:nvPr/>
        </p:nvSpPr>
        <p:spPr>
          <a:xfrm>
            <a:off x="2029968" y="2487168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w17"/>
          <p:cNvSpPr/>
          <p:nvPr/>
        </p:nvSpPr>
        <p:spPr>
          <a:xfrm>
            <a:off x="2276856" y="2487168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w18"/>
          <p:cNvSpPr/>
          <p:nvPr/>
        </p:nvSpPr>
        <p:spPr>
          <a:xfrm>
            <a:off x="2523744" y="2487168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w19"/>
          <p:cNvSpPr/>
          <p:nvPr/>
        </p:nvSpPr>
        <p:spPr>
          <a:xfrm>
            <a:off x="2770632" y="2487168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w20"/>
          <p:cNvSpPr/>
          <p:nvPr/>
        </p:nvSpPr>
        <p:spPr>
          <a:xfrm>
            <a:off x="548640" y="2734056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w21"/>
          <p:cNvSpPr/>
          <p:nvPr/>
        </p:nvSpPr>
        <p:spPr>
          <a:xfrm>
            <a:off x="795528" y="2734056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w22"/>
          <p:cNvSpPr/>
          <p:nvPr/>
        </p:nvSpPr>
        <p:spPr>
          <a:xfrm>
            <a:off x="1042416" y="2734056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w23"/>
          <p:cNvSpPr/>
          <p:nvPr/>
        </p:nvSpPr>
        <p:spPr>
          <a:xfrm>
            <a:off x="1289304" y="2734056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w24"/>
          <p:cNvSpPr/>
          <p:nvPr/>
        </p:nvSpPr>
        <p:spPr>
          <a:xfrm>
            <a:off x="1536192" y="2734056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w25"/>
          <p:cNvSpPr/>
          <p:nvPr/>
        </p:nvSpPr>
        <p:spPr>
          <a:xfrm>
            <a:off x="1783080" y="2734056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w26"/>
          <p:cNvSpPr/>
          <p:nvPr/>
        </p:nvSpPr>
        <p:spPr>
          <a:xfrm>
            <a:off x="2029968" y="2734056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w27"/>
          <p:cNvSpPr/>
          <p:nvPr/>
        </p:nvSpPr>
        <p:spPr>
          <a:xfrm>
            <a:off x="2276856" y="2734056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w28"/>
          <p:cNvSpPr/>
          <p:nvPr/>
        </p:nvSpPr>
        <p:spPr>
          <a:xfrm>
            <a:off x="2523744" y="2734056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w29"/>
          <p:cNvSpPr/>
          <p:nvPr/>
        </p:nvSpPr>
        <p:spPr>
          <a:xfrm>
            <a:off x="2770632" y="2734056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w30"/>
          <p:cNvSpPr/>
          <p:nvPr/>
        </p:nvSpPr>
        <p:spPr>
          <a:xfrm>
            <a:off x="548640" y="2980944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w31"/>
          <p:cNvSpPr/>
          <p:nvPr/>
        </p:nvSpPr>
        <p:spPr>
          <a:xfrm>
            <a:off x="795528" y="2980944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w32"/>
          <p:cNvSpPr/>
          <p:nvPr/>
        </p:nvSpPr>
        <p:spPr>
          <a:xfrm>
            <a:off x="1042416" y="2980944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w33"/>
          <p:cNvSpPr/>
          <p:nvPr/>
        </p:nvSpPr>
        <p:spPr>
          <a:xfrm>
            <a:off x="1289304" y="2980944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w34"/>
          <p:cNvSpPr/>
          <p:nvPr/>
        </p:nvSpPr>
        <p:spPr>
          <a:xfrm>
            <a:off x="1536192" y="2980944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w35"/>
          <p:cNvSpPr/>
          <p:nvPr/>
        </p:nvSpPr>
        <p:spPr>
          <a:xfrm>
            <a:off x="1783080" y="2980944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w36"/>
          <p:cNvSpPr/>
          <p:nvPr/>
        </p:nvSpPr>
        <p:spPr>
          <a:xfrm>
            <a:off x="2029968" y="2980944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w37"/>
          <p:cNvSpPr/>
          <p:nvPr/>
        </p:nvSpPr>
        <p:spPr>
          <a:xfrm>
            <a:off x="2276856" y="2980944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w38"/>
          <p:cNvSpPr/>
          <p:nvPr/>
        </p:nvSpPr>
        <p:spPr>
          <a:xfrm>
            <a:off x="2523744" y="2980944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w39"/>
          <p:cNvSpPr/>
          <p:nvPr/>
        </p:nvSpPr>
        <p:spPr>
          <a:xfrm>
            <a:off x="2770632" y="2980944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w40"/>
          <p:cNvSpPr/>
          <p:nvPr/>
        </p:nvSpPr>
        <p:spPr>
          <a:xfrm>
            <a:off x="548640" y="3227832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w41"/>
          <p:cNvSpPr/>
          <p:nvPr/>
        </p:nvSpPr>
        <p:spPr>
          <a:xfrm>
            <a:off x="795528" y="3227832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w42"/>
          <p:cNvSpPr/>
          <p:nvPr/>
        </p:nvSpPr>
        <p:spPr>
          <a:xfrm>
            <a:off x="1042416" y="3227832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w43"/>
          <p:cNvSpPr/>
          <p:nvPr/>
        </p:nvSpPr>
        <p:spPr>
          <a:xfrm>
            <a:off x="1289304" y="3227832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w44"/>
          <p:cNvSpPr/>
          <p:nvPr/>
        </p:nvSpPr>
        <p:spPr>
          <a:xfrm>
            <a:off x="1536192" y="3227832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w45"/>
          <p:cNvSpPr/>
          <p:nvPr/>
        </p:nvSpPr>
        <p:spPr>
          <a:xfrm>
            <a:off x="1783080" y="3227832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w46"/>
          <p:cNvSpPr/>
          <p:nvPr/>
        </p:nvSpPr>
        <p:spPr>
          <a:xfrm>
            <a:off x="2029968" y="3227832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w47"/>
          <p:cNvSpPr/>
          <p:nvPr/>
        </p:nvSpPr>
        <p:spPr>
          <a:xfrm>
            <a:off x="2276856" y="3227832"/>
            <a:ext cx="201168" cy="201168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w48"/>
          <p:cNvSpPr/>
          <p:nvPr/>
        </p:nvSpPr>
        <p:spPr>
          <a:xfrm>
            <a:off x="2523744" y="3227832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w49"/>
          <p:cNvSpPr/>
          <p:nvPr/>
        </p:nvSpPr>
        <p:spPr>
          <a:xfrm>
            <a:off x="2770632" y="3227832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w50"/>
          <p:cNvSpPr/>
          <p:nvPr/>
        </p:nvSpPr>
        <p:spPr>
          <a:xfrm>
            <a:off x="548640" y="3474720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w51"/>
          <p:cNvSpPr/>
          <p:nvPr/>
        </p:nvSpPr>
        <p:spPr>
          <a:xfrm>
            <a:off x="795528" y="3474720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w52"/>
          <p:cNvSpPr/>
          <p:nvPr/>
        </p:nvSpPr>
        <p:spPr>
          <a:xfrm>
            <a:off x="1042416" y="3474720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w53"/>
          <p:cNvSpPr/>
          <p:nvPr/>
        </p:nvSpPr>
        <p:spPr>
          <a:xfrm>
            <a:off x="1289304" y="3474720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w54"/>
          <p:cNvSpPr/>
          <p:nvPr/>
        </p:nvSpPr>
        <p:spPr>
          <a:xfrm>
            <a:off x="1536192" y="3474720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w55"/>
          <p:cNvSpPr/>
          <p:nvPr/>
        </p:nvSpPr>
        <p:spPr>
          <a:xfrm>
            <a:off x="1783080" y="3474720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w56"/>
          <p:cNvSpPr/>
          <p:nvPr/>
        </p:nvSpPr>
        <p:spPr>
          <a:xfrm>
            <a:off x="2029968" y="3474720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w57"/>
          <p:cNvSpPr/>
          <p:nvPr/>
        </p:nvSpPr>
        <p:spPr>
          <a:xfrm>
            <a:off x="2276856" y="3474720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w58"/>
          <p:cNvSpPr/>
          <p:nvPr/>
        </p:nvSpPr>
        <p:spPr>
          <a:xfrm>
            <a:off x="2523744" y="3474720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w59"/>
          <p:cNvSpPr/>
          <p:nvPr/>
        </p:nvSpPr>
        <p:spPr>
          <a:xfrm>
            <a:off x="2770632" y="3474720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w60"/>
          <p:cNvSpPr/>
          <p:nvPr/>
        </p:nvSpPr>
        <p:spPr>
          <a:xfrm>
            <a:off x="548640" y="3721608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w61"/>
          <p:cNvSpPr/>
          <p:nvPr/>
        </p:nvSpPr>
        <p:spPr>
          <a:xfrm>
            <a:off x="795528" y="3721608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w62"/>
          <p:cNvSpPr/>
          <p:nvPr/>
        </p:nvSpPr>
        <p:spPr>
          <a:xfrm>
            <a:off x="1042416" y="3721608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w63"/>
          <p:cNvSpPr/>
          <p:nvPr/>
        </p:nvSpPr>
        <p:spPr>
          <a:xfrm>
            <a:off x="1289304" y="3721608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w64"/>
          <p:cNvSpPr/>
          <p:nvPr/>
        </p:nvSpPr>
        <p:spPr>
          <a:xfrm>
            <a:off x="1536192" y="3721608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w65"/>
          <p:cNvSpPr/>
          <p:nvPr/>
        </p:nvSpPr>
        <p:spPr>
          <a:xfrm>
            <a:off x="1783080" y="3721608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w66"/>
          <p:cNvSpPr/>
          <p:nvPr/>
        </p:nvSpPr>
        <p:spPr>
          <a:xfrm>
            <a:off x="2029968" y="3721608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w67"/>
          <p:cNvSpPr/>
          <p:nvPr/>
        </p:nvSpPr>
        <p:spPr>
          <a:xfrm>
            <a:off x="2276856" y="3721608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w68"/>
          <p:cNvSpPr/>
          <p:nvPr/>
        </p:nvSpPr>
        <p:spPr>
          <a:xfrm>
            <a:off x="2523744" y="3721608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w69"/>
          <p:cNvSpPr/>
          <p:nvPr/>
        </p:nvSpPr>
        <p:spPr>
          <a:xfrm>
            <a:off x="2770632" y="3721608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w70"/>
          <p:cNvSpPr/>
          <p:nvPr/>
        </p:nvSpPr>
        <p:spPr>
          <a:xfrm>
            <a:off x="548640" y="3968496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w71"/>
          <p:cNvSpPr/>
          <p:nvPr/>
        </p:nvSpPr>
        <p:spPr>
          <a:xfrm>
            <a:off x="795528" y="3968496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w72"/>
          <p:cNvSpPr/>
          <p:nvPr/>
        </p:nvSpPr>
        <p:spPr>
          <a:xfrm>
            <a:off x="1042416" y="3968496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w73"/>
          <p:cNvSpPr/>
          <p:nvPr/>
        </p:nvSpPr>
        <p:spPr>
          <a:xfrm>
            <a:off x="1289304" y="3968496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w74"/>
          <p:cNvSpPr/>
          <p:nvPr/>
        </p:nvSpPr>
        <p:spPr>
          <a:xfrm>
            <a:off x="1536192" y="3968496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w75"/>
          <p:cNvSpPr/>
          <p:nvPr/>
        </p:nvSpPr>
        <p:spPr>
          <a:xfrm>
            <a:off x="1783080" y="3968496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w76"/>
          <p:cNvSpPr/>
          <p:nvPr/>
        </p:nvSpPr>
        <p:spPr>
          <a:xfrm>
            <a:off x="2029968" y="3968496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w77"/>
          <p:cNvSpPr/>
          <p:nvPr/>
        </p:nvSpPr>
        <p:spPr>
          <a:xfrm>
            <a:off x="2276856" y="3968496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w78"/>
          <p:cNvSpPr/>
          <p:nvPr/>
        </p:nvSpPr>
        <p:spPr>
          <a:xfrm>
            <a:off x="2523744" y="3968496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w79"/>
          <p:cNvSpPr/>
          <p:nvPr/>
        </p:nvSpPr>
        <p:spPr>
          <a:xfrm>
            <a:off x="2770632" y="3968496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w80"/>
          <p:cNvSpPr/>
          <p:nvPr/>
        </p:nvSpPr>
        <p:spPr>
          <a:xfrm>
            <a:off x="548640" y="4215384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w81"/>
          <p:cNvSpPr/>
          <p:nvPr/>
        </p:nvSpPr>
        <p:spPr>
          <a:xfrm>
            <a:off x="795528" y="4215384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w82"/>
          <p:cNvSpPr/>
          <p:nvPr/>
        </p:nvSpPr>
        <p:spPr>
          <a:xfrm>
            <a:off x="1042416" y="4215384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w83"/>
          <p:cNvSpPr/>
          <p:nvPr/>
        </p:nvSpPr>
        <p:spPr>
          <a:xfrm>
            <a:off x="1289304" y="4215384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w84"/>
          <p:cNvSpPr/>
          <p:nvPr/>
        </p:nvSpPr>
        <p:spPr>
          <a:xfrm>
            <a:off x="1536192" y="4215384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w85"/>
          <p:cNvSpPr/>
          <p:nvPr/>
        </p:nvSpPr>
        <p:spPr>
          <a:xfrm>
            <a:off x="1783080" y="4215384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w86"/>
          <p:cNvSpPr/>
          <p:nvPr/>
        </p:nvSpPr>
        <p:spPr>
          <a:xfrm>
            <a:off x="2029968" y="4215384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w87"/>
          <p:cNvSpPr/>
          <p:nvPr/>
        </p:nvSpPr>
        <p:spPr>
          <a:xfrm>
            <a:off x="2276856" y="4215384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w88"/>
          <p:cNvSpPr/>
          <p:nvPr/>
        </p:nvSpPr>
        <p:spPr>
          <a:xfrm>
            <a:off x="2523744" y="4215384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w89"/>
          <p:cNvSpPr/>
          <p:nvPr/>
        </p:nvSpPr>
        <p:spPr>
          <a:xfrm>
            <a:off x="2770632" y="4215384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w90"/>
          <p:cNvSpPr/>
          <p:nvPr/>
        </p:nvSpPr>
        <p:spPr>
          <a:xfrm>
            <a:off x="548640" y="4462272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w91"/>
          <p:cNvSpPr/>
          <p:nvPr/>
        </p:nvSpPr>
        <p:spPr>
          <a:xfrm>
            <a:off x="795528" y="4462272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w92"/>
          <p:cNvSpPr/>
          <p:nvPr/>
        </p:nvSpPr>
        <p:spPr>
          <a:xfrm>
            <a:off x="1042416" y="4462272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w93"/>
          <p:cNvSpPr/>
          <p:nvPr/>
        </p:nvSpPr>
        <p:spPr>
          <a:xfrm>
            <a:off x="1289304" y="4462272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w94"/>
          <p:cNvSpPr/>
          <p:nvPr/>
        </p:nvSpPr>
        <p:spPr>
          <a:xfrm>
            <a:off x="1536192" y="4462272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w95"/>
          <p:cNvSpPr/>
          <p:nvPr/>
        </p:nvSpPr>
        <p:spPr>
          <a:xfrm>
            <a:off x="1783080" y="4462272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w96"/>
          <p:cNvSpPr/>
          <p:nvPr/>
        </p:nvSpPr>
        <p:spPr>
          <a:xfrm>
            <a:off x="2029968" y="4462272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w97"/>
          <p:cNvSpPr/>
          <p:nvPr/>
        </p:nvSpPr>
        <p:spPr>
          <a:xfrm>
            <a:off x="2276856" y="4462272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w98"/>
          <p:cNvSpPr/>
          <p:nvPr/>
        </p:nvSpPr>
        <p:spPr>
          <a:xfrm>
            <a:off x="2523744" y="4462272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w99"/>
          <p:cNvSpPr/>
          <p:nvPr/>
        </p:nvSpPr>
        <p:spPr>
          <a:xfrm>
            <a:off x="2770632" y="4462272"/>
            <a:ext cx="201168" cy="201168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lg1"/>
          <p:cNvSpPr/>
          <p:nvPr/>
        </p:nvSpPr>
        <p:spPr>
          <a:xfrm>
            <a:off x="548640" y="4828032"/>
            <a:ext cx="146304" cy="146304"/>
          </a:xfrm>
          <a:prstGeom prst="rect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lg1_t"/>
          <p:cNvSpPr txBox="1"/>
          <p:nvPr/>
        </p:nvSpPr>
        <p:spPr>
          <a:xfrm>
            <a:off x="768096" y="4782312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24282C"/>
                </a:solidFill>
                <a:latin typeface="Arial"/>
              </a:rPr>
              <a:t>labelled “Competitive”</a:t>
            </a:r>
          </a:p>
        </p:txBody>
      </p:sp>
      <p:sp>
        <p:nvSpPr>
          <p:cNvPr id="107" name="lg2"/>
          <p:cNvSpPr/>
          <p:nvPr/>
        </p:nvSpPr>
        <p:spPr>
          <a:xfrm>
            <a:off x="548640" y="5084064"/>
            <a:ext cx="146304" cy="146304"/>
          </a:xfrm>
          <a:prstGeom prst="rect">
            <a:avLst/>
          </a:prstGeom>
          <a:solidFill>
            <a:srgbClr val="CC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lg2_t"/>
          <p:cNvSpPr txBox="1"/>
          <p:nvPr/>
        </p:nvSpPr>
        <p:spPr>
          <a:xfrm>
            <a:off x="768096" y="5038344"/>
            <a:ext cx="329184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24282C"/>
                </a:solidFill>
                <a:latin typeface="Arial"/>
              </a:rPr>
              <a:t>labelled repair, accident, comfort or hardware</a:t>
            </a:r>
          </a:p>
        </p:txBody>
      </p:sp>
      <p:sp>
        <p:nvSpPr>
          <p:cNvPr id="109" name="stat48"/>
          <p:cNvSpPr txBox="1"/>
          <p:nvPr/>
        </p:nvSpPr>
        <p:spPr>
          <a:xfrm>
            <a:off x="3657600" y="2103120"/>
            <a:ext cx="356616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6600" b="1" i="0">
                <a:solidFill>
                  <a:srgbClr val="D71920"/>
                </a:solidFill>
                <a:latin typeface="Arial"/>
              </a:rPr>
              <a:t>48%</a:t>
            </a:r>
          </a:p>
        </p:txBody>
      </p:sp>
      <p:sp>
        <p:nvSpPr>
          <p:cNvPr id="110" name="stat48_t"/>
          <p:cNvSpPr txBox="1"/>
          <p:nvPr/>
        </p:nvSpPr>
        <p:spPr>
          <a:xfrm>
            <a:off x="3657600" y="3154680"/>
            <a:ext cx="3566160" cy="1691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24282C"/>
                </a:solidFill>
                <a:latin typeface="Arial"/>
              </a:rPr>
              <a:t>Of every 100 parts where we found an independent-brand alternative, only 48 carried the “Competitive” label. The other 52 were filed as something else.</a:t>
            </a:r>
          </a:p>
        </p:txBody>
      </p:sp>
      <p:sp>
        <p:nvSpPr>
          <p:cNvPr id="111" name="impl_bg"/>
          <p:cNvSpPr/>
          <p:nvPr/>
        </p:nvSpPr>
        <p:spPr>
          <a:xfrm>
            <a:off x="7680960" y="2194560"/>
            <a:ext cx="3959352" cy="3154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impl"/>
          <p:cNvSpPr txBox="1"/>
          <p:nvPr/>
        </p:nvSpPr>
        <p:spPr>
          <a:xfrm>
            <a:off x="7909560" y="2331720"/>
            <a:ext cx="3566160" cy="28803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24282C"/>
                </a:solidFill>
                <a:latin typeface="Arial"/>
              </a:rPr>
              <a:t>What that does to a price revision</a:t>
            </a:r>
          </a:p>
          <a:p>
            <a:pPr algn="l">
              <a:spcBef>
                <a:spcPts val="1600"/>
              </a:spcBef>
            </a:pPr>
            <a:r>
              <a:rPr sz="1500" b="1" i="0">
                <a:solidFill>
                  <a:srgbClr val="24282C"/>
                </a:solidFill>
                <a:latin typeface="Arial"/>
              </a:rPr>
              <a:t>Raise a “repair part” </a:t>
            </a:r>
            <a:r>
              <a:rPr sz="1500" b="0" i="0">
                <a:solidFill>
                  <a:srgbClr val="24282C"/>
                </a:solidFill>
                <a:latin typeface="Arial"/>
              </a:rPr>
              <a:t>and you may be raising it where the customer already has a cheaper choice.</a:t>
            </a:r>
          </a:p>
          <a:p>
            <a:pPr algn="l">
              <a:spcBef>
                <a:spcPts val="1600"/>
              </a:spcBef>
            </a:pPr>
            <a:r>
              <a:rPr sz="1500" b="1" i="0">
                <a:solidFill>
                  <a:srgbClr val="24282C"/>
                </a:solidFill>
                <a:latin typeface="Arial"/>
              </a:rPr>
              <a:t>Hold a “competitive part” </a:t>
            </a:r>
            <a:r>
              <a:rPr sz="1500" b="0" i="0">
                <a:solidFill>
                  <a:srgbClr val="24282C"/>
                </a:solidFill>
                <a:latin typeface="Arial"/>
              </a:rPr>
              <a:t>and you may be giving away margin where nobody competes.</a:t>
            </a:r>
          </a:p>
        </p:txBody>
      </p:sp>
      <p:sp>
        <p:nvSpPr>
          <p:cNvPr id="113" name="band_bg"/>
          <p:cNvSpPr/>
          <p:nvPr/>
        </p:nvSpPr>
        <p:spPr>
          <a:xfrm>
            <a:off x="548640" y="5440680"/>
            <a:ext cx="11091672" cy="566928"/>
          </a:xfrm>
          <a:prstGeom prst="rect">
            <a:avLst/>
          </a:prstGeom>
          <a:solidFill>
            <a:srgbClr val="F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band"/>
          <p:cNvSpPr txBox="1"/>
          <p:nvPr/>
        </p:nvSpPr>
        <p:spPr>
          <a:xfrm>
            <a:off x="777240" y="5440680"/>
            <a:ext cx="1065276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0">
                <a:solidFill>
                  <a:srgbClr val="24282C"/>
                </a:solidFill>
                <a:latin typeface="Arial"/>
              </a:rPr>
              <a:t>A label cannot tell us where we compete. Price evidence can, </a:t>
            </a:r>
            <a:r>
              <a:rPr sz="1400" b="1" i="0">
                <a:solidFill>
                  <a:srgbClr val="24282C"/>
                </a:solidFill>
                <a:latin typeface="Arial"/>
              </a:rPr>
              <a:t>and it needs a real product to attach to. That is what AIM provides.</a:t>
            </a:r>
          </a:p>
        </p:txBody>
      </p:sp>
      <p:sp>
        <p:nvSpPr>
          <p:cNvPr id="115" name="source"/>
          <p:cNvSpPr txBox="1"/>
          <p:nvPr/>
        </p:nvSpPr>
        <p:spPr>
          <a:xfrm>
            <a:off x="548640" y="6089904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626A71"/>
                </a:solidFill>
                <a:latin typeface="Arial"/>
              </a:rPr>
              <a:t>Classification audit, 20 September 2026: share of part numbers with a confirmed independent-brand alternative in our own price checks that carried the old “Competitive parts” label (48.2%).</a:t>
            </a:r>
          </a:p>
        </p:txBody>
      </p:sp>
      <p:sp>
        <p:nvSpPr>
          <p:cNvPr id="116" name="ft_brand"/>
          <p:cNvSpPr txBox="1"/>
          <p:nvPr/>
        </p:nvSpPr>
        <p:spPr>
          <a:xfrm>
            <a:off x="548640" y="6419088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1" i="0">
                <a:solidFill>
                  <a:srgbClr val="D71920"/>
                </a:solidFill>
                <a:latin typeface="Arial"/>
              </a:rPr>
              <a:t>ISUZU</a:t>
            </a:r>
          </a:p>
        </p:txBody>
      </p:sp>
      <p:sp>
        <p:nvSpPr>
          <p:cNvPr id="117" name="ft_section"/>
          <p:cNvSpPr txBox="1"/>
          <p:nvPr/>
        </p:nvSpPr>
        <p:spPr>
          <a:xfrm>
            <a:off x="1325880" y="6428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626A71"/>
                </a:solidFill>
                <a:latin typeface="Arial"/>
              </a:rPr>
              <a:t>EUROPE  /  AIM  /  THE PROBLEM</a:t>
            </a:r>
          </a:p>
        </p:txBody>
      </p:sp>
      <p:sp>
        <p:nvSpPr>
          <p:cNvPr id="118" name="ft_page"/>
          <p:cNvSpPr txBox="1"/>
          <p:nvPr/>
        </p:nvSpPr>
        <p:spPr>
          <a:xfrm>
            <a:off x="10908792" y="641908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1" i="0">
                <a:solidFill>
                  <a:srgbClr val="24282C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758951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D71920"/>
                </a:solidFill>
                <a:latin typeface="Arial"/>
              </a:rPr>
              <a:t>THE ANSWER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24282C"/>
                </a:solidFill>
                <a:latin typeface="Arial"/>
              </a:rPr>
              <a:t>AIM gives every part a family, a product group and a part type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48640" y="1609344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626A71"/>
                </a:solidFill>
                <a:latin typeface="Arial"/>
              </a:rPr>
              <a:t>It reads five facts about each part together, not just its name.</a:t>
            </a:r>
          </a:p>
        </p:txBody>
      </p:sp>
      <p:sp>
        <p:nvSpPr>
          <p:cNvPr id="5" name="lvl0"/>
          <p:cNvSpPr/>
          <p:nvPr/>
        </p:nvSpPr>
        <p:spPr>
          <a:xfrm>
            <a:off x="548640" y="2194560"/>
            <a:ext cx="5120640" cy="658368"/>
          </a:xfrm>
          <a:prstGeom prst="rect">
            <a:avLst/>
          </a:prstGeom>
          <a:solidFill>
            <a:srgbClr val="24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vl0_k"/>
          <p:cNvSpPr txBox="1"/>
          <p:nvPr/>
        </p:nvSpPr>
        <p:spPr>
          <a:xfrm>
            <a:off x="731520" y="2249424"/>
            <a:ext cx="347472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CCD1D2"/>
                </a:solidFill>
                <a:latin typeface="Arial"/>
              </a:rPr>
              <a:t>FAMILY</a:t>
            </a:r>
          </a:p>
        </p:txBody>
      </p:sp>
      <p:sp>
        <p:nvSpPr>
          <p:cNvPr id="7" name="lvl0_n"/>
          <p:cNvSpPr txBox="1"/>
          <p:nvPr/>
        </p:nvSpPr>
        <p:spPr>
          <a:xfrm>
            <a:off x="731520" y="2450591"/>
            <a:ext cx="3749039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Brakes</a:t>
            </a:r>
          </a:p>
        </p:txBody>
      </p:sp>
      <p:sp>
        <p:nvSpPr>
          <p:cNvPr id="8" name="lvl0_v"/>
          <p:cNvSpPr txBox="1"/>
          <p:nvPr/>
        </p:nvSpPr>
        <p:spPr>
          <a:xfrm>
            <a:off x="4389120" y="2249424"/>
            <a:ext cx="114300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500" b="1" i="0">
                <a:solidFill>
                  <a:srgbClr val="FFFFFF"/>
                </a:solidFill>
                <a:latin typeface="Arial"/>
              </a:rPr>
              <a:t>€3.39M</a:t>
            </a:r>
          </a:p>
        </p:txBody>
      </p:sp>
      <p:sp>
        <p:nvSpPr>
          <p:cNvPr id="9" name="lvl1"/>
          <p:cNvSpPr/>
          <p:nvPr/>
        </p:nvSpPr>
        <p:spPr>
          <a:xfrm>
            <a:off x="868680" y="2980944"/>
            <a:ext cx="5120640" cy="658368"/>
          </a:xfrm>
          <a:prstGeom prst="rect">
            <a:avLst/>
          </a:prstGeom>
          <a:solidFill>
            <a:srgbClr val="353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vl1_k"/>
          <p:cNvSpPr txBox="1"/>
          <p:nvPr/>
        </p:nvSpPr>
        <p:spPr>
          <a:xfrm>
            <a:off x="1051560" y="3035808"/>
            <a:ext cx="347472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CCD1D2"/>
                </a:solidFill>
                <a:latin typeface="Arial"/>
              </a:rPr>
              <a:t>PRODUCT GROUP</a:t>
            </a:r>
          </a:p>
        </p:txBody>
      </p:sp>
      <p:sp>
        <p:nvSpPr>
          <p:cNvPr id="11" name="lvl1_n"/>
          <p:cNvSpPr txBox="1"/>
          <p:nvPr/>
        </p:nvSpPr>
        <p:spPr>
          <a:xfrm>
            <a:off x="1051560" y="3236976"/>
            <a:ext cx="3749039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Pads &amp; shoes</a:t>
            </a:r>
          </a:p>
        </p:txBody>
      </p:sp>
      <p:sp>
        <p:nvSpPr>
          <p:cNvPr id="12" name="lvl1_v"/>
          <p:cNvSpPr txBox="1"/>
          <p:nvPr/>
        </p:nvSpPr>
        <p:spPr>
          <a:xfrm>
            <a:off x="4709160" y="3035808"/>
            <a:ext cx="114300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500" b="1" i="0">
                <a:solidFill>
                  <a:srgbClr val="FFFFFF"/>
                </a:solidFill>
                <a:latin typeface="Arial"/>
              </a:rPr>
              <a:t>€1.19M</a:t>
            </a:r>
          </a:p>
        </p:txBody>
      </p:sp>
      <p:sp>
        <p:nvSpPr>
          <p:cNvPr id="13" name="lvl2"/>
          <p:cNvSpPr/>
          <p:nvPr/>
        </p:nvSpPr>
        <p:spPr>
          <a:xfrm>
            <a:off x="1188719" y="3767328"/>
            <a:ext cx="5120640" cy="658368"/>
          </a:xfrm>
          <a:prstGeom prst="rect">
            <a:avLst/>
          </a:prstGeom>
          <a:solidFill>
            <a:srgbClr val="626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vl2_k"/>
          <p:cNvSpPr txBox="1"/>
          <p:nvPr/>
        </p:nvSpPr>
        <p:spPr>
          <a:xfrm>
            <a:off x="1371599" y="3822191"/>
            <a:ext cx="347472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CCD1D2"/>
                </a:solidFill>
                <a:latin typeface="Arial"/>
              </a:rPr>
              <a:t>PART TYPE</a:t>
            </a:r>
          </a:p>
        </p:txBody>
      </p:sp>
      <p:sp>
        <p:nvSpPr>
          <p:cNvPr id="15" name="lvl2_n"/>
          <p:cNvSpPr txBox="1"/>
          <p:nvPr/>
        </p:nvSpPr>
        <p:spPr>
          <a:xfrm>
            <a:off x="1371599" y="4023360"/>
            <a:ext cx="3749039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Brake pad kit</a:t>
            </a:r>
          </a:p>
        </p:txBody>
      </p:sp>
      <p:sp>
        <p:nvSpPr>
          <p:cNvPr id="16" name="lvl2_v"/>
          <p:cNvSpPr txBox="1"/>
          <p:nvPr/>
        </p:nvSpPr>
        <p:spPr>
          <a:xfrm>
            <a:off x="5029200" y="3822191"/>
            <a:ext cx="114300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500" b="1" i="0">
                <a:solidFill>
                  <a:srgbClr val="FFFFFF"/>
                </a:solidFill>
                <a:latin typeface="Arial"/>
              </a:rPr>
              <a:t>€0.93M</a:t>
            </a:r>
          </a:p>
        </p:txBody>
      </p:sp>
      <p:sp>
        <p:nvSpPr>
          <p:cNvPr id="17" name="lvl3"/>
          <p:cNvSpPr/>
          <p:nvPr/>
        </p:nvSpPr>
        <p:spPr>
          <a:xfrm>
            <a:off x="1508760" y="4553712"/>
            <a:ext cx="5120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vl3_k"/>
          <p:cNvSpPr txBox="1"/>
          <p:nvPr/>
        </p:nvSpPr>
        <p:spPr>
          <a:xfrm>
            <a:off x="1691639" y="4608576"/>
            <a:ext cx="347472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626A71"/>
                </a:solidFill>
                <a:latin typeface="Arial"/>
              </a:rPr>
              <a:t>PART NUMBER</a:t>
            </a:r>
          </a:p>
        </p:txBody>
      </p:sp>
      <p:sp>
        <p:nvSpPr>
          <p:cNvPr id="19" name="lvl3_n"/>
          <p:cNvSpPr txBox="1"/>
          <p:nvPr/>
        </p:nvSpPr>
        <p:spPr>
          <a:xfrm>
            <a:off x="1691639" y="4809744"/>
            <a:ext cx="3749039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1" i="0">
                <a:solidFill>
                  <a:srgbClr val="24282C"/>
                </a:solidFill>
                <a:latin typeface="Arial"/>
              </a:rPr>
              <a:t>8982447940  ·  front disc brake pad kit</a:t>
            </a:r>
          </a:p>
        </p:txBody>
      </p:sp>
      <p:sp>
        <p:nvSpPr>
          <p:cNvPr id="20" name="lvl3_v"/>
          <p:cNvSpPr txBox="1"/>
          <p:nvPr/>
        </p:nvSpPr>
        <p:spPr>
          <a:xfrm>
            <a:off x="5349240" y="4608576"/>
            <a:ext cx="114300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500" b="1" i="0">
                <a:solidFill>
                  <a:srgbClr val="24282C"/>
                </a:solidFill>
                <a:latin typeface="Arial"/>
              </a:rPr>
              <a:t>€0.34M</a:t>
            </a:r>
          </a:p>
        </p:txBody>
      </p:sp>
      <p:sp>
        <p:nvSpPr>
          <p:cNvPr id="21" name="lvl_note"/>
          <p:cNvSpPr txBox="1"/>
          <p:nvPr/>
        </p:nvSpPr>
        <p:spPr>
          <a:xfrm>
            <a:off x="548640" y="534924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626A71"/>
                </a:solidFill>
                <a:latin typeface="Arial"/>
              </a:rPr>
              <a:t>Billed July 2025 – June 2026, price revision basis.</a:t>
            </a:r>
          </a:p>
        </p:txBody>
      </p:sp>
      <p:sp>
        <p:nvSpPr>
          <p:cNvPr id="22" name="facts_t"/>
          <p:cNvSpPr txBox="1"/>
          <p:nvPr/>
        </p:nvSpPr>
        <p:spPr>
          <a:xfrm>
            <a:off x="7086600" y="21945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1" i="0">
                <a:solidFill>
                  <a:srgbClr val="24282C"/>
                </a:solidFill>
                <a:latin typeface="Arial"/>
              </a:rPr>
              <a:t>Five facts, read together</a:t>
            </a:r>
          </a:p>
        </p:txBody>
      </p:sp>
      <p:sp>
        <p:nvSpPr>
          <p:cNvPr id="23" name="fact_dot0"/>
          <p:cNvSpPr/>
          <p:nvPr/>
        </p:nvSpPr>
        <p:spPr>
          <a:xfrm>
            <a:off x="7086600" y="2642616"/>
            <a:ext cx="329184" cy="329184"/>
          </a:xfrm>
          <a:prstGeom prst="ellipse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act_n0"/>
          <p:cNvSpPr txBox="1"/>
          <p:nvPr/>
        </p:nvSpPr>
        <p:spPr>
          <a:xfrm>
            <a:off x="7086600" y="2642616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fact0"/>
          <p:cNvSpPr txBox="1"/>
          <p:nvPr/>
        </p:nvSpPr>
        <p:spPr>
          <a:xfrm>
            <a:off x="7543800" y="2606040"/>
            <a:ext cx="4096512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00" b="1" i="0">
                <a:solidFill>
                  <a:srgbClr val="24282C"/>
                </a:solidFill>
                <a:latin typeface="Arial"/>
              </a:rPr>
              <a:t>Part number  </a:t>
            </a:r>
            <a:r>
              <a:rPr sz="1300" b="0" i="0">
                <a:solidFill>
                  <a:srgbClr val="626A71"/>
                </a:solidFill>
                <a:latin typeface="Arial"/>
              </a:rPr>
              <a:t>links sales, prices and the catalogue</a:t>
            </a:r>
          </a:p>
        </p:txBody>
      </p:sp>
      <p:sp>
        <p:nvSpPr>
          <p:cNvPr id="26" name="fact_dot1"/>
          <p:cNvSpPr/>
          <p:nvPr/>
        </p:nvSpPr>
        <p:spPr>
          <a:xfrm>
            <a:off x="7086600" y="3154680"/>
            <a:ext cx="329184" cy="329184"/>
          </a:xfrm>
          <a:prstGeom prst="ellipse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act_n1"/>
          <p:cNvSpPr txBox="1"/>
          <p:nvPr/>
        </p:nvSpPr>
        <p:spPr>
          <a:xfrm>
            <a:off x="7086600" y="315468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8" name="fact1"/>
          <p:cNvSpPr txBox="1"/>
          <p:nvPr/>
        </p:nvSpPr>
        <p:spPr>
          <a:xfrm>
            <a:off x="7543800" y="3118104"/>
            <a:ext cx="4096512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00" b="1" i="0">
                <a:solidFill>
                  <a:srgbClr val="24282C"/>
                </a:solidFill>
                <a:latin typeface="Arial"/>
              </a:rPr>
              <a:t>Description  </a:t>
            </a:r>
            <a:r>
              <a:rPr sz="1300" b="0" i="0">
                <a:solidFill>
                  <a:srgbClr val="626A71"/>
                </a:solidFill>
                <a:latin typeface="Arial"/>
              </a:rPr>
              <a:t>what the price list calls the part</a:t>
            </a:r>
          </a:p>
        </p:txBody>
      </p:sp>
      <p:sp>
        <p:nvSpPr>
          <p:cNvPr id="29" name="fact_dot2"/>
          <p:cNvSpPr/>
          <p:nvPr/>
        </p:nvSpPr>
        <p:spPr>
          <a:xfrm>
            <a:off x="7086600" y="3666744"/>
            <a:ext cx="329184" cy="329184"/>
          </a:xfrm>
          <a:prstGeom prst="ellipse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act_n2"/>
          <p:cNvSpPr txBox="1"/>
          <p:nvPr/>
        </p:nvSpPr>
        <p:spPr>
          <a:xfrm>
            <a:off x="7086600" y="366674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fact2"/>
          <p:cNvSpPr txBox="1"/>
          <p:nvPr/>
        </p:nvSpPr>
        <p:spPr>
          <a:xfrm>
            <a:off x="7543800" y="3630168"/>
            <a:ext cx="4096512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00" b="1" i="0">
                <a:solidFill>
                  <a:srgbClr val="24282C"/>
                </a:solidFill>
                <a:latin typeface="Arial"/>
              </a:rPr>
              <a:t>Catalogue figure  </a:t>
            </a:r>
            <a:r>
              <a:rPr sz="1300" b="0" i="0">
                <a:solidFill>
                  <a:srgbClr val="626A71"/>
                </a:solidFill>
                <a:latin typeface="Arial"/>
              </a:rPr>
              <a:t>where Isuzu draws it on the vehicle</a:t>
            </a:r>
          </a:p>
        </p:txBody>
      </p:sp>
      <p:sp>
        <p:nvSpPr>
          <p:cNvPr id="32" name="fact_dot3"/>
          <p:cNvSpPr/>
          <p:nvPr/>
        </p:nvSpPr>
        <p:spPr>
          <a:xfrm>
            <a:off x="7086600" y="4178808"/>
            <a:ext cx="329184" cy="329184"/>
          </a:xfrm>
          <a:prstGeom prst="ellipse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act_n3"/>
          <p:cNvSpPr txBox="1"/>
          <p:nvPr/>
        </p:nvSpPr>
        <p:spPr>
          <a:xfrm>
            <a:off x="7086600" y="4178808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fact3"/>
          <p:cNvSpPr txBox="1"/>
          <p:nvPr/>
        </p:nvSpPr>
        <p:spPr>
          <a:xfrm>
            <a:off x="7543800" y="4142232"/>
            <a:ext cx="4096512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00" b="1" i="0">
                <a:solidFill>
                  <a:srgbClr val="24282C"/>
                </a:solidFill>
                <a:latin typeface="Arial"/>
              </a:rPr>
              <a:t>Customs code  </a:t>
            </a:r>
            <a:r>
              <a:rPr sz="1300" b="0" i="0">
                <a:solidFill>
                  <a:srgbClr val="626A71"/>
                </a:solidFill>
                <a:latin typeface="Arial"/>
              </a:rPr>
              <a:t>an independent check on the product</a:t>
            </a:r>
          </a:p>
        </p:txBody>
      </p:sp>
      <p:sp>
        <p:nvSpPr>
          <p:cNvPr id="35" name="fact_dot4"/>
          <p:cNvSpPr/>
          <p:nvPr/>
        </p:nvSpPr>
        <p:spPr>
          <a:xfrm>
            <a:off x="7086600" y="4690872"/>
            <a:ext cx="329184" cy="329184"/>
          </a:xfrm>
          <a:prstGeom prst="ellipse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act_n4"/>
          <p:cNvSpPr txBox="1"/>
          <p:nvPr/>
        </p:nvSpPr>
        <p:spPr>
          <a:xfrm>
            <a:off x="7086600" y="4690872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fact4"/>
          <p:cNvSpPr txBox="1"/>
          <p:nvPr/>
        </p:nvSpPr>
        <p:spPr>
          <a:xfrm>
            <a:off x="7543800" y="4654296"/>
            <a:ext cx="4096512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00" b="1" i="0">
                <a:solidFill>
                  <a:srgbClr val="24282C"/>
                </a:solidFill>
                <a:latin typeface="Arial"/>
              </a:rPr>
              <a:t>Price  </a:t>
            </a:r>
            <a:r>
              <a:rPr sz="1300" b="0" i="0">
                <a:solidFill>
                  <a:srgbClr val="626A71"/>
                </a:solidFill>
                <a:latin typeface="Arial"/>
              </a:rPr>
              <a:t>separates a €11 element from a €154 housing</a:t>
            </a:r>
          </a:p>
        </p:txBody>
      </p:sp>
      <p:sp>
        <p:nvSpPr>
          <p:cNvPr id="38" name="fact_jp"/>
          <p:cNvSpPr txBox="1"/>
          <p:nvPr/>
        </p:nvSpPr>
        <p:spPr>
          <a:xfrm>
            <a:off x="7543800" y="5175504"/>
            <a:ext cx="4096512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00" b="1" i="0">
                <a:solidFill>
                  <a:srgbClr val="24282C"/>
                </a:solidFill>
                <a:latin typeface="Arial"/>
              </a:rPr>
              <a:t>+ Japan's code  </a:t>
            </a:r>
            <a:r>
              <a:rPr sz="1300" b="0" i="0">
                <a:solidFill>
                  <a:srgbClr val="626A71"/>
                </a:solidFill>
                <a:latin typeface="Arial"/>
              </a:rPr>
              <a:t>kept on every part (next page)</a:t>
            </a:r>
          </a:p>
        </p:txBody>
      </p:sp>
      <p:sp>
        <p:nvSpPr>
          <p:cNvPr id="39" name="kpi_bg0"/>
          <p:cNvSpPr/>
          <p:nvPr/>
        </p:nvSpPr>
        <p:spPr>
          <a:xfrm>
            <a:off x="548640" y="5641848"/>
            <a:ext cx="3575304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kpi0"/>
          <p:cNvSpPr txBox="1"/>
          <p:nvPr/>
        </p:nvSpPr>
        <p:spPr>
          <a:xfrm>
            <a:off x="685800" y="5641848"/>
            <a:ext cx="338328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1" i="0">
                <a:solidFill>
                  <a:srgbClr val="D71920"/>
                </a:solidFill>
                <a:latin typeface="Arial"/>
              </a:rPr>
              <a:t>98%  </a:t>
            </a:r>
            <a:r>
              <a:rPr sz="1050" b="0" i="0">
                <a:solidFill>
                  <a:srgbClr val="24282C"/>
                </a:solidFill>
                <a:latin typeface="Arial"/>
              </a:rPr>
              <a:t>of what we bill has a family, group and part type</a:t>
            </a:r>
          </a:p>
        </p:txBody>
      </p:sp>
      <p:sp>
        <p:nvSpPr>
          <p:cNvPr id="41" name="kpi_bg1"/>
          <p:cNvSpPr/>
          <p:nvPr/>
        </p:nvSpPr>
        <p:spPr>
          <a:xfrm>
            <a:off x="4306824" y="5641848"/>
            <a:ext cx="3575304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kpi1"/>
          <p:cNvSpPr txBox="1"/>
          <p:nvPr/>
        </p:nvSpPr>
        <p:spPr>
          <a:xfrm>
            <a:off x="4443984" y="5641848"/>
            <a:ext cx="338328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1" i="0">
                <a:solidFill>
                  <a:srgbClr val="D71920"/>
                </a:solidFill>
                <a:latin typeface="Arial"/>
              </a:rPr>
              <a:t>22 · 116 · 239  </a:t>
            </a:r>
            <a:r>
              <a:rPr sz="1050" b="0" i="0">
                <a:solidFill>
                  <a:srgbClr val="24282C"/>
                </a:solidFill>
                <a:latin typeface="Arial"/>
              </a:rPr>
              <a:t>families · product groups · part types</a:t>
            </a:r>
          </a:p>
        </p:txBody>
      </p:sp>
      <p:sp>
        <p:nvSpPr>
          <p:cNvPr id="43" name="kpi_bg2"/>
          <p:cNvSpPr/>
          <p:nvPr/>
        </p:nvSpPr>
        <p:spPr>
          <a:xfrm>
            <a:off x="8065008" y="5641848"/>
            <a:ext cx="3575304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kpi2"/>
          <p:cNvSpPr txBox="1"/>
          <p:nvPr/>
        </p:nvSpPr>
        <p:spPr>
          <a:xfrm>
            <a:off x="8202168" y="5641848"/>
            <a:ext cx="338328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1" i="0">
                <a:solidFill>
                  <a:srgbClr val="D71920"/>
                </a:solidFill>
                <a:latin typeface="Arial"/>
              </a:rPr>
              <a:t>7 Oct 2026  </a:t>
            </a:r>
            <a:r>
              <a:rPr sz="1050" b="0" i="0">
                <a:solidFill>
                  <a:srgbClr val="24282C"/>
                </a:solidFill>
                <a:latin typeface="Arial"/>
              </a:rPr>
              <a:t>latest approved release, maintained by Vehicle Parts Sales</a:t>
            </a:r>
          </a:p>
        </p:txBody>
      </p:sp>
      <p:sp>
        <p:nvSpPr>
          <p:cNvPr id="45" name="ft_brand"/>
          <p:cNvSpPr txBox="1"/>
          <p:nvPr/>
        </p:nvSpPr>
        <p:spPr>
          <a:xfrm>
            <a:off x="548640" y="6419088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1" i="0">
                <a:solidFill>
                  <a:srgbClr val="D71920"/>
                </a:solidFill>
                <a:latin typeface="Arial"/>
              </a:rPr>
              <a:t>ISUZU</a:t>
            </a:r>
          </a:p>
        </p:txBody>
      </p:sp>
      <p:sp>
        <p:nvSpPr>
          <p:cNvPr id="46" name="ft_section"/>
          <p:cNvSpPr txBox="1"/>
          <p:nvPr/>
        </p:nvSpPr>
        <p:spPr>
          <a:xfrm>
            <a:off x="1325880" y="6428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626A71"/>
                </a:solidFill>
                <a:latin typeface="Arial"/>
              </a:rPr>
              <a:t>EUROPE  /  AIM  /  THE ANSWER</a:t>
            </a:r>
          </a:p>
        </p:txBody>
      </p:sp>
      <p:sp>
        <p:nvSpPr>
          <p:cNvPr id="47" name="ft_page"/>
          <p:cNvSpPr txBox="1"/>
          <p:nvPr/>
        </p:nvSpPr>
        <p:spPr>
          <a:xfrm>
            <a:off x="10908792" y="641908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1" i="0">
                <a:solidFill>
                  <a:srgbClr val="24282C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758951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D71920"/>
                </a:solidFill>
                <a:latin typeface="Arial"/>
              </a:rPr>
              <a:t>PRECISION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24282C"/>
                </a:solidFill>
                <a:latin typeface="Arial"/>
              </a:rPr>
              <a:t>An element and a housing share a family, not a price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48640" y="1609344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626A71"/>
                </a:solidFill>
                <a:latin typeface="Arial"/>
              </a:rPr>
              <a:t>AIM keeps them apart, so every price and sales comparison is like for like.</a:t>
            </a:r>
          </a:p>
        </p:txBody>
      </p:sp>
      <p:sp>
        <p:nvSpPr>
          <p:cNvPr id="5" name="card0"/>
          <p:cNvSpPr/>
          <p:nvPr/>
        </p:nvSpPr>
        <p:spPr>
          <a:xfrm>
            <a:off x="548640" y="2194560"/>
            <a:ext cx="5074920" cy="3154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card_img0" descr="ele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31720"/>
            <a:ext cx="2606040" cy="2606040"/>
          </a:xfrm>
          <a:prstGeom prst="rect">
            <a:avLst/>
          </a:prstGeom>
        </p:spPr>
      </p:pic>
      <p:sp>
        <p:nvSpPr>
          <p:cNvPr id="7" name="card_k0"/>
          <p:cNvSpPr txBox="1"/>
          <p:nvPr/>
        </p:nvSpPr>
        <p:spPr>
          <a:xfrm>
            <a:off x="3474720" y="237744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1" i="0">
                <a:solidFill>
                  <a:srgbClr val="D71920"/>
                </a:solidFill>
                <a:latin typeface="Arial"/>
              </a:rPr>
              <a:t>FILTER ELEMENTS</a:t>
            </a:r>
          </a:p>
        </p:txBody>
      </p:sp>
      <p:sp>
        <p:nvSpPr>
          <p:cNvPr id="8" name="card_v0"/>
          <p:cNvSpPr txBox="1"/>
          <p:nvPr/>
        </p:nvSpPr>
        <p:spPr>
          <a:xfrm>
            <a:off x="3474720" y="2852928"/>
            <a:ext cx="201168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000" b="1" i="0">
                <a:solidFill>
                  <a:srgbClr val="24282C"/>
                </a:solidFill>
                <a:latin typeface="Arial"/>
              </a:rPr>
              <a:t>€11.01</a:t>
            </a:r>
          </a:p>
          <a:p>
            <a:pPr algn="l"/>
            <a:r>
              <a:rPr sz="1100" b="0" i="0">
                <a:solidFill>
                  <a:srgbClr val="626A71"/>
                </a:solidFill>
                <a:latin typeface="Arial"/>
              </a:rPr>
              <a:t>average per unit</a:t>
            </a:r>
          </a:p>
        </p:txBody>
      </p:sp>
      <p:sp>
        <p:nvSpPr>
          <p:cNvPr id="9" name="card_m0"/>
          <p:cNvSpPr txBox="1"/>
          <p:nvPr/>
        </p:nvSpPr>
        <p:spPr>
          <a:xfrm>
            <a:off x="3474720" y="3794760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626A71"/>
                </a:solidFill>
                <a:latin typeface="Arial"/>
              </a:rPr>
              <a:t>€2.79M billed</a:t>
            </a:r>
          </a:p>
          <a:p>
            <a:pPr algn="l"/>
            <a:r>
              <a:rPr sz="1100" b="0" i="0">
                <a:solidFill>
                  <a:srgbClr val="626A71"/>
                </a:solidFill>
                <a:latin typeface="Arial"/>
              </a:rPr>
              <a:t>131 part numbers</a:t>
            </a:r>
          </a:p>
        </p:txBody>
      </p:sp>
      <p:sp>
        <p:nvSpPr>
          <p:cNvPr id="10" name="card_d0"/>
          <p:cNvSpPr txBox="1"/>
          <p:nvPr/>
        </p:nvSpPr>
        <p:spPr>
          <a:xfrm>
            <a:off x="3474720" y="438912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24282C"/>
                </a:solidFill>
                <a:latin typeface="Arial"/>
              </a:rPr>
              <a:t>Replaced at every service. A routine purchase, bought again and again.</a:t>
            </a:r>
          </a:p>
        </p:txBody>
      </p:sp>
      <p:sp>
        <p:nvSpPr>
          <p:cNvPr id="11" name="card_c0"/>
          <p:cNvSpPr txBox="1"/>
          <p:nvPr/>
        </p:nvSpPr>
        <p:spPr>
          <a:xfrm>
            <a:off x="685800" y="5001768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9AA1A6"/>
                </a:solidFill>
                <a:latin typeface="Arial"/>
              </a:rPr>
              <a:t>Product form only; not a specific part number.</a:t>
            </a:r>
          </a:p>
        </p:txBody>
      </p:sp>
      <p:sp>
        <p:nvSpPr>
          <p:cNvPr id="12" name="card1"/>
          <p:cNvSpPr/>
          <p:nvPr/>
        </p:nvSpPr>
        <p:spPr>
          <a:xfrm>
            <a:off x="6565392" y="2194560"/>
            <a:ext cx="5074920" cy="3154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card_img1" descr="hous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2331720"/>
            <a:ext cx="2606040" cy="2606040"/>
          </a:xfrm>
          <a:prstGeom prst="rect">
            <a:avLst/>
          </a:prstGeom>
        </p:spPr>
      </p:pic>
      <p:sp>
        <p:nvSpPr>
          <p:cNvPr id="14" name="card_k1"/>
          <p:cNvSpPr txBox="1"/>
          <p:nvPr/>
        </p:nvSpPr>
        <p:spPr>
          <a:xfrm>
            <a:off x="9491472" y="237744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1" i="0">
                <a:solidFill>
                  <a:srgbClr val="D71920"/>
                </a:solidFill>
                <a:latin typeface="Arial"/>
              </a:rPr>
              <a:t>FILTER HOUSINGS AND ASSEMBLIES</a:t>
            </a:r>
          </a:p>
        </p:txBody>
      </p:sp>
      <p:sp>
        <p:nvSpPr>
          <p:cNvPr id="15" name="card_v1"/>
          <p:cNvSpPr txBox="1"/>
          <p:nvPr/>
        </p:nvSpPr>
        <p:spPr>
          <a:xfrm>
            <a:off x="9491472" y="2852928"/>
            <a:ext cx="201168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000" b="1" i="0">
                <a:solidFill>
                  <a:srgbClr val="24282C"/>
                </a:solidFill>
                <a:latin typeface="Arial"/>
              </a:rPr>
              <a:t>€154.47</a:t>
            </a:r>
          </a:p>
          <a:p>
            <a:pPr algn="l"/>
            <a:r>
              <a:rPr sz="1100" b="0" i="0">
                <a:solidFill>
                  <a:srgbClr val="626A71"/>
                </a:solidFill>
                <a:latin typeface="Arial"/>
              </a:rPr>
              <a:t>average per unit</a:t>
            </a:r>
          </a:p>
        </p:txBody>
      </p:sp>
      <p:sp>
        <p:nvSpPr>
          <p:cNvPr id="16" name="card_m1"/>
          <p:cNvSpPr txBox="1"/>
          <p:nvPr/>
        </p:nvSpPr>
        <p:spPr>
          <a:xfrm>
            <a:off x="9491472" y="3794760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626A71"/>
                </a:solidFill>
                <a:latin typeface="Arial"/>
              </a:rPr>
              <a:t>€0.73M billed</a:t>
            </a:r>
          </a:p>
          <a:p>
            <a:pPr algn="l"/>
            <a:r>
              <a:rPr sz="1100" b="0" i="0">
                <a:solidFill>
                  <a:srgbClr val="626A71"/>
                </a:solidFill>
                <a:latin typeface="Arial"/>
              </a:rPr>
              <a:t>59 part numbers</a:t>
            </a:r>
          </a:p>
        </p:txBody>
      </p:sp>
      <p:sp>
        <p:nvSpPr>
          <p:cNvPr id="17" name="card_d1"/>
          <p:cNvSpPr txBox="1"/>
          <p:nvPr/>
        </p:nvSpPr>
        <p:spPr>
          <a:xfrm>
            <a:off x="9491472" y="438912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24282C"/>
                </a:solidFill>
                <a:latin typeface="Arial"/>
              </a:rPr>
              <a:t>Replaced after damage or failure. A repair purchase, not a service one.</a:t>
            </a:r>
          </a:p>
        </p:txBody>
      </p:sp>
      <p:sp>
        <p:nvSpPr>
          <p:cNvPr id="18" name="card_c1"/>
          <p:cNvSpPr txBox="1"/>
          <p:nvPr/>
        </p:nvSpPr>
        <p:spPr>
          <a:xfrm>
            <a:off x="6702552" y="5001768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9AA1A6"/>
                </a:solidFill>
                <a:latin typeface="Arial"/>
              </a:rPr>
              <a:t>Product form only; not a specific part number.</a:t>
            </a:r>
          </a:p>
        </p:txBody>
      </p:sp>
      <p:sp>
        <p:nvSpPr>
          <p:cNvPr id="19" name="ratio_dot"/>
          <p:cNvSpPr/>
          <p:nvPr/>
        </p:nvSpPr>
        <p:spPr>
          <a:xfrm>
            <a:off x="5705856" y="3310128"/>
            <a:ext cx="786384" cy="786384"/>
          </a:xfrm>
          <a:prstGeom prst="ellipse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atio"/>
          <p:cNvSpPr txBox="1"/>
          <p:nvPr/>
        </p:nvSpPr>
        <p:spPr>
          <a:xfrm>
            <a:off x="5669280" y="3310128"/>
            <a:ext cx="859536" cy="7863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14×</a:t>
            </a:r>
          </a:p>
        </p:txBody>
      </p:sp>
      <p:sp>
        <p:nvSpPr>
          <p:cNvPr id="21" name="band_bg"/>
          <p:cNvSpPr/>
          <p:nvPr/>
        </p:nvSpPr>
        <p:spPr>
          <a:xfrm>
            <a:off x="548640" y="5468112"/>
            <a:ext cx="11091672" cy="566928"/>
          </a:xfrm>
          <a:prstGeom prst="rect">
            <a:avLst/>
          </a:prstGeom>
          <a:solidFill>
            <a:srgbClr val="F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nd"/>
          <p:cNvSpPr txBox="1"/>
          <p:nvPr/>
        </p:nvSpPr>
        <p:spPr>
          <a:xfrm>
            <a:off x="777240" y="5468112"/>
            <a:ext cx="1065276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0" i="0">
                <a:solidFill>
                  <a:srgbClr val="24282C"/>
                </a:solidFill>
                <a:latin typeface="Arial"/>
              </a:rPr>
              <a:t>Averaged together, a “filter” costs </a:t>
            </a:r>
            <a:r>
              <a:rPr sz="1500" b="1" i="0">
                <a:solidFill>
                  <a:srgbClr val="24282C"/>
                </a:solidFill>
                <a:latin typeface="Arial"/>
              </a:rPr>
              <a:t>€13.64 per unit</a:t>
            </a:r>
            <a:r>
              <a:rPr sz="1500" b="0" i="0">
                <a:solidFill>
                  <a:srgbClr val="24282C"/>
                </a:solidFill>
                <a:latin typeface="Arial"/>
              </a:rPr>
              <a:t>, a price that describes neither product.</a:t>
            </a:r>
          </a:p>
        </p:txBody>
      </p:sp>
      <p:sp>
        <p:nvSpPr>
          <p:cNvPr id="23" name="source"/>
          <p:cNvSpPr txBox="1"/>
          <p:nvPr/>
        </p:nvSpPr>
        <p:spPr>
          <a:xfrm>
            <a:off x="548640" y="6089904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626A71"/>
                </a:solidFill>
                <a:latin typeface="Arial"/>
              </a:rPr>
              <a:t>Billed July 2025 – June 2026, price revision basis, all filter part numbers marked element or housing / assembly in AIM. Photos: dealer and supplier listings, product form only.</a:t>
            </a:r>
          </a:p>
        </p:txBody>
      </p:sp>
      <p:sp>
        <p:nvSpPr>
          <p:cNvPr id="24" name="ft_brand"/>
          <p:cNvSpPr txBox="1"/>
          <p:nvPr/>
        </p:nvSpPr>
        <p:spPr>
          <a:xfrm>
            <a:off x="548640" y="6419088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1" i="0">
                <a:solidFill>
                  <a:srgbClr val="D71920"/>
                </a:solidFill>
                <a:latin typeface="Arial"/>
              </a:rPr>
              <a:t>ISUZU</a:t>
            </a:r>
          </a:p>
        </p:txBody>
      </p:sp>
      <p:sp>
        <p:nvSpPr>
          <p:cNvPr id="25" name="ft_section"/>
          <p:cNvSpPr txBox="1"/>
          <p:nvPr/>
        </p:nvSpPr>
        <p:spPr>
          <a:xfrm>
            <a:off x="1325880" y="6428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626A71"/>
                </a:solidFill>
                <a:latin typeface="Arial"/>
              </a:rPr>
              <a:t>EUROPE  /  AIM  /  PRECISION</a:t>
            </a:r>
          </a:p>
        </p:txBody>
      </p:sp>
      <p:sp>
        <p:nvSpPr>
          <p:cNvPr id="26" name="ft_page"/>
          <p:cNvSpPr txBox="1"/>
          <p:nvPr/>
        </p:nvSpPr>
        <p:spPr>
          <a:xfrm>
            <a:off x="10908792" y="641908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1" i="0">
                <a:solidFill>
                  <a:srgbClr val="24282C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758951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D71920"/>
                </a:solidFill>
                <a:latin typeface="Arial"/>
              </a:rPr>
              <a:t>JAPAN'S CODE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24282C"/>
                </a:solidFill>
                <a:latin typeface="Arial"/>
              </a:rPr>
              <a:t>Japan's code stays on every part, but it cannot replace AIM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48640" y="1609344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626A71"/>
                </a:solidFill>
                <a:latin typeface="Arial"/>
              </a:rPr>
              <a:t>The code says where Japan files a part. AIM says what the part is. We need both.</a:t>
            </a:r>
          </a:p>
        </p:txBody>
      </p:sp>
      <p:sp>
        <p:nvSpPr>
          <p:cNvPr id="5" name="z_left_t"/>
          <p:cNvSpPr txBox="1"/>
          <p:nvPr/>
        </p:nvSpPr>
        <p:spPr>
          <a:xfrm>
            <a:off x="548640" y="2194560"/>
            <a:ext cx="603504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1" i="0">
                <a:solidFill>
                  <a:srgbClr val="24282C"/>
                </a:solidFill>
                <a:latin typeface="Arial"/>
              </a:rPr>
              <a:t>One Japan code, many products</a:t>
            </a:r>
          </a:p>
          <a:p>
            <a:pPr algn="l"/>
            <a:r>
              <a:rPr sz="1200" b="0" i="0">
                <a:solidFill>
                  <a:srgbClr val="626A71"/>
                </a:solidFill>
                <a:latin typeface="Arial"/>
              </a:rPr>
              <a:t>Code 275 holds 42% of what we bill, across 197 different part types</a:t>
            </a:r>
          </a:p>
        </p:txBody>
      </p:sp>
      <p:graphicFrame>
        <p:nvGraphicFramePr>
          <p:cNvPr id="6" name="chart_zkk"/>
          <p:cNvGraphicFramePr>
            <a:graphicFrameLocks noGrp="1"/>
          </p:cNvGraphicFramePr>
          <p:nvPr/>
        </p:nvGraphicFramePr>
        <p:xfrm>
          <a:off x="548640" y="2816352"/>
          <a:ext cx="6035040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z_right_t"/>
          <p:cNvSpPr txBox="1"/>
          <p:nvPr/>
        </p:nvSpPr>
        <p:spPr>
          <a:xfrm>
            <a:off x="7086600" y="2194560"/>
            <a:ext cx="4553712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1" i="0">
                <a:solidFill>
                  <a:srgbClr val="24282C"/>
                </a:solidFill>
                <a:latin typeface="Arial"/>
              </a:rPr>
              <a:t>One product, many Japan codes</a:t>
            </a:r>
          </a:p>
          <a:p>
            <a:pPr algn="l"/>
            <a:r>
              <a:rPr sz="1200" b="0" i="0">
                <a:solidFill>
                  <a:srgbClr val="626A71"/>
                </a:solidFill>
                <a:latin typeface="Arial"/>
              </a:rPr>
              <a:t>Number of different Japan codes on the same part type</a:t>
            </a:r>
          </a:p>
        </p:txBody>
      </p:sp>
      <p:sp>
        <p:nvSpPr>
          <p:cNvPr id="8" name="zc_bg0"/>
          <p:cNvSpPr/>
          <p:nvPr/>
        </p:nvSpPr>
        <p:spPr>
          <a:xfrm>
            <a:off x="7086600" y="2880360"/>
            <a:ext cx="455371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zc_n0"/>
          <p:cNvSpPr txBox="1"/>
          <p:nvPr/>
        </p:nvSpPr>
        <p:spPr>
          <a:xfrm>
            <a:off x="7269480" y="2880360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600" b="1" i="0">
                <a:solidFill>
                  <a:srgbClr val="D71920"/>
                </a:solidFill>
                <a:latin typeface="Arial"/>
              </a:rPr>
              <a:t>8</a:t>
            </a:r>
          </a:p>
        </p:txBody>
      </p:sp>
      <p:sp>
        <p:nvSpPr>
          <p:cNvPr id="10" name="zc_t0"/>
          <p:cNvSpPr txBox="1"/>
          <p:nvPr/>
        </p:nvSpPr>
        <p:spPr>
          <a:xfrm>
            <a:off x="8229600" y="2880360"/>
            <a:ext cx="329184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0">
                <a:solidFill>
                  <a:srgbClr val="24282C"/>
                </a:solidFill>
                <a:latin typeface="Arial"/>
              </a:rPr>
              <a:t>Japan codes for brake pad kits</a:t>
            </a:r>
          </a:p>
        </p:txBody>
      </p:sp>
      <p:sp>
        <p:nvSpPr>
          <p:cNvPr id="11" name="zc_bg1"/>
          <p:cNvSpPr/>
          <p:nvPr/>
        </p:nvSpPr>
        <p:spPr>
          <a:xfrm>
            <a:off x="7086600" y="3520439"/>
            <a:ext cx="455371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zc_n1"/>
          <p:cNvSpPr txBox="1"/>
          <p:nvPr/>
        </p:nvSpPr>
        <p:spPr>
          <a:xfrm>
            <a:off x="7269480" y="3520439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600" b="1" i="0">
                <a:solidFill>
                  <a:srgbClr val="D71920"/>
                </a:solidFill>
                <a:latin typeface="Arial"/>
              </a:rPr>
              <a:t>11</a:t>
            </a:r>
          </a:p>
        </p:txBody>
      </p:sp>
      <p:sp>
        <p:nvSpPr>
          <p:cNvPr id="13" name="zc_t1"/>
          <p:cNvSpPr txBox="1"/>
          <p:nvPr/>
        </p:nvSpPr>
        <p:spPr>
          <a:xfrm>
            <a:off x="8229600" y="3520439"/>
            <a:ext cx="329184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0">
                <a:solidFill>
                  <a:srgbClr val="24282C"/>
                </a:solidFill>
                <a:latin typeface="Arial"/>
              </a:rPr>
              <a:t>Japan codes for air cleaner elements</a:t>
            </a:r>
          </a:p>
        </p:txBody>
      </p:sp>
      <p:sp>
        <p:nvSpPr>
          <p:cNvPr id="14" name="zc_bg2"/>
          <p:cNvSpPr/>
          <p:nvPr/>
        </p:nvSpPr>
        <p:spPr>
          <a:xfrm>
            <a:off x="7086600" y="4160520"/>
            <a:ext cx="455371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zc_n2"/>
          <p:cNvSpPr txBox="1"/>
          <p:nvPr/>
        </p:nvSpPr>
        <p:spPr>
          <a:xfrm>
            <a:off x="7269480" y="4160520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600" b="1" i="0">
                <a:solidFill>
                  <a:srgbClr val="D71920"/>
                </a:solidFill>
                <a:latin typeface="Arial"/>
              </a:rPr>
              <a:t>29</a:t>
            </a:r>
          </a:p>
        </p:txBody>
      </p:sp>
      <p:sp>
        <p:nvSpPr>
          <p:cNvPr id="16" name="zc_t2"/>
          <p:cNvSpPr txBox="1"/>
          <p:nvPr/>
        </p:nvSpPr>
        <p:spPr>
          <a:xfrm>
            <a:off x="8229600" y="4160520"/>
            <a:ext cx="329184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0">
                <a:solidFill>
                  <a:srgbClr val="24282C"/>
                </a:solidFill>
                <a:latin typeface="Arial"/>
              </a:rPr>
              <a:t>Japan codes for doors</a:t>
            </a:r>
          </a:p>
        </p:txBody>
      </p:sp>
      <p:sp>
        <p:nvSpPr>
          <p:cNvPr id="17" name="reinf_bg"/>
          <p:cNvSpPr/>
          <p:nvPr/>
        </p:nvSpPr>
        <p:spPr>
          <a:xfrm>
            <a:off x="548640" y="4983480"/>
            <a:ext cx="11091672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inf_t"/>
          <p:cNvSpPr txBox="1"/>
          <p:nvPr/>
        </p:nvSpPr>
        <p:spPr>
          <a:xfrm>
            <a:off x="777240" y="507492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D71920"/>
                </a:solidFill>
                <a:latin typeface="Arial"/>
              </a:rPr>
              <a:t>How the code reinforces AIM</a:t>
            </a:r>
          </a:p>
        </p:txBody>
      </p:sp>
      <p:sp>
        <p:nvSpPr>
          <p:cNvPr id="19" name="reinf1"/>
          <p:cNvSpPr txBox="1"/>
          <p:nvPr/>
        </p:nvSpPr>
        <p:spPr>
          <a:xfrm>
            <a:off x="3063240" y="5074920"/>
            <a:ext cx="406908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24282C"/>
                </a:solidFill>
                <a:latin typeface="Arial"/>
              </a:rPr>
              <a:t>A bridge to Japan. </a:t>
            </a:r>
            <a:r>
              <a:rPr sz="1200" b="0" i="0">
                <a:solidFill>
                  <a:srgbClr val="24282C"/>
                </a:solidFill>
                <a:latin typeface="Arial"/>
              </a:rPr>
              <a:t>Every AIM result translates back into Japan's own codes, so we can discuss it with Japan in their terms.</a:t>
            </a:r>
          </a:p>
        </p:txBody>
      </p:sp>
      <p:sp>
        <p:nvSpPr>
          <p:cNvPr id="20" name="reinf2"/>
          <p:cNvSpPr txBox="1"/>
          <p:nvPr/>
        </p:nvSpPr>
        <p:spPr>
          <a:xfrm>
            <a:off x="7406640" y="5074920"/>
            <a:ext cx="406908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24282C"/>
                </a:solidFill>
                <a:latin typeface="Arial"/>
              </a:rPr>
              <a:t>A completeness check. </a:t>
            </a:r>
            <a:r>
              <a:rPr sz="1200" b="0" i="0">
                <a:solidFill>
                  <a:srgbClr val="24282C"/>
                </a:solidFill>
                <a:latin typeface="Arial"/>
              </a:rPr>
              <a:t>89% of what we bill carries a Japan code. The other €3.9M is missing from Japan's file: a question for Japan, not a gap in AIM.</a:t>
            </a:r>
          </a:p>
        </p:txBody>
      </p:sp>
      <p:sp>
        <p:nvSpPr>
          <p:cNvPr id="21" name="source"/>
          <p:cNvSpPr txBox="1"/>
          <p:nvPr/>
        </p:nvSpPr>
        <p:spPr>
          <a:xfrm>
            <a:off x="548640" y="6089904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626A71"/>
                </a:solidFill>
                <a:latin typeface="Arial"/>
              </a:rPr>
              <a:t>Japan's catalogue code (ZKK) from Japan's parts-code file of 12 September 2025. Euro: price revision basis, July 2025 – June 2026.</a:t>
            </a:r>
          </a:p>
        </p:txBody>
      </p:sp>
      <p:sp>
        <p:nvSpPr>
          <p:cNvPr id="22" name="ft_brand"/>
          <p:cNvSpPr txBox="1"/>
          <p:nvPr/>
        </p:nvSpPr>
        <p:spPr>
          <a:xfrm>
            <a:off x="548640" y="6419088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1" i="0">
                <a:solidFill>
                  <a:srgbClr val="D71920"/>
                </a:solidFill>
                <a:latin typeface="Arial"/>
              </a:rPr>
              <a:t>ISUZU</a:t>
            </a:r>
          </a:p>
        </p:txBody>
      </p:sp>
      <p:sp>
        <p:nvSpPr>
          <p:cNvPr id="23" name="ft_section"/>
          <p:cNvSpPr txBox="1"/>
          <p:nvPr/>
        </p:nvSpPr>
        <p:spPr>
          <a:xfrm>
            <a:off x="1325880" y="6428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626A71"/>
                </a:solidFill>
                <a:latin typeface="Arial"/>
              </a:rPr>
              <a:t>EUROPE  /  AIM  /  JAPAN'S CODE</a:t>
            </a:r>
          </a:p>
        </p:txBody>
      </p:sp>
      <p:sp>
        <p:nvSpPr>
          <p:cNvPr id="24" name="ft_page"/>
          <p:cNvSpPr txBox="1"/>
          <p:nvPr/>
        </p:nvSpPr>
        <p:spPr>
          <a:xfrm>
            <a:off x="10908792" y="641908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1" i="0">
                <a:solidFill>
                  <a:srgbClr val="24282C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65759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D71920"/>
                </a:solidFill>
                <a:latin typeface="Arial"/>
              </a:rPr>
              <a:t>SALES ANALYSIS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64240" cy="8961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24282C"/>
                </a:solidFill>
                <a:latin typeface="Arial"/>
              </a:rPr>
              <a:t>Norway brings in €22 more per vehicle than Sweden. AIM traces it to two products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48640" y="1609344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626A71"/>
                </a:solidFill>
                <a:latin typeface="Arial"/>
              </a:rPr>
              <a:t>Similar light-commercial fleets: 7,929 vehicles in service in Norway, 8,443 in Sweden.</a:t>
            </a:r>
          </a:p>
        </p:txBody>
      </p:sp>
      <p:sp>
        <p:nvSpPr>
          <p:cNvPr id="5" name="nv_t"/>
          <p:cNvSpPr txBox="1"/>
          <p:nvPr/>
        </p:nvSpPr>
        <p:spPr>
          <a:xfrm>
            <a:off x="548640" y="2194560"/>
            <a:ext cx="594360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1" i="0">
                <a:solidFill>
                  <a:srgbClr val="24282C"/>
                </a:solidFill>
                <a:latin typeface="Arial"/>
              </a:rPr>
              <a:t>€209 against €187 per vehicle</a:t>
            </a:r>
          </a:p>
          <a:p>
            <a:pPr algn="l"/>
            <a:r>
              <a:rPr sz="1200" b="0" i="0">
                <a:solidFill>
                  <a:srgbClr val="626A71"/>
                </a:solidFill>
                <a:latin typeface="Arial"/>
              </a:rPr>
              <a:t>Difference by family, Norway minus Sweden, € per vehicle</a:t>
            </a:r>
          </a:p>
        </p:txBody>
      </p:sp>
      <p:graphicFrame>
        <p:nvGraphicFramePr>
          <p:cNvPr id="6" name="chart_nordic"/>
          <p:cNvGraphicFramePr>
            <a:graphicFrameLocks noGrp="1"/>
          </p:cNvGraphicFramePr>
          <p:nvPr/>
        </p:nvGraphicFramePr>
        <p:xfrm>
          <a:off x="548640" y="2788920"/>
          <a:ext cx="5943600" cy="2606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nf_bg0"/>
          <p:cNvSpPr/>
          <p:nvPr/>
        </p:nvSpPr>
        <p:spPr>
          <a:xfrm>
            <a:off x="6812280" y="2194560"/>
            <a:ext cx="4828032" cy="1481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f_k0"/>
          <p:cNvSpPr txBox="1"/>
          <p:nvPr/>
        </p:nvSpPr>
        <p:spPr>
          <a:xfrm>
            <a:off x="7040880" y="2304288"/>
            <a:ext cx="448056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1" i="0">
                <a:solidFill>
                  <a:srgbClr val="D71920"/>
                </a:solidFill>
                <a:latin typeface="Arial"/>
              </a:rPr>
              <a:t>STEERING UNITS</a:t>
            </a:r>
          </a:p>
        </p:txBody>
      </p:sp>
      <p:sp>
        <p:nvSpPr>
          <p:cNvPr id="9" name="nf_v0"/>
          <p:cNvSpPr txBox="1"/>
          <p:nvPr/>
        </p:nvSpPr>
        <p:spPr>
          <a:xfrm>
            <a:off x="7040880" y="254203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1" i="0">
                <a:solidFill>
                  <a:srgbClr val="24282C"/>
                </a:solidFill>
                <a:latin typeface="Arial"/>
              </a:rPr>
              <a:t>€19.56 vs €2.09 per vehicle</a:t>
            </a:r>
          </a:p>
        </p:txBody>
      </p:sp>
      <p:sp>
        <p:nvSpPr>
          <p:cNvPr id="10" name="nf_b0"/>
          <p:cNvSpPr txBox="1"/>
          <p:nvPr/>
        </p:nvSpPr>
        <p:spPr>
          <a:xfrm>
            <a:off x="7040880" y="2944368"/>
            <a:ext cx="448056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24282C"/>
                </a:solidFill>
                <a:latin typeface="Arial"/>
              </a:rPr>
              <a:t>Norway bought 82, almost all one part number on stock orders every two months. Sweden bought 10. A repair pattern in Norway, or demand Sweden is not getting?</a:t>
            </a:r>
          </a:p>
        </p:txBody>
      </p:sp>
      <p:sp>
        <p:nvSpPr>
          <p:cNvPr id="11" name="nf_bg1"/>
          <p:cNvSpPr/>
          <p:nvPr/>
        </p:nvSpPr>
        <p:spPr>
          <a:xfrm>
            <a:off x="6812280" y="3822191"/>
            <a:ext cx="4828032" cy="1481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f_k1"/>
          <p:cNvSpPr txBox="1"/>
          <p:nvPr/>
        </p:nvSpPr>
        <p:spPr>
          <a:xfrm>
            <a:off x="7040880" y="3931920"/>
            <a:ext cx="448056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1" i="0">
                <a:solidFill>
                  <a:srgbClr val="D71920"/>
                </a:solidFill>
                <a:latin typeface="Arial"/>
              </a:rPr>
              <a:t>BRAKE PAD KITS</a:t>
            </a:r>
          </a:p>
        </p:txBody>
      </p:sp>
      <p:sp>
        <p:nvSpPr>
          <p:cNvPr id="13" name="nf_v1"/>
          <p:cNvSpPr txBox="1"/>
          <p:nvPr/>
        </p:nvSpPr>
        <p:spPr>
          <a:xfrm>
            <a:off x="7040880" y="4169663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1" i="0">
                <a:solidFill>
                  <a:srgbClr val="24282C"/>
                </a:solidFill>
                <a:latin typeface="Arial"/>
              </a:rPr>
              <a:t>€10.72 vs €4.64 per vehicle</a:t>
            </a:r>
          </a:p>
        </p:txBody>
      </p:sp>
      <p:sp>
        <p:nvSpPr>
          <p:cNvPr id="14" name="nf_b1"/>
          <p:cNvSpPr txBox="1"/>
          <p:nvPr/>
        </p:nvSpPr>
        <p:spPr>
          <a:xfrm>
            <a:off x="7040880" y="4572000"/>
            <a:ext cx="448056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24282C"/>
                </a:solidFill>
                <a:latin typeface="Arial"/>
              </a:rPr>
              <a:t>Norway buys 14 kits per 100 vehicles a year, Sweden 6. Where do Swedish owners buy their brake pads?</a:t>
            </a:r>
          </a:p>
        </p:txBody>
      </p:sp>
      <p:sp>
        <p:nvSpPr>
          <p:cNvPr id="15" name="band_bg"/>
          <p:cNvSpPr/>
          <p:nvPr/>
        </p:nvSpPr>
        <p:spPr>
          <a:xfrm>
            <a:off x="548640" y="5468112"/>
            <a:ext cx="11091672" cy="566928"/>
          </a:xfrm>
          <a:prstGeom prst="rect">
            <a:avLst/>
          </a:prstGeom>
          <a:solidFill>
            <a:srgbClr val="F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nd"/>
          <p:cNvSpPr txBox="1"/>
          <p:nvPr/>
        </p:nvSpPr>
        <p:spPr>
          <a:xfrm>
            <a:off x="777240" y="5468112"/>
            <a:ext cx="1065276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0" i="0">
                <a:solidFill>
                  <a:srgbClr val="24282C"/>
                </a:solidFill>
                <a:latin typeface="Arial"/>
              </a:rPr>
              <a:t>Without families this is one number: Norway is 12% ahead. </a:t>
            </a:r>
            <a:r>
              <a:rPr sz="1500" b="1" i="0">
                <a:solidFill>
                  <a:srgbClr val="24282C"/>
                </a:solidFill>
                <a:latin typeface="Arial"/>
              </a:rPr>
              <a:t>With AIM it is two concrete distributor conversations.</a:t>
            </a:r>
          </a:p>
        </p:txBody>
      </p:sp>
      <p:sp>
        <p:nvSpPr>
          <p:cNvPr id="17" name="source"/>
          <p:cNvSpPr txBox="1"/>
          <p:nvPr/>
        </p:nvSpPr>
        <p:spPr>
          <a:xfrm>
            <a:off x="548640" y="6089904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626A71"/>
                </a:solidFill>
                <a:latin typeface="Arial"/>
              </a:rPr>
              <a:t>Parts billed July 2025 – June 2026, price revision basis. Vehicles in service: 2025 estimates for both markets.</a:t>
            </a:r>
          </a:p>
        </p:txBody>
      </p:sp>
      <p:sp>
        <p:nvSpPr>
          <p:cNvPr id="18" name="ft_brand"/>
          <p:cNvSpPr txBox="1"/>
          <p:nvPr/>
        </p:nvSpPr>
        <p:spPr>
          <a:xfrm>
            <a:off x="548640" y="6419088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1" i="0">
                <a:solidFill>
                  <a:srgbClr val="D71920"/>
                </a:solidFill>
                <a:latin typeface="Arial"/>
              </a:rPr>
              <a:t>ISUZU</a:t>
            </a:r>
          </a:p>
        </p:txBody>
      </p:sp>
      <p:sp>
        <p:nvSpPr>
          <p:cNvPr id="19" name="ft_section"/>
          <p:cNvSpPr txBox="1"/>
          <p:nvPr/>
        </p:nvSpPr>
        <p:spPr>
          <a:xfrm>
            <a:off x="1325880" y="6428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626A71"/>
                </a:solidFill>
                <a:latin typeface="Arial"/>
              </a:rPr>
              <a:t>EUROPE  /  AIM  /  SALES ANALYSIS</a:t>
            </a:r>
          </a:p>
        </p:txBody>
      </p:sp>
      <p:sp>
        <p:nvSpPr>
          <p:cNvPr id="20" name="ft_page"/>
          <p:cNvSpPr txBox="1"/>
          <p:nvPr/>
        </p:nvSpPr>
        <p:spPr>
          <a:xfrm>
            <a:off x="10908792" y="641908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1" i="0">
                <a:solidFill>
                  <a:srgbClr val="24282C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65759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D71920"/>
                </a:solidFill>
                <a:latin typeface="Arial"/>
              </a:rPr>
              <a:t>PRICE REVISIONS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64240" cy="8961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24282C"/>
                </a:solidFill>
                <a:latin typeface="Arial"/>
              </a:rPr>
              <a:t>The 2026 base-price increase averages 6.0%. By product group it runs from 0.6% to 10.3%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48640" y="1609344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626A71"/>
                </a:solidFill>
                <a:latin typeface="Arial"/>
              </a:rPr>
              <a:t>IML and IMIT base prices, weighted on what we billed July 2025 – June 2026.</a:t>
            </a:r>
          </a:p>
        </p:txBody>
      </p:sp>
      <p:graphicFrame>
        <p:nvGraphicFramePr>
          <p:cNvPr id="5" name="chart_increase"/>
          <p:cNvGraphicFramePr>
            <a:graphicFrameLocks noGrp="1"/>
          </p:cNvGraphicFramePr>
          <p:nvPr/>
        </p:nvGraphicFramePr>
        <p:xfrm>
          <a:off x="548640" y="2148840"/>
          <a:ext cx="64008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flat_bg"/>
          <p:cNvSpPr/>
          <p:nvPr/>
        </p:nvSpPr>
        <p:spPr>
          <a:xfrm>
            <a:off x="7269480" y="2194560"/>
            <a:ext cx="4370832" cy="3767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at"/>
          <p:cNvSpPr txBox="1"/>
          <p:nvPr/>
        </p:nvSpPr>
        <p:spPr>
          <a:xfrm>
            <a:off x="7498079" y="2286000"/>
            <a:ext cx="3959352" cy="35661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24282C"/>
                </a:solidFill>
                <a:latin typeface="Arial"/>
              </a:rPr>
              <a:t>What one flat increase would do</a:t>
            </a:r>
          </a:p>
          <a:p>
            <a:pPr algn="l">
              <a:spcBef>
                <a:spcPts val="1200"/>
              </a:spcBef>
            </a:pPr>
            <a:r>
              <a:rPr sz="1250" b="1" i="0">
                <a:solidFill>
                  <a:srgbClr val="24282C"/>
                </a:solidFill>
                <a:latin typeface="Arial"/>
              </a:rPr>
              <a:t>Steering gear: base price +0.6%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24282C"/>
                </a:solidFill>
                <a:latin typeface="Arial"/>
              </a:rPr>
              <a:t>A flat 6% lifts our price about ten times more than our cost moved.</a:t>
            </a:r>
          </a:p>
          <a:p>
            <a:pPr algn="l">
              <a:spcBef>
                <a:spcPts val="1000"/>
              </a:spcBef>
            </a:pPr>
            <a:r>
              <a:rPr sz="1250" b="1" i="0">
                <a:solidFill>
                  <a:srgbClr val="24282C"/>
                </a:solidFill>
                <a:latin typeface="Arial"/>
              </a:rPr>
              <a:t>Air and fuel filters: +2.2 to +2.7%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24282C"/>
                </a:solidFill>
                <a:latin typeface="Arial"/>
              </a:rPr>
              <a:t>A flat 6% makes the most frequent service parts dearer than the cost requires.</a:t>
            </a:r>
          </a:p>
          <a:p>
            <a:pPr algn="l">
              <a:spcBef>
                <a:spcPts val="1000"/>
              </a:spcBef>
            </a:pPr>
            <a:r>
              <a:rPr sz="1250" b="1" i="0">
                <a:solidFill>
                  <a:srgbClr val="24282C"/>
                </a:solidFill>
                <a:latin typeface="Arial"/>
              </a:rPr>
              <a:t>Brake pads and shoes: +10.3%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24282C"/>
                </a:solidFill>
                <a:latin typeface="Arial"/>
              </a:rPr>
              <a:t>A flat 6% leaves four points unrecovered. The full 10% lands on a wear part where independent brands compete.</a:t>
            </a:r>
          </a:p>
          <a:p>
            <a:pPr algn="l">
              <a:spcBef>
                <a:spcPts val="1400"/>
              </a:spcBef>
            </a:pPr>
            <a:r>
              <a:rPr sz="1250" b="1" i="0">
                <a:solidFill>
                  <a:srgbClr val="D71920"/>
                </a:solidFill>
                <a:latin typeface="Arial"/>
              </a:rPr>
              <a:t>AIM turns one network percentage into a decision per product group.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48640" y="6089904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626A71"/>
                </a:solidFill>
                <a:latin typeface="Arial"/>
              </a:rPr>
              <a:t>Base-price move weighted on billed quantities, not a revenue or margin forecast. Worth €1.65M at last year's volumes. Product groups with at least €0.5M billed.</a:t>
            </a:r>
          </a:p>
        </p:txBody>
      </p:sp>
      <p:sp>
        <p:nvSpPr>
          <p:cNvPr id="9" name="ft_brand"/>
          <p:cNvSpPr txBox="1"/>
          <p:nvPr/>
        </p:nvSpPr>
        <p:spPr>
          <a:xfrm>
            <a:off x="548640" y="6419088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1" i="0">
                <a:solidFill>
                  <a:srgbClr val="D71920"/>
                </a:solidFill>
                <a:latin typeface="Arial"/>
              </a:rPr>
              <a:t>ISUZU</a:t>
            </a:r>
          </a:p>
        </p:txBody>
      </p:sp>
      <p:sp>
        <p:nvSpPr>
          <p:cNvPr id="10" name="ft_section"/>
          <p:cNvSpPr txBox="1"/>
          <p:nvPr/>
        </p:nvSpPr>
        <p:spPr>
          <a:xfrm>
            <a:off x="1325880" y="6428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626A71"/>
                </a:solidFill>
                <a:latin typeface="Arial"/>
              </a:rPr>
              <a:t>EUROPE  /  AIM  /  PRICE REVISIONS</a:t>
            </a:r>
          </a:p>
        </p:txBody>
      </p:sp>
      <p:sp>
        <p:nvSpPr>
          <p:cNvPr id="11" name="ft_page"/>
          <p:cNvSpPr txBox="1"/>
          <p:nvPr/>
        </p:nvSpPr>
        <p:spPr>
          <a:xfrm>
            <a:off x="10908792" y="641908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1" i="0">
                <a:solidFill>
                  <a:srgbClr val="24282C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758951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D71920"/>
                </a:solidFill>
                <a:latin typeface="Arial"/>
              </a:rPr>
              <a:t>WHAT AIM GIVES US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24282C"/>
                </a:solidFill>
                <a:latin typeface="Arial"/>
              </a:rPr>
              <a:t>Six things we can do now that we could not do before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48640" y="1609344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626A71"/>
                </a:solidFill>
                <a:latin typeface="Arial"/>
              </a:rPr>
              <a:t>Each one is shown with real numbers earlier in this presentation.</a:t>
            </a:r>
          </a:p>
        </p:txBody>
      </p:sp>
      <p:sp>
        <p:nvSpPr>
          <p:cNvPr id="5" name="adv_bg0"/>
          <p:cNvSpPr/>
          <p:nvPr/>
        </p:nvSpPr>
        <p:spPr>
          <a:xfrm>
            <a:off x="548640" y="2194560"/>
            <a:ext cx="3575304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dv_dot0"/>
          <p:cNvSpPr/>
          <p:nvPr/>
        </p:nvSpPr>
        <p:spPr>
          <a:xfrm>
            <a:off x="749808" y="2395728"/>
            <a:ext cx="420624" cy="420624"/>
          </a:xfrm>
          <a:prstGeom prst="ellipse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dv_n0"/>
          <p:cNvSpPr txBox="1"/>
          <p:nvPr/>
        </p:nvSpPr>
        <p:spPr>
          <a:xfrm>
            <a:off x="749808" y="239572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adv_h0"/>
          <p:cNvSpPr txBox="1"/>
          <p:nvPr/>
        </p:nvSpPr>
        <p:spPr>
          <a:xfrm>
            <a:off x="1325880" y="2377440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24282C"/>
                </a:solidFill>
                <a:latin typeface="Arial"/>
              </a:rPr>
              <a:t>Explain sales to the part</a:t>
            </a:r>
          </a:p>
        </p:txBody>
      </p:sp>
      <p:sp>
        <p:nvSpPr>
          <p:cNvPr id="9" name="adv_b0"/>
          <p:cNvSpPr txBox="1"/>
          <p:nvPr/>
        </p:nvSpPr>
        <p:spPr>
          <a:xfrm>
            <a:off x="749808" y="2944368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0" i="0">
                <a:solidFill>
                  <a:srgbClr val="626A71"/>
                </a:solidFill>
                <a:latin typeface="Arial"/>
              </a:rPr>
              <a:t>Norway against Sweden: a 12% gap traced to one steering unit and to brake pads.</a:t>
            </a:r>
          </a:p>
        </p:txBody>
      </p:sp>
      <p:sp>
        <p:nvSpPr>
          <p:cNvPr id="10" name="adv_bg1"/>
          <p:cNvSpPr/>
          <p:nvPr/>
        </p:nvSpPr>
        <p:spPr>
          <a:xfrm>
            <a:off x="4306824" y="2194560"/>
            <a:ext cx="3575304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dv_dot1"/>
          <p:cNvSpPr/>
          <p:nvPr/>
        </p:nvSpPr>
        <p:spPr>
          <a:xfrm>
            <a:off x="4507992" y="2395728"/>
            <a:ext cx="420624" cy="420624"/>
          </a:xfrm>
          <a:prstGeom prst="ellipse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dv_n1"/>
          <p:cNvSpPr txBox="1"/>
          <p:nvPr/>
        </p:nvSpPr>
        <p:spPr>
          <a:xfrm>
            <a:off x="4507992" y="239572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adv_h1"/>
          <p:cNvSpPr txBox="1"/>
          <p:nvPr/>
        </p:nvSpPr>
        <p:spPr>
          <a:xfrm>
            <a:off x="5084064" y="2377440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24282C"/>
                </a:solidFill>
                <a:latin typeface="Arial"/>
              </a:rPr>
              <a:t>Price per product group</a:t>
            </a:r>
          </a:p>
        </p:txBody>
      </p:sp>
      <p:sp>
        <p:nvSpPr>
          <p:cNvPr id="14" name="adv_b1"/>
          <p:cNvSpPr txBox="1"/>
          <p:nvPr/>
        </p:nvSpPr>
        <p:spPr>
          <a:xfrm>
            <a:off x="4507992" y="2944368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0" i="0">
                <a:solidFill>
                  <a:srgbClr val="626A71"/>
                </a:solidFill>
                <a:latin typeface="Arial"/>
              </a:rPr>
              <a:t>Base-price increases from 0.6% to 10.3%, instead of one 6.0% average.</a:t>
            </a:r>
          </a:p>
        </p:txBody>
      </p:sp>
      <p:sp>
        <p:nvSpPr>
          <p:cNvPr id="15" name="adv_bg2"/>
          <p:cNvSpPr/>
          <p:nvPr/>
        </p:nvSpPr>
        <p:spPr>
          <a:xfrm>
            <a:off x="8065008" y="2194560"/>
            <a:ext cx="3575304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dv_dot2"/>
          <p:cNvSpPr/>
          <p:nvPr/>
        </p:nvSpPr>
        <p:spPr>
          <a:xfrm>
            <a:off x="8266176" y="2395728"/>
            <a:ext cx="420624" cy="420624"/>
          </a:xfrm>
          <a:prstGeom prst="ellipse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dv_n2"/>
          <p:cNvSpPr txBox="1"/>
          <p:nvPr/>
        </p:nvSpPr>
        <p:spPr>
          <a:xfrm>
            <a:off x="8266176" y="239572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adv_h2"/>
          <p:cNvSpPr txBox="1"/>
          <p:nvPr/>
        </p:nvSpPr>
        <p:spPr>
          <a:xfrm>
            <a:off x="8842248" y="2377440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24282C"/>
                </a:solidFill>
                <a:latin typeface="Arial"/>
              </a:rPr>
              <a:t>Compare like with like</a:t>
            </a:r>
          </a:p>
        </p:txBody>
      </p:sp>
      <p:sp>
        <p:nvSpPr>
          <p:cNvPr id="19" name="adv_b2"/>
          <p:cNvSpPr txBox="1"/>
          <p:nvPr/>
        </p:nvSpPr>
        <p:spPr>
          <a:xfrm>
            <a:off x="8266176" y="2944368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0" i="0">
                <a:solidFill>
                  <a:srgbClr val="626A71"/>
                </a:solidFill>
                <a:latin typeface="Arial"/>
              </a:rPr>
              <a:t>A €11 filter element is no longer averaged with a €154 housing.</a:t>
            </a:r>
          </a:p>
        </p:txBody>
      </p:sp>
      <p:sp>
        <p:nvSpPr>
          <p:cNvPr id="20" name="adv_bg3"/>
          <p:cNvSpPr/>
          <p:nvPr/>
        </p:nvSpPr>
        <p:spPr>
          <a:xfrm>
            <a:off x="548640" y="3977639"/>
            <a:ext cx="3575304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dv_dot3"/>
          <p:cNvSpPr/>
          <p:nvPr/>
        </p:nvSpPr>
        <p:spPr>
          <a:xfrm>
            <a:off x="749808" y="4178807"/>
            <a:ext cx="420624" cy="420624"/>
          </a:xfrm>
          <a:prstGeom prst="ellipse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dv_n3"/>
          <p:cNvSpPr txBox="1"/>
          <p:nvPr/>
        </p:nvSpPr>
        <p:spPr>
          <a:xfrm>
            <a:off x="749808" y="4178807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adv_h3"/>
          <p:cNvSpPr txBox="1"/>
          <p:nvPr/>
        </p:nvSpPr>
        <p:spPr>
          <a:xfrm>
            <a:off x="1325880" y="4160520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24282C"/>
                </a:solidFill>
                <a:latin typeface="Arial"/>
              </a:rPr>
              <a:t>See every product range</a:t>
            </a:r>
          </a:p>
        </p:txBody>
      </p:sp>
      <p:sp>
        <p:nvSpPr>
          <p:cNvPr id="24" name="adv_b3"/>
          <p:cNvSpPr txBox="1"/>
          <p:nvPr/>
        </p:nvSpPr>
        <p:spPr>
          <a:xfrm>
            <a:off x="749808" y="4727448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0" i="0">
                <a:solidFill>
                  <a:srgbClr val="626A71"/>
                </a:solidFill>
                <a:latin typeface="Arial"/>
              </a:rPr>
              <a:t>€1.1M a year back in the family it belongs to. Air filters are complete again.</a:t>
            </a:r>
          </a:p>
        </p:txBody>
      </p:sp>
      <p:sp>
        <p:nvSpPr>
          <p:cNvPr id="25" name="adv_bg4"/>
          <p:cNvSpPr/>
          <p:nvPr/>
        </p:nvSpPr>
        <p:spPr>
          <a:xfrm>
            <a:off x="4306824" y="3977639"/>
            <a:ext cx="3575304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dv_dot4"/>
          <p:cNvSpPr/>
          <p:nvPr/>
        </p:nvSpPr>
        <p:spPr>
          <a:xfrm>
            <a:off x="4507992" y="4178807"/>
            <a:ext cx="420624" cy="420624"/>
          </a:xfrm>
          <a:prstGeom prst="ellipse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dv_n4"/>
          <p:cNvSpPr txBox="1"/>
          <p:nvPr/>
        </p:nvSpPr>
        <p:spPr>
          <a:xfrm>
            <a:off x="4507992" y="4178807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adv_h4"/>
          <p:cNvSpPr txBox="1"/>
          <p:nvPr/>
        </p:nvSpPr>
        <p:spPr>
          <a:xfrm>
            <a:off x="5084064" y="4160520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24282C"/>
                </a:solidFill>
                <a:latin typeface="Arial"/>
              </a:rPr>
              <a:t>One language for every distributor</a:t>
            </a:r>
          </a:p>
        </p:txBody>
      </p:sp>
      <p:sp>
        <p:nvSpPr>
          <p:cNvPr id="29" name="adv_b4"/>
          <p:cNvSpPr txBox="1"/>
          <p:nvPr/>
        </p:nvSpPr>
        <p:spPr>
          <a:xfrm>
            <a:off x="4507992" y="4727448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0" i="0">
                <a:solidFill>
                  <a:srgbClr val="626A71"/>
                </a:solidFill>
                <a:latin typeface="Arial"/>
              </a:rPr>
              <a:t>22 families, 116 product groups and 239 part types, the same in every market.</a:t>
            </a:r>
          </a:p>
        </p:txBody>
      </p:sp>
      <p:sp>
        <p:nvSpPr>
          <p:cNvPr id="30" name="adv_bg5"/>
          <p:cNvSpPr/>
          <p:nvPr/>
        </p:nvSpPr>
        <p:spPr>
          <a:xfrm>
            <a:off x="8065008" y="3977639"/>
            <a:ext cx="3575304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dv_dot5"/>
          <p:cNvSpPr/>
          <p:nvPr/>
        </p:nvSpPr>
        <p:spPr>
          <a:xfrm>
            <a:off x="8266176" y="4178807"/>
            <a:ext cx="420624" cy="420624"/>
          </a:xfrm>
          <a:prstGeom prst="ellipse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dv_n5"/>
          <p:cNvSpPr txBox="1"/>
          <p:nvPr/>
        </p:nvSpPr>
        <p:spPr>
          <a:xfrm>
            <a:off x="8266176" y="4178807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3" name="adv_h5"/>
          <p:cNvSpPr txBox="1"/>
          <p:nvPr/>
        </p:nvSpPr>
        <p:spPr>
          <a:xfrm>
            <a:off x="8842248" y="4160520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24282C"/>
                </a:solidFill>
                <a:latin typeface="Arial"/>
              </a:rPr>
              <a:t>Talk to Japan in its own codes</a:t>
            </a:r>
          </a:p>
        </p:txBody>
      </p:sp>
      <p:sp>
        <p:nvSpPr>
          <p:cNvPr id="34" name="adv_b5"/>
          <p:cNvSpPr txBox="1"/>
          <p:nvPr/>
        </p:nvSpPr>
        <p:spPr>
          <a:xfrm>
            <a:off x="8266176" y="4727448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0" i="0">
                <a:solidFill>
                  <a:srgbClr val="626A71"/>
                </a:solidFill>
                <a:latin typeface="Arial"/>
              </a:rPr>
              <a:t>Japan's catalogue code is kept on every part. 89% of billed euro is already linked.</a:t>
            </a:r>
          </a:p>
        </p:txBody>
      </p:sp>
      <p:sp>
        <p:nvSpPr>
          <p:cNvPr id="35" name="band_bg"/>
          <p:cNvSpPr/>
          <p:nvPr/>
        </p:nvSpPr>
        <p:spPr>
          <a:xfrm>
            <a:off x="548640" y="5788152"/>
            <a:ext cx="11091672" cy="457200"/>
          </a:xfrm>
          <a:prstGeom prst="rect">
            <a:avLst/>
          </a:prstGeom>
          <a:solidFill>
            <a:srgbClr val="F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nd"/>
          <p:cNvSpPr txBox="1"/>
          <p:nvPr/>
        </p:nvSpPr>
        <p:spPr>
          <a:xfrm>
            <a:off x="777240" y="5788152"/>
            <a:ext cx="1065276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1" i="0">
                <a:solidFill>
                  <a:srgbClr val="24282C"/>
                </a:solidFill>
                <a:latin typeface="Arial"/>
              </a:rPr>
              <a:t>Next: </a:t>
            </a:r>
            <a:r>
              <a:rPr sz="1400" b="0" i="0">
                <a:solidFill>
                  <a:srgbClr val="24282C"/>
                </a:solidFill>
                <a:latin typeface="Arial"/>
              </a:rPr>
              <a:t>link old and new part numbers, so a superseded part no longer looks like lost business.</a:t>
            </a:r>
          </a:p>
        </p:txBody>
      </p:sp>
      <p:sp>
        <p:nvSpPr>
          <p:cNvPr id="37" name="ft_brand"/>
          <p:cNvSpPr txBox="1"/>
          <p:nvPr/>
        </p:nvSpPr>
        <p:spPr>
          <a:xfrm>
            <a:off x="548640" y="6419088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1" i="0">
                <a:solidFill>
                  <a:srgbClr val="D71920"/>
                </a:solidFill>
                <a:latin typeface="Arial"/>
              </a:rPr>
              <a:t>ISUZU</a:t>
            </a:r>
          </a:p>
        </p:txBody>
      </p:sp>
      <p:sp>
        <p:nvSpPr>
          <p:cNvPr id="38" name="ft_section"/>
          <p:cNvSpPr txBox="1"/>
          <p:nvPr/>
        </p:nvSpPr>
        <p:spPr>
          <a:xfrm>
            <a:off x="1325880" y="6428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626A71"/>
                </a:solidFill>
                <a:latin typeface="Arial"/>
              </a:rPr>
              <a:t>EUROPE  /  AIM  /  WHAT AIM GIVES US</a:t>
            </a:r>
          </a:p>
        </p:txBody>
      </p:sp>
      <p:sp>
        <p:nvSpPr>
          <p:cNvPr id="39" name="ft_page"/>
          <p:cNvSpPr txBox="1"/>
          <p:nvPr/>
        </p:nvSpPr>
        <p:spPr>
          <a:xfrm>
            <a:off x="10908792" y="641908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1" i="0">
                <a:solidFill>
                  <a:srgbClr val="24282C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_kicker"/>
          <p:cNvSpPr txBox="1"/>
          <p:nvPr/>
        </p:nvSpPr>
        <p:spPr>
          <a:xfrm>
            <a:off x="640080" y="5669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CCD1D2"/>
                </a:solidFill>
                <a:latin typeface="Arial"/>
              </a:rPr>
              <a:t>THE DECISION WE ASK FOR</a:t>
            </a:r>
          </a:p>
        </p:txBody>
      </p:sp>
      <p:sp>
        <p:nvSpPr>
          <p:cNvPr id="3" name="d_title"/>
          <p:cNvSpPr txBox="1"/>
          <p:nvPr/>
        </p:nvSpPr>
        <p:spPr>
          <a:xfrm>
            <a:off x="640080" y="1234440"/>
            <a:ext cx="51206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5000"/>
              </a:lnSpc>
            </a:pPr>
            <a:r>
              <a:rPr sz="3800" b="1" i="0">
                <a:solidFill>
                  <a:srgbClr val="FFFFFF"/>
                </a:solidFill>
                <a:latin typeface="Arial"/>
              </a:rPr>
              <a:t>From a label</a:t>
            </a:r>
          </a:p>
          <a:p>
            <a:pPr algn="l">
              <a:lnSpc>
                <a:spcPct val="95000"/>
              </a:lnSpc>
            </a:pPr>
            <a:r>
              <a:rPr sz="3800" b="1" i="0">
                <a:solidFill>
                  <a:srgbClr val="FFFFFF"/>
                </a:solidFill>
                <a:latin typeface="Arial"/>
              </a:rPr>
              <a:t>to a product.</a:t>
            </a:r>
          </a:p>
          <a:p>
            <a:pPr algn="l">
              <a:lnSpc>
                <a:spcPct val="95000"/>
              </a:lnSpc>
            </a:pPr>
            <a:r>
              <a:rPr sz="3800" b="1" i="0">
                <a:solidFill>
                  <a:srgbClr val="FFFFFF"/>
                </a:solidFill>
                <a:latin typeface="Arial"/>
              </a:rPr>
              <a:t>From a product</a:t>
            </a:r>
          </a:p>
          <a:p>
            <a:pPr algn="l">
              <a:lnSpc>
                <a:spcPct val="95000"/>
              </a:lnSpc>
            </a:pPr>
            <a:r>
              <a:rPr sz="3800" b="1" i="0">
                <a:solidFill>
                  <a:srgbClr val="FFFFFF"/>
                </a:solidFill>
                <a:latin typeface="Arial"/>
              </a:rPr>
              <a:t>to a decision.</a:t>
            </a:r>
          </a:p>
        </p:txBody>
      </p:sp>
      <p:sp>
        <p:nvSpPr>
          <p:cNvPr id="4" name="dec_bg0"/>
          <p:cNvSpPr/>
          <p:nvPr/>
        </p:nvSpPr>
        <p:spPr>
          <a:xfrm>
            <a:off x="6355080" y="1280160"/>
            <a:ext cx="5285232" cy="1143000"/>
          </a:xfrm>
          <a:prstGeom prst="rect">
            <a:avLst/>
          </a:prstGeom>
          <a:solidFill>
            <a:srgbClr val="353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_k0"/>
          <p:cNvSpPr txBox="1"/>
          <p:nvPr/>
        </p:nvSpPr>
        <p:spPr>
          <a:xfrm>
            <a:off x="6583680" y="1280160"/>
            <a:ext cx="1188720" cy="1143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F2969B"/>
                </a:solidFill>
                <a:latin typeface="Arial"/>
              </a:rPr>
              <a:t>USE</a:t>
            </a:r>
          </a:p>
        </p:txBody>
      </p:sp>
      <p:sp>
        <p:nvSpPr>
          <p:cNvPr id="6" name="dec_t0"/>
          <p:cNvSpPr txBox="1"/>
          <p:nvPr/>
        </p:nvSpPr>
        <p:spPr>
          <a:xfrm>
            <a:off x="7772400" y="1280160"/>
            <a:ext cx="3703320" cy="1143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0" i="0">
                <a:solidFill>
                  <a:srgbClr val="FFFFFF"/>
                </a:solidFill>
                <a:latin typeface="Arial"/>
              </a:rPr>
              <a:t>AIM as the one product language for distributor sales reviews and price revisions.</a:t>
            </a:r>
          </a:p>
        </p:txBody>
      </p:sp>
      <p:sp>
        <p:nvSpPr>
          <p:cNvPr id="7" name="dec_bg1"/>
          <p:cNvSpPr/>
          <p:nvPr/>
        </p:nvSpPr>
        <p:spPr>
          <a:xfrm>
            <a:off x="6355080" y="2606039"/>
            <a:ext cx="5285232" cy="1143000"/>
          </a:xfrm>
          <a:prstGeom prst="rect">
            <a:avLst/>
          </a:prstGeom>
          <a:solidFill>
            <a:srgbClr val="353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_k1"/>
          <p:cNvSpPr txBox="1"/>
          <p:nvPr/>
        </p:nvSpPr>
        <p:spPr>
          <a:xfrm>
            <a:off x="6583680" y="2606039"/>
            <a:ext cx="1188720" cy="1143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F2969B"/>
                </a:solidFill>
                <a:latin typeface="Arial"/>
              </a:rPr>
              <a:t>OWN</a:t>
            </a:r>
          </a:p>
        </p:txBody>
      </p:sp>
      <p:sp>
        <p:nvSpPr>
          <p:cNvPr id="9" name="dec_t1"/>
          <p:cNvSpPr txBox="1"/>
          <p:nvPr/>
        </p:nvSpPr>
        <p:spPr>
          <a:xfrm>
            <a:off x="7772400" y="2606039"/>
            <a:ext cx="3703320" cy="1143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0" i="0">
                <a:solidFill>
                  <a:srgbClr val="FFFFFF"/>
                </a:solidFill>
                <a:latin typeface="Arial"/>
              </a:rPr>
              <a:t>Maintenance stays in Vehicle Parts Sales, through approved releases.</a:t>
            </a:r>
          </a:p>
        </p:txBody>
      </p:sp>
      <p:sp>
        <p:nvSpPr>
          <p:cNvPr id="10" name="dec_bg2"/>
          <p:cNvSpPr/>
          <p:nvPr/>
        </p:nvSpPr>
        <p:spPr>
          <a:xfrm>
            <a:off x="6355080" y="3931920"/>
            <a:ext cx="5285232" cy="1143000"/>
          </a:xfrm>
          <a:prstGeom prst="rect">
            <a:avLst/>
          </a:prstGeom>
          <a:solidFill>
            <a:srgbClr val="353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c_k2"/>
          <p:cNvSpPr txBox="1"/>
          <p:nvPr/>
        </p:nvSpPr>
        <p:spPr>
          <a:xfrm>
            <a:off x="6583680" y="3931920"/>
            <a:ext cx="1188720" cy="1143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F2969B"/>
                </a:solidFill>
                <a:latin typeface="Arial"/>
              </a:rPr>
              <a:t>PROVE</a:t>
            </a:r>
          </a:p>
        </p:txBody>
      </p:sp>
      <p:sp>
        <p:nvSpPr>
          <p:cNvPr id="12" name="dec_t2"/>
          <p:cNvSpPr txBox="1"/>
          <p:nvPr/>
        </p:nvSpPr>
        <p:spPr>
          <a:xfrm>
            <a:off x="7772400" y="3931920"/>
            <a:ext cx="3703320" cy="1143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0" i="0">
                <a:solidFill>
                  <a:srgbClr val="FFFFFF"/>
                </a:solidFill>
                <a:latin typeface="Arial"/>
              </a:rPr>
              <a:t>Take the two Nordic findings into the next distributor reviews and report the outcome.</a:t>
            </a:r>
          </a:p>
        </p:txBody>
      </p:sp>
      <p:sp>
        <p:nvSpPr>
          <p:cNvPr id="13" name="d_tag"/>
          <p:cNvSpPr txBox="1"/>
          <p:nvPr/>
        </p:nvSpPr>
        <p:spPr>
          <a:xfrm>
            <a:off x="640080" y="512064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CCD1D2"/>
                </a:solidFill>
                <a:latin typeface="Arial"/>
              </a:rPr>
              <a:t>AIM: one parts classification for sales analysis and price revisions.</a:t>
            </a:r>
          </a:p>
        </p:txBody>
      </p:sp>
      <p:sp>
        <p:nvSpPr>
          <p:cNvPr id="14" name="ft_brand"/>
          <p:cNvSpPr txBox="1"/>
          <p:nvPr/>
        </p:nvSpPr>
        <p:spPr>
          <a:xfrm>
            <a:off x="548640" y="6419088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1" i="0">
                <a:solidFill>
                  <a:srgbClr val="D71920"/>
                </a:solidFill>
                <a:latin typeface="Arial"/>
              </a:rPr>
              <a:t>ISUZU</a:t>
            </a:r>
          </a:p>
        </p:txBody>
      </p:sp>
      <p:sp>
        <p:nvSpPr>
          <p:cNvPr id="15" name="ft_section"/>
          <p:cNvSpPr txBox="1"/>
          <p:nvPr/>
        </p:nvSpPr>
        <p:spPr>
          <a:xfrm>
            <a:off x="1325880" y="6428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CCD1D2"/>
                </a:solidFill>
                <a:latin typeface="Arial"/>
              </a:rPr>
              <a:t>EUROPE  /  AIM  /  THE DECISION</a:t>
            </a:r>
          </a:p>
        </p:txBody>
      </p:sp>
      <p:sp>
        <p:nvSpPr>
          <p:cNvPr id="16" name="ft_page"/>
          <p:cNvSpPr txBox="1"/>
          <p:nvPr/>
        </p:nvSpPr>
        <p:spPr>
          <a:xfrm>
            <a:off x="10908792" y="641908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1" i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