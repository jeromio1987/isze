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nagement presentation" id="{6c141897-10c1-9ac1-7716-0734ab8e64e2}">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Lst>
        </p14:section>
        <p14:section name="Supporting reference" id="{c54b2836-d0b0-a773-323d-54551a42ac8d}">
          <p14:sldIdLst>
            <p14:sldId id="274"/>
            <p14:sldId id="275"/>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presentation seeks approval of a pricing method, not release of a price list. The objective is to give distributors a stronger commercial offer, earn appropriately on retained business and use targeted flexibility where it can win or protect a broader parts relationship.
The sequence is deliberate: historical calculation and cost changes; limitations of broad price classes; AIM and market evidence; the net financial test; UK maintenance and Israel repair applications; a selective first application and approval.
Transition: Start with the commercial objective, then explain why the old calculation cannot answer it on its own.
[Sources]
- Management instructions in this conversation, September 2026: replace price classes as the automatic selling-margin rule; no universal 8% ceiling; distributor-led competitiveness; win and retain maintenance relationships; targeted repair-package support. AIM name and first-person credit approved in this conversation.
- Truck photograph: user-provided original cover visual, reused from the existing presentation. Representative image only; no model-specific fitment or Israeli specification is inferred.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objective is higher turnover through better distributor offers, rather than a blanket price reduction or another undifferentiated annual increase.
ISZE sells to distributors, who support dealers and their own customers. An appropriate ISZE price creates room for a stronger maintenance or repair offer. That room only becomes additional ISZE business when the distributor and dealer act on it and sustained purchases follow.
There are complementary opportunities: winning additional business, retaining repeat business at risk, and earning a justified price where a concession is unnecessary. A first stock order is not proof of additional customer demand, and avoided concessions should not be called recovered sales.
Transition: To see what changes, first separate the historic purchase-cost calculation from the class-based selling-margin rule.
[Sources]
- Management instructions in this conversation, September 2026: replace price classes as the automatic selling-margin rule; no universal 8% ceiling; distributor-led competitiveness; win and retain maintenance relationships; targeted repair-package support. AIM name and first-person credit approved in this conversation.
- ISZE business and operations Masters, 19 September 2026: ISZE sells to distributors; distributor purchases measure stocking decisions, not direct end-customer demand. ITUK/IUK and UTI/UMI are separate businesses.
- Pictograms: Font Awesome Free, Fonticons, Inc., CC BY 4.0. https://fontawesome.com/license/free. Reused from the repaired presentation as directly embedded high-resolution PNGs; colours and backgrounds adapted.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historical formula is: selling price = (supplier base in yen / corporate JPY-per-EUR rate) x share of the base paid / (1 - class margin).
The supplier base, exchange rate and purchasing discount determine the purchase-cost input in this formula. The price-class letter then assigns the formula margin. Class C specifies 53%, so the divisor is 0.47. Class V specifies 45%, so the divisor is 0.55. These are selected examples, not a statement about the full margin ladder.
The purchasing discount is not the selling margin. Formula margin is also not necessarily the realised margin after selling support, freight or other costs. The future policy retains cost inputs and removes the automatic class-set margin as the sole selling-price determinant.
Transition: The inputs themselves have changed. Japan purchasing terms are the first change to understand.
[Sources]
- Pricing Master: PRICING_ANSWERS_FOR_FEEDBACK_2026-09-19.md and PRICING_DECK_CORRECTIONS_2026-09-19.md, internal management-supplied notes. Underlying price records and supplier attachments were not independently reopened for this presentation.
- Management instructions in this conversation, September 2026: replace price classes as the automatic selling-margin rule; no universal 8% ceiling; distributor-led competitiveness; win and retain maintenance relationships; targeted repair-package support. AIM name and first-person credit approved in this conversation.
- Pictograms: Font Awesome Free, Fonticons, Inc., CC BY 4.0. https://fontawesome.com/license/free. Reused from the repaired presentation as directly embedded high-resolution PNGs; colours and backgrounds adapted.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Japan vehicle-parts terms moved from paying 62.0% to paying 67.3% of the yen base, effective 5 January 2026. Expressed as purchasing discounts, that is 38.0% to 32.7%, a reduction of 5.3 percentage points. At an unchanged base and rate, the purchase-cost increase is 67.3/62.0 - 1 = 8.55%, not 5.3%.
The supplier email dated 22 December 2025 records the effective change date. The revised 67.3% value is management-confirmed in the supplied configuration, not independently read from the missing original supplier attachment. Thailand is unchanged at a 38.9% purchasing discount, meaning ISZE pays 61.1% of the base.
Selling discounts, special price agreements and rebates are a separate revenue-side calculation. Apply contracted support once, on its correct basis. A complete selling-side schedule has not been supplied, and no generic 20% distributor discount is assumed.
Transition: Exchange rates moved in the opposite direction, so both cost effects need to be considered together.
[Sources]
- Pricing Master: PRICING_ANSWERS_FOR_FEEDBACK_2026-09-19.md and PRICING_DECK_CORRECTIONS_2026-09-19.md, internal management-supplied notes. Underlying price records and supplier attachments were not independently reopened for this presentation.
- Pictograms: Font Awesome Free, Fonticons, Inc., CC BY 4.0. https://fontawesome.com/license/free. Reused from the repaired presentation as directly embedded high-resolution PNGs; colours and backgrounds adapted.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illustration is Japan-specific and uses an unchanged JPY 16,370 supplier base. It is the purchase cost in the historic formula, not a full landed-cost forecast or an observed part price.
Selling-list basis: 16,370/163.7 x 0.620 = EUR 62.00. April-September 2026 cost period: 16,370/172.6 x 0.673 = EUR 63.83. Announced October 2026-March 2027 rate: 16,370/178.5 x 0.673 = EUR 61.72. Calculations are rounded only at the end.
The last result is 0.45% below the list-basis cost. From the April-September period, the rate change alone lowers this formula cost by 3.31%. Do not add the currency and discount percentages; multiply their cost ratios. Supplier base-price changes are outside this illustration.
The dated effective periods are retained from the source. In September 2026, 172.6 is current and 178.5 is announced, not yet effective. The source notes disagree about Thailand applicability; this slide makes no Thailand-rate assertion.
Transition: These inputs explain cost. They still do not establish whether a distributor's offer is competitive.
[Sources]
- Pricing Master: PRICING_ANSWERS_FOR_FEEDBACK_2026-09-19.md and PRICING_DECK_CORRECTIONS_2026-09-19.md, internal management-supplied notes. Underlying price records and supplier attachments were not independently reopened for this presentation.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Price Master dated 9 August 2026 reports 206,598 Class C part numbers out of 275,992 distinct current classed part numbers. That is 74.8565%, displayed as 74.9%. Superseded and unclassed records are excluded. The 100-cell graphic rounds this visually to 75 cells and is labelled approximate.
This is a catalogue count share, not a turnover share, competitor-evidence coverage or a measured share of parts that are incorrectly priced. Class C applies the same 53% formula margin even though the competitive situations of its parts differ.
The purpose of the slide is to explain the breadth of the old rule, not to claim an unmeasured sales opportunity.
Transition: We should be able to support one part, hold another and justify an increase on a third without moving the whole class.
[Sources]
- Pricing Master: PRICING_ANSWERS_FOR_FEEDBACK_2026-09-19.md and PRICING_DECK_CORRECTIONS_2026-09-19.md, internal management-supplied notes. Underlying price records and supplier attachments were not independently reopened for this presentation.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new policy allows different decisions on individual parts previously subject to a common formula margin. Reduce selectively where a credible competing offer shows that distributor room is insufficient; hold where the price is appropriate; consider a justified increase where evidence supports the position.
This is a policy proposal, not a set of approved part prices. Commercial families remain useful for selecting and analysing parts, but must not become another rigid margin ladder. Missing competitor data is not proof that no alternative exists.
The opportunity works in both directions: support additional or retained purchases where needed, and preserve or improve the net price on other retained business. We do not need to concede margin across the range to solve a selected competitive problem.
Transition: More precise decisions require a useful parts structure. That is the role of AIM.
[Sources]
- Management instructions in this conversation, September 2026: replace price classes as the automatic selling-margin rule; no universal 8% ceiling; distributor-led competitiveness; win and retain maintenance relationships; targeted repair-package support. AIM name and first-person credit approved in this conversation.
- Pricing Master: PRICING_ANSWERS_FOR_FEEDBACK_2026-09-19.md and PRICING_DECK_CORRECTIONS_2026-09-19.md, internal management-supplied notes. Underlying price records and supplier attachments were not independently reopened for this presentation.
- Pictograms: Font Awesome Free, Fonticons, Inc., CC BY 4.0. https://fontawesome.com/license/free. Reused from the repaired presentation as directly embedded high-resolution PNGs; colours and backgrounds adapted.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AIM and the approved full name on this slide only. The first-person wording is the presenter's approved credit: I developed AIM to give us a clearer understanding of our parts range and a more precise basis for pricing and sales analysis. This is not a formal external author credit or a claim of group-wide system ownership.
A suggested spoken introduction: The price classes did not give us enough detail for the commercial decisions we needed to make. That is why I developed AIM: to organise the parts meaningfully, understand where action is needed and make more targeted decisions.
Read the graphic from left to right. The functional example is Brakes / Pads &amp; Shoes / Brake Pad Kit, with individual part 8982447940. The part number is the item classified, not an additional hierarchy level. This example is recorded in the Pricing Master; the original AIM hierarchy used a commercial family, system group and part type. The revised design separates identity from commercial judgement.
The hierarchy identifies the right parts to assess. It does not assert that every part has a validated competitor quote or an automatic price recommendation.
Transition: Creating a usable classification required more than assigning descriptions to boxes.
[Sources]
- AIM Master: ISZE_AIM_Classification_Paper.html, supplied internal paper, 18 September 2026; sections 1-3 and 8-10. Original description-based mapping, independent checks, revised functional identity, and remaining commercial-assessment work.
- Pricing Master: PRICING_ANSWERS_FOR_FEEDBACK_2026-09-19.md and PRICING_DECK_CORRECTIONS_2026-09-19.md, internal management-supplied notes. Underlying price records and supplier attachments were not independently reopened for this presentation.
- Management instructions in this conversation, September 2026: replace price classes as the automatic selling-margin rule; no universal 8% ceiling; distributor-led competitiveness; win and retain maintenance relationships; targeted repair-package support. AIM name and first-person credit approved in this conversation.
- Pictograms: Font Awesome Free, Fonticons, Inc., CC BY 4.0. https://fontawesome.com/license/free. Reused from the repaired presentation as directly embedded high-resolution PNGs; colours and backgrounds adapted.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documented work began with description-based rules: interpreting abbreviated part text and assigning consistent labels. It then used catalogue references, customs commodity codes and high-precision text checks to identify conflicts and refine functional identity. Unclear items remain for review rather than being forced into a category.
The five source fields are part number, description, price, customs code and catalogue figure. Available fields and original rule inputs are not the same thing: the original mapping used the description; catalogue and customs information supported checks; revised identity is figure-anchored. The part number connects the records, while price supplies commercial context. No measured development hours or model-accuracy percentage is claimed.
The supplied Master records identity as live, commercial scoring by part and market as the next step, and physical attributes as deferred. EQ-Hit was an unpopulated field in that supplied Master. Later completion is not assumed.
Transition: AIM identifies what we are assessing. Market evidence is what lets us judge the commercial position.
[Sources]
- AIM Master: ISZE_AIM_Classification_Paper.html, supplied internal paper, 18 September 2026; sections 1-3 and 8-10. Original description-based mapping, independent checks, revised functional identity, and remaining commercial-assessment work.
- Pictograms: Font Awesome Free, Fonticons, Inc., CC BY 4.0. https://fontawesome.com/license/free. Reused from the repaired presentation as directly embedded high-resolution PNGs; colours and backgrounds adapted.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three sources of evidence together. KS International provides dated observations on selected parts from one UK trade webshop. Eucon / PartsPool provides historical brand and price-tier comparisons. Distributor and customer feedback identifies the offers that are difficult to win and the products requiring closer attention.
The core KS observations are dated 10 and 14 August 2026. The same distinct prices were repeated across market rows; this is not an eighteen-country market survey. Truck-specific observations are a separate smaller set, not a reason to extrapolate light-commercial comparisons to every truck part.
Eucon / PartsPool is a batch dated 29 March 2026, covering Germany and Norway. A historical observation is context, not a current quotation, and prices from different brands are not one interchangeable benchmark. Feedback may identify a family-level issue without an exact part-level competing quotation.
Before deciding, compare application, specification, kit content, quality tier, availability, currency, tax and transaction level. A missing quote does not prove the absence of a competing solution.
Transition: These inputs must become a viable offer for the distributor and a viable net result for ISZE.
[Sources]
- Pricing Master: PRICING_ANSWERS_FOR_FEEDBACK_2026-09-19.md and PRICING_DECK_CORRECTIONS_2026-09-19.md, internal management-supplied notes. Underlying price records and supplier attachments were not independently reopened for this presentation.
- Management instructions in this conversation, September 2026: replace price classes as the automatic selling-margin rule; no universal 8% ceiling; distributor-led competitiveness; win and retain maintenance relationships; targeted repair-package support. AIM name and first-person credit approved in this conversation.
- Pictograms: Font Awesome Free, Fonticons, Inc., CC BY 4.0. https://fontawesome.com/license/free. Reused from the repaired presentation as directly embedded high-resolution PNGs; colours and backgrounds adapted.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AIM identifies the part; the pricing decision combines commercial evidence with the distributor opportunity and ISZE's net economics.
First compare a credible offer at the right quality and transaction level. Then establish the room needed by the distributor to support its network. Competitive support can mean restraining an increase, holding a price or reducing selected parts: not automatically copying the cheapest webshop price.
Check actual costs, the appropriate source-specific exchange rate and all applicable selling support. A sourcing-cost problem cannot always be solved by accepting less margin. If the price required for the commercial case is not viable, review source cost or specific support rather than disguise the shortfall.
Approve the commercial purpose and final price on the relevant evidence. No downstream resale price is dictated and no universal distributor margin is assumed. Per-part, per-market commercial scoring remains separate from the functional hierarchy; this presentation does not claim that every recommendation is already automated.
Transition: The key financial question is whether the additional or retained business compensates for the support given.
[Sources]
- Pricing Master: PRICING_ANSWERS_FOR_FEEDBACK_2026-09-19.md and PRICING_DECK_CORRECTIONS_2026-09-19.md, internal management-supplied notes. Underlying price records and supplier attachments were not independently reopened for this presentation.
- Management instructions in this conversation, September 2026: replace price classes as the automatic selling-margin rule; no universal 8% ceiling; distributor-led competitiveness; win and retain maintenance relationships; targeted repair-package support. AIM name and first-person credit approved in this conversation.
- ISZE business and operations Masters, 19 September 2026: ISZE sells to distributors; distributor purchases measure stocking decisions, not direct end-customer demand. ITUK/IUK and UTI/UMI are separate businesses.
- Pictograms: Font Awesome Free, Fonticons, Inc., CC BY 4.0. https://fontawesome.com/license/free. Reused from the repaired presentation as directly embedded high-resolution PNGs; colours and backgrounds adapted.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arithmetic illustration, not an observed sales response or a forecast. All figures are on the ISZE side, using the same basket and period, with cost fixed at EUR 50 per basket. Net prices already include any applicable support; do not deduct it again.
Before: 100 baskets at EUR 100 gives EUR 10,000 turnover and EUR 5,000 gross profit. After the illustrated 5% net-price reduction, assume the distributor buys 120 baskets at EUR 95. Turnover is EUR 11,400, up 14%; gross profit is EUR 5,400, up 8%. The percentage margin falls while gross profit in euros rises.
At these assumptions, turnover breaks even at 100/95 - 1 = 5.3% more volume. Gross profit breaks even at 50/45 - 1 = 11.1% more volume. Actual cost, mix and support change those thresholds. A stock build alone does not validate the intended market response.
The second route to revenue remains selective increases on retained business where supported. Neither a reduction nor an increase guarantees a better result; evaluate net parts billed and gross-profit euros separately.
Transition: The following cases show why it can be worth supporting a wider relationship, repair or vehicle proposition rather than treating every part in isolation.
[Sources]
- Illustrative inputs and arithmetic retained from the existing presentation: net price EUR 100 to EUR 95; volume 100 to 120; unit cost EUR 50; no measured elasticity is implied.
- Management instructions in this conversation, September 2026: replace price classes as the automatic selling-margin rule; no universal 8% ceiling; distributor-led competitiveness; win and retain maintenance relationships; targeted repair-package support. AIM name and first-person credit approved in this conversation.
- ISZE business and operations Masters, 19 September 2026: ISZE sells to distributors; distributor purchases measure stocking decisions, not direct end-customer demand. ITUK/IUK and UTI/UMI are separate businesses.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operator-licensing opportunity is repeated contact with the truck's condition and its repair needs. It is not a legal requirement to buy Isuzu parts. The normal safety-inspection range in the cited guidance is 4-13 weeks, with frequency set for the operation and vehicle. The diagram is a conceptual cycle, not a calculation of parts demand.
The cited Driver and Vehicle Standards Agency guidance applies to Great Britain. Safety inspections are distinct from routine servicing. Operators may use their own or contracted maintenance providers, and an inspection does not automatically produce a full parts order or an Isuzu dealer visit.
This distinction supports the commercial argument: work is available to be won, not guaranteed. The ITUK opportunity is to make the genuine-parts offer attractive for the necessary work and the associated maintenance relationship. Do not blend this case with IUK's pickup fleet.
Transition: The strategic objective is not a cheaper pad kit. It is the maintenance relationship and more of the parts used within it.
[Sources]
- Driver and Vehicle Standards Agency, Guide to maintaining roadworthiness: commercial goods and passenger carrying vehicles, sections 4 and 5. https://www.gov.uk/government/publications/guide-to-maintaining-roadworthiness/guide-to-maintaining-roadworthiness-commercial-goods-and-passenger-carrying-vehicles. Official page checked 20 September 2026; applies to England, Scotland and Wales. Normal safety-inspection range 4-13 weeks; inspection and routine servicing are distinct.
- Management instructions in this conversation, September 2026: replace price classes as the automatic selling-margin rule; no universal 8% ceiling; distributor-led competitiveness; win and retain maintenance relationships; targeted repair-package support. AIM name and first-person credit approved in this conversation.
- Pictograms: Font Awesome Free, Fonticons, Inc., CC BY 4.0. https://fontawesome.com/license/free. Reused from the repaired presentation as directly embedded high-resolution PNGs; colours and backgrounds adapted.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strategic objective is to win and retain the operator's maintenance business and supply more of the parts used within it. This is management's explicitly endorsed commercial objective.
ISZE gives ITUK targeted room on the parts that influence the offer. ITUK uses that room to support its dealers. Dealers compete for the maintenance account and supply the work. A retained relationship can produce repeated work, a broader genuine-parts purchase basket and replenishment orders from ITUK to ISZE. The return arrow describes this intended repeat-business sequence, not an enforced downstream price pass-through.
There are two routes: win accounts not currently maintained by the network, and supply more genuine parts within accounts already maintained. Selective support can mean holding or restraining an increase as well as making a reduction. Keep other prices firm where further support is unnecessary. Availability and execution still matter.
Do not count workshop labour or vehicle sales as ISZE parts turnover. Measure sustained net purchases and gross profit, checking sales to dealer and inventory where available.
Transition: In Israel the wider business at stake is different: it is the complete collision-repair order.
[Sources]
- Management instructions in this conversation, September 2026: replace price classes as the automatic selling-margin rule; no universal 8% ceiling; distributor-led competitiveness; win and retain maintenance relationships; targeted repair-package support. AIM name and first-person credit approved in this conversation.
- ISZE business and operations Masters, 19 September 2026: ISZE sells to distributors; distributor purchases measure stocking decisions, not direct end-customer demand. ITUK/IUK and UTI/UMI are separate businesses.
- Pictograms: Font Awesome Free, Fonticons, Inc., CC BY 4.0. https://fontawesome.com/license/free. Reused from the repaired presentation as directly embedded high-resolution PNGs; colours and backgrounds adapted.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UTI reports that high collision-part costs can weaken the genuine-parts repair offer and create insurance-cost concerns. The proposed response is targeted flexibility on the parts or package that influence the complete quotation, rather than preserving the usual lamp margin regardless of its wider effect.
The condition matters: support must affect the relevant repair quotation to influence the insurer or repairer's choice. A modest blanket lamp reduction may not materially change the whole estimate. A list adjustment, specific distributor support or a conditional arrangement are options to assess, not approved instruments on this slide.
This is a reported commercial risk, not measured lost sales. The applicable total-loss clause for heavier UTI trucks has not been established in the supplied material and no actual repair lost because of our price is recorded. No light-vehicle insurance percentage is applied to these trucks, and no claim of legislation unique to Israel is made.
Do not derive ISZE saved-repair gross profit by applying our billed margin to a downstream insurer quotation. UTI and UMI remain separate.
Transition: The battery decision illustrates the same principle of evaluating one component against the wider vehicle proposition.
[Sources]
- Pricing Master: PRICING_ANSWERS_FOR_FEEDBACK_2026-09-19.md and PRICING_DECK_CORRECTIONS_2026-09-19.md, internal management-supplied notes. Underlying price records and supplier attachments were not independently reopened for this presentation.
- Management instructions in this conversation, September 2026: replace price classes as the automatic selling-margin rule; no universal 8% ceiling; distributor-led competitiveness; win and retain maintenance relationships; targeted repair-package support. AIM name and first-person credit approved in this conversation.
- Truck photograph: user-provided original cover visual, reused from the existing presentation. Representative image only; no model-specific fitment or Israeli specification is inferred.
- Pictograms: Font Awesome Free, Fonticons, Inc., CC BY 4.0. https://fontawesome.com/license/free. Reused from the repaired presentation as directly embedded high-resolution PNGs; colours and backgrounds adapted.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Management reports that an expensive replacement battery was reduced to a 1% margin in response to insurance-cost concerns for a battery-electric vehicle. The number is attributed on the face of the slide, not independently verified from purchase and sales records.
The commercial lesson is to assess the wider vehicle proposition before insisting on a normal percentage margin on one component. This is an exceptional case, not the standard margin for batteries or another whole family, and it does not prove that the same adjustment solves UTI's collision concern.
The vehicle model, market, effective decision date, whose margin the 1% represents and the cost basis have not been supplied. These should be confirmed before using the percentage as an approved financial benchmark. No reduction in insurance premiums, gain in sales or saved repair is claimed.
Transition: These cases justify a selective first application, with clear measurement rather than a broad untested reduction.
[Sources]
- Management instructions in this conversation, September 2026: replace price classes as the automatic selling-margin rule; no universal 8% ceiling; distributor-led competitiveness; win and retain maintenance relationships; targeted repair-package support. AIM name and first-person credit approved in this conversation.
- Management statement in this conversation: the replacement battery price was reduced to a 1% margin because of insurance amounts. The precise accounting basis and measured outcome are not supplied.
- Pictograms: Font Awesome Free, Fonticons, Inc., CC BY 4.0. https://fontawesome.com/license/free. Reused from the repaired presentation as directly embedded high-resolution PNGs; colours and backgrounds adapted.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defined commercial cases, not the entire price list. ITUK maintenance accounts and UTI collision quotations have different objectives and should remain separately scoped.
Name the relevant parts, the offer they influence and the business intended to be won or retained. Agree the action and the appropriate support with the distributor; do not assume every part in a family requires the same treatment. Confirm cost, commercial evidence, availability and the proposed purchasing response before approving the price.
Check comparable periods, net price after support, actual cost and the breadth of repeated purchases. Sales to dealer and stock information help distinguish sustained business from an initial stocking decision. Keep gross-profit euros visible alongside turnover.
This is a proposed first application, not a statement that the cases are fully evidenced or that the source companies have agreed support.
Transition: Management is being asked to approve the approach and the controlled first application, with final prices signed off separately.
[Sources]
- Pricing Master: PRICING_ANSWERS_FOR_FEEDBACK_2026-09-19.md and PRICING_DECK_CORRECTIONS_2026-09-19.md, internal management-supplied notes. Underlying price records and supplier attachments were not independently reopened for this presentation.
- Management instructions in this conversation, September 2026: replace price classes as the automatic selling-margin rule; no universal 8% ceiling; distributor-led competitiveness; win and retain maintenance relationships; targeted repair-package support. AIM name and first-person credit approved in this conversation.
- ISZE business and operations Masters, 19 September 2026: ISZE sells to distributors; distributor purchases measure stocking decisions, not direct end-customer demand. ITUK/IUK and UTI/UMI are separate businesses.
- Pictograms: Font Awesome Free, Fonticons, Inc., CC BY 4.0. https://fontawesome.com/license/free. Reused from the repaired presentation as directly embedded high-resolution PNGs; colours and backgrounds adapted.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Approve the pricing method and a selective first application. Replace the automatic price-class margin with a decision informed by part identity, competitive evidence, distributor room and ISZE's net economics.
Approve selective flexibility in both directions: support competitiveness where necessary, hold appropriate prices and allow justified increases or exceptions. This is not a blanket discount programme. The absence of a universal 8% cap is already management direction, but evidence and appropriate authority remain essential for larger moves.
Final objective, markets, parts, support, costs, timing and approval authority remain release decisions. No authority threshold or overall increase is invented. The presentation itself changes no price list.
Conclude: More precise prices should help our distributors win the right business, preserve the business worth retaining and avoid unnecessary concessions elsewhere.
The management presentation ends here. The following five slides are supporting reference material for questions.
[Sources]
- Management instructions in this conversation, September 2026: replace price classes as the automatic selling-margin rule; no universal 8% ceiling; distributor-led competitiveness; win and retain maintenance relationships; targeted repair-package support. AIM name and first-person credit approved in this conversation.
- Pricing Master: PRICING_ANSWERS_FOR_FEEDBACK_2026-09-19.md and PRICING_DECK_CORRECTIONS_2026-09-19.md, internal management-supplied notes. Underlying price records and supplier attachments were not independently reopened for this presentation.
- Pictograms: Font Awesome Free, Fonticons, Inc., CC BY 4.0. https://fontawesome.com/license/free. Reused from the repaired presentation as directly embedded high-resolution PNGs; colours and backgrounds adapted.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 These are outputs of the historical formula applied to three cost bases, not actual future price recommendations. All use JPY 16,370. Cost = base / corporate exchange rate x share paid. Historical Class C price = cost / 0.47 and Class V price = cost / 0.55. Intermediate calculations are not rounded.
At 163.7 and share paid 0.620: cost EUR 62.00; C EUR 131.91; V EUR 112.73. At 172.6 and share paid 0.673: cost EUR 63.83; C EUR 135.81; V EUR 116.05. At 178.5 and share paid 0.673: cost EUR 61.72; C EUR 131.32; V EUR 112.22.
The list construction basis does not imply that old purchasing terms applied for the whole October-March period: Japan terms changed on 5 January. In September 2026, the October rate is announced, not yet effective. Thailand currency applicability remains unresolved and is not inferred.
[Sources]
- Pricing Master: PRICING_ANSWERS_FOR_FEEDBACK_2026-09-19.md and PRICING_DECK_CORRECTIONS_2026-09-19.md, internal management-supplied notes. Underlying price records and supplier attachments were not independently reopened for this presentation.
- Arithmetic from the explicitly stated illustrative inputs; no spot exchange rate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 This illustrates the range of observed offers, not a direct wholesale-versus-retail pricing gap. The supplied Eucon / PartsPool batch of 29 March 2026 reports 42 listings linked to part 8975546610: Rap Brakes EUR 17.09 at the low end, a median EUR 58.09 and Pagid EUR 213.40 at the high end. The 2026 Price Master ISZE list reference is EUR 82.25.
The sources cover Germany and Norway without assigning each displayed endpoint to a country here. Brand tier, product equivalence, contents, availability, tax, currency and transaction level must be checked. A median is not one specific competitor quote and the lowest price is not automatically the correct benchmark.
No percentage gap, cost-floor result or price reduction is calculated from these mixed transaction levels. The example does not establish the cost of a current approved ISZE offer.
[Sources]
- Pricing Master: PRICING_ANSWERS_FOR_FEEDBACK_2026-09-19.md and PRICING_DECK_CORRECTIONS_2026-09-19.md, internal management-supplied notes. Underlying price records and supplier attachments were not independently reopened for this presentation.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 The UK maintenance principle is clear, but price approval needs the proposed offer, maintenance-account opportunity, actual net economics and a credible purchasing commitment. Named support requests do not prove an approved price or a measured response.
For UTI, obtain the heavier-truck insurance wording and an actual quotation at risk. Establish whether support affects the price considered by the insurer or repairer. Do not apply a light-vehicle threshold or claim a saved-repair value before those facts are established.
For the battery precedent, confirm model, market, decision date, whose margin and cost basis. The 1% is management-reported. No effect on premiums or sales is established.
These are practical requirements for individual price approval, not conditions for reopening the agreed strategic direction.
[Sources]
- Pricing Master: PRICING_ANSWERS_FOR_FEEDBACK_2026-09-19.md and PRICING_DECK_CORRECTIONS_2026-09-19.md, internal management-supplied notes. Underlying price records and supplier attachments were not independently reopened for this presentation.
- Management instructions in this conversation, September 2026: replace price classes as the automatic selling-margin rule; no universal 8% ceiling; distributor-led competitiveness; win and retain maintenance relationships; targeted repair-package support. AIM name and first-person credit approved in this conversation.
- Driver and Vehicle Standards Agency, Guide to maintaining roadworthiness: commercial goods and passenger carrying vehicles, sections 4 and 5. https://www.gov.uk/government/publications/guide-to-maintaining-roadworthiness/guide-to-maintaining-roadworthiness-commercial-goods-and-passenger-carrying-vehicles. Official page checked 20 September 2026; applies to England, Scotland and Wales. Normal safety-inspection range 4-13 weeks; inspection and routine servicing are distinct.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 Preserve decisions already made: replace price classes as the automatic margin rule; no universal 8% cap; keep existing Class T prices unchanged while its historical discrepancy remains deferred.
The Class T source records a configured 20% margin and a median 40% formula margin in the issued 2026 Price Master. Those are different bases and this presentation neither reconciles them nor changes current prices.
The September corporate-rate position is retained: 172.6 JPY/EUR applies in April-September; 178.5 is announced for October-March. Source notes disagree about whether the next currency treatment covers Thailand. The main example is therefore Japan-only.
AIM functional identity is available; the separate commercial scoring and remaining part-level evidence are not assumed complete. Final price scope, support, cost checks and authority remain to be approved.
[Sources]
- Pricing Master: PRICING_ANSWERS_FOR_FEEDBACK_2026-09-19.md and PRICING_DECK_CORRECTIONS_2026-09-19.md, internal management-supplied notes. Underlying price records and supplier attachments were not independently reopened for this presentation.
- AIM Master: ISZE_AIM_Classification_Paper.html, supplied internal paper, 18 September 2026; sections 1-3 and 8-10. Original description-based mapping, independent checks, revised functional identity, and remaining commercial-assessment work.
- Management instructions in this conversation, September 2026: replace price classes as the automatic selling-margin rule; no universal 8% ceiling; distributor-led competitiveness; win and retain maintenance relationships; targeted repair-package support. AIM name and first-person credit approved in this conversation.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 The original hierarchy had Commercial family / System group / Part type, assigned by description-based mapping. The revised design separates commercial judgement from functional identity. The main-slide brake example comes from the Pricing Master: Brakes / Pads &amp; Shoes / Brake Pad Kit.
Catalogue figure references and customs codes are independent consistency checks, not equivalent classification standards or guaranteed proof of correctness. The part number is a joining identifier. Price is commercial context, not documented as an input to the original identity rule.
The functional identity structure is live in the supplied Master. The separate per-part/per-market commercial score is its next step. EQ-Hit remains unpopulated in that source, and physical attributes are deferred. A later implementation state is not assumed.
The AIM name and first-person ownership statement were approved by management after the source paper was written. The full name is introduced only on the first AIM slide.
All visible pictograms are directly embedded PNGs, not SVG fallback objects or remote image links.
[Sources]
- AIM Master: ISZE_AIM_Classification_Paper.html, supplied internal paper, 18 September 2026; sections 1-3 and 8-10. Original description-based mapping, independent checks, revised functional identity, and remaining commercial-assessment work.
- Pricing Master: PRICING_ANSWERS_FOR_FEEDBACK_2026-09-19.md and PRICING_DECK_CORRECTIONS_2026-09-19.md, internal management-supplied notes. Underlying price records and supplier attachments were not independently reopened for this presentation.
- Management instructions in this conversation, September 2026: replace price classes as the automatic selling-margin rule; no universal 8% ceiling; distributor-led competitiveness; win and retain maintenance relationships; targeted repair-package support. AIM name and first-person credit approved in this conversation.
- Pictograms: Font Awesome Free, Fonticons, Inc., CC BY 4.0. https://fontawesome.com/license/free. Reused from the repaired presentation as directly embedded high-resolution PNGs; colours and backgrounds adapted.
- Truck photograph: user-provided original cover visual, reused from the existing presentation. Representative image only; no model-specific fitment or Israeli specification is inferred.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32C"/>
        </a:solidFill>
      </p:bgPr>
    </p:bg>
    <p:spTree>
      <p:nvGrpSpPr>
        <p:cNvPr id="1" name=""/>
        <p:cNvGrpSpPr/>
        <p:nvPr/>
      </p:nvGrpSpPr>
      <p:grpSpPr>
        <a:xfrm>
          <a:off x="0" y="0"/>
          <a:ext cx="0" cy="0"/>
          <a:chOff x="0" y="0"/>
          <a:chExt cx="0" cy="0"/>
        </a:xfrm>
      </p:grpSpPr>
      <p:pic>
        <p:nvPicPr>
          <p:cNvPr id="2" name="Image 0" descr="Presentation pictogram">    </p:cNvPr>
          <p:cNvPicPr>
            <a:picLocks noChangeAspect="1"/>
          </p:cNvPicPr>
          <p:nvPr/>
        </p:nvPicPr>
        <p:blipFill>
          <a:blip r:embed="rId1"/>
          <a:stretch>
            <a:fillRect/>
          </a:stretch>
        </p:blipFill>
        <p:spPr>
          <a:xfrm>
            <a:off x="6812280" y="0"/>
            <a:ext cx="5379720" cy="6858000"/>
          </a:xfrm>
          <a:prstGeom prst="rect">
            <a:avLst/>
          </a:prstGeom>
        </p:spPr>
      </p:pic>
      <p:sp>
        <p:nvSpPr>
          <p:cNvPr id="3" name="Shape 0"/>
          <p:cNvSpPr/>
          <p:nvPr/>
        </p:nvSpPr>
        <p:spPr>
          <a:xfrm>
            <a:off x="0" y="0"/>
            <a:ext cx="6812280" cy="6858000"/>
          </a:xfrm>
          <a:prstGeom prst="rect">
            <a:avLst/>
          </a:prstGeom>
          <a:solidFill>
            <a:srgbClr val="17232C"/>
          </a:solidFill>
          <a:ln w="12700">
            <a:solidFill>
              <a:srgbClr val="17232C">
                <a:alpha val="0"/>
              </a:srgbClr>
            </a:solidFill>
            <a:prstDash val="solid"/>
          </a:ln>
        </p:spPr>
      </p:sp>
      <p:sp>
        <p:nvSpPr>
          <p:cNvPr id="4" name="Text 1"/>
          <p:cNvSpPr txBox="1"/>
          <p:nvPr/>
        </p:nvSpPr>
        <p:spPr>
          <a:xfrm>
            <a:off x="530352" y="384048"/>
            <a:ext cx="1645920" cy="40233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900" b="1" dirty="0">
                <a:solidFill>
                  <a:srgbClr val="ED0016"/>
                </a:solidFill>
                <a:latin typeface="Arial" pitchFamily="34" charset="0"/>
                <a:ea typeface="Arial" pitchFamily="34" charset="-122"/>
                <a:cs typeface="Arial" pitchFamily="34" charset="-120"/>
              </a:rPr>
              <a:t>ISUZU</a:t>
            </a:r>
            <a:endParaRPr lang="en-US" sz="2900" dirty="0"/>
          </a:p>
        </p:txBody>
      </p:sp>
      <p:sp>
        <p:nvSpPr>
          <p:cNvPr id="5" name="Text 2"/>
          <p:cNvSpPr txBox="1"/>
          <p:nvPr/>
        </p:nvSpPr>
        <p:spPr>
          <a:xfrm>
            <a:off x="530352" y="1161288"/>
            <a:ext cx="5669280" cy="21031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200" b="1" spc="150" kern="0" dirty="0">
                <a:solidFill>
                  <a:srgbClr val="C8D1D7"/>
                </a:solidFill>
                <a:latin typeface="Arial" pitchFamily="34" charset="0"/>
                <a:ea typeface="Arial" pitchFamily="34" charset="-122"/>
                <a:cs typeface="Arial" pitchFamily="34" charset="-120"/>
              </a:rPr>
              <a:t>ISUZU MOTORS EUROPE</a:t>
            </a:r>
            <a:endParaRPr lang="en-US" sz="1200" dirty="0"/>
          </a:p>
        </p:txBody>
      </p:sp>
      <p:sp>
        <p:nvSpPr>
          <p:cNvPr id="6" name="Text 3"/>
          <p:cNvSpPr txBox="1"/>
          <p:nvPr/>
        </p:nvSpPr>
        <p:spPr>
          <a:xfrm>
            <a:off x="530352" y="1883664"/>
            <a:ext cx="5925312" cy="154533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4900" b="1" dirty="0">
                <a:solidFill>
                  <a:srgbClr val="FFFFFF"/>
                </a:solidFill>
                <a:latin typeface="Arial" pitchFamily="34" charset="0"/>
                <a:ea typeface="Arial" pitchFamily="34" charset="-122"/>
                <a:cs typeface="Arial" pitchFamily="34" charset="-120"/>
              </a:rPr>
              <a:t>Parts pricing</a:t>
            </a:r>
            <a:endParaRPr lang="en-US" sz="4900" dirty="0"/>
          </a:p>
          <a:p>
            <a:pPr algn="l" indent="0" marL="0">
              <a:buNone/>
            </a:pPr>
            <a:r>
              <a:rPr lang="en-US" sz="4900" b="1" dirty="0">
                <a:solidFill>
                  <a:srgbClr val="FFFFFF"/>
                </a:solidFill>
                <a:latin typeface="Arial" pitchFamily="34" charset="0"/>
                <a:ea typeface="Arial" pitchFamily="34" charset="-122"/>
                <a:cs typeface="Arial" pitchFamily="34" charset="-120"/>
              </a:rPr>
              <a:t>policy</a:t>
            </a:r>
            <a:endParaRPr lang="en-US" sz="4900" dirty="0"/>
          </a:p>
        </p:txBody>
      </p:sp>
      <p:sp>
        <p:nvSpPr>
          <p:cNvPr id="7" name="Text 4"/>
          <p:cNvSpPr txBox="1"/>
          <p:nvPr/>
        </p:nvSpPr>
        <p:spPr>
          <a:xfrm>
            <a:off x="530352" y="3703320"/>
            <a:ext cx="5925312" cy="89611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500" dirty="0">
                <a:solidFill>
                  <a:srgbClr val="C8D1D7"/>
                </a:solidFill>
                <a:latin typeface="Arial" pitchFamily="34" charset="0"/>
                <a:ea typeface="Arial" pitchFamily="34" charset="-122"/>
                <a:cs typeface="Arial" pitchFamily="34" charset="-120"/>
              </a:rPr>
              <a:t>From price classes</a:t>
            </a:r>
            <a:endParaRPr lang="en-US" sz="2500" dirty="0"/>
          </a:p>
          <a:p>
            <a:pPr algn="l" indent="0" marL="0">
              <a:buNone/>
            </a:pPr>
            <a:r>
              <a:rPr lang="en-US" sz="2500" dirty="0">
                <a:solidFill>
                  <a:srgbClr val="C8D1D7"/>
                </a:solidFill>
                <a:latin typeface="Arial" pitchFamily="34" charset="0"/>
                <a:ea typeface="Arial" pitchFamily="34" charset="-122"/>
                <a:cs typeface="Arial" pitchFamily="34" charset="-120"/>
              </a:rPr>
              <a:t>to part-level market pricing</a:t>
            </a:r>
            <a:endParaRPr lang="en-US" sz="2500" dirty="0"/>
          </a:p>
        </p:txBody>
      </p:sp>
      <p:sp>
        <p:nvSpPr>
          <p:cNvPr id="8" name="Shape 5"/>
          <p:cNvSpPr/>
          <p:nvPr/>
        </p:nvSpPr>
        <p:spPr>
          <a:xfrm>
            <a:off x="530352" y="5010912"/>
            <a:ext cx="3383280" cy="50292"/>
          </a:xfrm>
          <a:prstGeom prst="rect">
            <a:avLst/>
          </a:prstGeom>
          <a:solidFill>
            <a:srgbClr val="ED0016"/>
          </a:solidFill>
          <a:ln w="12700">
            <a:solidFill>
              <a:srgbClr val="ED0016">
                <a:alpha val="0"/>
              </a:srgbClr>
            </a:solidFill>
            <a:prstDash val="solid"/>
          </a:ln>
        </p:spPr>
      </p:sp>
      <p:sp>
        <p:nvSpPr>
          <p:cNvPr id="9" name="Text 6"/>
          <p:cNvSpPr txBox="1"/>
          <p:nvPr/>
        </p:nvSpPr>
        <p:spPr>
          <a:xfrm>
            <a:off x="530352" y="5349240"/>
            <a:ext cx="5852160"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700" b="1" dirty="0">
                <a:solidFill>
                  <a:srgbClr val="FFFFFF"/>
                </a:solidFill>
                <a:latin typeface="Arial" pitchFamily="34" charset="0"/>
                <a:ea typeface="Arial" pitchFamily="34" charset="-122"/>
                <a:cs typeface="Arial" pitchFamily="34" charset="-120"/>
              </a:rPr>
              <a:t>Management information and approval</a:t>
            </a:r>
            <a:endParaRPr lang="en-US" sz="1700" dirty="0"/>
          </a:p>
        </p:txBody>
      </p:sp>
      <p:sp>
        <p:nvSpPr>
          <p:cNvPr id="10" name="Text 7"/>
          <p:cNvSpPr txBox="1"/>
          <p:nvPr/>
        </p:nvSpPr>
        <p:spPr>
          <a:xfrm>
            <a:off x="530352" y="5833872"/>
            <a:ext cx="5852160"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380" dirty="0">
                <a:solidFill>
                  <a:srgbClr val="C8D1D7"/>
                </a:solidFill>
                <a:latin typeface="Arial" pitchFamily="34" charset="0"/>
                <a:ea typeface="Arial" pitchFamily="34" charset="-122"/>
                <a:cs typeface="Arial" pitchFamily="34" charset="-120"/>
              </a:rPr>
              <a:t>Version 1.4  |  September 2026</a:t>
            </a:r>
            <a:endParaRPr lang="en-US" sz="1380" dirty="0"/>
          </a:p>
        </p:txBody>
      </p:sp>
      <p:sp>
        <p:nvSpPr>
          <p:cNvPr id="11" name="Text 8"/>
          <p:cNvSpPr txBox="1"/>
          <p:nvPr/>
        </p:nvSpPr>
        <p:spPr>
          <a:xfrm>
            <a:off x="530352" y="6355080"/>
            <a:ext cx="5897880" cy="20116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970" dirty="0">
                <a:solidFill>
                  <a:srgbClr val="C8D1D7"/>
                </a:solidFill>
                <a:latin typeface="Arial" pitchFamily="34" charset="0"/>
                <a:ea typeface="Arial" pitchFamily="34" charset="-122"/>
                <a:cs typeface="Arial" pitchFamily="34" charset="-120"/>
              </a:rPr>
              <a:t>Proposed policy. Final price decisions remain subject to approval.</a:t>
            </a:r>
            <a:endParaRPr lang="en-US" sz="970" dirty="0"/>
          </a:p>
        </p:txBody>
      </p:sp>
    </p:spTree>
  </p:cSld>
  <p:clrMapOvr>
    <a:masterClrMapping/>
  </p:clrMapOvr>
  <p:transition spd="fast" advClick="1">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30352" y="301752"/>
            <a:ext cx="950976"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000" b="1" dirty="0">
                <a:solidFill>
                  <a:srgbClr val="ED0016"/>
                </a:solidFill>
                <a:latin typeface="Arial" pitchFamily="34" charset="0"/>
                <a:ea typeface="Arial" pitchFamily="34" charset="-122"/>
                <a:cs typeface="Arial" pitchFamily="34" charset="-120"/>
              </a:rPr>
              <a:t>ISUZU</a:t>
            </a:r>
            <a:endParaRPr lang="en-US" sz="2000" dirty="0"/>
          </a:p>
        </p:txBody>
      </p:sp>
      <p:sp>
        <p:nvSpPr>
          <p:cNvPr id="3" name="Text 1"/>
          <p:cNvSpPr txBox="1"/>
          <p:nvPr/>
        </p:nvSpPr>
        <p:spPr>
          <a:xfrm>
            <a:off x="1856232" y="347472"/>
            <a:ext cx="9418320" cy="16459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980" b="1" spc="145" kern="0" dirty="0">
                <a:solidFill>
                  <a:srgbClr val="687782"/>
                </a:solidFill>
                <a:latin typeface="Arial" pitchFamily="34" charset="0"/>
                <a:ea typeface="Arial" pitchFamily="34" charset="-122"/>
                <a:cs typeface="Arial" pitchFamily="34" charset="-120"/>
              </a:rPr>
              <a:t>THE COMMERCIAL CASE</a:t>
            </a:r>
            <a:endParaRPr lang="en-US" sz="980" dirty="0"/>
          </a:p>
        </p:txBody>
      </p:sp>
      <p:sp>
        <p:nvSpPr>
          <p:cNvPr id="4" name="Text 2"/>
          <p:cNvSpPr txBox="1"/>
          <p:nvPr/>
        </p:nvSpPr>
        <p:spPr>
          <a:xfrm>
            <a:off x="530352" y="960120"/>
            <a:ext cx="11131296" cy="76809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3020" b="1" dirty="0">
                <a:solidFill>
                  <a:srgbClr val="17232C"/>
                </a:solidFill>
                <a:latin typeface="Arial" pitchFamily="34" charset="0"/>
                <a:ea typeface="Arial" pitchFamily="34" charset="-122"/>
                <a:cs typeface="Arial" pitchFamily="34" charset="-120"/>
              </a:rPr>
              <a:t>Higher turnover starts with stronger distributor offers.</a:t>
            </a:r>
            <a:endParaRPr lang="en-US" sz="3020" dirty="0"/>
          </a:p>
        </p:txBody>
      </p:sp>
      <p:sp>
        <p:nvSpPr>
          <p:cNvPr id="5" name="Text 3"/>
          <p:cNvSpPr txBox="1"/>
          <p:nvPr/>
        </p:nvSpPr>
        <p:spPr>
          <a:xfrm>
            <a:off x="530352" y="1783080"/>
            <a:ext cx="11131296" cy="46634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630" dirty="0">
                <a:solidFill>
                  <a:srgbClr val="687782"/>
                </a:solidFill>
                <a:latin typeface="Arial" pitchFamily="34" charset="0"/>
                <a:ea typeface="Arial" pitchFamily="34" charset="-122"/>
                <a:cs typeface="Arial" pitchFamily="34" charset="-120"/>
              </a:rPr>
              <a:t>Pricing should help the network compete, retain relationships and earn appropriately.</a:t>
            </a:r>
            <a:endParaRPr lang="en-US" sz="1630" dirty="0"/>
          </a:p>
        </p:txBody>
      </p:sp>
      <p:sp>
        <p:nvSpPr>
          <p:cNvPr id="6" name="Shape 4"/>
          <p:cNvSpPr/>
          <p:nvPr/>
        </p:nvSpPr>
        <p:spPr>
          <a:xfrm>
            <a:off x="530352" y="6382512"/>
            <a:ext cx="11131296" cy="0"/>
          </a:xfrm>
          <a:prstGeom prst="line">
            <a:avLst/>
          </a:prstGeom>
          <a:solidFill>
            <a:srgbClr val="FFFFFF">
              <a:alpha val="0"/>
            </a:srgbClr>
          </a:solidFill>
          <a:ln w="8890">
            <a:solidFill>
              <a:srgbClr val="DCE3E8"/>
            </a:solidFill>
            <a:prstDash val="solid"/>
          </a:ln>
        </p:spPr>
      </p:sp>
      <p:sp>
        <p:nvSpPr>
          <p:cNvPr id="7" name="Text 5"/>
          <p:cNvSpPr txBox="1"/>
          <p:nvPr/>
        </p:nvSpPr>
        <p:spPr>
          <a:xfrm>
            <a:off x="530352" y="6483096"/>
            <a:ext cx="10216896" cy="16459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810" dirty="0">
                <a:solidFill>
                  <a:srgbClr val="687782"/>
                </a:solidFill>
                <a:latin typeface="Arial" pitchFamily="34" charset="0"/>
                <a:ea typeface="Arial" pitchFamily="34" charset="-122"/>
                <a:cs typeface="Arial" pitchFamily="34" charset="-120"/>
              </a:rPr>
              <a:t>Source: Pricing Master and management policy. Detailed basis in speaker notes.</a:t>
            </a:r>
            <a:endParaRPr lang="en-US" sz="810" dirty="0"/>
          </a:p>
        </p:txBody>
      </p:sp>
      <p:sp>
        <p:nvSpPr>
          <p:cNvPr id="8" name="Text 6"/>
          <p:cNvSpPr txBox="1"/>
          <p:nvPr/>
        </p:nvSpPr>
        <p:spPr>
          <a:xfrm>
            <a:off x="10856976" y="6469380"/>
            <a:ext cx="804672" cy="21031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r" indent="0" marL="0">
              <a:buNone/>
            </a:pPr>
            <a:r>
              <a:rPr lang="en-US" sz="910" dirty="0">
                <a:solidFill>
                  <a:srgbClr val="687782"/>
                </a:solidFill>
                <a:latin typeface="Arial" pitchFamily="34" charset="0"/>
                <a:ea typeface="Arial" pitchFamily="34" charset="-122"/>
                <a:cs typeface="Arial" pitchFamily="34" charset="-120"/>
              </a:rPr>
              <a:t>v1.4  |  02</a:t>
            </a:r>
            <a:endParaRPr lang="en-US" sz="910" dirty="0"/>
          </a:p>
        </p:txBody>
      </p:sp>
      <p:sp>
        <p:nvSpPr>
          <p:cNvPr id="9" name="Shape 7"/>
          <p:cNvSpPr/>
          <p:nvPr/>
        </p:nvSpPr>
        <p:spPr>
          <a:xfrm>
            <a:off x="530352" y="2523744"/>
            <a:ext cx="658368" cy="658368"/>
          </a:xfrm>
          <a:prstGeom prst="ellipse">
            <a:avLst/>
          </a:prstGeom>
          <a:solidFill>
            <a:srgbClr val="FBEDEF"/>
          </a:solidFill>
          <a:ln w="12700">
            <a:solidFill>
              <a:srgbClr val="FBEDEF">
                <a:alpha val="0"/>
              </a:srgbClr>
            </a:solidFill>
            <a:prstDash val="solid"/>
          </a:ln>
        </p:spPr>
      </p:sp>
      <p:pic>
        <p:nvPicPr>
          <p:cNvPr id="10" name="Image 0" descr="Presentation pictogram">    </p:cNvPr>
          <p:cNvPicPr>
            <a:picLocks noChangeAspect="1"/>
          </p:cNvPicPr>
          <p:nvPr/>
        </p:nvPicPr>
        <p:blipFill>
          <a:blip r:embed="rId1"/>
          <a:stretch>
            <a:fillRect/>
          </a:stretch>
        </p:blipFill>
        <p:spPr>
          <a:xfrm>
            <a:off x="681777" y="2675169"/>
            <a:ext cx="355519" cy="355519"/>
          </a:xfrm>
          <a:prstGeom prst="rect">
            <a:avLst/>
          </a:prstGeom>
        </p:spPr>
      </p:pic>
      <p:sp>
        <p:nvSpPr>
          <p:cNvPr id="11" name="Text 8"/>
          <p:cNvSpPr txBox="1"/>
          <p:nvPr/>
        </p:nvSpPr>
        <p:spPr>
          <a:xfrm>
            <a:off x="530352" y="3364992"/>
            <a:ext cx="3163824" cy="36576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100" b="1" dirty="0">
                <a:solidFill>
                  <a:srgbClr val="17232C"/>
                </a:solidFill>
                <a:latin typeface="Arial" pitchFamily="34" charset="0"/>
                <a:ea typeface="Arial" pitchFamily="34" charset="-122"/>
                <a:cs typeface="Arial" pitchFamily="34" charset="-120"/>
              </a:rPr>
              <a:t>Compete</a:t>
            </a:r>
            <a:endParaRPr lang="en-US" sz="2100" dirty="0"/>
          </a:p>
        </p:txBody>
      </p:sp>
      <p:sp>
        <p:nvSpPr>
          <p:cNvPr id="12" name="Text 9"/>
          <p:cNvSpPr txBox="1"/>
          <p:nvPr/>
        </p:nvSpPr>
        <p:spPr>
          <a:xfrm>
            <a:off x="530352" y="3886200"/>
            <a:ext cx="3163824" cy="1051560"/>
          </a:xfrm>
          <a:prstGeom prst="rect">
            <a:avLst/>
          </a:prstGeom>
          <a:solidFill>
            <a:srgbClr val="FFFFFF">
              <a:alpha val="0"/>
            </a:srgbClr>
          </a:solidFill>
          <a:ln>
            <a:solidFill>
              <a:srgbClr val="FFFFFF">
                <a:alpha val="0"/>
              </a:srgbClr>
            </a:solidFill>
          </a:ln>
        </p:spPr>
        <p:txBody>
          <a:bodyPr wrap="square" lIns="0" tIns="0" rIns="0" bIns="0" rtlCol="0" anchor="t">
            <a:normAutofit/>
          </a:bodyPr>
          <a:lstStyle/>
          <a:p>
            <a:pPr algn="l" indent="0" marL="0">
              <a:buNone/>
            </a:pPr>
            <a:r>
              <a:rPr lang="en-US" sz="1800" dirty="0">
                <a:solidFill>
                  <a:srgbClr val="687782"/>
                </a:solidFill>
                <a:latin typeface="Arial" pitchFamily="34" charset="0"/>
                <a:ea typeface="Arial" pitchFamily="34" charset="-122"/>
                <a:cs typeface="Arial" pitchFamily="34" charset="-120"/>
              </a:rPr>
              <a:t>Give distributors room to support competitive maintenance and repair offers.</a:t>
            </a:r>
            <a:endParaRPr lang="en-US" sz="1800" dirty="0"/>
          </a:p>
        </p:txBody>
      </p:sp>
      <p:sp>
        <p:nvSpPr>
          <p:cNvPr id="13" name="Shape 10"/>
          <p:cNvSpPr/>
          <p:nvPr/>
        </p:nvSpPr>
        <p:spPr>
          <a:xfrm>
            <a:off x="4416552" y="2523744"/>
            <a:ext cx="658368" cy="658368"/>
          </a:xfrm>
          <a:prstGeom prst="ellipse">
            <a:avLst/>
          </a:prstGeom>
          <a:solidFill>
            <a:srgbClr val="FBEDEF"/>
          </a:solidFill>
          <a:ln w="12700">
            <a:solidFill>
              <a:srgbClr val="FBEDEF">
                <a:alpha val="0"/>
              </a:srgbClr>
            </a:solidFill>
            <a:prstDash val="solid"/>
          </a:ln>
        </p:spPr>
      </p:sp>
      <p:pic>
        <p:nvPicPr>
          <p:cNvPr id="14" name="Image 1" descr="Presentation pictogram">    </p:cNvPr>
          <p:cNvPicPr>
            <a:picLocks noChangeAspect="1"/>
          </p:cNvPicPr>
          <p:nvPr/>
        </p:nvPicPr>
        <p:blipFill>
          <a:blip r:embed="rId2"/>
          <a:stretch>
            <a:fillRect/>
          </a:stretch>
        </p:blipFill>
        <p:spPr>
          <a:xfrm>
            <a:off x="4567977" y="2675169"/>
            <a:ext cx="355519" cy="355519"/>
          </a:xfrm>
          <a:prstGeom prst="rect">
            <a:avLst/>
          </a:prstGeom>
        </p:spPr>
      </p:pic>
      <p:sp>
        <p:nvSpPr>
          <p:cNvPr id="15" name="Text 11"/>
          <p:cNvSpPr txBox="1"/>
          <p:nvPr/>
        </p:nvSpPr>
        <p:spPr>
          <a:xfrm>
            <a:off x="4416552" y="3364992"/>
            <a:ext cx="3163824" cy="36576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100" b="1" dirty="0">
                <a:solidFill>
                  <a:srgbClr val="17232C"/>
                </a:solidFill>
                <a:latin typeface="Arial" pitchFamily="34" charset="0"/>
                <a:ea typeface="Arial" pitchFamily="34" charset="-122"/>
                <a:cs typeface="Arial" pitchFamily="34" charset="-120"/>
              </a:rPr>
              <a:t>Retain</a:t>
            </a:r>
            <a:endParaRPr lang="en-US" sz="2100" dirty="0"/>
          </a:p>
        </p:txBody>
      </p:sp>
      <p:sp>
        <p:nvSpPr>
          <p:cNvPr id="16" name="Text 12"/>
          <p:cNvSpPr txBox="1"/>
          <p:nvPr/>
        </p:nvSpPr>
        <p:spPr>
          <a:xfrm>
            <a:off x="4416552" y="3886200"/>
            <a:ext cx="3163824" cy="1051560"/>
          </a:xfrm>
          <a:prstGeom prst="rect">
            <a:avLst/>
          </a:prstGeom>
          <a:solidFill>
            <a:srgbClr val="FFFFFF">
              <a:alpha val="0"/>
            </a:srgbClr>
          </a:solidFill>
          <a:ln>
            <a:solidFill>
              <a:srgbClr val="FFFFFF">
                <a:alpha val="0"/>
              </a:srgbClr>
            </a:solidFill>
          </a:ln>
        </p:spPr>
        <p:txBody>
          <a:bodyPr wrap="square" lIns="0" tIns="0" rIns="0" bIns="0" rtlCol="0" anchor="t">
            <a:normAutofit/>
          </a:bodyPr>
          <a:lstStyle/>
          <a:p>
            <a:pPr algn="l" indent="0" marL="0">
              <a:buNone/>
            </a:pPr>
            <a:r>
              <a:rPr lang="en-US" sz="1800" dirty="0">
                <a:solidFill>
                  <a:srgbClr val="687782"/>
                </a:solidFill>
                <a:latin typeface="Arial" pitchFamily="34" charset="0"/>
                <a:ea typeface="Arial" pitchFamily="34" charset="-122"/>
                <a:cs typeface="Arial" pitchFamily="34" charset="-120"/>
              </a:rPr>
              <a:t>Win repeat relationships and supply more of the parts used within them.</a:t>
            </a:r>
            <a:endParaRPr lang="en-US" sz="1800" dirty="0"/>
          </a:p>
        </p:txBody>
      </p:sp>
      <p:sp>
        <p:nvSpPr>
          <p:cNvPr id="17" name="Shape 13"/>
          <p:cNvSpPr/>
          <p:nvPr/>
        </p:nvSpPr>
        <p:spPr>
          <a:xfrm>
            <a:off x="8302752" y="2523744"/>
            <a:ext cx="658368" cy="658368"/>
          </a:xfrm>
          <a:prstGeom prst="ellipse">
            <a:avLst/>
          </a:prstGeom>
          <a:solidFill>
            <a:srgbClr val="FBEDEF"/>
          </a:solidFill>
          <a:ln w="12700">
            <a:solidFill>
              <a:srgbClr val="FBEDEF">
                <a:alpha val="0"/>
              </a:srgbClr>
            </a:solidFill>
            <a:prstDash val="solid"/>
          </a:ln>
        </p:spPr>
      </p:sp>
      <p:pic>
        <p:nvPicPr>
          <p:cNvPr id="18" name="Image 2" descr="Presentation pictogram">    </p:cNvPr>
          <p:cNvPicPr>
            <a:picLocks noChangeAspect="1"/>
          </p:cNvPicPr>
          <p:nvPr/>
        </p:nvPicPr>
        <p:blipFill>
          <a:blip r:embed="rId3"/>
          <a:stretch>
            <a:fillRect/>
          </a:stretch>
        </p:blipFill>
        <p:spPr>
          <a:xfrm>
            <a:off x="8454177" y="2675169"/>
            <a:ext cx="355519" cy="355519"/>
          </a:xfrm>
          <a:prstGeom prst="rect">
            <a:avLst/>
          </a:prstGeom>
        </p:spPr>
      </p:pic>
      <p:sp>
        <p:nvSpPr>
          <p:cNvPr id="19" name="Text 14"/>
          <p:cNvSpPr txBox="1"/>
          <p:nvPr/>
        </p:nvSpPr>
        <p:spPr>
          <a:xfrm>
            <a:off x="8302752" y="3364992"/>
            <a:ext cx="3163824" cy="36576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100" b="1" dirty="0">
                <a:solidFill>
                  <a:srgbClr val="17232C"/>
                </a:solidFill>
                <a:latin typeface="Arial" pitchFamily="34" charset="0"/>
                <a:ea typeface="Arial" pitchFamily="34" charset="-122"/>
                <a:cs typeface="Arial" pitchFamily="34" charset="-120"/>
              </a:rPr>
              <a:t>Earn</a:t>
            </a:r>
            <a:endParaRPr lang="en-US" sz="2100" dirty="0"/>
          </a:p>
        </p:txBody>
      </p:sp>
      <p:sp>
        <p:nvSpPr>
          <p:cNvPr id="20" name="Text 15"/>
          <p:cNvSpPr txBox="1"/>
          <p:nvPr/>
        </p:nvSpPr>
        <p:spPr>
          <a:xfrm>
            <a:off x="8302752" y="3886200"/>
            <a:ext cx="3163824" cy="1051560"/>
          </a:xfrm>
          <a:prstGeom prst="rect">
            <a:avLst/>
          </a:prstGeom>
          <a:solidFill>
            <a:srgbClr val="FFFFFF">
              <a:alpha val="0"/>
            </a:srgbClr>
          </a:solidFill>
          <a:ln>
            <a:solidFill>
              <a:srgbClr val="FFFFFF">
                <a:alpha val="0"/>
              </a:srgbClr>
            </a:solidFill>
          </a:ln>
        </p:spPr>
        <p:txBody>
          <a:bodyPr wrap="square" lIns="0" tIns="0" rIns="0" bIns="0" rtlCol="0" anchor="t">
            <a:normAutofit/>
          </a:bodyPr>
          <a:lstStyle/>
          <a:p>
            <a:pPr algn="l" indent="0" marL="0">
              <a:buNone/>
            </a:pPr>
            <a:r>
              <a:rPr lang="en-US" sz="1800" dirty="0">
                <a:solidFill>
                  <a:srgbClr val="687782"/>
                </a:solidFill>
                <a:latin typeface="Arial" pitchFamily="34" charset="0"/>
                <a:ea typeface="Arial" pitchFamily="34" charset="-122"/>
                <a:cs typeface="Arial" pitchFamily="34" charset="-120"/>
              </a:rPr>
              <a:t>Avoid unnecessary concessions and consider selective, justified increases.</a:t>
            </a:r>
            <a:endParaRPr lang="en-US" sz="1800" dirty="0"/>
          </a:p>
        </p:txBody>
      </p:sp>
      <p:sp>
        <p:nvSpPr>
          <p:cNvPr id="21" name="Shape 16"/>
          <p:cNvSpPr/>
          <p:nvPr/>
        </p:nvSpPr>
        <p:spPr>
          <a:xfrm>
            <a:off x="4050792" y="2496312"/>
            <a:ext cx="0" cy="2761488"/>
          </a:xfrm>
          <a:prstGeom prst="line">
            <a:avLst/>
          </a:prstGeom>
          <a:solidFill>
            <a:srgbClr val="FFFFFF">
              <a:alpha val="0"/>
            </a:srgbClr>
          </a:solidFill>
          <a:ln w="12700">
            <a:solidFill>
              <a:srgbClr val="DCE3E8"/>
            </a:solidFill>
            <a:prstDash val="solid"/>
          </a:ln>
        </p:spPr>
      </p:sp>
      <p:sp>
        <p:nvSpPr>
          <p:cNvPr id="22" name="Shape 17"/>
          <p:cNvSpPr/>
          <p:nvPr/>
        </p:nvSpPr>
        <p:spPr>
          <a:xfrm>
            <a:off x="7936992" y="2496312"/>
            <a:ext cx="0" cy="2761488"/>
          </a:xfrm>
          <a:prstGeom prst="line">
            <a:avLst/>
          </a:prstGeom>
          <a:solidFill>
            <a:srgbClr val="FFFFFF">
              <a:alpha val="0"/>
            </a:srgbClr>
          </a:solidFill>
          <a:ln w="12700">
            <a:solidFill>
              <a:srgbClr val="DCE3E8"/>
            </a:solidFill>
            <a:prstDash val="solid"/>
          </a:ln>
        </p:spPr>
      </p:sp>
      <p:sp>
        <p:nvSpPr>
          <p:cNvPr id="23" name="Shape 18"/>
          <p:cNvSpPr/>
          <p:nvPr/>
        </p:nvSpPr>
        <p:spPr>
          <a:xfrm>
            <a:off x="530352" y="5870448"/>
            <a:ext cx="50292" cy="338328"/>
          </a:xfrm>
          <a:prstGeom prst="rect">
            <a:avLst/>
          </a:prstGeom>
          <a:solidFill>
            <a:srgbClr val="ED0016"/>
          </a:solidFill>
          <a:ln w="12700">
            <a:solidFill>
              <a:srgbClr val="ED0016">
                <a:alpha val="0"/>
              </a:srgbClr>
            </a:solidFill>
            <a:prstDash val="solid"/>
          </a:ln>
        </p:spPr>
      </p:sp>
      <p:sp>
        <p:nvSpPr>
          <p:cNvPr id="24" name="Text 19"/>
          <p:cNvSpPr txBox="1"/>
          <p:nvPr/>
        </p:nvSpPr>
        <p:spPr>
          <a:xfrm>
            <a:off x="694944" y="5865876"/>
            <a:ext cx="10966704" cy="36576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920" b="1" dirty="0">
                <a:solidFill>
                  <a:srgbClr val="17232C"/>
                </a:solidFill>
                <a:latin typeface="Arial" pitchFamily="34" charset="0"/>
                <a:ea typeface="Arial" pitchFamily="34" charset="-122"/>
                <a:cs typeface="Arial" pitchFamily="34" charset="-120"/>
              </a:rPr>
              <a:t>ISZE → Distributor → Dealer → End customer</a:t>
            </a:r>
            <a:endParaRPr lang="en-US" sz="1920" dirty="0"/>
          </a:p>
        </p:txBody>
      </p:sp>
    </p:spTree>
  </p:cSld>
  <p:clrMapOvr>
    <a:masterClrMapping/>
  </p:clrMapOvr>
  <p:transition spd="fast" advClick="1">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30352" y="301752"/>
            <a:ext cx="950976"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000" b="1" dirty="0">
                <a:solidFill>
                  <a:srgbClr val="ED0016"/>
                </a:solidFill>
                <a:latin typeface="Arial" pitchFamily="34" charset="0"/>
                <a:ea typeface="Arial" pitchFamily="34" charset="-122"/>
                <a:cs typeface="Arial" pitchFamily="34" charset="-120"/>
              </a:rPr>
              <a:t>ISUZU</a:t>
            </a:r>
            <a:endParaRPr lang="en-US" sz="2000" dirty="0"/>
          </a:p>
        </p:txBody>
      </p:sp>
      <p:sp>
        <p:nvSpPr>
          <p:cNvPr id="3" name="Text 1"/>
          <p:cNvSpPr txBox="1"/>
          <p:nvPr/>
        </p:nvSpPr>
        <p:spPr>
          <a:xfrm>
            <a:off x="1856232" y="347472"/>
            <a:ext cx="9418320" cy="16459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980" b="1" spc="145" kern="0" dirty="0">
                <a:solidFill>
                  <a:srgbClr val="687782"/>
                </a:solidFill>
                <a:latin typeface="Arial" pitchFamily="34" charset="0"/>
                <a:ea typeface="Arial" pitchFamily="34" charset="-122"/>
                <a:cs typeface="Arial" pitchFamily="34" charset="-120"/>
              </a:rPr>
              <a:t>HOW PRICING WORKED</a:t>
            </a:r>
            <a:endParaRPr lang="en-US" sz="980" dirty="0"/>
          </a:p>
        </p:txBody>
      </p:sp>
      <p:sp>
        <p:nvSpPr>
          <p:cNvPr id="4" name="Text 2"/>
          <p:cNvSpPr txBox="1"/>
          <p:nvPr/>
        </p:nvSpPr>
        <p:spPr>
          <a:xfrm>
            <a:off x="530352" y="960120"/>
            <a:ext cx="11131296" cy="76809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3020" b="1" dirty="0">
                <a:solidFill>
                  <a:srgbClr val="17232C"/>
                </a:solidFill>
                <a:latin typeface="Arial" pitchFamily="34" charset="0"/>
                <a:ea typeface="Arial" pitchFamily="34" charset="-122"/>
                <a:cs typeface="Arial" pitchFamily="34" charset="-120"/>
              </a:rPr>
              <a:t>Historically, cost and price class set the selling price.</a:t>
            </a:r>
            <a:endParaRPr lang="en-US" sz="3020" dirty="0"/>
          </a:p>
        </p:txBody>
      </p:sp>
      <p:sp>
        <p:nvSpPr>
          <p:cNvPr id="5" name="Text 3"/>
          <p:cNvSpPr txBox="1"/>
          <p:nvPr/>
        </p:nvSpPr>
        <p:spPr>
          <a:xfrm>
            <a:off x="530352" y="1783080"/>
            <a:ext cx="11131296" cy="46634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630" dirty="0">
                <a:solidFill>
                  <a:srgbClr val="687782"/>
                </a:solidFill>
                <a:latin typeface="Arial" pitchFamily="34" charset="0"/>
                <a:ea typeface="Arial" pitchFamily="34" charset="-122"/>
                <a:cs typeface="Arial" pitchFamily="34" charset="-120"/>
              </a:rPr>
              <a:t>The cost inputs remain. The automatic class-based selling margin is what changes.</a:t>
            </a:r>
            <a:endParaRPr lang="en-US" sz="1630" dirty="0"/>
          </a:p>
        </p:txBody>
      </p:sp>
      <p:sp>
        <p:nvSpPr>
          <p:cNvPr id="6" name="Shape 4"/>
          <p:cNvSpPr/>
          <p:nvPr/>
        </p:nvSpPr>
        <p:spPr>
          <a:xfrm>
            <a:off x="530352" y="6382512"/>
            <a:ext cx="11131296" cy="0"/>
          </a:xfrm>
          <a:prstGeom prst="line">
            <a:avLst/>
          </a:prstGeom>
          <a:solidFill>
            <a:srgbClr val="FFFFFF">
              <a:alpha val="0"/>
            </a:srgbClr>
          </a:solidFill>
          <a:ln w="8890">
            <a:solidFill>
              <a:srgbClr val="DCE3E8"/>
            </a:solidFill>
            <a:prstDash val="solid"/>
          </a:ln>
        </p:spPr>
      </p:sp>
      <p:sp>
        <p:nvSpPr>
          <p:cNvPr id="7" name="Text 5"/>
          <p:cNvSpPr txBox="1"/>
          <p:nvPr/>
        </p:nvSpPr>
        <p:spPr>
          <a:xfrm>
            <a:off x="530352" y="6483096"/>
            <a:ext cx="10216896" cy="16459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810" dirty="0">
                <a:solidFill>
                  <a:srgbClr val="687782"/>
                </a:solidFill>
                <a:latin typeface="Arial" pitchFamily="34" charset="0"/>
                <a:ea typeface="Arial" pitchFamily="34" charset="-122"/>
                <a:cs typeface="Arial" pitchFamily="34" charset="-120"/>
              </a:rPr>
              <a:t>Source: Pricing Master and management policy. Detailed basis in speaker notes.</a:t>
            </a:r>
            <a:endParaRPr lang="en-US" sz="810" dirty="0"/>
          </a:p>
        </p:txBody>
      </p:sp>
      <p:sp>
        <p:nvSpPr>
          <p:cNvPr id="8" name="Text 6"/>
          <p:cNvSpPr txBox="1"/>
          <p:nvPr/>
        </p:nvSpPr>
        <p:spPr>
          <a:xfrm>
            <a:off x="10856976" y="6469380"/>
            <a:ext cx="804672" cy="21031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r" indent="0" marL="0">
              <a:buNone/>
            </a:pPr>
            <a:r>
              <a:rPr lang="en-US" sz="910" dirty="0">
                <a:solidFill>
                  <a:srgbClr val="687782"/>
                </a:solidFill>
                <a:latin typeface="Arial" pitchFamily="34" charset="0"/>
                <a:ea typeface="Arial" pitchFamily="34" charset="-122"/>
                <a:cs typeface="Arial" pitchFamily="34" charset="-120"/>
              </a:rPr>
              <a:t>v1.4  |  03</a:t>
            </a:r>
            <a:endParaRPr lang="en-US" sz="910" dirty="0"/>
          </a:p>
        </p:txBody>
      </p:sp>
      <p:sp>
        <p:nvSpPr>
          <p:cNvPr id="9" name="Shape 7"/>
          <p:cNvSpPr/>
          <p:nvPr/>
        </p:nvSpPr>
        <p:spPr>
          <a:xfrm>
            <a:off x="530352" y="2578608"/>
            <a:ext cx="1938528" cy="2423160"/>
          </a:xfrm>
          <a:prstGeom prst="rect">
            <a:avLst/>
          </a:prstGeom>
          <a:solidFill>
            <a:srgbClr val="EFF2F4"/>
          </a:solidFill>
          <a:ln w="12700">
            <a:solidFill>
              <a:srgbClr val="EFF2F4">
                <a:alpha val="0"/>
              </a:srgbClr>
            </a:solidFill>
            <a:prstDash val="solid"/>
          </a:ln>
        </p:spPr>
      </p:sp>
      <p:sp>
        <p:nvSpPr>
          <p:cNvPr id="10" name="Shape 8"/>
          <p:cNvSpPr/>
          <p:nvPr/>
        </p:nvSpPr>
        <p:spPr>
          <a:xfrm>
            <a:off x="676656" y="2770632"/>
            <a:ext cx="576072" cy="576072"/>
          </a:xfrm>
          <a:prstGeom prst="ellipse">
            <a:avLst/>
          </a:prstGeom>
          <a:solidFill>
            <a:srgbClr val="FBEDEF"/>
          </a:solidFill>
          <a:ln w="12700">
            <a:solidFill>
              <a:srgbClr val="FBEDEF">
                <a:alpha val="0"/>
              </a:srgbClr>
            </a:solidFill>
            <a:prstDash val="solid"/>
          </a:ln>
        </p:spPr>
      </p:sp>
      <p:pic>
        <p:nvPicPr>
          <p:cNvPr id="11" name="Image 0" descr="Presentation pictogram">    </p:cNvPr>
          <p:cNvPicPr>
            <a:picLocks noChangeAspect="1"/>
          </p:cNvPicPr>
          <p:nvPr/>
        </p:nvPicPr>
        <p:blipFill>
          <a:blip r:embed="rId1"/>
          <a:stretch>
            <a:fillRect/>
          </a:stretch>
        </p:blipFill>
        <p:spPr>
          <a:xfrm>
            <a:off x="809153" y="2903129"/>
            <a:ext cx="311079" cy="311079"/>
          </a:xfrm>
          <a:prstGeom prst="rect">
            <a:avLst/>
          </a:prstGeom>
        </p:spPr>
      </p:pic>
      <p:sp>
        <p:nvSpPr>
          <p:cNvPr id="12" name="Text 9"/>
          <p:cNvSpPr txBox="1"/>
          <p:nvPr/>
        </p:nvSpPr>
        <p:spPr>
          <a:xfrm>
            <a:off x="676656" y="3557016"/>
            <a:ext cx="1673352" cy="40233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600" b="1" dirty="0">
                <a:solidFill>
                  <a:srgbClr val="17232C"/>
                </a:solidFill>
                <a:latin typeface="Arial" pitchFamily="34" charset="0"/>
                <a:ea typeface="Arial" pitchFamily="34" charset="-122"/>
                <a:cs typeface="Arial" pitchFamily="34" charset="-120"/>
              </a:rPr>
              <a:t>Supplier base</a:t>
            </a:r>
            <a:endParaRPr lang="en-US" sz="1600" dirty="0"/>
          </a:p>
        </p:txBody>
      </p:sp>
      <p:sp>
        <p:nvSpPr>
          <p:cNvPr id="13" name="Text 10"/>
          <p:cNvSpPr txBox="1"/>
          <p:nvPr/>
        </p:nvSpPr>
        <p:spPr>
          <a:xfrm>
            <a:off x="676656" y="4023360"/>
            <a:ext cx="1673352" cy="31089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650" b="1" dirty="0">
                <a:solidFill>
                  <a:srgbClr val="17232C"/>
                </a:solidFill>
                <a:latin typeface="Arial" pitchFamily="34" charset="0"/>
                <a:ea typeface="Arial" pitchFamily="34" charset="-122"/>
                <a:cs typeface="Arial" pitchFamily="34" charset="-120"/>
              </a:rPr>
              <a:t>Yen</a:t>
            </a:r>
            <a:endParaRPr lang="en-US" sz="1650" dirty="0"/>
          </a:p>
        </p:txBody>
      </p:sp>
      <p:sp>
        <p:nvSpPr>
          <p:cNvPr id="14" name="Text 11"/>
          <p:cNvSpPr txBox="1"/>
          <p:nvPr/>
        </p:nvSpPr>
        <p:spPr>
          <a:xfrm>
            <a:off x="676656" y="4434840"/>
            <a:ext cx="1664208" cy="40233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170" dirty="0">
                <a:solidFill>
                  <a:srgbClr val="687782"/>
                </a:solidFill>
                <a:latin typeface="Arial" pitchFamily="34" charset="0"/>
                <a:ea typeface="Arial" pitchFamily="34" charset="-122"/>
                <a:cs typeface="Arial" pitchFamily="34" charset="-120"/>
              </a:rPr>
              <a:t>Set by the parts source</a:t>
            </a:r>
            <a:endParaRPr lang="en-US" sz="1170" dirty="0"/>
          </a:p>
        </p:txBody>
      </p:sp>
      <p:sp>
        <p:nvSpPr>
          <p:cNvPr id="15" name="Text 12"/>
          <p:cNvSpPr txBox="1"/>
          <p:nvPr/>
        </p:nvSpPr>
        <p:spPr>
          <a:xfrm>
            <a:off x="2514600" y="3584448"/>
            <a:ext cx="265176" cy="45720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ctr" indent="0" marL="0">
              <a:buNone/>
            </a:pPr>
            <a:r>
              <a:rPr lang="en-US" sz="2700" b="1" dirty="0">
                <a:solidFill>
                  <a:srgbClr val="ED0016"/>
                </a:solidFill>
                <a:latin typeface="Arial" pitchFamily="34" charset="0"/>
                <a:ea typeface="Arial" pitchFamily="34" charset="-122"/>
                <a:cs typeface="Arial" pitchFamily="34" charset="-120"/>
              </a:rPr>
              <a:t>÷</a:t>
            </a:r>
            <a:endParaRPr lang="en-US" sz="2700" dirty="0"/>
          </a:p>
        </p:txBody>
      </p:sp>
      <p:sp>
        <p:nvSpPr>
          <p:cNvPr id="16" name="Shape 13"/>
          <p:cNvSpPr/>
          <p:nvPr/>
        </p:nvSpPr>
        <p:spPr>
          <a:xfrm>
            <a:off x="2825496" y="2578608"/>
            <a:ext cx="1938528" cy="2423160"/>
          </a:xfrm>
          <a:prstGeom prst="rect">
            <a:avLst/>
          </a:prstGeom>
          <a:solidFill>
            <a:srgbClr val="EFF2F4"/>
          </a:solidFill>
          <a:ln w="12700">
            <a:solidFill>
              <a:srgbClr val="EFF2F4">
                <a:alpha val="0"/>
              </a:srgbClr>
            </a:solidFill>
            <a:prstDash val="solid"/>
          </a:ln>
        </p:spPr>
      </p:sp>
      <p:sp>
        <p:nvSpPr>
          <p:cNvPr id="17" name="Shape 14"/>
          <p:cNvSpPr/>
          <p:nvPr/>
        </p:nvSpPr>
        <p:spPr>
          <a:xfrm>
            <a:off x="2971800" y="2770632"/>
            <a:ext cx="576072" cy="576072"/>
          </a:xfrm>
          <a:prstGeom prst="ellipse">
            <a:avLst/>
          </a:prstGeom>
          <a:solidFill>
            <a:srgbClr val="FBEDEF"/>
          </a:solidFill>
          <a:ln w="12700">
            <a:solidFill>
              <a:srgbClr val="FBEDEF">
                <a:alpha val="0"/>
              </a:srgbClr>
            </a:solidFill>
            <a:prstDash val="solid"/>
          </a:ln>
        </p:spPr>
      </p:sp>
      <p:pic>
        <p:nvPicPr>
          <p:cNvPr id="18" name="Image 1" descr="Presentation pictogram">    </p:cNvPr>
          <p:cNvPicPr>
            <a:picLocks noChangeAspect="1"/>
          </p:cNvPicPr>
          <p:nvPr/>
        </p:nvPicPr>
        <p:blipFill>
          <a:blip r:embed="rId2"/>
          <a:stretch>
            <a:fillRect/>
          </a:stretch>
        </p:blipFill>
        <p:spPr>
          <a:xfrm>
            <a:off x="3104297" y="2903129"/>
            <a:ext cx="311079" cy="311079"/>
          </a:xfrm>
          <a:prstGeom prst="rect">
            <a:avLst/>
          </a:prstGeom>
        </p:spPr>
      </p:pic>
      <p:sp>
        <p:nvSpPr>
          <p:cNvPr id="19" name="Text 15"/>
          <p:cNvSpPr txBox="1"/>
          <p:nvPr/>
        </p:nvSpPr>
        <p:spPr>
          <a:xfrm>
            <a:off x="2971800" y="3557016"/>
            <a:ext cx="1673352" cy="40233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600" b="1" dirty="0">
                <a:solidFill>
                  <a:srgbClr val="17232C"/>
                </a:solidFill>
                <a:latin typeface="Arial" pitchFamily="34" charset="0"/>
                <a:ea typeface="Arial" pitchFamily="34" charset="-122"/>
                <a:cs typeface="Arial" pitchFamily="34" charset="-120"/>
              </a:rPr>
              <a:t>Corporate rate</a:t>
            </a:r>
            <a:endParaRPr lang="en-US" sz="1600" dirty="0"/>
          </a:p>
        </p:txBody>
      </p:sp>
      <p:sp>
        <p:nvSpPr>
          <p:cNvPr id="20" name="Text 16"/>
          <p:cNvSpPr txBox="1"/>
          <p:nvPr/>
        </p:nvSpPr>
        <p:spPr>
          <a:xfrm>
            <a:off x="2971800" y="4023360"/>
            <a:ext cx="1673352" cy="31089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650" b="1" dirty="0">
                <a:solidFill>
                  <a:srgbClr val="17232C"/>
                </a:solidFill>
                <a:latin typeface="Arial" pitchFamily="34" charset="0"/>
                <a:ea typeface="Arial" pitchFamily="34" charset="-122"/>
                <a:cs typeface="Arial" pitchFamily="34" charset="-120"/>
              </a:rPr>
              <a:t>JPY per EUR</a:t>
            </a:r>
            <a:endParaRPr lang="en-US" sz="1650" dirty="0"/>
          </a:p>
        </p:txBody>
      </p:sp>
      <p:sp>
        <p:nvSpPr>
          <p:cNvPr id="21" name="Text 17"/>
          <p:cNvSpPr txBox="1"/>
          <p:nvPr/>
        </p:nvSpPr>
        <p:spPr>
          <a:xfrm>
            <a:off x="2971800" y="4434840"/>
            <a:ext cx="1664208" cy="40233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170" dirty="0">
                <a:solidFill>
                  <a:srgbClr val="687782"/>
                </a:solidFill>
                <a:latin typeface="Arial" pitchFamily="34" charset="0"/>
                <a:ea typeface="Arial" pitchFamily="34" charset="-122"/>
                <a:cs typeface="Arial" pitchFamily="34" charset="-120"/>
              </a:rPr>
              <a:t>Convert the base to euros</a:t>
            </a:r>
            <a:endParaRPr lang="en-US" sz="1170" dirty="0"/>
          </a:p>
        </p:txBody>
      </p:sp>
      <p:sp>
        <p:nvSpPr>
          <p:cNvPr id="22" name="Text 18"/>
          <p:cNvSpPr txBox="1"/>
          <p:nvPr/>
        </p:nvSpPr>
        <p:spPr>
          <a:xfrm>
            <a:off x="4809744" y="3584448"/>
            <a:ext cx="265176" cy="45720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ctr" indent="0" marL="0">
              <a:buNone/>
            </a:pPr>
            <a:r>
              <a:rPr lang="en-US" sz="2700" b="1" dirty="0">
                <a:solidFill>
                  <a:srgbClr val="ED0016"/>
                </a:solidFill>
                <a:latin typeface="Arial" pitchFamily="34" charset="0"/>
                <a:ea typeface="Arial" pitchFamily="34" charset="-122"/>
                <a:cs typeface="Arial" pitchFamily="34" charset="-120"/>
              </a:rPr>
              <a:t>×</a:t>
            </a:r>
            <a:endParaRPr lang="en-US" sz="2700" dirty="0"/>
          </a:p>
        </p:txBody>
      </p:sp>
      <p:sp>
        <p:nvSpPr>
          <p:cNvPr id="23" name="Shape 19"/>
          <p:cNvSpPr/>
          <p:nvPr/>
        </p:nvSpPr>
        <p:spPr>
          <a:xfrm>
            <a:off x="5120640" y="2578608"/>
            <a:ext cx="1938528" cy="2423160"/>
          </a:xfrm>
          <a:prstGeom prst="rect">
            <a:avLst/>
          </a:prstGeom>
          <a:solidFill>
            <a:srgbClr val="EFF2F4"/>
          </a:solidFill>
          <a:ln w="12700">
            <a:solidFill>
              <a:srgbClr val="EFF2F4">
                <a:alpha val="0"/>
              </a:srgbClr>
            </a:solidFill>
            <a:prstDash val="solid"/>
          </a:ln>
        </p:spPr>
      </p:sp>
      <p:sp>
        <p:nvSpPr>
          <p:cNvPr id="24" name="Shape 20"/>
          <p:cNvSpPr/>
          <p:nvPr/>
        </p:nvSpPr>
        <p:spPr>
          <a:xfrm>
            <a:off x="5266944" y="2770632"/>
            <a:ext cx="576072" cy="576072"/>
          </a:xfrm>
          <a:prstGeom prst="ellipse">
            <a:avLst/>
          </a:prstGeom>
          <a:solidFill>
            <a:srgbClr val="FBEDEF"/>
          </a:solidFill>
          <a:ln w="12700">
            <a:solidFill>
              <a:srgbClr val="FBEDEF">
                <a:alpha val="0"/>
              </a:srgbClr>
            </a:solidFill>
            <a:prstDash val="solid"/>
          </a:ln>
        </p:spPr>
      </p:sp>
      <p:pic>
        <p:nvPicPr>
          <p:cNvPr id="25" name="Image 2" descr="Presentation pictogram">    </p:cNvPr>
          <p:cNvPicPr>
            <a:picLocks noChangeAspect="1"/>
          </p:cNvPicPr>
          <p:nvPr/>
        </p:nvPicPr>
        <p:blipFill>
          <a:blip r:embed="rId3"/>
          <a:stretch>
            <a:fillRect/>
          </a:stretch>
        </p:blipFill>
        <p:spPr>
          <a:xfrm>
            <a:off x="5399441" y="2903129"/>
            <a:ext cx="311079" cy="311079"/>
          </a:xfrm>
          <a:prstGeom prst="rect">
            <a:avLst/>
          </a:prstGeom>
        </p:spPr>
      </p:pic>
      <p:sp>
        <p:nvSpPr>
          <p:cNvPr id="26" name="Text 21"/>
          <p:cNvSpPr txBox="1"/>
          <p:nvPr/>
        </p:nvSpPr>
        <p:spPr>
          <a:xfrm>
            <a:off x="5266944" y="3557016"/>
            <a:ext cx="1673352" cy="40233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600" b="1" dirty="0">
                <a:solidFill>
                  <a:srgbClr val="17232C"/>
                </a:solidFill>
                <a:latin typeface="Arial" pitchFamily="34" charset="0"/>
                <a:ea typeface="Arial" pitchFamily="34" charset="-122"/>
                <a:cs typeface="Arial" pitchFamily="34" charset="-120"/>
              </a:rPr>
              <a:t>Purchase terms</a:t>
            </a:r>
            <a:endParaRPr lang="en-US" sz="1600" dirty="0"/>
          </a:p>
        </p:txBody>
      </p:sp>
      <p:sp>
        <p:nvSpPr>
          <p:cNvPr id="27" name="Text 22"/>
          <p:cNvSpPr txBox="1"/>
          <p:nvPr/>
        </p:nvSpPr>
        <p:spPr>
          <a:xfrm>
            <a:off x="5266944" y="4023360"/>
            <a:ext cx="1673352" cy="31089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650" b="1" dirty="0">
                <a:solidFill>
                  <a:srgbClr val="17232C"/>
                </a:solidFill>
                <a:latin typeface="Arial" pitchFamily="34" charset="0"/>
                <a:ea typeface="Arial" pitchFamily="34" charset="-122"/>
                <a:cs typeface="Arial" pitchFamily="34" charset="-120"/>
              </a:rPr>
              <a:t>Share paid</a:t>
            </a:r>
            <a:endParaRPr lang="en-US" sz="1650" dirty="0"/>
          </a:p>
        </p:txBody>
      </p:sp>
      <p:sp>
        <p:nvSpPr>
          <p:cNvPr id="28" name="Text 23"/>
          <p:cNvSpPr txBox="1"/>
          <p:nvPr/>
        </p:nvSpPr>
        <p:spPr>
          <a:xfrm>
            <a:off x="5266944" y="4434840"/>
            <a:ext cx="1664208" cy="40233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170" dirty="0">
                <a:solidFill>
                  <a:srgbClr val="687782"/>
                </a:solidFill>
                <a:latin typeface="Arial" pitchFamily="34" charset="0"/>
                <a:ea typeface="Arial" pitchFamily="34" charset="-122"/>
                <a:cs typeface="Arial" pitchFamily="34" charset="-120"/>
              </a:rPr>
              <a:t>Apply the source discount</a:t>
            </a:r>
            <a:endParaRPr lang="en-US" sz="1170" dirty="0"/>
          </a:p>
        </p:txBody>
      </p:sp>
      <p:sp>
        <p:nvSpPr>
          <p:cNvPr id="29" name="Text 24"/>
          <p:cNvSpPr txBox="1"/>
          <p:nvPr/>
        </p:nvSpPr>
        <p:spPr>
          <a:xfrm>
            <a:off x="7104888" y="3584448"/>
            <a:ext cx="265176" cy="45720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ctr" indent="0" marL="0">
              <a:buNone/>
            </a:pPr>
            <a:r>
              <a:rPr lang="en-US" sz="2700" b="1" dirty="0">
                <a:solidFill>
                  <a:srgbClr val="ED0016"/>
                </a:solidFill>
                <a:latin typeface="Arial" pitchFamily="34" charset="0"/>
                <a:ea typeface="Arial" pitchFamily="34" charset="-122"/>
                <a:cs typeface="Arial" pitchFamily="34" charset="-120"/>
              </a:rPr>
              <a:t>÷</a:t>
            </a:r>
            <a:endParaRPr lang="en-US" sz="2700" dirty="0"/>
          </a:p>
        </p:txBody>
      </p:sp>
      <p:sp>
        <p:nvSpPr>
          <p:cNvPr id="30" name="Shape 25"/>
          <p:cNvSpPr/>
          <p:nvPr/>
        </p:nvSpPr>
        <p:spPr>
          <a:xfrm>
            <a:off x="7415784" y="2578608"/>
            <a:ext cx="1938528" cy="2423160"/>
          </a:xfrm>
          <a:prstGeom prst="rect">
            <a:avLst/>
          </a:prstGeom>
          <a:solidFill>
            <a:srgbClr val="FBEDEF"/>
          </a:solidFill>
          <a:ln w="12700">
            <a:solidFill>
              <a:srgbClr val="FBEDEF">
                <a:alpha val="0"/>
              </a:srgbClr>
            </a:solidFill>
            <a:prstDash val="solid"/>
          </a:ln>
        </p:spPr>
      </p:sp>
      <p:sp>
        <p:nvSpPr>
          <p:cNvPr id="31" name="Shape 26"/>
          <p:cNvSpPr/>
          <p:nvPr/>
        </p:nvSpPr>
        <p:spPr>
          <a:xfrm>
            <a:off x="7562088" y="2770632"/>
            <a:ext cx="576072" cy="576072"/>
          </a:xfrm>
          <a:prstGeom prst="ellipse">
            <a:avLst/>
          </a:prstGeom>
          <a:solidFill>
            <a:srgbClr val="FBEDEF"/>
          </a:solidFill>
          <a:ln w="12700">
            <a:solidFill>
              <a:srgbClr val="FBEDEF">
                <a:alpha val="0"/>
              </a:srgbClr>
            </a:solidFill>
            <a:prstDash val="solid"/>
          </a:ln>
        </p:spPr>
      </p:sp>
      <p:pic>
        <p:nvPicPr>
          <p:cNvPr id="32" name="Image 3" descr="Presentation pictogram">    </p:cNvPr>
          <p:cNvPicPr>
            <a:picLocks noChangeAspect="1"/>
          </p:cNvPicPr>
          <p:nvPr/>
        </p:nvPicPr>
        <p:blipFill>
          <a:blip r:embed="rId4"/>
          <a:stretch>
            <a:fillRect/>
          </a:stretch>
        </p:blipFill>
        <p:spPr>
          <a:xfrm>
            <a:off x="7694585" y="2903129"/>
            <a:ext cx="311079" cy="311079"/>
          </a:xfrm>
          <a:prstGeom prst="rect">
            <a:avLst/>
          </a:prstGeom>
        </p:spPr>
      </p:pic>
      <p:sp>
        <p:nvSpPr>
          <p:cNvPr id="33" name="Text 27"/>
          <p:cNvSpPr txBox="1"/>
          <p:nvPr/>
        </p:nvSpPr>
        <p:spPr>
          <a:xfrm>
            <a:off x="7562088" y="3557016"/>
            <a:ext cx="1673352" cy="40233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600" b="1" dirty="0">
                <a:solidFill>
                  <a:srgbClr val="17232C"/>
                </a:solidFill>
                <a:latin typeface="Arial" pitchFamily="34" charset="0"/>
                <a:ea typeface="Arial" pitchFamily="34" charset="-122"/>
                <a:cs typeface="Arial" pitchFamily="34" charset="-120"/>
              </a:rPr>
              <a:t>Class margin</a:t>
            </a:r>
            <a:endParaRPr lang="en-US" sz="1600" dirty="0"/>
          </a:p>
        </p:txBody>
      </p:sp>
      <p:sp>
        <p:nvSpPr>
          <p:cNvPr id="34" name="Text 28"/>
          <p:cNvSpPr txBox="1"/>
          <p:nvPr/>
        </p:nvSpPr>
        <p:spPr>
          <a:xfrm>
            <a:off x="7562088" y="4023360"/>
            <a:ext cx="1673352" cy="31089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650" b="1" dirty="0">
                <a:solidFill>
                  <a:srgbClr val="17232C"/>
                </a:solidFill>
                <a:latin typeface="Arial" pitchFamily="34" charset="0"/>
                <a:ea typeface="Arial" pitchFamily="34" charset="-122"/>
                <a:cs typeface="Arial" pitchFamily="34" charset="-120"/>
              </a:rPr>
              <a:t>1 − margin</a:t>
            </a:r>
            <a:endParaRPr lang="en-US" sz="1650" dirty="0"/>
          </a:p>
        </p:txBody>
      </p:sp>
      <p:sp>
        <p:nvSpPr>
          <p:cNvPr id="35" name="Text 29"/>
          <p:cNvSpPr txBox="1"/>
          <p:nvPr/>
        </p:nvSpPr>
        <p:spPr>
          <a:xfrm>
            <a:off x="7562088" y="4434840"/>
            <a:ext cx="1664208" cy="40233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170" dirty="0">
                <a:solidFill>
                  <a:srgbClr val="687782"/>
                </a:solidFill>
                <a:latin typeface="Arial" pitchFamily="34" charset="0"/>
                <a:ea typeface="Arial" pitchFamily="34" charset="-122"/>
                <a:cs typeface="Arial" pitchFamily="34" charset="-120"/>
              </a:rPr>
              <a:t>Divide formula cost</a:t>
            </a:r>
            <a:endParaRPr lang="en-US" sz="1170" dirty="0"/>
          </a:p>
        </p:txBody>
      </p:sp>
      <p:sp>
        <p:nvSpPr>
          <p:cNvPr id="36" name="Text 30"/>
          <p:cNvSpPr txBox="1"/>
          <p:nvPr/>
        </p:nvSpPr>
        <p:spPr>
          <a:xfrm>
            <a:off x="9400032" y="3584448"/>
            <a:ext cx="265176" cy="45720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ctr" indent="0" marL="0">
              <a:buNone/>
            </a:pPr>
            <a:r>
              <a:rPr lang="en-US" sz="2700" b="1" dirty="0">
                <a:solidFill>
                  <a:srgbClr val="ED0016"/>
                </a:solidFill>
                <a:latin typeface="Arial" pitchFamily="34" charset="0"/>
                <a:ea typeface="Arial" pitchFamily="34" charset="-122"/>
                <a:cs typeface="Arial" pitchFamily="34" charset="-120"/>
              </a:rPr>
              <a:t>=</a:t>
            </a:r>
            <a:endParaRPr lang="en-US" sz="2700" dirty="0"/>
          </a:p>
        </p:txBody>
      </p:sp>
      <p:sp>
        <p:nvSpPr>
          <p:cNvPr id="37" name="Shape 31"/>
          <p:cNvSpPr/>
          <p:nvPr/>
        </p:nvSpPr>
        <p:spPr>
          <a:xfrm>
            <a:off x="9710928" y="2578608"/>
            <a:ext cx="1938528" cy="2423160"/>
          </a:xfrm>
          <a:prstGeom prst="rect">
            <a:avLst/>
          </a:prstGeom>
          <a:solidFill>
            <a:srgbClr val="EFF2F4"/>
          </a:solidFill>
          <a:ln w="12700">
            <a:solidFill>
              <a:srgbClr val="EFF2F4">
                <a:alpha val="0"/>
              </a:srgbClr>
            </a:solidFill>
            <a:prstDash val="solid"/>
          </a:ln>
        </p:spPr>
      </p:sp>
      <p:sp>
        <p:nvSpPr>
          <p:cNvPr id="38" name="Shape 32"/>
          <p:cNvSpPr/>
          <p:nvPr/>
        </p:nvSpPr>
        <p:spPr>
          <a:xfrm>
            <a:off x="9857232" y="2770632"/>
            <a:ext cx="576072" cy="576072"/>
          </a:xfrm>
          <a:prstGeom prst="ellipse">
            <a:avLst/>
          </a:prstGeom>
          <a:solidFill>
            <a:srgbClr val="FBEDEF"/>
          </a:solidFill>
          <a:ln w="12700">
            <a:solidFill>
              <a:srgbClr val="FBEDEF">
                <a:alpha val="0"/>
              </a:srgbClr>
            </a:solidFill>
            <a:prstDash val="solid"/>
          </a:ln>
        </p:spPr>
      </p:sp>
      <p:pic>
        <p:nvPicPr>
          <p:cNvPr id="39" name="Image 4" descr="Presentation pictogram">    </p:cNvPr>
          <p:cNvPicPr>
            <a:picLocks noChangeAspect="1"/>
          </p:cNvPicPr>
          <p:nvPr/>
        </p:nvPicPr>
        <p:blipFill>
          <a:blip r:embed="rId5"/>
          <a:stretch>
            <a:fillRect/>
          </a:stretch>
        </p:blipFill>
        <p:spPr>
          <a:xfrm>
            <a:off x="9989729" y="2903129"/>
            <a:ext cx="311079" cy="311079"/>
          </a:xfrm>
          <a:prstGeom prst="rect">
            <a:avLst/>
          </a:prstGeom>
        </p:spPr>
      </p:pic>
      <p:sp>
        <p:nvSpPr>
          <p:cNvPr id="40" name="Text 33"/>
          <p:cNvSpPr txBox="1"/>
          <p:nvPr/>
        </p:nvSpPr>
        <p:spPr>
          <a:xfrm>
            <a:off x="9857232" y="3557016"/>
            <a:ext cx="1673352" cy="40233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600" b="1" dirty="0">
                <a:solidFill>
                  <a:srgbClr val="17232C"/>
                </a:solidFill>
                <a:latin typeface="Arial" pitchFamily="34" charset="0"/>
                <a:ea typeface="Arial" pitchFamily="34" charset="-122"/>
                <a:cs typeface="Arial" pitchFamily="34" charset="-120"/>
              </a:rPr>
              <a:t>ISZE price</a:t>
            </a:r>
            <a:endParaRPr lang="en-US" sz="1600" dirty="0"/>
          </a:p>
        </p:txBody>
      </p:sp>
      <p:sp>
        <p:nvSpPr>
          <p:cNvPr id="41" name="Text 34"/>
          <p:cNvSpPr txBox="1"/>
          <p:nvPr/>
        </p:nvSpPr>
        <p:spPr>
          <a:xfrm>
            <a:off x="9857232" y="4023360"/>
            <a:ext cx="1673352" cy="31089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650" b="1" dirty="0">
                <a:solidFill>
                  <a:srgbClr val="17232C"/>
                </a:solidFill>
                <a:latin typeface="Arial" pitchFamily="34" charset="0"/>
                <a:ea typeface="Arial" pitchFamily="34" charset="-122"/>
                <a:cs typeface="Arial" pitchFamily="34" charset="-120"/>
              </a:rPr>
              <a:t>€ per part</a:t>
            </a:r>
            <a:endParaRPr lang="en-US" sz="1650" dirty="0"/>
          </a:p>
        </p:txBody>
      </p:sp>
      <p:sp>
        <p:nvSpPr>
          <p:cNvPr id="42" name="Text 35"/>
          <p:cNvSpPr txBox="1"/>
          <p:nvPr/>
        </p:nvSpPr>
        <p:spPr>
          <a:xfrm>
            <a:off x="9857232" y="4434840"/>
            <a:ext cx="1664208" cy="40233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170" dirty="0">
                <a:solidFill>
                  <a:srgbClr val="687782"/>
                </a:solidFill>
                <a:latin typeface="Arial" pitchFamily="34" charset="0"/>
                <a:ea typeface="Arial" pitchFamily="34" charset="-122"/>
                <a:cs typeface="Arial" pitchFamily="34" charset="-120"/>
              </a:rPr>
              <a:t>Before selling support</a:t>
            </a:r>
            <a:endParaRPr lang="en-US" sz="1170" dirty="0"/>
          </a:p>
        </p:txBody>
      </p:sp>
      <p:sp>
        <p:nvSpPr>
          <p:cNvPr id="43" name="Shape 36"/>
          <p:cNvSpPr/>
          <p:nvPr/>
        </p:nvSpPr>
        <p:spPr>
          <a:xfrm>
            <a:off x="530352" y="5330952"/>
            <a:ext cx="3108960" cy="274320"/>
          </a:xfrm>
          <a:prstGeom prst="rect">
            <a:avLst/>
          </a:prstGeom>
          <a:solidFill>
            <a:srgbClr val="EFF2F4"/>
          </a:solidFill>
          <a:ln w="12700">
            <a:solidFill>
              <a:srgbClr val="EFF2F4">
                <a:alpha val="0"/>
              </a:srgbClr>
            </a:solidFill>
            <a:prstDash val="solid"/>
          </a:ln>
        </p:spPr>
      </p:sp>
      <p:sp>
        <p:nvSpPr>
          <p:cNvPr id="44" name="Text 37"/>
          <p:cNvSpPr txBox="1"/>
          <p:nvPr/>
        </p:nvSpPr>
        <p:spPr>
          <a:xfrm>
            <a:off x="621792" y="5362956"/>
            <a:ext cx="2926080" cy="20116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920" b="1" spc="45" kern="0" dirty="0">
                <a:solidFill>
                  <a:srgbClr val="687782"/>
                </a:solidFill>
                <a:latin typeface="Arial" pitchFamily="34" charset="0"/>
                <a:ea typeface="Arial" pitchFamily="34" charset="-122"/>
                <a:cs typeface="Arial" pitchFamily="34" charset="-120"/>
              </a:rPr>
              <a:t>CLASS C: 53% FORMULA MARGIN</a:t>
            </a:r>
            <a:endParaRPr lang="en-US" sz="920" dirty="0"/>
          </a:p>
        </p:txBody>
      </p:sp>
      <p:sp>
        <p:nvSpPr>
          <p:cNvPr id="45" name="Shape 38"/>
          <p:cNvSpPr/>
          <p:nvPr/>
        </p:nvSpPr>
        <p:spPr>
          <a:xfrm>
            <a:off x="3895344" y="5330952"/>
            <a:ext cx="3108960" cy="274320"/>
          </a:xfrm>
          <a:prstGeom prst="rect">
            <a:avLst/>
          </a:prstGeom>
          <a:solidFill>
            <a:srgbClr val="EFF2F4"/>
          </a:solidFill>
          <a:ln w="12700">
            <a:solidFill>
              <a:srgbClr val="EFF2F4">
                <a:alpha val="0"/>
              </a:srgbClr>
            </a:solidFill>
            <a:prstDash val="solid"/>
          </a:ln>
        </p:spPr>
      </p:sp>
      <p:sp>
        <p:nvSpPr>
          <p:cNvPr id="46" name="Text 39"/>
          <p:cNvSpPr txBox="1"/>
          <p:nvPr/>
        </p:nvSpPr>
        <p:spPr>
          <a:xfrm>
            <a:off x="3986784" y="5362956"/>
            <a:ext cx="2926080" cy="20116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920" b="1" spc="45" kern="0" dirty="0">
                <a:solidFill>
                  <a:srgbClr val="687782"/>
                </a:solidFill>
                <a:latin typeface="Arial" pitchFamily="34" charset="0"/>
                <a:ea typeface="Arial" pitchFamily="34" charset="-122"/>
                <a:cs typeface="Arial" pitchFamily="34" charset="-120"/>
              </a:rPr>
              <a:t>CLASS V: 45% FORMULA MARGIN</a:t>
            </a:r>
            <a:endParaRPr lang="en-US" sz="920" dirty="0"/>
          </a:p>
        </p:txBody>
      </p:sp>
      <p:sp>
        <p:nvSpPr>
          <p:cNvPr id="47" name="Shape 40"/>
          <p:cNvSpPr/>
          <p:nvPr/>
        </p:nvSpPr>
        <p:spPr>
          <a:xfrm>
            <a:off x="530352" y="5870448"/>
            <a:ext cx="50292" cy="338328"/>
          </a:xfrm>
          <a:prstGeom prst="rect">
            <a:avLst/>
          </a:prstGeom>
          <a:solidFill>
            <a:srgbClr val="ED0016"/>
          </a:solidFill>
          <a:ln w="12700">
            <a:solidFill>
              <a:srgbClr val="ED0016">
                <a:alpha val="0"/>
              </a:srgbClr>
            </a:solidFill>
            <a:prstDash val="solid"/>
          </a:ln>
        </p:spPr>
      </p:sp>
      <p:sp>
        <p:nvSpPr>
          <p:cNvPr id="48" name="Text 41"/>
          <p:cNvSpPr txBox="1"/>
          <p:nvPr/>
        </p:nvSpPr>
        <p:spPr>
          <a:xfrm>
            <a:off x="694944" y="5865876"/>
            <a:ext cx="10966704" cy="36576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920" b="1" dirty="0">
                <a:solidFill>
                  <a:srgbClr val="17232C"/>
                </a:solidFill>
                <a:latin typeface="Arial" pitchFamily="34" charset="0"/>
                <a:ea typeface="Arial" pitchFamily="34" charset="-122"/>
                <a:cs typeface="Arial" pitchFamily="34" charset="-120"/>
              </a:rPr>
              <a:t>A class assigns a margin; it does not establish a competitive distributor offer.</a:t>
            </a:r>
            <a:endParaRPr lang="en-US" sz="1920" dirty="0"/>
          </a:p>
        </p:txBody>
      </p:sp>
    </p:spTree>
  </p:cSld>
  <p:clrMapOvr>
    <a:masterClrMapping/>
  </p:clrMapOvr>
  <p:transition spd="fast" advClick="1">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30352" y="301752"/>
            <a:ext cx="950976"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000" b="1" dirty="0">
                <a:solidFill>
                  <a:srgbClr val="ED0016"/>
                </a:solidFill>
                <a:latin typeface="Arial" pitchFamily="34" charset="0"/>
                <a:ea typeface="Arial" pitchFamily="34" charset="-122"/>
                <a:cs typeface="Arial" pitchFamily="34" charset="-120"/>
              </a:rPr>
              <a:t>ISUZU</a:t>
            </a:r>
            <a:endParaRPr lang="en-US" sz="2000" dirty="0"/>
          </a:p>
        </p:txBody>
      </p:sp>
      <p:sp>
        <p:nvSpPr>
          <p:cNvPr id="3" name="Text 1"/>
          <p:cNvSpPr txBox="1"/>
          <p:nvPr/>
        </p:nvSpPr>
        <p:spPr>
          <a:xfrm>
            <a:off x="1856232" y="347472"/>
            <a:ext cx="9418320" cy="16459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980" b="1" spc="145" kern="0" dirty="0">
                <a:solidFill>
                  <a:srgbClr val="687782"/>
                </a:solidFill>
                <a:latin typeface="Arial" pitchFamily="34" charset="0"/>
                <a:ea typeface="Arial" pitchFamily="34" charset="-122"/>
                <a:cs typeface="Arial" pitchFamily="34" charset="-120"/>
              </a:rPr>
              <a:t>PURCHASING DISCOUNTS AND SALES SUPPORT</a:t>
            </a:r>
            <a:endParaRPr lang="en-US" sz="980" dirty="0"/>
          </a:p>
        </p:txBody>
      </p:sp>
      <p:sp>
        <p:nvSpPr>
          <p:cNvPr id="4" name="Text 2"/>
          <p:cNvSpPr txBox="1"/>
          <p:nvPr/>
        </p:nvSpPr>
        <p:spPr>
          <a:xfrm>
            <a:off x="530352" y="960120"/>
            <a:ext cx="11131296" cy="76809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3020" b="1" dirty="0">
                <a:solidFill>
                  <a:srgbClr val="17232C"/>
                </a:solidFill>
                <a:latin typeface="Arial" pitchFamily="34" charset="0"/>
                <a:ea typeface="Arial" pitchFamily="34" charset="-122"/>
                <a:cs typeface="Arial" pitchFamily="34" charset="-120"/>
              </a:rPr>
              <a:t>Japan purchase terms changed; Thailand terms did not.</a:t>
            </a:r>
            <a:endParaRPr lang="en-US" sz="3020" dirty="0"/>
          </a:p>
        </p:txBody>
      </p:sp>
      <p:sp>
        <p:nvSpPr>
          <p:cNvPr id="5" name="Shape 3"/>
          <p:cNvSpPr/>
          <p:nvPr/>
        </p:nvSpPr>
        <p:spPr>
          <a:xfrm>
            <a:off x="530352" y="6382512"/>
            <a:ext cx="11131296" cy="0"/>
          </a:xfrm>
          <a:prstGeom prst="line">
            <a:avLst/>
          </a:prstGeom>
          <a:solidFill>
            <a:srgbClr val="FFFFFF">
              <a:alpha val="0"/>
            </a:srgbClr>
          </a:solidFill>
          <a:ln w="8890">
            <a:solidFill>
              <a:srgbClr val="DCE3E8"/>
            </a:solidFill>
            <a:prstDash val="solid"/>
          </a:ln>
        </p:spPr>
      </p:sp>
      <p:sp>
        <p:nvSpPr>
          <p:cNvPr id="6" name="Text 4"/>
          <p:cNvSpPr txBox="1"/>
          <p:nvPr/>
        </p:nvSpPr>
        <p:spPr>
          <a:xfrm>
            <a:off x="530352" y="6483096"/>
            <a:ext cx="10216896" cy="16459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810" dirty="0">
                <a:solidFill>
                  <a:srgbClr val="687782"/>
                </a:solidFill>
                <a:latin typeface="Arial" pitchFamily="34" charset="0"/>
                <a:ea typeface="Arial" pitchFamily="34" charset="-122"/>
                <a:cs typeface="Arial" pitchFamily="34" charset="-120"/>
              </a:rPr>
              <a:t>Source: Pricing Master. Japan terms effective 5 January 2026; revised percentage management-confirmed.</a:t>
            </a:r>
            <a:endParaRPr lang="en-US" sz="810" dirty="0"/>
          </a:p>
        </p:txBody>
      </p:sp>
      <p:sp>
        <p:nvSpPr>
          <p:cNvPr id="7" name="Text 5"/>
          <p:cNvSpPr txBox="1"/>
          <p:nvPr/>
        </p:nvSpPr>
        <p:spPr>
          <a:xfrm>
            <a:off x="10856976" y="6469380"/>
            <a:ext cx="804672" cy="21031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r" indent="0" marL="0">
              <a:buNone/>
            </a:pPr>
            <a:r>
              <a:rPr lang="en-US" sz="910" dirty="0">
                <a:solidFill>
                  <a:srgbClr val="687782"/>
                </a:solidFill>
                <a:latin typeface="Arial" pitchFamily="34" charset="0"/>
                <a:ea typeface="Arial" pitchFamily="34" charset="-122"/>
                <a:cs typeface="Arial" pitchFamily="34" charset="-120"/>
              </a:rPr>
              <a:t>v1.4  |  04</a:t>
            </a:r>
            <a:endParaRPr lang="en-US" sz="910" dirty="0"/>
          </a:p>
        </p:txBody>
      </p:sp>
      <p:sp>
        <p:nvSpPr>
          <p:cNvPr id="8" name="Shape 6"/>
          <p:cNvSpPr/>
          <p:nvPr/>
        </p:nvSpPr>
        <p:spPr>
          <a:xfrm>
            <a:off x="530352" y="2039112"/>
            <a:ext cx="5971032" cy="274320"/>
          </a:xfrm>
          <a:prstGeom prst="rect">
            <a:avLst/>
          </a:prstGeom>
          <a:solidFill>
            <a:srgbClr val="EFF2F4"/>
          </a:solidFill>
          <a:ln w="12700">
            <a:solidFill>
              <a:srgbClr val="EFF2F4">
                <a:alpha val="0"/>
              </a:srgbClr>
            </a:solidFill>
            <a:prstDash val="solid"/>
          </a:ln>
        </p:spPr>
      </p:sp>
      <p:sp>
        <p:nvSpPr>
          <p:cNvPr id="9" name="Text 7"/>
          <p:cNvSpPr txBox="1"/>
          <p:nvPr/>
        </p:nvSpPr>
        <p:spPr>
          <a:xfrm>
            <a:off x="621792" y="2071116"/>
            <a:ext cx="5788152" cy="20116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920" b="1" spc="45" kern="0" dirty="0">
                <a:solidFill>
                  <a:srgbClr val="687782"/>
                </a:solidFill>
                <a:latin typeface="Arial" pitchFamily="34" charset="0"/>
                <a:ea typeface="Arial" pitchFamily="34" charset="-122"/>
                <a:cs typeface="Arial" pitchFamily="34" charset="-120"/>
              </a:rPr>
              <a:t>JAPAN VEHICLE PARTS | EFFECTIVE JANUARY 2026</a:t>
            </a:r>
            <a:endParaRPr lang="en-US" sz="920" dirty="0"/>
          </a:p>
        </p:txBody>
      </p:sp>
      <p:sp>
        <p:nvSpPr>
          <p:cNvPr id="10" name="Text 8"/>
          <p:cNvSpPr txBox="1"/>
          <p:nvPr/>
        </p:nvSpPr>
        <p:spPr>
          <a:xfrm>
            <a:off x="530352" y="2596896"/>
            <a:ext cx="2459736" cy="83210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4900" b="1" dirty="0">
                <a:solidFill>
                  <a:srgbClr val="17232C"/>
                </a:solidFill>
                <a:latin typeface="Arial" pitchFamily="34" charset="0"/>
                <a:ea typeface="Arial" pitchFamily="34" charset="-122"/>
                <a:cs typeface="Arial" pitchFamily="34" charset="-120"/>
              </a:rPr>
              <a:t>38.0%</a:t>
            </a:r>
            <a:endParaRPr lang="en-US" sz="4900" dirty="0"/>
          </a:p>
        </p:txBody>
      </p:sp>
      <p:sp>
        <p:nvSpPr>
          <p:cNvPr id="11" name="Text 9"/>
          <p:cNvSpPr txBox="1"/>
          <p:nvPr/>
        </p:nvSpPr>
        <p:spPr>
          <a:xfrm>
            <a:off x="3063240" y="2788920"/>
            <a:ext cx="548640" cy="45720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3300" dirty="0">
                <a:solidFill>
                  <a:srgbClr val="ED0016"/>
                </a:solidFill>
                <a:latin typeface="Arial" pitchFamily="34" charset="0"/>
                <a:ea typeface="Arial" pitchFamily="34" charset="-122"/>
                <a:cs typeface="Arial" pitchFamily="34" charset="-120"/>
              </a:rPr>
              <a:t>→</a:t>
            </a:r>
            <a:endParaRPr lang="en-US" sz="3300" dirty="0"/>
          </a:p>
        </p:txBody>
      </p:sp>
      <p:sp>
        <p:nvSpPr>
          <p:cNvPr id="12" name="Text 10"/>
          <p:cNvSpPr txBox="1"/>
          <p:nvPr/>
        </p:nvSpPr>
        <p:spPr>
          <a:xfrm>
            <a:off x="3675888" y="2596896"/>
            <a:ext cx="2468880" cy="83210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4900" b="1" dirty="0">
                <a:solidFill>
                  <a:srgbClr val="ED0016"/>
                </a:solidFill>
                <a:latin typeface="Arial" pitchFamily="34" charset="0"/>
                <a:ea typeface="Arial" pitchFamily="34" charset="-122"/>
                <a:cs typeface="Arial" pitchFamily="34" charset="-120"/>
              </a:rPr>
              <a:t>32.7%</a:t>
            </a:r>
            <a:endParaRPr lang="en-US" sz="4900" dirty="0"/>
          </a:p>
        </p:txBody>
      </p:sp>
      <p:sp>
        <p:nvSpPr>
          <p:cNvPr id="13" name="Text 11"/>
          <p:cNvSpPr txBox="1"/>
          <p:nvPr/>
        </p:nvSpPr>
        <p:spPr>
          <a:xfrm>
            <a:off x="530352" y="3630168"/>
            <a:ext cx="2907792"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560" dirty="0">
                <a:solidFill>
                  <a:srgbClr val="687782"/>
                </a:solidFill>
                <a:latin typeface="Arial" pitchFamily="34" charset="0"/>
                <a:ea typeface="Arial" pitchFamily="34" charset="-122"/>
                <a:cs typeface="Arial" pitchFamily="34" charset="-120"/>
              </a:rPr>
              <a:t>Previous purchasing discount</a:t>
            </a:r>
            <a:endParaRPr lang="en-US" sz="1560" dirty="0"/>
          </a:p>
        </p:txBody>
      </p:sp>
      <p:sp>
        <p:nvSpPr>
          <p:cNvPr id="14" name="Text 12"/>
          <p:cNvSpPr txBox="1"/>
          <p:nvPr/>
        </p:nvSpPr>
        <p:spPr>
          <a:xfrm>
            <a:off x="3675888" y="3630168"/>
            <a:ext cx="2889504"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560" dirty="0">
                <a:solidFill>
                  <a:srgbClr val="687782"/>
                </a:solidFill>
                <a:latin typeface="Arial" pitchFamily="34" charset="0"/>
                <a:ea typeface="Arial" pitchFamily="34" charset="-122"/>
                <a:cs typeface="Arial" pitchFamily="34" charset="-120"/>
              </a:rPr>
              <a:t>Revised purchasing discount</a:t>
            </a:r>
            <a:endParaRPr lang="en-US" sz="1560" dirty="0"/>
          </a:p>
        </p:txBody>
      </p:sp>
      <p:sp>
        <p:nvSpPr>
          <p:cNvPr id="15" name="Text 13"/>
          <p:cNvSpPr txBox="1"/>
          <p:nvPr/>
        </p:nvSpPr>
        <p:spPr>
          <a:xfrm>
            <a:off x="530352" y="4160520"/>
            <a:ext cx="2743200" cy="70408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000" dirty="0">
                <a:solidFill>
                  <a:srgbClr val="17232C"/>
                </a:solidFill>
                <a:latin typeface="Arial" pitchFamily="34" charset="0"/>
                <a:ea typeface="Arial" pitchFamily="34" charset="-122"/>
                <a:cs typeface="Arial" pitchFamily="34" charset="-120"/>
              </a:rPr>
              <a:t>ISZE paid 62.0%</a:t>
            </a:r>
            <a:endParaRPr lang="en-US" sz="2000" dirty="0"/>
          </a:p>
          <a:p>
            <a:pPr algn="l" indent="0" marL="0">
              <a:buNone/>
            </a:pPr>
            <a:r>
              <a:rPr lang="en-US" sz="2000" dirty="0">
                <a:solidFill>
                  <a:srgbClr val="17232C"/>
                </a:solidFill>
                <a:latin typeface="Arial" pitchFamily="34" charset="0"/>
                <a:ea typeface="Arial" pitchFamily="34" charset="-122"/>
                <a:cs typeface="Arial" pitchFamily="34" charset="-120"/>
              </a:rPr>
              <a:t>of the yen base.</a:t>
            </a:r>
            <a:endParaRPr lang="en-US" sz="2000" dirty="0"/>
          </a:p>
        </p:txBody>
      </p:sp>
      <p:sp>
        <p:nvSpPr>
          <p:cNvPr id="16" name="Text 14"/>
          <p:cNvSpPr txBox="1"/>
          <p:nvPr/>
        </p:nvSpPr>
        <p:spPr>
          <a:xfrm>
            <a:off x="3675888" y="4160520"/>
            <a:ext cx="2743200" cy="70408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000" dirty="0">
                <a:solidFill>
                  <a:srgbClr val="17232C"/>
                </a:solidFill>
                <a:latin typeface="Arial" pitchFamily="34" charset="0"/>
                <a:ea typeface="Arial" pitchFamily="34" charset="-122"/>
                <a:cs typeface="Arial" pitchFamily="34" charset="-120"/>
              </a:rPr>
              <a:t>ISZE pays 67.3%</a:t>
            </a:r>
            <a:endParaRPr lang="en-US" sz="2000" dirty="0"/>
          </a:p>
          <a:p>
            <a:pPr algn="l" indent="0" marL="0">
              <a:buNone/>
            </a:pPr>
            <a:r>
              <a:rPr lang="en-US" sz="2000" dirty="0">
                <a:solidFill>
                  <a:srgbClr val="17232C"/>
                </a:solidFill>
                <a:latin typeface="Arial" pitchFamily="34" charset="0"/>
                <a:ea typeface="Arial" pitchFamily="34" charset="-122"/>
                <a:cs typeface="Arial" pitchFamily="34" charset="-120"/>
              </a:rPr>
              <a:t>of the yen base.</a:t>
            </a:r>
            <a:endParaRPr lang="en-US" sz="2000" dirty="0"/>
          </a:p>
        </p:txBody>
      </p:sp>
      <p:sp>
        <p:nvSpPr>
          <p:cNvPr id="17" name="Shape 15"/>
          <p:cNvSpPr/>
          <p:nvPr/>
        </p:nvSpPr>
        <p:spPr>
          <a:xfrm>
            <a:off x="6729984" y="2048256"/>
            <a:ext cx="0" cy="3438144"/>
          </a:xfrm>
          <a:prstGeom prst="line">
            <a:avLst/>
          </a:prstGeom>
          <a:solidFill>
            <a:srgbClr val="FFFFFF">
              <a:alpha val="0"/>
            </a:srgbClr>
          </a:solidFill>
          <a:ln w="12700">
            <a:solidFill>
              <a:srgbClr val="DCE3E8"/>
            </a:solidFill>
            <a:prstDash val="solid"/>
          </a:ln>
        </p:spPr>
      </p:sp>
      <p:sp>
        <p:nvSpPr>
          <p:cNvPr id="18" name="Shape 16"/>
          <p:cNvSpPr/>
          <p:nvPr/>
        </p:nvSpPr>
        <p:spPr>
          <a:xfrm>
            <a:off x="7232904" y="2148840"/>
            <a:ext cx="566928" cy="566928"/>
          </a:xfrm>
          <a:prstGeom prst="ellipse">
            <a:avLst/>
          </a:prstGeom>
          <a:solidFill>
            <a:srgbClr val="FBEDEF"/>
          </a:solidFill>
          <a:ln w="12700">
            <a:solidFill>
              <a:srgbClr val="FBEDEF">
                <a:alpha val="0"/>
              </a:srgbClr>
            </a:solidFill>
            <a:prstDash val="solid"/>
          </a:ln>
        </p:spPr>
      </p:sp>
      <p:pic>
        <p:nvPicPr>
          <p:cNvPr id="19" name="Image 0" descr="Presentation pictogram">    </p:cNvPr>
          <p:cNvPicPr>
            <a:picLocks noChangeAspect="1"/>
          </p:cNvPicPr>
          <p:nvPr/>
        </p:nvPicPr>
        <p:blipFill>
          <a:blip r:embed="rId1"/>
          <a:stretch>
            <a:fillRect/>
          </a:stretch>
        </p:blipFill>
        <p:spPr>
          <a:xfrm>
            <a:off x="7363297" y="2279233"/>
            <a:ext cx="306141" cy="306141"/>
          </a:xfrm>
          <a:prstGeom prst="rect">
            <a:avLst/>
          </a:prstGeom>
        </p:spPr>
      </p:pic>
      <p:sp>
        <p:nvSpPr>
          <p:cNvPr id="20" name="Text 17"/>
          <p:cNvSpPr txBox="1"/>
          <p:nvPr/>
        </p:nvSpPr>
        <p:spPr>
          <a:xfrm>
            <a:off x="8019288" y="2221992"/>
            <a:ext cx="3337560" cy="31089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000" b="1" dirty="0">
                <a:solidFill>
                  <a:srgbClr val="17232C"/>
                </a:solidFill>
                <a:latin typeface="Arial" pitchFamily="34" charset="0"/>
                <a:ea typeface="Arial" pitchFamily="34" charset="-122"/>
                <a:cs typeface="Arial" pitchFamily="34" charset="-120"/>
              </a:rPr>
              <a:t>Thailand: unchanged</a:t>
            </a:r>
            <a:endParaRPr lang="en-US" sz="2000" dirty="0"/>
          </a:p>
        </p:txBody>
      </p:sp>
      <p:sp>
        <p:nvSpPr>
          <p:cNvPr id="21" name="Text 18"/>
          <p:cNvSpPr txBox="1"/>
          <p:nvPr/>
        </p:nvSpPr>
        <p:spPr>
          <a:xfrm>
            <a:off x="7232904" y="2852928"/>
            <a:ext cx="3950208" cy="66751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3900" b="1" dirty="0">
                <a:solidFill>
                  <a:srgbClr val="17232C"/>
                </a:solidFill>
                <a:latin typeface="Arial" pitchFamily="34" charset="0"/>
                <a:ea typeface="Arial" pitchFamily="34" charset="-122"/>
                <a:cs typeface="Arial" pitchFamily="34" charset="-120"/>
              </a:rPr>
              <a:t>38.9%</a:t>
            </a:r>
            <a:endParaRPr lang="en-US" sz="3900" dirty="0"/>
          </a:p>
        </p:txBody>
      </p:sp>
      <p:sp>
        <p:nvSpPr>
          <p:cNvPr id="22" name="Text 19"/>
          <p:cNvSpPr txBox="1"/>
          <p:nvPr/>
        </p:nvSpPr>
        <p:spPr>
          <a:xfrm>
            <a:off x="7232904" y="3657600"/>
            <a:ext cx="3941064" cy="38404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800" dirty="0">
                <a:solidFill>
                  <a:srgbClr val="687782"/>
                </a:solidFill>
                <a:latin typeface="Arial" pitchFamily="34" charset="0"/>
                <a:ea typeface="Arial" pitchFamily="34" charset="-122"/>
                <a:cs typeface="Arial" pitchFamily="34" charset="-120"/>
              </a:rPr>
              <a:t>ISZE pays 61.1% of the yen base.</a:t>
            </a:r>
            <a:endParaRPr lang="en-US" sz="1800" dirty="0"/>
          </a:p>
        </p:txBody>
      </p:sp>
      <p:sp>
        <p:nvSpPr>
          <p:cNvPr id="23" name="Shape 20"/>
          <p:cNvSpPr/>
          <p:nvPr/>
        </p:nvSpPr>
        <p:spPr>
          <a:xfrm>
            <a:off x="7232904" y="4288536"/>
            <a:ext cx="4425696" cy="1106424"/>
          </a:xfrm>
          <a:prstGeom prst="rect">
            <a:avLst/>
          </a:prstGeom>
          <a:solidFill>
            <a:srgbClr val="EFF2F4"/>
          </a:solidFill>
          <a:ln w="12700">
            <a:solidFill>
              <a:srgbClr val="EFF2F4">
                <a:alpha val="0"/>
              </a:srgbClr>
            </a:solidFill>
            <a:prstDash val="solid"/>
          </a:ln>
        </p:spPr>
      </p:sp>
      <p:sp>
        <p:nvSpPr>
          <p:cNvPr id="24" name="Text 21"/>
          <p:cNvSpPr txBox="1"/>
          <p:nvPr/>
        </p:nvSpPr>
        <p:spPr>
          <a:xfrm>
            <a:off x="7388352" y="4425696"/>
            <a:ext cx="4041648" cy="22860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100" b="1" dirty="0">
                <a:solidFill>
                  <a:srgbClr val="687782"/>
                </a:solidFill>
                <a:latin typeface="Arial" pitchFamily="34" charset="0"/>
                <a:ea typeface="Arial" pitchFamily="34" charset="-122"/>
                <a:cs typeface="Arial" pitchFamily="34" charset="-120"/>
              </a:rPr>
              <a:t>SEPARATE: SALES SUPPORT</a:t>
            </a:r>
            <a:endParaRPr lang="en-US" sz="1100" dirty="0"/>
          </a:p>
        </p:txBody>
      </p:sp>
      <p:sp>
        <p:nvSpPr>
          <p:cNvPr id="25" name="Text 22"/>
          <p:cNvSpPr txBox="1"/>
          <p:nvPr/>
        </p:nvSpPr>
        <p:spPr>
          <a:xfrm>
            <a:off x="7388352" y="4745736"/>
            <a:ext cx="4005072" cy="51206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800" b="1" dirty="0">
                <a:solidFill>
                  <a:srgbClr val="17232C"/>
                </a:solidFill>
                <a:latin typeface="Arial" pitchFamily="34" charset="0"/>
                <a:ea typeface="Arial" pitchFamily="34" charset="-122"/>
                <a:cs typeface="Arial" pitchFamily="34" charset="-120"/>
              </a:rPr>
              <a:t>Selling discounts and support</a:t>
            </a:r>
            <a:endParaRPr lang="en-US" sz="1800" dirty="0"/>
          </a:p>
          <a:p>
            <a:pPr algn="l" indent="0" marL="0">
              <a:buNone/>
            </a:pPr>
            <a:r>
              <a:rPr lang="en-US" sz="1800" b="1" dirty="0">
                <a:solidFill>
                  <a:srgbClr val="17232C"/>
                </a:solidFill>
                <a:latin typeface="Arial" pitchFamily="34" charset="0"/>
                <a:ea typeface="Arial" pitchFamily="34" charset="-122"/>
                <a:cs typeface="Arial" pitchFamily="34" charset="-120"/>
              </a:rPr>
              <a:t>reduce ISZE net revenue.</a:t>
            </a:r>
            <a:endParaRPr lang="en-US" sz="1800" dirty="0"/>
          </a:p>
        </p:txBody>
      </p:sp>
      <p:sp>
        <p:nvSpPr>
          <p:cNvPr id="26" name="Shape 23"/>
          <p:cNvSpPr/>
          <p:nvPr/>
        </p:nvSpPr>
        <p:spPr>
          <a:xfrm>
            <a:off x="530352" y="5870448"/>
            <a:ext cx="50292" cy="338328"/>
          </a:xfrm>
          <a:prstGeom prst="rect">
            <a:avLst/>
          </a:prstGeom>
          <a:solidFill>
            <a:srgbClr val="ED0016"/>
          </a:solidFill>
          <a:ln w="12700">
            <a:solidFill>
              <a:srgbClr val="ED0016">
                <a:alpha val="0"/>
              </a:srgbClr>
            </a:solidFill>
            <a:prstDash val="solid"/>
          </a:ln>
        </p:spPr>
      </p:sp>
      <p:sp>
        <p:nvSpPr>
          <p:cNvPr id="27" name="Text 24"/>
          <p:cNvSpPr txBox="1"/>
          <p:nvPr/>
        </p:nvSpPr>
        <p:spPr>
          <a:xfrm>
            <a:off x="694944" y="5865876"/>
            <a:ext cx="10966704" cy="36576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920" b="1" dirty="0">
                <a:solidFill>
                  <a:srgbClr val="17232C"/>
                </a:solidFill>
                <a:latin typeface="Arial" pitchFamily="34" charset="0"/>
                <a:ea typeface="Arial" pitchFamily="34" charset="-122"/>
                <a:cs typeface="Arial" pitchFamily="34" charset="-120"/>
              </a:rPr>
              <a:t>Purchasing discounts reduce cost. Selling support reduces revenue.</a:t>
            </a:r>
            <a:endParaRPr lang="en-US" sz="1920" dirty="0"/>
          </a:p>
        </p:txBody>
      </p:sp>
    </p:spTree>
  </p:cSld>
  <p:clrMapOvr>
    <a:masterClrMapping/>
  </p:clrMapOvr>
  <p:transition spd="fast" advClick="1">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30352" y="301752"/>
            <a:ext cx="950976"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000" b="1" dirty="0">
                <a:solidFill>
                  <a:srgbClr val="ED0016"/>
                </a:solidFill>
                <a:latin typeface="Arial" pitchFamily="34" charset="0"/>
                <a:ea typeface="Arial" pitchFamily="34" charset="-122"/>
                <a:cs typeface="Arial" pitchFamily="34" charset="-120"/>
              </a:rPr>
              <a:t>ISUZU</a:t>
            </a:r>
            <a:endParaRPr lang="en-US" sz="2000" dirty="0"/>
          </a:p>
        </p:txBody>
      </p:sp>
      <p:sp>
        <p:nvSpPr>
          <p:cNvPr id="3" name="Text 1"/>
          <p:cNvSpPr txBox="1"/>
          <p:nvPr/>
        </p:nvSpPr>
        <p:spPr>
          <a:xfrm>
            <a:off x="1856232" y="347472"/>
            <a:ext cx="9418320" cy="16459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980" b="1" spc="145" kern="0" dirty="0">
                <a:solidFill>
                  <a:srgbClr val="687782"/>
                </a:solidFill>
                <a:latin typeface="Arial" pitchFamily="34" charset="0"/>
                <a:ea typeface="Arial" pitchFamily="34" charset="-122"/>
                <a:cs typeface="Arial" pitchFamily="34" charset="-120"/>
              </a:rPr>
              <a:t>EXCHANGE RATE AND PURCHASING TERMS</a:t>
            </a:r>
            <a:endParaRPr lang="en-US" sz="980" dirty="0"/>
          </a:p>
        </p:txBody>
      </p:sp>
      <p:sp>
        <p:nvSpPr>
          <p:cNvPr id="4" name="Text 2"/>
          <p:cNvSpPr txBox="1"/>
          <p:nvPr/>
        </p:nvSpPr>
        <p:spPr>
          <a:xfrm>
            <a:off x="530352" y="960120"/>
            <a:ext cx="11131296" cy="76809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3020" b="1" dirty="0">
                <a:solidFill>
                  <a:srgbClr val="17232C"/>
                </a:solidFill>
                <a:latin typeface="Arial" pitchFamily="34" charset="0"/>
                <a:ea typeface="Arial" pitchFamily="34" charset="-122"/>
                <a:cs typeface="Arial" pitchFamily="34" charset="-120"/>
              </a:rPr>
              <a:t>The weaker yen largely offsets the lower Japan discount.</a:t>
            </a:r>
            <a:endParaRPr lang="en-US" sz="3020" dirty="0"/>
          </a:p>
        </p:txBody>
      </p:sp>
      <p:sp>
        <p:nvSpPr>
          <p:cNvPr id="5" name="Text 3"/>
          <p:cNvSpPr txBox="1"/>
          <p:nvPr/>
        </p:nvSpPr>
        <p:spPr>
          <a:xfrm>
            <a:off x="530352" y="1783080"/>
            <a:ext cx="11131296" cy="46634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630" dirty="0">
                <a:solidFill>
                  <a:srgbClr val="687782"/>
                </a:solidFill>
                <a:latin typeface="Arial" pitchFamily="34" charset="0"/>
                <a:ea typeface="Arial" pitchFamily="34" charset="-122"/>
                <a:cs typeface="Arial" pitchFamily="34" charset="-120"/>
              </a:rPr>
              <a:t>Japan-source illustration: unchanged JPY 16,370 base. Cost in the historical formula.</a:t>
            </a:r>
            <a:endParaRPr lang="en-US" sz="1630" dirty="0"/>
          </a:p>
        </p:txBody>
      </p:sp>
      <p:sp>
        <p:nvSpPr>
          <p:cNvPr id="6" name="Shape 4"/>
          <p:cNvSpPr/>
          <p:nvPr/>
        </p:nvSpPr>
        <p:spPr>
          <a:xfrm>
            <a:off x="530352" y="6382512"/>
            <a:ext cx="11131296" cy="0"/>
          </a:xfrm>
          <a:prstGeom prst="line">
            <a:avLst/>
          </a:prstGeom>
          <a:solidFill>
            <a:srgbClr val="FFFFFF">
              <a:alpha val="0"/>
            </a:srgbClr>
          </a:solidFill>
          <a:ln w="8890">
            <a:solidFill>
              <a:srgbClr val="DCE3E8"/>
            </a:solidFill>
            <a:prstDash val="solid"/>
          </a:ln>
        </p:spPr>
      </p:sp>
      <p:sp>
        <p:nvSpPr>
          <p:cNvPr id="7" name="Text 5"/>
          <p:cNvSpPr txBox="1"/>
          <p:nvPr/>
        </p:nvSpPr>
        <p:spPr>
          <a:xfrm>
            <a:off x="530352" y="6483096"/>
            <a:ext cx="10216896" cy="16459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810" dirty="0">
                <a:solidFill>
                  <a:srgbClr val="687782"/>
                </a:solidFill>
                <a:latin typeface="Arial" pitchFamily="34" charset="0"/>
                <a:ea typeface="Arial" pitchFamily="34" charset="-122"/>
                <a:cs typeface="Arial" pitchFamily="34" charset="-120"/>
              </a:rPr>
              <a:t>Source: Pricing Master. As of 19 September 2026; announced October rate shown separately.</a:t>
            </a:r>
            <a:endParaRPr lang="en-US" sz="810" dirty="0"/>
          </a:p>
        </p:txBody>
      </p:sp>
      <p:sp>
        <p:nvSpPr>
          <p:cNvPr id="8" name="Text 6"/>
          <p:cNvSpPr txBox="1"/>
          <p:nvPr/>
        </p:nvSpPr>
        <p:spPr>
          <a:xfrm>
            <a:off x="10856976" y="6469380"/>
            <a:ext cx="804672" cy="21031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r" indent="0" marL="0">
              <a:buNone/>
            </a:pPr>
            <a:r>
              <a:rPr lang="en-US" sz="910" dirty="0">
                <a:solidFill>
                  <a:srgbClr val="687782"/>
                </a:solidFill>
                <a:latin typeface="Arial" pitchFamily="34" charset="0"/>
                <a:ea typeface="Arial" pitchFamily="34" charset="-122"/>
                <a:cs typeface="Arial" pitchFamily="34" charset="-120"/>
              </a:rPr>
              <a:t>v1.4  |  05</a:t>
            </a:r>
            <a:endParaRPr lang="en-US" sz="910" dirty="0"/>
          </a:p>
        </p:txBody>
      </p:sp>
      <p:sp>
        <p:nvSpPr>
          <p:cNvPr id="9" name="Text 7"/>
          <p:cNvSpPr txBox="1"/>
          <p:nvPr/>
        </p:nvSpPr>
        <p:spPr>
          <a:xfrm>
            <a:off x="530352" y="2441448"/>
            <a:ext cx="3529584" cy="22860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040" b="1" spc="70" kern="0" dirty="0">
                <a:solidFill>
                  <a:srgbClr val="687782"/>
                </a:solidFill>
                <a:latin typeface="Arial" pitchFamily="34" charset="0"/>
                <a:ea typeface="Arial" pitchFamily="34" charset="-122"/>
                <a:cs typeface="Arial" pitchFamily="34" charset="-120"/>
              </a:rPr>
              <a:t>SELLING-LIST BASIS</a:t>
            </a:r>
            <a:endParaRPr lang="en-US" sz="1040" dirty="0"/>
          </a:p>
        </p:txBody>
      </p:sp>
      <p:sp>
        <p:nvSpPr>
          <p:cNvPr id="10" name="Text 8"/>
          <p:cNvSpPr txBox="1"/>
          <p:nvPr/>
        </p:nvSpPr>
        <p:spPr>
          <a:xfrm>
            <a:off x="530352" y="2834640"/>
            <a:ext cx="3511296" cy="47548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800" b="1" dirty="0">
                <a:solidFill>
                  <a:srgbClr val="17232C"/>
                </a:solidFill>
                <a:latin typeface="Arial" pitchFamily="34" charset="0"/>
                <a:ea typeface="Arial" pitchFamily="34" charset="-122"/>
                <a:cs typeface="Arial" pitchFamily="34" charset="-120"/>
              </a:rPr>
              <a:t>163.7 JPY/EUR</a:t>
            </a:r>
            <a:endParaRPr lang="en-US" sz="2800" dirty="0"/>
          </a:p>
        </p:txBody>
      </p:sp>
      <p:sp>
        <p:nvSpPr>
          <p:cNvPr id="11" name="Text 9"/>
          <p:cNvSpPr txBox="1"/>
          <p:nvPr/>
        </p:nvSpPr>
        <p:spPr>
          <a:xfrm>
            <a:off x="530352" y="3438144"/>
            <a:ext cx="3511296" cy="30175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500" dirty="0">
                <a:solidFill>
                  <a:srgbClr val="687782"/>
                </a:solidFill>
                <a:latin typeface="Arial" pitchFamily="34" charset="0"/>
                <a:ea typeface="Arial" pitchFamily="34" charset="-122"/>
                <a:cs typeface="Arial" pitchFamily="34" charset="-120"/>
              </a:rPr>
              <a:t>38.0% purchasing discount</a:t>
            </a:r>
            <a:endParaRPr lang="en-US" sz="1500" dirty="0"/>
          </a:p>
        </p:txBody>
      </p:sp>
      <p:sp>
        <p:nvSpPr>
          <p:cNvPr id="12" name="Shape 10"/>
          <p:cNvSpPr/>
          <p:nvPr/>
        </p:nvSpPr>
        <p:spPr>
          <a:xfrm>
            <a:off x="530352" y="4078224"/>
            <a:ext cx="3154680" cy="1133856"/>
          </a:xfrm>
          <a:prstGeom prst="rect">
            <a:avLst/>
          </a:prstGeom>
          <a:solidFill>
            <a:srgbClr val="C8D1D7"/>
          </a:solidFill>
          <a:ln w="12700">
            <a:solidFill>
              <a:srgbClr val="C8D1D7">
                <a:alpha val="0"/>
              </a:srgbClr>
            </a:solidFill>
            <a:prstDash val="solid"/>
          </a:ln>
        </p:spPr>
      </p:sp>
      <p:sp>
        <p:nvSpPr>
          <p:cNvPr id="13" name="Text 11"/>
          <p:cNvSpPr txBox="1"/>
          <p:nvPr/>
        </p:nvSpPr>
        <p:spPr>
          <a:xfrm>
            <a:off x="658368" y="4215384"/>
            <a:ext cx="2871216" cy="40233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700" b="1" dirty="0">
                <a:solidFill>
                  <a:srgbClr val="17232C"/>
                </a:solidFill>
                <a:latin typeface="Arial" pitchFamily="34" charset="0"/>
                <a:ea typeface="Arial" pitchFamily="34" charset="-122"/>
                <a:cs typeface="Arial" pitchFamily="34" charset="-120"/>
              </a:rPr>
              <a:t>€62.00</a:t>
            </a:r>
            <a:endParaRPr lang="en-US" sz="2700" dirty="0"/>
          </a:p>
        </p:txBody>
      </p:sp>
      <p:sp>
        <p:nvSpPr>
          <p:cNvPr id="14" name="Text 12"/>
          <p:cNvSpPr txBox="1"/>
          <p:nvPr/>
        </p:nvSpPr>
        <p:spPr>
          <a:xfrm>
            <a:off x="530352" y="5367528"/>
            <a:ext cx="3602736" cy="22860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280" dirty="0">
                <a:solidFill>
                  <a:srgbClr val="687782"/>
                </a:solidFill>
                <a:latin typeface="Arial" pitchFamily="34" charset="0"/>
                <a:ea typeface="Arial" pitchFamily="34" charset="-122"/>
                <a:cs typeface="Arial" pitchFamily="34" charset="-120"/>
              </a:rPr>
              <a:t>October 2025 list basis</a:t>
            </a:r>
            <a:endParaRPr lang="en-US" sz="1280" dirty="0"/>
          </a:p>
        </p:txBody>
      </p:sp>
      <p:sp>
        <p:nvSpPr>
          <p:cNvPr id="15" name="Text 13"/>
          <p:cNvSpPr txBox="1"/>
          <p:nvPr/>
        </p:nvSpPr>
        <p:spPr>
          <a:xfrm>
            <a:off x="4379976" y="2441448"/>
            <a:ext cx="3529584" cy="22860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040" b="1" spc="70" kern="0" dirty="0">
                <a:solidFill>
                  <a:srgbClr val="687782"/>
                </a:solidFill>
                <a:latin typeface="Arial" pitchFamily="34" charset="0"/>
                <a:ea typeface="Arial" pitchFamily="34" charset="-122"/>
                <a:cs typeface="Arial" pitchFamily="34" charset="-120"/>
              </a:rPr>
              <a:t>CURRENT COST PERIOD</a:t>
            </a:r>
            <a:endParaRPr lang="en-US" sz="1040" dirty="0"/>
          </a:p>
        </p:txBody>
      </p:sp>
      <p:sp>
        <p:nvSpPr>
          <p:cNvPr id="16" name="Text 14"/>
          <p:cNvSpPr txBox="1"/>
          <p:nvPr/>
        </p:nvSpPr>
        <p:spPr>
          <a:xfrm>
            <a:off x="4379976" y="2834640"/>
            <a:ext cx="3511296" cy="47548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800" b="1" dirty="0">
                <a:solidFill>
                  <a:srgbClr val="17232C"/>
                </a:solidFill>
                <a:latin typeface="Arial" pitchFamily="34" charset="0"/>
                <a:ea typeface="Arial" pitchFamily="34" charset="-122"/>
                <a:cs typeface="Arial" pitchFamily="34" charset="-120"/>
              </a:rPr>
              <a:t>172.6 JPY/EUR</a:t>
            </a:r>
            <a:endParaRPr lang="en-US" sz="2800" dirty="0"/>
          </a:p>
        </p:txBody>
      </p:sp>
      <p:sp>
        <p:nvSpPr>
          <p:cNvPr id="17" name="Text 15"/>
          <p:cNvSpPr txBox="1"/>
          <p:nvPr/>
        </p:nvSpPr>
        <p:spPr>
          <a:xfrm>
            <a:off x="4379976" y="3438144"/>
            <a:ext cx="3511296" cy="30175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500" dirty="0">
                <a:solidFill>
                  <a:srgbClr val="687782"/>
                </a:solidFill>
                <a:latin typeface="Arial" pitchFamily="34" charset="0"/>
                <a:ea typeface="Arial" pitchFamily="34" charset="-122"/>
                <a:cs typeface="Arial" pitchFamily="34" charset="-120"/>
              </a:rPr>
              <a:t>32.7% purchasing discount</a:t>
            </a:r>
            <a:endParaRPr lang="en-US" sz="1500" dirty="0"/>
          </a:p>
        </p:txBody>
      </p:sp>
      <p:sp>
        <p:nvSpPr>
          <p:cNvPr id="18" name="Shape 16"/>
          <p:cNvSpPr/>
          <p:nvPr/>
        </p:nvSpPr>
        <p:spPr>
          <a:xfrm>
            <a:off x="4379976" y="4044757"/>
            <a:ext cx="3154680" cy="1167323"/>
          </a:xfrm>
          <a:prstGeom prst="rect">
            <a:avLst/>
          </a:prstGeom>
          <a:solidFill>
            <a:srgbClr val="17232C"/>
          </a:solidFill>
          <a:ln w="12700">
            <a:solidFill>
              <a:srgbClr val="17232C">
                <a:alpha val="0"/>
              </a:srgbClr>
            </a:solidFill>
            <a:prstDash val="solid"/>
          </a:ln>
        </p:spPr>
      </p:sp>
      <p:sp>
        <p:nvSpPr>
          <p:cNvPr id="19" name="Text 17"/>
          <p:cNvSpPr txBox="1"/>
          <p:nvPr/>
        </p:nvSpPr>
        <p:spPr>
          <a:xfrm>
            <a:off x="4507992" y="4181917"/>
            <a:ext cx="2871216" cy="40233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700" b="1" dirty="0">
                <a:solidFill>
                  <a:srgbClr val="FFFFFF"/>
                </a:solidFill>
                <a:latin typeface="Arial" pitchFamily="34" charset="0"/>
                <a:ea typeface="Arial" pitchFamily="34" charset="-122"/>
                <a:cs typeface="Arial" pitchFamily="34" charset="-120"/>
              </a:rPr>
              <a:t>€63.83</a:t>
            </a:r>
            <a:endParaRPr lang="en-US" sz="2700" dirty="0"/>
          </a:p>
        </p:txBody>
      </p:sp>
      <p:sp>
        <p:nvSpPr>
          <p:cNvPr id="20" name="Text 18"/>
          <p:cNvSpPr txBox="1"/>
          <p:nvPr/>
        </p:nvSpPr>
        <p:spPr>
          <a:xfrm>
            <a:off x="4379976" y="5367528"/>
            <a:ext cx="3602736" cy="22860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280" dirty="0">
                <a:solidFill>
                  <a:srgbClr val="687782"/>
                </a:solidFill>
                <a:latin typeface="Arial" pitchFamily="34" charset="0"/>
                <a:ea typeface="Arial" pitchFamily="34" charset="-122"/>
                <a:cs typeface="Arial" pitchFamily="34" charset="-120"/>
              </a:rPr>
              <a:t>April-September 2026</a:t>
            </a:r>
            <a:endParaRPr lang="en-US" sz="1280" dirty="0"/>
          </a:p>
        </p:txBody>
      </p:sp>
      <p:sp>
        <p:nvSpPr>
          <p:cNvPr id="21" name="Text 19"/>
          <p:cNvSpPr txBox="1"/>
          <p:nvPr/>
        </p:nvSpPr>
        <p:spPr>
          <a:xfrm>
            <a:off x="8229600" y="2441448"/>
            <a:ext cx="3529584" cy="22860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040" b="1" spc="70" kern="0" dirty="0">
                <a:solidFill>
                  <a:srgbClr val="687782"/>
                </a:solidFill>
                <a:latin typeface="Arial" pitchFamily="34" charset="0"/>
                <a:ea typeface="Arial" pitchFamily="34" charset="-122"/>
                <a:cs typeface="Arial" pitchFamily="34" charset="-120"/>
              </a:rPr>
              <a:t>ANNOUNCED NEXT RATE</a:t>
            </a:r>
            <a:endParaRPr lang="en-US" sz="1040" dirty="0"/>
          </a:p>
        </p:txBody>
      </p:sp>
      <p:sp>
        <p:nvSpPr>
          <p:cNvPr id="22" name="Text 20"/>
          <p:cNvSpPr txBox="1"/>
          <p:nvPr/>
        </p:nvSpPr>
        <p:spPr>
          <a:xfrm>
            <a:off x="8229600" y="2834640"/>
            <a:ext cx="3511296" cy="47548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800" b="1" dirty="0">
                <a:solidFill>
                  <a:srgbClr val="17232C"/>
                </a:solidFill>
                <a:latin typeface="Arial" pitchFamily="34" charset="0"/>
                <a:ea typeface="Arial" pitchFamily="34" charset="-122"/>
                <a:cs typeface="Arial" pitchFamily="34" charset="-120"/>
              </a:rPr>
              <a:t>178.5 JPY/EUR</a:t>
            </a:r>
            <a:endParaRPr lang="en-US" sz="2800" dirty="0"/>
          </a:p>
        </p:txBody>
      </p:sp>
      <p:sp>
        <p:nvSpPr>
          <p:cNvPr id="23" name="Text 21"/>
          <p:cNvSpPr txBox="1"/>
          <p:nvPr/>
        </p:nvSpPr>
        <p:spPr>
          <a:xfrm>
            <a:off x="8229600" y="3438144"/>
            <a:ext cx="3511296" cy="30175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500" dirty="0">
                <a:solidFill>
                  <a:srgbClr val="687782"/>
                </a:solidFill>
                <a:latin typeface="Arial" pitchFamily="34" charset="0"/>
                <a:ea typeface="Arial" pitchFamily="34" charset="-122"/>
                <a:cs typeface="Arial" pitchFamily="34" charset="-120"/>
              </a:rPr>
              <a:t>32.7% purchasing discount</a:t>
            </a:r>
            <a:endParaRPr lang="en-US" sz="1500" dirty="0"/>
          </a:p>
        </p:txBody>
      </p:sp>
      <p:sp>
        <p:nvSpPr>
          <p:cNvPr id="24" name="Shape 22"/>
          <p:cNvSpPr/>
          <p:nvPr/>
        </p:nvSpPr>
        <p:spPr>
          <a:xfrm>
            <a:off x="8229600" y="4083345"/>
            <a:ext cx="3154680" cy="1128735"/>
          </a:xfrm>
          <a:prstGeom prst="rect">
            <a:avLst/>
          </a:prstGeom>
          <a:solidFill>
            <a:srgbClr val="ED0016"/>
          </a:solidFill>
          <a:ln w="12700">
            <a:solidFill>
              <a:srgbClr val="ED0016">
                <a:alpha val="0"/>
              </a:srgbClr>
            </a:solidFill>
            <a:prstDash val="solid"/>
          </a:ln>
        </p:spPr>
      </p:sp>
      <p:sp>
        <p:nvSpPr>
          <p:cNvPr id="25" name="Text 23"/>
          <p:cNvSpPr txBox="1"/>
          <p:nvPr/>
        </p:nvSpPr>
        <p:spPr>
          <a:xfrm>
            <a:off x="8357616" y="4220505"/>
            <a:ext cx="2871216" cy="40233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700" b="1" dirty="0">
                <a:solidFill>
                  <a:srgbClr val="FFFFFF"/>
                </a:solidFill>
                <a:latin typeface="Arial" pitchFamily="34" charset="0"/>
                <a:ea typeface="Arial" pitchFamily="34" charset="-122"/>
                <a:cs typeface="Arial" pitchFamily="34" charset="-120"/>
              </a:rPr>
              <a:t>€61.72</a:t>
            </a:r>
            <a:endParaRPr lang="en-US" sz="2700" dirty="0"/>
          </a:p>
        </p:txBody>
      </p:sp>
      <p:sp>
        <p:nvSpPr>
          <p:cNvPr id="26" name="Text 24"/>
          <p:cNvSpPr txBox="1"/>
          <p:nvPr/>
        </p:nvSpPr>
        <p:spPr>
          <a:xfrm>
            <a:off x="8229600" y="5367528"/>
            <a:ext cx="3602736" cy="22860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280" dirty="0">
                <a:solidFill>
                  <a:srgbClr val="687782"/>
                </a:solidFill>
                <a:latin typeface="Arial" pitchFamily="34" charset="0"/>
                <a:ea typeface="Arial" pitchFamily="34" charset="-122"/>
                <a:cs typeface="Arial" pitchFamily="34" charset="-120"/>
              </a:rPr>
              <a:t>October 2026-March 2027</a:t>
            </a:r>
            <a:endParaRPr lang="en-US" sz="1280" dirty="0"/>
          </a:p>
        </p:txBody>
      </p:sp>
      <p:sp>
        <p:nvSpPr>
          <p:cNvPr id="27" name="Shape 25"/>
          <p:cNvSpPr/>
          <p:nvPr/>
        </p:nvSpPr>
        <p:spPr>
          <a:xfrm>
            <a:off x="530352" y="5212080"/>
            <a:ext cx="11131296" cy="0"/>
          </a:xfrm>
          <a:prstGeom prst="line">
            <a:avLst/>
          </a:prstGeom>
          <a:solidFill>
            <a:srgbClr val="FFFFFF">
              <a:alpha val="0"/>
            </a:srgbClr>
          </a:solidFill>
          <a:ln w="10160">
            <a:solidFill>
              <a:srgbClr val="DCE3E8"/>
            </a:solidFill>
            <a:prstDash val="solid"/>
          </a:ln>
        </p:spPr>
      </p:sp>
      <p:sp>
        <p:nvSpPr>
          <p:cNvPr id="28" name="Text 26"/>
          <p:cNvSpPr txBox="1"/>
          <p:nvPr/>
        </p:nvSpPr>
        <p:spPr>
          <a:xfrm>
            <a:off x="292608" y="5102352"/>
            <a:ext cx="182880" cy="18288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900" dirty="0">
                <a:solidFill>
                  <a:srgbClr val="687782"/>
                </a:solidFill>
                <a:latin typeface="Arial" pitchFamily="34" charset="0"/>
                <a:ea typeface="Arial" pitchFamily="34" charset="-122"/>
                <a:cs typeface="Arial" pitchFamily="34" charset="-120"/>
              </a:rPr>
              <a:t>0</a:t>
            </a:r>
            <a:endParaRPr lang="en-US" sz="900" dirty="0"/>
          </a:p>
        </p:txBody>
      </p:sp>
      <p:sp>
        <p:nvSpPr>
          <p:cNvPr id="29" name="Shape 27"/>
          <p:cNvSpPr/>
          <p:nvPr/>
        </p:nvSpPr>
        <p:spPr>
          <a:xfrm>
            <a:off x="530352" y="5870448"/>
            <a:ext cx="50292" cy="338328"/>
          </a:xfrm>
          <a:prstGeom prst="rect">
            <a:avLst/>
          </a:prstGeom>
          <a:solidFill>
            <a:srgbClr val="ED0016"/>
          </a:solidFill>
          <a:ln w="12700">
            <a:solidFill>
              <a:srgbClr val="ED0016">
                <a:alpha val="0"/>
              </a:srgbClr>
            </a:solidFill>
            <a:prstDash val="solid"/>
          </a:ln>
        </p:spPr>
      </p:sp>
      <p:sp>
        <p:nvSpPr>
          <p:cNvPr id="30" name="Text 28"/>
          <p:cNvSpPr txBox="1"/>
          <p:nvPr/>
        </p:nvSpPr>
        <p:spPr>
          <a:xfrm>
            <a:off x="694944" y="5865876"/>
            <a:ext cx="10966704" cy="36576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920" b="1" dirty="0">
                <a:solidFill>
                  <a:srgbClr val="17232C"/>
                </a:solidFill>
                <a:latin typeface="Arial" pitchFamily="34" charset="0"/>
                <a:ea typeface="Arial" pitchFamily="34" charset="-122"/>
                <a:cs typeface="Arial" pitchFamily="34" charset="-120"/>
              </a:rPr>
              <a:t>−0.45% versus the list basis; −3.31% from the new rate alone.</a:t>
            </a:r>
            <a:endParaRPr lang="en-US" sz="1920" dirty="0"/>
          </a:p>
        </p:txBody>
      </p:sp>
    </p:spTree>
  </p:cSld>
  <p:clrMapOvr>
    <a:masterClrMapping/>
  </p:clrMapOvr>
  <p:transition spd="fast" advClick="1">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30352" y="301752"/>
            <a:ext cx="950976"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000" b="1" dirty="0">
                <a:solidFill>
                  <a:srgbClr val="ED0016"/>
                </a:solidFill>
                <a:latin typeface="Arial" pitchFamily="34" charset="0"/>
                <a:ea typeface="Arial" pitchFamily="34" charset="-122"/>
                <a:cs typeface="Arial" pitchFamily="34" charset="-120"/>
              </a:rPr>
              <a:t>ISUZU</a:t>
            </a:r>
            <a:endParaRPr lang="en-US" sz="2000" dirty="0"/>
          </a:p>
        </p:txBody>
      </p:sp>
      <p:sp>
        <p:nvSpPr>
          <p:cNvPr id="3" name="Text 1"/>
          <p:cNvSpPr txBox="1"/>
          <p:nvPr/>
        </p:nvSpPr>
        <p:spPr>
          <a:xfrm>
            <a:off x="1856232" y="347472"/>
            <a:ext cx="9418320" cy="16459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980" b="1" spc="145" kern="0" dirty="0">
                <a:solidFill>
                  <a:srgbClr val="687782"/>
                </a:solidFill>
                <a:latin typeface="Arial" pitchFamily="34" charset="0"/>
                <a:ea typeface="Arial" pitchFamily="34" charset="-122"/>
                <a:cs typeface="Arial" pitchFamily="34" charset="-120"/>
              </a:rPr>
              <a:t>WHY REPLACE PRICE CLASSES</a:t>
            </a:r>
            <a:endParaRPr lang="en-US" sz="980" dirty="0"/>
          </a:p>
        </p:txBody>
      </p:sp>
      <p:sp>
        <p:nvSpPr>
          <p:cNvPr id="4" name="Text 2"/>
          <p:cNvSpPr txBox="1"/>
          <p:nvPr/>
        </p:nvSpPr>
        <p:spPr>
          <a:xfrm>
            <a:off x="530352" y="960120"/>
            <a:ext cx="11131296" cy="76809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3020" b="1" dirty="0">
                <a:solidFill>
                  <a:srgbClr val="17232C"/>
                </a:solidFill>
                <a:latin typeface="Arial" pitchFamily="34" charset="0"/>
                <a:ea typeface="Arial" pitchFamily="34" charset="-122"/>
                <a:cs typeface="Arial" pitchFamily="34" charset="-120"/>
              </a:rPr>
              <a:t>Nearly three in four classed parts share one margin rule.</a:t>
            </a:r>
            <a:endParaRPr lang="en-US" sz="3020" dirty="0"/>
          </a:p>
        </p:txBody>
      </p:sp>
      <p:sp>
        <p:nvSpPr>
          <p:cNvPr id="5" name="Text 3"/>
          <p:cNvSpPr txBox="1"/>
          <p:nvPr/>
        </p:nvSpPr>
        <p:spPr>
          <a:xfrm>
            <a:off x="530352" y="1783080"/>
            <a:ext cx="11131296" cy="46634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630" dirty="0">
                <a:solidFill>
                  <a:srgbClr val="687782"/>
                </a:solidFill>
                <a:latin typeface="Arial" pitchFamily="34" charset="0"/>
                <a:ea typeface="Arial" pitchFamily="34" charset="-122"/>
                <a:cs typeface="Arial" pitchFamily="34" charset="-120"/>
              </a:rPr>
              <a:t>The old rule makes no distinction between their different commercial situations.</a:t>
            </a:r>
            <a:endParaRPr lang="en-US" sz="1630" dirty="0"/>
          </a:p>
        </p:txBody>
      </p:sp>
      <p:sp>
        <p:nvSpPr>
          <p:cNvPr id="6" name="Shape 4"/>
          <p:cNvSpPr/>
          <p:nvPr/>
        </p:nvSpPr>
        <p:spPr>
          <a:xfrm>
            <a:off x="530352" y="6382512"/>
            <a:ext cx="11131296" cy="0"/>
          </a:xfrm>
          <a:prstGeom prst="line">
            <a:avLst/>
          </a:prstGeom>
          <a:solidFill>
            <a:srgbClr val="FFFFFF">
              <a:alpha val="0"/>
            </a:srgbClr>
          </a:solidFill>
          <a:ln w="8890">
            <a:solidFill>
              <a:srgbClr val="DCE3E8"/>
            </a:solidFill>
            <a:prstDash val="solid"/>
          </a:ln>
        </p:spPr>
      </p:sp>
      <p:sp>
        <p:nvSpPr>
          <p:cNvPr id="7" name="Text 5"/>
          <p:cNvSpPr txBox="1"/>
          <p:nvPr/>
        </p:nvSpPr>
        <p:spPr>
          <a:xfrm>
            <a:off x="530352" y="6483096"/>
            <a:ext cx="10216896" cy="16459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810" dirty="0">
                <a:solidFill>
                  <a:srgbClr val="687782"/>
                </a:solidFill>
                <a:latin typeface="Arial" pitchFamily="34" charset="0"/>
                <a:ea typeface="Arial" pitchFamily="34" charset="-122"/>
                <a:cs typeface="Arial" pitchFamily="34" charset="-120"/>
              </a:rPr>
              <a:t>Source: Price Master, August 2026. Current classed part numbers, not turnover share.</a:t>
            </a:r>
            <a:endParaRPr lang="en-US" sz="810" dirty="0"/>
          </a:p>
        </p:txBody>
      </p:sp>
      <p:sp>
        <p:nvSpPr>
          <p:cNvPr id="8" name="Text 6"/>
          <p:cNvSpPr txBox="1"/>
          <p:nvPr/>
        </p:nvSpPr>
        <p:spPr>
          <a:xfrm>
            <a:off x="10856976" y="6469380"/>
            <a:ext cx="804672" cy="21031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r" indent="0" marL="0">
              <a:buNone/>
            </a:pPr>
            <a:r>
              <a:rPr lang="en-US" sz="910" dirty="0">
                <a:solidFill>
                  <a:srgbClr val="687782"/>
                </a:solidFill>
                <a:latin typeface="Arial" pitchFamily="34" charset="0"/>
                <a:ea typeface="Arial" pitchFamily="34" charset="-122"/>
                <a:cs typeface="Arial" pitchFamily="34" charset="-120"/>
              </a:rPr>
              <a:t>v1.4  |  06</a:t>
            </a:r>
            <a:endParaRPr lang="en-US" sz="910" dirty="0"/>
          </a:p>
        </p:txBody>
      </p:sp>
      <p:sp>
        <p:nvSpPr>
          <p:cNvPr id="9" name="Text 7"/>
          <p:cNvSpPr txBox="1"/>
          <p:nvPr/>
        </p:nvSpPr>
        <p:spPr>
          <a:xfrm>
            <a:off x="530352" y="2459736"/>
            <a:ext cx="4663440" cy="128016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8000" b="1" dirty="0">
                <a:solidFill>
                  <a:srgbClr val="ED0016"/>
                </a:solidFill>
                <a:latin typeface="Arial" pitchFamily="34" charset="0"/>
                <a:ea typeface="Arial" pitchFamily="34" charset="-122"/>
                <a:cs typeface="Arial" pitchFamily="34" charset="-120"/>
              </a:rPr>
              <a:t>74.9%</a:t>
            </a:r>
            <a:endParaRPr lang="en-US" sz="8000" dirty="0"/>
          </a:p>
        </p:txBody>
      </p:sp>
      <p:sp>
        <p:nvSpPr>
          <p:cNvPr id="10" name="Text 8"/>
          <p:cNvSpPr txBox="1"/>
          <p:nvPr/>
        </p:nvSpPr>
        <p:spPr>
          <a:xfrm>
            <a:off x="530352" y="3886200"/>
            <a:ext cx="4617720" cy="85953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500" b="1" dirty="0">
                <a:solidFill>
                  <a:srgbClr val="17232C"/>
                </a:solidFill>
                <a:latin typeface="Arial" pitchFamily="34" charset="0"/>
                <a:ea typeface="Arial" pitchFamily="34" charset="-122"/>
                <a:cs typeface="Arial" pitchFamily="34" charset="-120"/>
              </a:rPr>
              <a:t>of current classed part numbers</a:t>
            </a:r>
            <a:endParaRPr lang="en-US" sz="2500" dirty="0"/>
          </a:p>
          <a:p>
            <a:pPr algn="l" indent="0" marL="0">
              <a:buNone/>
            </a:pPr>
            <a:r>
              <a:rPr lang="en-US" sz="2500" b="1" dirty="0">
                <a:solidFill>
                  <a:srgbClr val="17232C"/>
                </a:solidFill>
                <a:latin typeface="Arial" pitchFamily="34" charset="0"/>
                <a:ea typeface="Arial" pitchFamily="34" charset="-122"/>
                <a:cs typeface="Arial" pitchFamily="34" charset="-120"/>
              </a:rPr>
              <a:t>are in Class C.</a:t>
            </a:r>
            <a:endParaRPr lang="en-US" sz="2500" dirty="0"/>
          </a:p>
        </p:txBody>
      </p:sp>
      <p:sp>
        <p:nvSpPr>
          <p:cNvPr id="11" name="Text 9"/>
          <p:cNvSpPr txBox="1"/>
          <p:nvPr/>
        </p:nvSpPr>
        <p:spPr>
          <a:xfrm>
            <a:off x="530352" y="4946904"/>
            <a:ext cx="4718304" cy="42062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000" dirty="0">
                <a:solidFill>
                  <a:srgbClr val="687782"/>
                </a:solidFill>
                <a:latin typeface="Arial" pitchFamily="34" charset="0"/>
                <a:ea typeface="Arial" pitchFamily="34" charset="-122"/>
                <a:cs typeface="Arial" pitchFamily="34" charset="-120"/>
              </a:rPr>
              <a:t>53% formula margin</a:t>
            </a:r>
            <a:endParaRPr lang="en-US" sz="2000" dirty="0"/>
          </a:p>
        </p:txBody>
      </p:sp>
      <p:sp>
        <p:nvSpPr>
          <p:cNvPr id="12" name="Shape 10"/>
          <p:cNvSpPr/>
          <p:nvPr/>
        </p:nvSpPr>
        <p:spPr>
          <a:xfrm>
            <a:off x="7543800" y="2688336"/>
            <a:ext cx="242316" cy="242316"/>
          </a:xfrm>
          <a:prstGeom prst="rect">
            <a:avLst/>
          </a:prstGeom>
          <a:solidFill>
            <a:srgbClr val="ED0016"/>
          </a:solidFill>
          <a:ln w="12700">
            <a:solidFill>
              <a:srgbClr val="ED0016">
                <a:alpha val="0"/>
              </a:srgbClr>
            </a:solidFill>
            <a:prstDash val="solid"/>
          </a:ln>
        </p:spPr>
      </p:sp>
      <p:sp>
        <p:nvSpPr>
          <p:cNvPr id="13" name="Shape 11"/>
          <p:cNvSpPr/>
          <p:nvPr/>
        </p:nvSpPr>
        <p:spPr>
          <a:xfrm>
            <a:off x="7851038" y="2688336"/>
            <a:ext cx="242316" cy="242316"/>
          </a:xfrm>
          <a:prstGeom prst="rect">
            <a:avLst/>
          </a:prstGeom>
          <a:solidFill>
            <a:srgbClr val="ED0016"/>
          </a:solidFill>
          <a:ln w="12700">
            <a:solidFill>
              <a:srgbClr val="ED0016">
                <a:alpha val="0"/>
              </a:srgbClr>
            </a:solidFill>
            <a:prstDash val="solid"/>
          </a:ln>
        </p:spPr>
      </p:sp>
      <p:sp>
        <p:nvSpPr>
          <p:cNvPr id="14" name="Shape 12"/>
          <p:cNvSpPr/>
          <p:nvPr/>
        </p:nvSpPr>
        <p:spPr>
          <a:xfrm>
            <a:off x="8158277" y="2688336"/>
            <a:ext cx="242316" cy="242316"/>
          </a:xfrm>
          <a:prstGeom prst="rect">
            <a:avLst/>
          </a:prstGeom>
          <a:solidFill>
            <a:srgbClr val="ED0016"/>
          </a:solidFill>
          <a:ln w="12700">
            <a:solidFill>
              <a:srgbClr val="ED0016">
                <a:alpha val="0"/>
              </a:srgbClr>
            </a:solidFill>
            <a:prstDash val="solid"/>
          </a:ln>
        </p:spPr>
      </p:sp>
      <p:sp>
        <p:nvSpPr>
          <p:cNvPr id="15" name="Shape 13"/>
          <p:cNvSpPr/>
          <p:nvPr/>
        </p:nvSpPr>
        <p:spPr>
          <a:xfrm>
            <a:off x="8465515" y="2688336"/>
            <a:ext cx="242316" cy="242316"/>
          </a:xfrm>
          <a:prstGeom prst="rect">
            <a:avLst/>
          </a:prstGeom>
          <a:solidFill>
            <a:srgbClr val="ED0016"/>
          </a:solidFill>
          <a:ln w="12700">
            <a:solidFill>
              <a:srgbClr val="ED0016">
                <a:alpha val="0"/>
              </a:srgbClr>
            </a:solidFill>
            <a:prstDash val="solid"/>
          </a:ln>
        </p:spPr>
      </p:sp>
      <p:sp>
        <p:nvSpPr>
          <p:cNvPr id="16" name="Shape 14"/>
          <p:cNvSpPr/>
          <p:nvPr/>
        </p:nvSpPr>
        <p:spPr>
          <a:xfrm>
            <a:off x="8772754" y="2688336"/>
            <a:ext cx="242316" cy="242316"/>
          </a:xfrm>
          <a:prstGeom prst="rect">
            <a:avLst/>
          </a:prstGeom>
          <a:solidFill>
            <a:srgbClr val="ED0016"/>
          </a:solidFill>
          <a:ln w="12700">
            <a:solidFill>
              <a:srgbClr val="ED0016">
                <a:alpha val="0"/>
              </a:srgbClr>
            </a:solidFill>
            <a:prstDash val="solid"/>
          </a:ln>
        </p:spPr>
      </p:sp>
      <p:sp>
        <p:nvSpPr>
          <p:cNvPr id="17" name="Shape 15"/>
          <p:cNvSpPr/>
          <p:nvPr/>
        </p:nvSpPr>
        <p:spPr>
          <a:xfrm>
            <a:off x="9079992" y="2688336"/>
            <a:ext cx="242316" cy="242316"/>
          </a:xfrm>
          <a:prstGeom prst="rect">
            <a:avLst/>
          </a:prstGeom>
          <a:solidFill>
            <a:srgbClr val="ED0016"/>
          </a:solidFill>
          <a:ln w="12700">
            <a:solidFill>
              <a:srgbClr val="ED0016">
                <a:alpha val="0"/>
              </a:srgbClr>
            </a:solidFill>
            <a:prstDash val="solid"/>
          </a:ln>
        </p:spPr>
      </p:sp>
      <p:sp>
        <p:nvSpPr>
          <p:cNvPr id="18" name="Shape 16"/>
          <p:cNvSpPr/>
          <p:nvPr/>
        </p:nvSpPr>
        <p:spPr>
          <a:xfrm>
            <a:off x="9387230" y="2688336"/>
            <a:ext cx="242316" cy="242316"/>
          </a:xfrm>
          <a:prstGeom prst="rect">
            <a:avLst/>
          </a:prstGeom>
          <a:solidFill>
            <a:srgbClr val="ED0016"/>
          </a:solidFill>
          <a:ln w="12700">
            <a:solidFill>
              <a:srgbClr val="ED0016">
                <a:alpha val="0"/>
              </a:srgbClr>
            </a:solidFill>
            <a:prstDash val="solid"/>
          </a:ln>
        </p:spPr>
      </p:sp>
      <p:sp>
        <p:nvSpPr>
          <p:cNvPr id="19" name="Shape 17"/>
          <p:cNvSpPr/>
          <p:nvPr/>
        </p:nvSpPr>
        <p:spPr>
          <a:xfrm>
            <a:off x="9694469" y="2688336"/>
            <a:ext cx="242316" cy="242316"/>
          </a:xfrm>
          <a:prstGeom prst="rect">
            <a:avLst/>
          </a:prstGeom>
          <a:solidFill>
            <a:srgbClr val="ED0016"/>
          </a:solidFill>
          <a:ln w="12700">
            <a:solidFill>
              <a:srgbClr val="ED0016">
                <a:alpha val="0"/>
              </a:srgbClr>
            </a:solidFill>
            <a:prstDash val="solid"/>
          </a:ln>
        </p:spPr>
      </p:sp>
      <p:sp>
        <p:nvSpPr>
          <p:cNvPr id="20" name="Shape 18"/>
          <p:cNvSpPr/>
          <p:nvPr/>
        </p:nvSpPr>
        <p:spPr>
          <a:xfrm>
            <a:off x="10001707" y="2688336"/>
            <a:ext cx="242316" cy="242316"/>
          </a:xfrm>
          <a:prstGeom prst="rect">
            <a:avLst/>
          </a:prstGeom>
          <a:solidFill>
            <a:srgbClr val="ED0016"/>
          </a:solidFill>
          <a:ln w="12700">
            <a:solidFill>
              <a:srgbClr val="ED0016">
                <a:alpha val="0"/>
              </a:srgbClr>
            </a:solidFill>
            <a:prstDash val="solid"/>
          </a:ln>
        </p:spPr>
      </p:sp>
      <p:sp>
        <p:nvSpPr>
          <p:cNvPr id="21" name="Shape 19"/>
          <p:cNvSpPr/>
          <p:nvPr/>
        </p:nvSpPr>
        <p:spPr>
          <a:xfrm>
            <a:off x="10308946" y="2688336"/>
            <a:ext cx="242316" cy="242316"/>
          </a:xfrm>
          <a:prstGeom prst="rect">
            <a:avLst/>
          </a:prstGeom>
          <a:solidFill>
            <a:srgbClr val="ED0016"/>
          </a:solidFill>
          <a:ln w="12700">
            <a:solidFill>
              <a:srgbClr val="ED0016">
                <a:alpha val="0"/>
              </a:srgbClr>
            </a:solidFill>
            <a:prstDash val="solid"/>
          </a:ln>
        </p:spPr>
      </p:sp>
      <p:sp>
        <p:nvSpPr>
          <p:cNvPr id="22" name="Shape 20"/>
          <p:cNvSpPr/>
          <p:nvPr/>
        </p:nvSpPr>
        <p:spPr>
          <a:xfrm>
            <a:off x="7543800" y="2995574"/>
            <a:ext cx="242316" cy="242316"/>
          </a:xfrm>
          <a:prstGeom prst="rect">
            <a:avLst/>
          </a:prstGeom>
          <a:solidFill>
            <a:srgbClr val="ED0016"/>
          </a:solidFill>
          <a:ln w="12700">
            <a:solidFill>
              <a:srgbClr val="ED0016">
                <a:alpha val="0"/>
              </a:srgbClr>
            </a:solidFill>
            <a:prstDash val="solid"/>
          </a:ln>
        </p:spPr>
      </p:sp>
      <p:sp>
        <p:nvSpPr>
          <p:cNvPr id="23" name="Shape 21"/>
          <p:cNvSpPr/>
          <p:nvPr/>
        </p:nvSpPr>
        <p:spPr>
          <a:xfrm>
            <a:off x="7851038" y="2995574"/>
            <a:ext cx="242316" cy="242316"/>
          </a:xfrm>
          <a:prstGeom prst="rect">
            <a:avLst/>
          </a:prstGeom>
          <a:solidFill>
            <a:srgbClr val="ED0016"/>
          </a:solidFill>
          <a:ln w="12700">
            <a:solidFill>
              <a:srgbClr val="ED0016">
                <a:alpha val="0"/>
              </a:srgbClr>
            </a:solidFill>
            <a:prstDash val="solid"/>
          </a:ln>
        </p:spPr>
      </p:sp>
      <p:sp>
        <p:nvSpPr>
          <p:cNvPr id="24" name="Shape 22"/>
          <p:cNvSpPr/>
          <p:nvPr/>
        </p:nvSpPr>
        <p:spPr>
          <a:xfrm>
            <a:off x="8158277" y="2995574"/>
            <a:ext cx="242316" cy="242316"/>
          </a:xfrm>
          <a:prstGeom prst="rect">
            <a:avLst/>
          </a:prstGeom>
          <a:solidFill>
            <a:srgbClr val="ED0016"/>
          </a:solidFill>
          <a:ln w="12700">
            <a:solidFill>
              <a:srgbClr val="ED0016">
                <a:alpha val="0"/>
              </a:srgbClr>
            </a:solidFill>
            <a:prstDash val="solid"/>
          </a:ln>
        </p:spPr>
      </p:sp>
      <p:sp>
        <p:nvSpPr>
          <p:cNvPr id="25" name="Shape 23"/>
          <p:cNvSpPr/>
          <p:nvPr/>
        </p:nvSpPr>
        <p:spPr>
          <a:xfrm>
            <a:off x="8465515" y="2995574"/>
            <a:ext cx="242316" cy="242316"/>
          </a:xfrm>
          <a:prstGeom prst="rect">
            <a:avLst/>
          </a:prstGeom>
          <a:solidFill>
            <a:srgbClr val="ED0016"/>
          </a:solidFill>
          <a:ln w="12700">
            <a:solidFill>
              <a:srgbClr val="ED0016">
                <a:alpha val="0"/>
              </a:srgbClr>
            </a:solidFill>
            <a:prstDash val="solid"/>
          </a:ln>
        </p:spPr>
      </p:sp>
      <p:sp>
        <p:nvSpPr>
          <p:cNvPr id="26" name="Shape 24"/>
          <p:cNvSpPr/>
          <p:nvPr/>
        </p:nvSpPr>
        <p:spPr>
          <a:xfrm>
            <a:off x="8772754" y="2995574"/>
            <a:ext cx="242316" cy="242316"/>
          </a:xfrm>
          <a:prstGeom prst="rect">
            <a:avLst/>
          </a:prstGeom>
          <a:solidFill>
            <a:srgbClr val="ED0016"/>
          </a:solidFill>
          <a:ln w="12700">
            <a:solidFill>
              <a:srgbClr val="ED0016">
                <a:alpha val="0"/>
              </a:srgbClr>
            </a:solidFill>
            <a:prstDash val="solid"/>
          </a:ln>
        </p:spPr>
      </p:sp>
      <p:sp>
        <p:nvSpPr>
          <p:cNvPr id="27" name="Shape 25"/>
          <p:cNvSpPr/>
          <p:nvPr/>
        </p:nvSpPr>
        <p:spPr>
          <a:xfrm>
            <a:off x="9079992" y="2995574"/>
            <a:ext cx="242316" cy="242316"/>
          </a:xfrm>
          <a:prstGeom prst="rect">
            <a:avLst/>
          </a:prstGeom>
          <a:solidFill>
            <a:srgbClr val="ED0016"/>
          </a:solidFill>
          <a:ln w="12700">
            <a:solidFill>
              <a:srgbClr val="ED0016">
                <a:alpha val="0"/>
              </a:srgbClr>
            </a:solidFill>
            <a:prstDash val="solid"/>
          </a:ln>
        </p:spPr>
      </p:sp>
      <p:sp>
        <p:nvSpPr>
          <p:cNvPr id="28" name="Shape 26"/>
          <p:cNvSpPr/>
          <p:nvPr/>
        </p:nvSpPr>
        <p:spPr>
          <a:xfrm>
            <a:off x="9387230" y="2995574"/>
            <a:ext cx="242316" cy="242316"/>
          </a:xfrm>
          <a:prstGeom prst="rect">
            <a:avLst/>
          </a:prstGeom>
          <a:solidFill>
            <a:srgbClr val="ED0016"/>
          </a:solidFill>
          <a:ln w="12700">
            <a:solidFill>
              <a:srgbClr val="ED0016">
                <a:alpha val="0"/>
              </a:srgbClr>
            </a:solidFill>
            <a:prstDash val="solid"/>
          </a:ln>
        </p:spPr>
      </p:sp>
      <p:sp>
        <p:nvSpPr>
          <p:cNvPr id="29" name="Shape 27"/>
          <p:cNvSpPr/>
          <p:nvPr/>
        </p:nvSpPr>
        <p:spPr>
          <a:xfrm>
            <a:off x="9694469" y="2995574"/>
            <a:ext cx="242316" cy="242316"/>
          </a:xfrm>
          <a:prstGeom prst="rect">
            <a:avLst/>
          </a:prstGeom>
          <a:solidFill>
            <a:srgbClr val="ED0016"/>
          </a:solidFill>
          <a:ln w="12700">
            <a:solidFill>
              <a:srgbClr val="ED0016">
                <a:alpha val="0"/>
              </a:srgbClr>
            </a:solidFill>
            <a:prstDash val="solid"/>
          </a:ln>
        </p:spPr>
      </p:sp>
      <p:sp>
        <p:nvSpPr>
          <p:cNvPr id="30" name="Shape 28"/>
          <p:cNvSpPr/>
          <p:nvPr/>
        </p:nvSpPr>
        <p:spPr>
          <a:xfrm>
            <a:off x="10001707" y="2995574"/>
            <a:ext cx="242316" cy="242316"/>
          </a:xfrm>
          <a:prstGeom prst="rect">
            <a:avLst/>
          </a:prstGeom>
          <a:solidFill>
            <a:srgbClr val="ED0016"/>
          </a:solidFill>
          <a:ln w="12700">
            <a:solidFill>
              <a:srgbClr val="ED0016">
                <a:alpha val="0"/>
              </a:srgbClr>
            </a:solidFill>
            <a:prstDash val="solid"/>
          </a:ln>
        </p:spPr>
      </p:sp>
      <p:sp>
        <p:nvSpPr>
          <p:cNvPr id="31" name="Shape 29"/>
          <p:cNvSpPr/>
          <p:nvPr/>
        </p:nvSpPr>
        <p:spPr>
          <a:xfrm>
            <a:off x="10308946" y="2995574"/>
            <a:ext cx="242316" cy="242316"/>
          </a:xfrm>
          <a:prstGeom prst="rect">
            <a:avLst/>
          </a:prstGeom>
          <a:solidFill>
            <a:srgbClr val="ED0016"/>
          </a:solidFill>
          <a:ln w="12700">
            <a:solidFill>
              <a:srgbClr val="ED0016">
                <a:alpha val="0"/>
              </a:srgbClr>
            </a:solidFill>
            <a:prstDash val="solid"/>
          </a:ln>
        </p:spPr>
      </p:sp>
      <p:sp>
        <p:nvSpPr>
          <p:cNvPr id="32" name="Shape 30"/>
          <p:cNvSpPr/>
          <p:nvPr/>
        </p:nvSpPr>
        <p:spPr>
          <a:xfrm>
            <a:off x="7543800" y="3302813"/>
            <a:ext cx="242316" cy="242316"/>
          </a:xfrm>
          <a:prstGeom prst="rect">
            <a:avLst/>
          </a:prstGeom>
          <a:solidFill>
            <a:srgbClr val="ED0016"/>
          </a:solidFill>
          <a:ln w="12700">
            <a:solidFill>
              <a:srgbClr val="ED0016">
                <a:alpha val="0"/>
              </a:srgbClr>
            </a:solidFill>
            <a:prstDash val="solid"/>
          </a:ln>
        </p:spPr>
      </p:sp>
      <p:sp>
        <p:nvSpPr>
          <p:cNvPr id="33" name="Shape 31"/>
          <p:cNvSpPr/>
          <p:nvPr/>
        </p:nvSpPr>
        <p:spPr>
          <a:xfrm>
            <a:off x="7851038" y="3302813"/>
            <a:ext cx="242316" cy="242316"/>
          </a:xfrm>
          <a:prstGeom prst="rect">
            <a:avLst/>
          </a:prstGeom>
          <a:solidFill>
            <a:srgbClr val="ED0016"/>
          </a:solidFill>
          <a:ln w="12700">
            <a:solidFill>
              <a:srgbClr val="ED0016">
                <a:alpha val="0"/>
              </a:srgbClr>
            </a:solidFill>
            <a:prstDash val="solid"/>
          </a:ln>
        </p:spPr>
      </p:sp>
      <p:sp>
        <p:nvSpPr>
          <p:cNvPr id="34" name="Shape 32"/>
          <p:cNvSpPr/>
          <p:nvPr/>
        </p:nvSpPr>
        <p:spPr>
          <a:xfrm>
            <a:off x="8158277" y="3302813"/>
            <a:ext cx="242316" cy="242316"/>
          </a:xfrm>
          <a:prstGeom prst="rect">
            <a:avLst/>
          </a:prstGeom>
          <a:solidFill>
            <a:srgbClr val="ED0016"/>
          </a:solidFill>
          <a:ln w="12700">
            <a:solidFill>
              <a:srgbClr val="ED0016">
                <a:alpha val="0"/>
              </a:srgbClr>
            </a:solidFill>
            <a:prstDash val="solid"/>
          </a:ln>
        </p:spPr>
      </p:sp>
      <p:sp>
        <p:nvSpPr>
          <p:cNvPr id="35" name="Shape 33"/>
          <p:cNvSpPr/>
          <p:nvPr/>
        </p:nvSpPr>
        <p:spPr>
          <a:xfrm>
            <a:off x="8465515" y="3302813"/>
            <a:ext cx="242316" cy="242316"/>
          </a:xfrm>
          <a:prstGeom prst="rect">
            <a:avLst/>
          </a:prstGeom>
          <a:solidFill>
            <a:srgbClr val="ED0016"/>
          </a:solidFill>
          <a:ln w="12700">
            <a:solidFill>
              <a:srgbClr val="ED0016">
                <a:alpha val="0"/>
              </a:srgbClr>
            </a:solidFill>
            <a:prstDash val="solid"/>
          </a:ln>
        </p:spPr>
      </p:sp>
      <p:sp>
        <p:nvSpPr>
          <p:cNvPr id="36" name="Shape 34"/>
          <p:cNvSpPr/>
          <p:nvPr/>
        </p:nvSpPr>
        <p:spPr>
          <a:xfrm>
            <a:off x="8772754" y="3302813"/>
            <a:ext cx="242316" cy="242316"/>
          </a:xfrm>
          <a:prstGeom prst="rect">
            <a:avLst/>
          </a:prstGeom>
          <a:solidFill>
            <a:srgbClr val="ED0016"/>
          </a:solidFill>
          <a:ln w="12700">
            <a:solidFill>
              <a:srgbClr val="ED0016">
                <a:alpha val="0"/>
              </a:srgbClr>
            </a:solidFill>
            <a:prstDash val="solid"/>
          </a:ln>
        </p:spPr>
      </p:sp>
      <p:sp>
        <p:nvSpPr>
          <p:cNvPr id="37" name="Shape 35"/>
          <p:cNvSpPr/>
          <p:nvPr/>
        </p:nvSpPr>
        <p:spPr>
          <a:xfrm>
            <a:off x="9079992" y="3302813"/>
            <a:ext cx="242316" cy="242316"/>
          </a:xfrm>
          <a:prstGeom prst="rect">
            <a:avLst/>
          </a:prstGeom>
          <a:solidFill>
            <a:srgbClr val="ED0016"/>
          </a:solidFill>
          <a:ln w="12700">
            <a:solidFill>
              <a:srgbClr val="ED0016">
                <a:alpha val="0"/>
              </a:srgbClr>
            </a:solidFill>
            <a:prstDash val="solid"/>
          </a:ln>
        </p:spPr>
      </p:sp>
      <p:sp>
        <p:nvSpPr>
          <p:cNvPr id="38" name="Shape 36"/>
          <p:cNvSpPr/>
          <p:nvPr/>
        </p:nvSpPr>
        <p:spPr>
          <a:xfrm>
            <a:off x="9387230" y="3302813"/>
            <a:ext cx="242316" cy="242316"/>
          </a:xfrm>
          <a:prstGeom prst="rect">
            <a:avLst/>
          </a:prstGeom>
          <a:solidFill>
            <a:srgbClr val="ED0016"/>
          </a:solidFill>
          <a:ln w="12700">
            <a:solidFill>
              <a:srgbClr val="ED0016">
                <a:alpha val="0"/>
              </a:srgbClr>
            </a:solidFill>
            <a:prstDash val="solid"/>
          </a:ln>
        </p:spPr>
      </p:sp>
      <p:sp>
        <p:nvSpPr>
          <p:cNvPr id="39" name="Shape 37"/>
          <p:cNvSpPr/>
          <p:nvPr/>
        </p:nvSpPr>
        <p:spPr>
          <a:xfrm>
            <a:off x="9694469" y="3302813"/>
            <a:ext cx="242316" cy="242316"/>
          </a:xfrm>
          <a:prstGeom prst="rect">
            <a:avLst/>
          </a:prstGeom>
          <a:solidFill>
            <a:srgbClr val="ED0016"/>
          </a:solidFill>
          <a:ln w="12700">
            <a:solidFill>
              <a:srgbClr val="ED0016">
                <a:alpha val="0"/>
              </a:srgbClr>
            </a:solidFill>
            <a:prstDash val="solid"/>
          </a:ln>
        </p:spPr>
      </p:sp>
      <p:sp>
        <p:nvSpPr>
          <p:cNvPr id="40" name="Shape 38"/>
          <p:cNvSpPr/>
          <p:nvPr/>
        </p:nvSpPr>
        <p:spPr>
          <a:xfrm>
            <a:off x="10001707" y="3302813"/>
            <a:ext cx="242316" cy="242316"/>
          </a:xfrm>
          <a:prstGeom prst="rect">
            <a:avLst/>
          </a:prstGeom>
          <a:solidFill>
            <a:srgbClr val="ED0016"/>
          </a:solidFill>
          <a:ln w="12700">
            <a:solidFill>
              <a:srgbClr val="ED0016">
                <a:alpha val="0"/>
              </a:srgbClr>
            </a:solidFill>
            <a:prstDash val="solid"/>
          </a:ln>
        </p:spPr>
      </p:sp>
      <p:sp>
        <p:nvSpPr>
          <p:cNvPr id="41" name="Shape 39"/>
          <p:cNvSpPr/>
          <p:nvPr/>
        </p:nvSpPr>
        <p:spPr>
          <a:xfrm>
            <a:off x="10308946" y="3302813"/>
            <a:ext cx="242316" cy="242316"/>
          </a:xfrm>
          <a:prstGeom prst="rect">
            <a:avLst/>
          </a:prstGeom>
          <a:solidFill>
            <a:srgbClr val="ED0016"/>
          </a:solidFill>
          <a:ln w="12700">
            <a:solidFill>
              <a:srgbClr val="ED0016">
                <a:alpha val="0"/>
              </a:srgbClr>
            </a:solidFill>
            <a:prstDash val="solid"/>
          </a:ln>
        </p:spPr>
      </p:sp>
      <p:sp>
        <p:nvSpPr>
          <p:cNvPr id="42" name="Shape 40"/>
          <p:cNvSpPr/>
          <p:nvPr/>
        </p:nvSpPr>
        <p:spPr>
          <a:xfrm>
            <a:off x="7543800" y="3610051"/>
            <a:ext cx="242316" cy="242316"/>
          </a:xfrm>
          <a:prstGeom prst="rect">
            <a:avLst/>
          </a:prstGeom>
          <a:solidFill>
            <a:srgbClr val="ED0016"/>
          </a:solidFill>
          <a:ln w="12700">
            <a:solidFill>
              <a:srgbClr val="ED0016">
                <a:alpha val="0"/>
              </a:srgbClr>
            </a:solidFill>
            <a:prstDash val="solid"/>
          </a:ln>
        </p:spPr>
      </p:sp>
      <p:sp>
        <p:nvSpPr>
          <p:cNvPr id="43" name="Shape 41"/>
          <p:cNvSpPr/>
          <p:nvPr/>
        </p:nvSpPr>
        <p:spPr>
          <a:xfrm>
            <a:off x="7851038" y="3610051"/>
            <a:ext cx="242316" cy="242316"/>
          </a:xfrm>
          <a:prstGeom prst="rect">
            <a:avLst/>
          </a:prstGeom>
          <a:solidFill>
            <a:srgbClr val="ED0016"/>
          </a:solidFill>
          <a:ln w="12700">
            <a:solidFill>
              <a:srgbClr val="ED0016">
                <a:alpha val="0"/>
              </a:srgbClr>
            </a:solidFill>
            <a:prstDash val="solid"/>
          </a:ln>
        </p:spPr>
      </p:sp>
      <p:sp>
        <p:nvSpPr>
          <p:cNvPr id="44" name="Shape 42"/>
          <p:cNvSpPr/>
          <p:nvPr/>
        </p:nvSpPr>
        <p:spPr>
          <a:xfrm>
            <a:off x="8158277" y="3610051"/>
            <a:ext cx="242316" cy="242316"/>
          </a:xfrm>
          <a:prstGeom prst="rect">
            <a:avLst/>
          </a:prstGeom>
          <a:solidFill>
            <a:srgbClr val="ED0016"/>
          </a:solidFill>
          <a:ln w="12700">
            <a:solidFill>
              <a:srgbClr val="ED0016">
                <a:alpha val="0"/>
              </a:srgbClr>
            </a:solidFill>
            <a:prstDash val="solid"/>
          </a:ln>
        </p:spPr>
      </p:sp>
      <p:sp>
        <p:nvSpPr>
          <p:cNvPr id="45" name="Shape 43"/>
          <p:cNvSpPr/>
          <p:nvPr/>
        </p:nvSpPr>
        <p:spPr>
          <a:xfrm>
            <a:off x="8465515" y="3610051"/>
            <a:ext cx="242316" cy="242316"/>
          </a:xfrm>
          <a:prstGeom prst="rect">
            <a:avLst/>
          </a:prstGeom>
          <a:solidFill>
            <a:srgbClr val="ED0016"/>
          </a:solidFill>
          <a:ln w="12700">
            <a:solidFill>
              <a:srgbClr val="ED0016">
                <a:alpha val="0"/>
              </a:srgbClr>
            </a:solidFill>
            <a:prstDash val="solid"/>
          </a:ln>
        </p:spPr>
      </p:sp>
      <p:sp>
        <p:nvSpPr>
          <p:cNvPr id="46" name="Shape 44"/>
          <p:cNvSpPr/>
          <p:nvPr/>
        </p:nvSpPr>
        <p:spPr>
          <a:xfrm>
            <a:off x="8772754" y="3610051"/>
            <a:ext cx="242316" cy="242316"/>
          </a:xfrm>
          <a:prstGeom prst="rect">
            <a:avLst/>
          </a:prstGeom>
          <a:solidFill>
            <a:srgbClr val="ED0016"/>
          </a:solidFill>
          <a:ln w="12700">
            <a:solidFill>
              <a:srgbClr val="ED0016">
                <a:alpha val="0"/>
              </a:srgbClr>
            </a:solidFill>
            <a:prstDash val="solid"/>
          </a:ln>
        </p:spPr>
      </p:sp>
      <p:sp>
        <p:nvSpPr>
          <p:cNvPr id="47" name="Shape 45"/>
          <p:cNvSpPr/>
          <p:nvPr/>
        </p:nvSpPr>
        <p:spPr>
          <a:xfrm>
            <a:off x="9079992" y="3610051"/>
            <a:ext cx="242316" cy="242316"/>
          </a:xfrm>
          <a:prstGeom prst="rect">
            <a:avLst/>
          </a:prstGeom>
          <a:solidFill>
            <a:srgbClr val="ED0016"/>
          </a:solidFill>
          <a:ln w="12700">
            <a:solidFill>
              <a:srgbClr val="ED0016">
                <a:alpha val="0"/>
              </a:srgbClr>
            </a:solidFill>
            <a:prstDash val="solid"/>
          </a:ln>
        </p:spPr>
      </p:sp>
      <p:sp>
        <p:nvSpPr>
          <p:cNvPr id="48" name="Shape 46"/>
          <p:cNvSpPr/>
          <p:nvPr/>
        </p:nvSpPr>
        <p:spPr>
          <a:xfrm>
            <a:off x="9387230" y="3610051"/>
            <a:ext cx="242316" cy="242316"/>
          </a:xfrm>
          <a:prstGeom prst="rect">
            <a:avLst/>
          </a:prstGeom>
          <a:solidFill>
            <a:srgbClr val="ED0016"/>
          </a:solidFill>
          <a:ln w="12700">
            <a:solidFill>
              <a:srgbClr val="ED0016">
                <a:alpha val="0"/>
              </a:srgbClr>
            </a:solidFill>
            <a:prstDash val="solid"/>
          </a:ln>
        </p:spPr>
      </p:sp>
      <p:sp>
        <p:nvSpPr>
          <p:cNvPr id="49" name="Shape 47"/>
          <p:cNvSpPr/>
          <p:nvPr/>
        </p:nvSpPr>
        <p:spPr>
          <a:xfrm>
            <a:off x="9694469" y="3610051"/>
            <a:ext cx="242316" cy="242316"/>
          </a:xfrm>
          <a:prstGeom prst="rect">
            <a:avLst/>
          </a:prstGeom>
          <a:solidFill>
            <a:srgbClr val="ED0016"/>
          </a:solidFill>
          <a:ln w="12700">
            <a:solidFill>
              <a:srgbClr val="ED0016">
                <a:alpha val="0"/>
              </a:srgbClr>
            </a:solidFill>
            <a:prstDash val="solid"/>
          </a:ln>
        </p:spPr>
      </p:sp>
      <p:sp>
        <p:nvSpPr>
          <p:cNvPr id="50" name="Shape 48"/>
          <p:cNvSpPr/>
          <p:nvPr/>
        </p:nvSpPr>
        <p:spPr>
          <a:xfrm>
            <a:off x="10001707" y="3610051"/>
            <a:ext cx="242316" cy="242316"/>
          </a:xfrm>
          <a:prstGeom prst="rect">
            <a:avLst/>
          </a:prstGeom>
          <a:solidFill>
            <a:srgbClr val="ED0016"/>
          </a:solidFill>
          <a:ln w="12700">
            <a:solidFill>
              <a:srgbClr val="ED0016">
                <a:alpha val="0"/>
              </a:srgbClr>
            </a:solidFill>
            <a:prstDash val="solid"/>
          </a:ln>
        </p:spPr>
      </p:sp>
      <p:sp>
        <p:nvSpPr>
          <p:cNvPr id="51" name="Shape 49"/>
          <p:cNvSpPr/>
          <p:nvPr/>
        </p:nvSpPr>
        <p:spPr>
          <a:xfrm>
            <a:off x="10308946" y="3610051"/>
            <a:ext cx="242316" cy="242316"/>
          </a:xfrm>
          <a:prstGeom prst="rect">
            <a:avLst/>
          </a:prstGeom>
          <a:solidFill>
            <a:srgbClr val="ED0016"/>
          </a:solidFill>
          <a:ln w="12700">
            <a:solidFill>
              <a:srgbClr val="ED0016">
                <a:alpha val="0"/>
              </a:srgbClr>
            </a:solidFill>
            <a:prstDash val="solid"/>
          </a:ln>
        </p:spPr>
      </p:sp>
      <p:sp>
        <p:nvSpPr>
          <p:cNvPr id="52" name="Shape 50"/>
          <p:cNvSpPr/>
          <p:nvPr/>
        </p:nvSpPr>
        <p:spPr>
          <a:xfrm>
            <a:off x="7543800" y="3917290"/>
            <a:ext cx="242316" cy="242316"/>
          </a:xfrm>
          <a:prstGeom prst="rect">
            <a:avLst/>
          </a:prstGeom>
          <a:solidFill>
            <a:srgbClr val="ED0016"/>
          </a:solidFill>
          <a:ln w="12700">
            <a:solidFill>
              <a:srgbClr val="ED0016">
                <a:alpha val="0"/>
              </a:srgbClr>
            </a:solidFill>
            <a:prstDash val="solid"/>
          </a:ln>
        </p:spPr>
      </p:sp>
      <p:sp>
        <p:nvSpPr>
          <p:cNvPr id="53" name="Shape 51"/>
          <p:cNvSpPr/>
          <p:nvPr/>
        </p:nvSpPr>
        <p:spPr>
          <a:xfrm>
            <a:off x="7851038" y="3917290"/>
            <a:ext cx="242316" cy="242316"/>
          </a:xfrm>
          <a:prstGeom prst="rect">
            <a:avLst/>
          </a:prstGeom>
          <a:solidFill>
            <a:srgbClr val="ED0016"/>
          </a:solidFill>
          <a:ln w="12700">
            <a:solidFill>
              <a:srgbClr val="ED0016">
                <a:alpha val="0"/>
              </a:srgbClr>
            </a:solidFill>
            <a:prstDash val="solid"/>
          </a:ln>
        </p:spPr>
      </p:sp>
      <p:sp>
        <p:nvSpPr>
          <p:cNvPr id="54" name="Shape 52"/>
          <p:cNvSpPr/>
          <p:nvPr/>
        </p:nvSpPr>
        <p:spPr>
          <a:xfrm>
            <a:off x="8158277" y="3917290"/>
            <a:ext cx="242316" cy="242316"/>
          </a:xfrm>
          <a:prstGeom prst="rect">
            <a:avLst/>
          </a:prstGeom>
          <a:solidFill>
            <a:srgbClr val="ED0016"/>
          </a:solidFill>
          <a:ln w="12700">
            <a:solidFill>
              <a:srgbClr val="ED0016">
                <a:alpha val="0"/>
              </a:srgbClr>
            </a:solidFill>
            <a:prstDash val="solid"/>
          </a:ln>
        </p:spPr>
      </p:sp>
      <p:sp>
        <p:nvSpPr>
          <p:cNvPr id="55" name="Shape 53"/>
          <p:cNvSpPr/>
          <p:nvPr/>
        </p:nvSpPr>
        <p:spPr>
          <a:xfrm>
            <a:off x="8465515" y="3917290"/>
            <a:ext cx="242316" cy="242316"/>
          </a:xfrm>
          <a:prstGeom prst="rect">
            <a:avLst/>
          </a:prstGeom>
          <a:solidFill>
            <a:srgbClr val="ED0016"/>
          </a:solidFill>
          <a:ln w="12700">
            <a:solidFill>
              <a:srgbClr val="ED0016">
                <a:alpha val="0"/>
              </a:srgbClr>
            </a:solidFill>
            <a:prstDash val="solid"/>
          </a:ln>
        </p:spPr>
      </p:sp>
      <p:sp>
        <p:nvSpPr>
          <p:cNvPr id="56" name="Shape 54"/>
          <p:cNvSpPr/>
          <p:nvPr/>
        </p:nvSpPr>
        <p:spPr>
          <a:xfrm>
            <a:off x="8772754" y="3917290"/>
            <a:ext cx="242316" cy="242316"/>
          </a:xfrm>
          <a:prstGeom prst="rect">
            <a:avLst/>
          </a:prstGeom>
          <a:solidFill>
            <a:srgbClr val="ED0016"/>
          </a:solidFill>
          <a:ln w="12700">
            <a:solidFill>
              <a:srgbClr val="ED0016">
                <a:alpha val="0"/>
              </a:srgbClr>
            </a:solidFill>
            <a:prstDash val="solid"/>
          </a:ln>
        </p:spPr>
      </p:sp>
      <p:sp>
        <p:nvSpPr>
          <p:cNvPr id="57" name="Shape 55"/>
          <p:cNvSpPr/>
          <p:nvPr/>
        </p:nvSpPr>
        <p:spPr>
          <a:xfrm>
            <a:off x="9079992" y="3917290"/>
            <a:ext cx="242316" cy="242316"/>
          </a:xfrm>
          <a:prstGeom prst="rect">
            <a:avLst/>
          </a:prstGeom>
          <a:solidFill>
            <a:srgbClr val="ED0016"/>
          </a:solidFill>
          <a:ln w="12700">
            <a:solidFill>
              <a:srgbClr val="ED0016">
                <a:alpha val="0"/>
              </a:srgbClr>
            </a:solidFill>
            <a:prstDash val="solid"/>
          </a:ln>
        </p:spPr>
      </p:sp>
      <p:sp>
        <p:nvSpPr>
          <p:cNvPr id="58" name="Shape 56"/>
          <p:cNvSpPr/>
          <p:nvPr/>
        </p:nvSpPr>
        <p:spPr>
          <a:xfrm>
            <a:off x="9387230" y="3917290"/>
            <a:ext cx="242316" cy="242316"/>
          </a:xfrm>
          <a:prstGeom prst="rect">
            <a:avLst/>
          </a:prstGeom>
          <a:solidFill>
            <a:srgbClr val="ED0016"/>
          </a:solidFill>
          <a:ln w="12700">
            <a:solidFill>
              <a:srgbClr val="ED0016">
                <a:alpha val="0"/>
              </a:srgbClr>
            </a:solidFill>
            <a:prstDash val="solid"/>
          </a:ln>
        </p:spPr>
      </p:sp>
      <p:sp>
        <p:nvSpPr>
          <p:cNvPr id="59" name="Shape 57"/>
          <p:cNvSpPr/>
          <p:nvPr/>
        </p:nvSpPr>
        <p:spPr>
          <a:xfrm>
            <a:off x="9694469" y="3917290"/>
            <a:ext cx="242316" cy="242316"/>
          </a:xfrm>
          <a:prstGeom prst="rect">
            <a:avLst/>
          </a:prstGeom>
          <a:solidFill>
            <a:srgbClr val="ED0016"/>
          </a:solidFill>
          <a:ln w="12700">
            <a:solidFill>
              <a:srgbClr val="ED0016">
                <a:alpha val="0"/>
              </a:srgbClr>
            </a:solidFill>
            <a:prstDash val="solid"/>
          </a:ln>
        </p:spPr>
      </p:sp>
      <p:sp>
        <p:nvSpPr>
          <p:cNvPr id="60" name="Shape 58"/>
          <p:cNvSpPr/>
          <p:nvPr/>
        </p:nvSpPr>
        <p:spPr>
          <a:xfrm>
            <a:off x="10001707" y="3917290"/>
            <a:ext cx="242316" cy="242316"/>
          </a:xfrm>
          <a:prstGeom prst="rect">
            <a:avLst/>
          </a:prstGeom>
          <a:solidFill>
            <a:srgbClr val="ED0016"/>
          </a:solidFill>
          <a:ln w="12700">
            <a:solidFill>
              <a:srgbClr val="ED0016">
                <a:alpha val="0"/>
              </a:srgbClr>
            </a:solidFill>
            <a:prstDash val="solid"/>
          </a:ln>
        </p:spPr>
      </p:sp>
      <p:sp>
        <p:nvSpPr>
          <p:cNvPr id="61" name="Shape 59"/>
          <p:cNvSpPr/>
          <p:nvPr/>
        </p:nvSpPr>
        <p:spPr>
          <a:xfrm>
            <a:off x="10308946" y="3917290"/>
            <a:ext cx="242316" cy="242316"/>
          </a:xfrm>
          <a:prstGeom prst="rect">
            <a:avLst/>
          </a:prstGeom>
          <a:solidFill>
            <a:srgbClr val="ED0016"/>
          </a:solidFill>
          <a:ln w="12700">
            <a:solidFill>
              <a:srgbClr val="ED0016">
                <a:alpha val="0"/>
              </a:srgbClr>
            </a:solidFill>
            <a:prstDash val="solid"/>
          </a:ln>
        </p:spPr>
      </p:sp>
      <p:sp>
        <p:nvSpPr>
          <p:cNvPr id="62" name="Shape 60"/>
          <p:cNvSpPr/>
          <p:nvPr/>
        </p:nvSpPr>
        <p:spPr>
          <a:xfrm>
            <a:off x="7543800" y="4224528"/>
            <a:ext cx="242316" cy="242316"/>
          </a:xfrm>
          <a:prstGeom prst="rect">
            <a:avLst/>
          </a:prstGeom>
          <a:solidFill>
            <a:srgbClr val="ED0016"/>
          </a:solidFill>
          <a:ln w="12700">
            <a:solidFill>
              <a:srgbClr val="ED0016">
                <a:alpha val="0"/>
              </a:srgbClr>
            </a:solidFill>
            <a:prstDash val="solid"/>
          </a:ln>
        </p:spPr>
      </p:sp>
      <p:sp>
        <p:nvSpPr>
          <p:cNvPr id="63" name="Shape 61"/>
          <p:cNvSpPr/>
          <p:nvPr/>
        </p:nvSpPr>
        <p:spPr>
          <a:xfrm>
            <a:off x="7851038" y="4224528"/>
            <a:ext cx="242316" cy="242316"/>
          </a:xfrm>
          <a:prstGeom prst="rect">
            <a:avLst/>
          </a:prstGeom>
          <a:solidFill>
            <a:srgbClr val="ED0016"/>
          </a:solidFill>
          <a:ln w="12700">
            <a:solidFill>
              <a:srgbClr val="ED0016">
                <a:alpha val="0"/>
              </a:srgbClr>
            </a:solidFill>
            <a:prstDash val="solid"/>
          </a:ln>
        </p:spPr>
      </p:sp>
      <p:sp>
        <p:nvSpPr>
          <p:cNvPr id="64" name="Shape 62"/>
          <p:cNvSpPr/>
          <p:nvPr/>
        </p:nvSpPr>
        <p:spPr>
          <a:xfrm>
            <a:off x="8158277" y="4224528"/>
            <a:ext cx="242316" cy="242316"/>
          </a:xfrm>
          <a:prstGeom prst="rect">
            <a:avLst/>
          </a:prstGeom>
          <a:solidFill>
            <a:srgbClr val="ED0016"/>
          </a:solidFill>
          <a:ln w="12700">
            <a:solidFill>
              <a:srgbClr val="ED0016">
                <a:alpha val="0"/>
              </a:srgbClr>
            </a:solidFill>
            <a:prstDash val="solid"/>
          </a:ln>
        </p:spPr>
      </p:sp>
      <p:sp>
        <p:nvSpPr>
          <p:cNvPr id="65" name="Shape 63"/>
          <p:cNvSpPr/>
          <p:nvPr/>
        </p:nvSpPr>
        <p:spPr>
          <a:xfrm>
            <a:off x="8465515" y="4224528"/>
            <a:ext cx="242316" cy="242316"/>
          </a:xfrm>
          <a:prstGeom prst="rect">
            <a:avLst/>
          </a:prstGeom>
          <a:solidFill>
            <a:srgbClr val="ED0016"/>
          </a:solidFill>
          <a:ln w="12700">
            <a:solidFill>
              <a:srgbClr val="ED0016">
                <a:alpha val="0"/>
              </a:srgbClr>
            </a:solidFill>
            <a:prstDash val="solid"/>
          </a:ln>
        </p:spPr>
      </p:sp>
      <p:sp>
        <p:nvSpPr>
          <p:cNvPr id="66" name="Shape 64"/>
          <p:cNvSpPr/>
          <p:nvPr/>
        </p:nvSpPr>
        <p:spPr>
          <a:xfrm>
            <a:off x="8772754" y="4224528"/>
            <a:ext cx="242316" cy="242316"/>
          </a:xfrm>
          <a:prstGeom prst="rect">
            <a:avLst/>
          </a:prstGeom>
          <a:solidFill>
            <a:srgbClr val="ED0016"/>
          </a:solidFill>
          <a:ln w="12700">
            <a:solidFill>
              <a:srgbClr val="ED0016">
                <a:alpha val="0"/>
              </a:srgbClr>
            </a:solidFill>
            <a:prstDash val="solid"/>
          </a:ln>
        </p:spPr>
      </p:sp>
      <p:sp>
        <p:nvSpPr>
          <p:cNvPr id="67" name="Shape 65"/>
          <p:cNvSpPr/>
          <p:nvPr/>
        </p:nvSpPr>
        <p:spPr>
          <a:xfrm>
            <a:off x="9079992" y="4224528"/>
            <a:ext cx="242316" cy="242316"/>
          </a:xfrm>
          <a:prstGeom prst="rect">
            <a:avLst/>
          </a:prstGeom>
          <a:solidFill>
            <a:srgbClr val="ED0016"/>
          </a:solidFill>
          <a:ln w="12700">
            <a:solidFill>
              <a:srgbClr val="ED0016">
                <a:alpha val="0"/>
              </a:srgbClr>
            </a:solidFill>
            <a:prstDash val="solid"/>
          </a:ln>
        </p:spPr>
      </p:sp>
      <p:sp>
        <p:nvSpPr>
          <p:cNvPr id="68" name="Shape 66"/>
          <p:cNvSpPr/>
          <p:nvPr/>
        </p:nvSpPr>
        <p:spPr>
          <a:xfrm>
            <a:off x="9387230" y="4224528"/>
            <a:ext cx="242316" cy="242316"/>
          </a:xfrm>
          <a:prstGeom prst="rect">
            <a:avLst/>
          </a:prstGeom>
          <a:solidFill>
            <a:srgbClr val="ED0016"/>
          </a:solidFill>
          <a:ln w="12700">
            <a:solidFill>
              <a:srgbClr val="ED0016">
                <a:alpha val="0"/>
              </a:srgbClr>
            </a:solidFill>
            <a:prstDash val="solid"/>
          </a:ln>
        </p:spPr>
      </p:sp>
      <p:sp>
        <p:nvSpPr>
          <p:cNvPr id="69" name="Shape 67"/>
          <p:cNvSpPr/>
          <p:nvPr/>
        </p:nvSpPr>
        <p:spPr>
          <a:xfrm>
            <a:off x="9694469" y="4224528"/>
            <a:ext cx="242316" cy="242316"/>
          </a:xfrm>
          <a:prstGeom prst="rect">
            <a:avLst/>
          </a:prstGeom>
          <a:solidFill>
            <a:srgbClr val="ED0016"/>
          </a:solidFill>
          <a:ln w="12700">
            <a:solidFill>
              <a:srgbClr val="ED0016">
                <a:alpha val="0"/>
              </a:srgbClr>
            </a:solidFill>
            <a:prstDash val="solid"/>
          </a:ln>
        </p:spPr>
      </p:sp>
      <p:sp>
        <p:nvSpPr>
          <p:cNvPr id="70" name="Shape 68"/>
          <p:cNvSpPr/>
          <p:nvPr/>
        </p:nvSpPr>
        <p:spPr>
          <a:xfrm>
            <a:off x="10001707" y="4224528"/>
            <a:ext cx="242316" cy="242316"/>
          </a:xfrm>
          <a:prstGeom prst="rect">
            <a:avLst/>
          </a:prstGeom>
          <a:solidFill>
            <a:srgbClr val="ED0016"/>
          </a:solidFill>
          <a:ln w="12700">
            <a:solidFill>
              <a:srgbClr val="ED0016">
                <a:alpha val="0"/>
              </a:srgbClr>
            </a:solidFill>
            <a:prstDash val="solid"/>
          </a:ln>
        </p:spPr>
      </p:sp>
      <p:sp>
        <p:nvSpPr>
          <p:cNvPr id="71" name="Shape 69"/>
          <p:cNvSpPr/>
          <p:nvPr/>
        </p:nvSpPr>
        <p:spPr>
          <a:xfrm>
            <a:off x="10308946" y="4224528"/>
            <a:ext cx="242316" cy="242316"/>
          </a:xfrm>
          <a:prstGeom prst="rect">
            <a:avLst/>
          </a:prstGeom>
          <a:solidFill>
            <a:srgbClr val="ED0016"/>
          </a:solidFill>
          <a:ln w="12700">
            <a:solidFill>
              <a:srgbClr val="ED0016">
                <a:alpha val="0"/>
              </a:srgbClr>
            </a:solidFill>
            <a:prstDash val="solid"/>
          </a:ln>
        </p:spPr>
      </p:sp>
      <p:sp>
        <p:nvSpPr>
          <p:cNvPr id="72" name="Shape 70"/>
          <p:cNvSpPr/>
          <p:nvPr/>
        </p:nvSpPr>
        <p:spPr>
          <a:xfrm>
            <a:off x="7543800" y="4531766"/>
            <a:ext cx="242316" cy="242316"/>
          </a:xfrm>
          <a:prstGeom prst="rect">
            <a:avLst/>
          </a:prstGeom>
          <a:solidFill>
            <a:srgbClr val="ED0016"/>
          </a:solidFill>
          <a:ln w="12700">
            <a:solidFill>
              <a:srgbClr val="ED0016">
                <a:alpha val="0"/>
              </a:srgbClr>
            </a:solidFill>
            <a:prstDash val="solid"/>
          </a:ln>
        </p:spPr>
      </p:sp>
      <p:sp>
        <p:nvSpPr>
          <p:cNvPr id="73" name="Shape 71"/>
          <p:cNvSpPr/>
          <p:nvPr/>
        </p:nvSpPr>
        <p:spPr>
          <a:xfrm>
            <a:off x="7851038" y="4531766"/>
            <a:ext cx="242316" cy="242316"/>
          </a:xfrm>
          <a:prstGeom prst="rect">
            <a:avLst/>
          </a:prstGeom>
          <a:solidFill>
            <a:srgbClr val="ED0016"/>
          </a:solidFill>
          <a:ln w="12700">
            <a:solidFill>
              <a:srgbClr val="ED0016">
                <a:alpha val="0"/>
              </a:srgbClr>
            </a:solidFill>
            <a:prstDash val="solid"/>
          </a:ln>
        </p:spPr>
      </p:sp>
      <p:sp>
        <p:nvSpPr>
          <p:cNvPr id="74" name="Shape 72"/>
          <p:cNvSpPr/>
          <p:nvPr/>
        </p:nvSpPr>
        <p:spPr>
          <a:xfrm>
            <a:off x="8158277" y="4531766"/>
            <a:ext cx="242316" cy="242316"/>
          </a:xfrm>
          <a:prstGeom prst="rect">
            <a:avLst/>
          </a:prstGeom>
          <a:solidFill>
            <a:srgbClr val="ED0016"/>
          </a:solidFill>
          <a:ln w="12700">
            <a:solidFill>
              <a:srgbClr val="ED0016">
                <a:alpha val="0"/>
              </a:srgbClr>
            </a:solidFill>
            <a:prstDash val="solid"/>
          </a:ln>
        </p:spPr>
      </p:sp>
      <p:sp>
        <p:nvSpPr>
          <p:cNvPr id="75" name="Shape 73"/>
          <p:cNvSpPr/>
          <p:nvPr/>
        </p:nvSpPr>
        <p:spPr>
          <a:xfrm>
            <a:off x="8465515" y="4531766"/>
            <a:ext cx="242316" cy="242316"/>
          </a:xfrm>
          <a:prstGeom prst="rect">
            <a:avLst/>
          </a:prstGeom>
          <a:solidFill>
            <a:srgbClr val="ED0016"/>
          </a:solidFill>
          <a:ln w="12700">
            <a:solidFill>
              <a:srgbClr val="ED0016">
                <a:alpha val="0"/>
              </a:srgbClr>
            </a:solidFill>
            <a:prstDash val="solid"/>
          </a:ln>
        </p:spPr>
      </p:sp>
      <p:sp>
        <p:nvSpPr>
          <p:cNvPr id="76" name="Shape 74"/>
          <p:cNvSpPr/>
          <p:nvPr/>
        </p:nvSpPr>
        <p:spPr>
          <a:xfrm>
            <a:off x="8772754" y="4531766"/>
            <a:ext cx="242316" cy="242316"/>
          </a:xfrm>
          <a:prstGeom prst="rect">
            <a:avLst/>
          </a:prstGeom>
          <a:solidFill>
            <a:srgbClr val="ED0016"/>
          </a:solidFill>
          <a:ln w="12700">
            <a:solidFill>
              <a:srgbClr val="ED0016">
                <a:alpha val="0"/>
              </a:srgbClr>
            </a:solidFill>
            <a:prstDash val="solid"/>
          </a:ln>
        </p:spPr>
      </p:sp>
      <p:sp>
        <p:nvSpPr>
          <p:cNvPr id="77" name="Shape 75"/>
          <p:cNvSpPr/>
          <p:nvPr/>
        </p:nvSpPr>
        <p:spPr>
          <a:xfrm>
            <a:off x="9079992" y="4531766"/>
            <a:ext cx="242316" cy="242316"/>
          </a:xfrm>
          <a:prstGeom prst="rect">
            <a:avLst/>
          </a:prstGeom>
          <a:solidFill>
            <a:srgbClr val="ED0016"/>
          </a:solidFill>
          <a:ln w="12700">
            <a:solidFill>
              <a:srgbClr val="ED0016">
                <a:alpha val="0"/>
              </a:srgbClr>
            </a:solidFill>
            <a:prstDash val="solid"/>
          </a:ln>
        </p:spPr>
      </p:sp>
      <p:sp>
        <p:nvSpPr>
          <p:cNvPr id="78" name="Shape 76"/>
          <p:cNvSpPr/>
          <p:nvPr/>
        </p:nvSpPr>
        <p:spPr>
          <a:xfrm>
            <a:off x="9387230" y="4531766"/>
            <a:ext cx="242316" cy="242316"/>
          </a:xfrm>
          <a:prstGeom prst="rect">
            <a:avLst/>
          </a:prstGeom>
          <a:solidFill>
            <a:srgbClr val="ED0016"/>
          </a:solidFill>
          <a:ln w="12700">
            <a:solidFill>
              <a:srgbClr val="ED0016">
                <a:alpha val="0"/>
              </a:srgbClr>
            </a:solidFill>
            <a:prstDash val="solid"/>
          </a:ln>
        </p:spPr>
      </p:sp>
      <p:sp>
        <p:nvSpPr>
          <p:cNvPr id="79" name="Shape 77"/>
          <p:cNvSpPr/>
          <p:nvPr/>
        </p:nvSpPr>
        <p:spPr>
          <a:xfrm>
            <a:off x="9694469" y="4531766"/>
            <a:ext cx="242316" cy="242316"/>
          </a:xfrm>
          <a:prstGeom prst="rect">
            <a:avLst/>
          </a:prstGeom>
          <a:solidFill>
            <a:srgbClr val="ED0016"/>
          </a:solidFill>
          <a:ln w="12700">
            <a:solidFill>
              <a:srgbClr val="ED0016">
                <a:alpha val="0"/>
              </a:srgbClr>
            </a:solidFill>
            <a:prstDash val="solid"/>
          </a:ln>
        </p:spPr>
      </p:sp>
      <p:sp>
        <p:nvSpPr>
          <p:cNvPr id="80" name="Shape 78"/>
          <p:cNvSpPr/>
          <p:nvPr/>
        </p:nvSpPr>
        <p:spPr>
          <a:xfrm>
            <a:off x="10001707" y="4531766"/>
            <a:ext cx="242316" cy="242316"/>
          </a:xfrm>
          <a:prstGeom prst="rect">
            <a:avLst/>
          </a:prstGeom>
          <a:solidFill>
            <a:srgbClr val="ED0016"/>
          </a:solidFill>
          <a:ln w="12700">
            <a:solidFill>
              <a:srgbClr val="ED0016">
                <a:alpha val="0"/>
              </a:srgbClr>
            </a:solidFill>
            <a:prstDash val="solid"/>
          </a:ln>
        </p:spPr>
      </p:sp>
      <p:sp>
        <p:nvSpPr>
          <p:cNvPr id="81" name="Shape 79"/>
          <p:cNvSpPr/>
          <p:nvPr/>
        </p:nvSpPr>
        <p:spPr>
          <a:xfrm>
            <a:off x="10308946" y="4531766"/>
            <a:ext cx="242316" cy="242316"/>
          </a:xfrm>
          <a:prstGeom prst="rect">
            <a:avLst/>
          </a:prstGeom>
          <a:solidFill>
            <a:srgbClr val="ED0016"/>
          </a:solidFill>
          <a:ln w="12700">
            <a:solidFill>
              <a:srgbClr val="ED0016">
                <a:alpha val="0"/>
              </a:srgbClr>
            </a:solidFill>
            <a:prstDash val="solid"/>
          </a:ln>
        </p:spPr>
      </p:sp>
      <p:sp>
        <p:nvSpPr>
          <p:cNvPr id="82" name="Shape 80"/>
          <p:cNvSpPr/>
          <p:nvPr/>
        </p:nvSpPr>
        <p:spPr>
          <a:xfrm>
            <a:off x="7543800" y="4839005"/>
            <a:ext cx="242316" cy="242316"/>
          </a:xfrm>
          <a:prstGeom prst="rect">
            <a:avLst/>
          </a:prstGeom>
          <a:solidFill>
            <a:srgbClr val="ED0016"/>
          </a:solidFill>
          <a:ln w="12700">
            <a:solidFill>
              <a:srgbClr val="ED0016">
                <a:alpha val="0"/>
              </a:srgbClr>
            </a:solidFill>
            <a:prstDash val="solid"/>
          </a:ln>
        </p:spPr>
      </p:sp>
      <p:sp>
        <p:nvSpPr>
          <p:cNvPr id="83" name="Shape 81"/>
          <p:cNvSpPr/>
          <p:nvPr/>
        </p:nvSpPr>
        <p:spPr>
          <a:xfrm>
            <a:off x="7851038" y="4839005"/>
            <a:ext cx="242316" cy="242316"/>
          </a:xfrm>
          <a:prstGeom prst="rect">
            <a:avLst/>
          </a:prstGeom>
          <a:solidFill>
            <a:srgbClr val="ED0016"/>
          </a:solidFill>
          <a:ln w="12700">
            <a:solidFill>
              <a:srgbClr val="ED0016">
                <a:alpha val="0"/>
              </a:srgbClr>
            </a:solidFill>
            <a:prstDash val="solid"/>
          </a:ln>
        </p:spPr>
      </p:sp>
      <p:sp>
        <p:nvSpPr>
          <p:cNvPr id="84" name="Shape 82"/>
          <p:cNvSpPr/>
          <p:nvPr/>
        </p:nvSpPr>
        <p:spPr>
          <a:xfrm>
            <a:off x="8158277" y="4839005"/>
            <a:ext cx="242316" cy="242316"/>
          </a:xfrm>
          <a:prstGeom prst="rect">
            <a:avLst/>
          </a:prstGeom>
          <a:solidFill>
            <a:srgbClr val="ED0016"/>
          </a:solidFill>
          <a:ln w="12700">
            <a:solidFill>
              <a:srgbClr val="ED0016">
                <a:alpha val="0"/>
              </a:srgbClr>
            </a:solidFill>
            <a:prstDash val="solid"/>
          </a:ln>
        </p:spPr>
      </p:sp>
      <p:sp>
        <p:nvSpPr>
          <p:cNvPr id="85" name="Shape 83"/>
          <p:cNvSpPr/>
          <p:nvPr/>
        </p:nvSpPr>
        <p:spPr>
          <a:xfrm>
            <a:off x="8465515" y="4839005"/>
            <a:ext cx="242316" cy="242316"/>
          </a:xfrm>
          <a:prstGeom prst="rect">
            <a:avLst/>
          </a:prstGeom>
          <a:solidFill>
            <a:srgbClr val="ED0016"/>
          </a:solidFill>
          <a:ln w="12700">
            <a:solidFill>
              <a:srgbClr val="ED0016">
                <a:alpha val="0"/>
              </a:srgbClr>
            </a:solidFill>
            <a:prstDash val="solid"/>
          </a:ln>
        </p:spPr>
      </p:sp>
      <p:sp>
        <p:nvSpPr>
          <p:cNvPr id="86" name="Shape 84"/>
          <p:cNvSpPr/>
          <p:nvPr/>
        </p:nvSpPr>
        <p:spPr>
          <a:xfrm>
            <a:off x="8772754" y="4839005"/>
            <a:ext cx="242316" cy="242316"/>
          </a:xfrm>
          <a:prstGeom prst="rect">
            <a:avLst/>
          </a:prstGeom>
          <a:solidFill>
            <a:srgbClr val="ED0016"/>
          </a:solidFill>
          <a:ln w="12700">
            <a:solidFill>
              <a:srgbClr val="ED0016">
                <a:alpha val="0"/>
              </a:srgbClr>
            </a:solidFill>
            <a:prstDash val="solid"/>
          </a:ln>
        </p:spPr>
      </p:sp>
      <p:sp>
        <p:nvSpPr>
          <p:cNvPr id="87" name="Shape 85"/>
          <p:cNvSpPr/>
          <p:nvPr/>
        </p:nvSpPr>
        <p:spPr>
          <a:xfrm>
            <a:off x="9079992" y="4839005"/>
            <a:ext cx="242316" cy="242316"/>
          </a:xfrm>
          <a:prstGeom prst="rect">
            <a:avLst/>
          </a:prstGeom>
          <a:solidFill>
            <a:srgbClr val="DCE3E8"/>
          </a:solidFill>
          <a:ln w="12700">
            <a:solidFill>
              <a:srgbClr val="DCE3E8">
                <a:alpha val="0"/>
              </a:srgbClr>
            </a:solidFill>
            <a:prstDash val="solid"/>
          </a:ln>
        </p:spPr>
      </p:sp>
      <p:sp>
        <p:nvSpPr>
          <p:cNvPr id="88" name="Shape 86"/>
          <p:cNvSpPr/>
          <p:nvPr/>
        </p:nvSpPr>
        <p:spPr>
          <a:xfrm>
            <a:off x="9387230" y="4839005"/>
            <a:ext cx="242316" cy="242316"/>
          </a:xfrm>
          <a:prstGeom prst="rect">
            <a:avLst/>
          </a:prstGeom>
          <a:solidFill>
            <a:srgbClr val="DCE3E8"/>
          </a:solidFill>
          <a:ln w="12700">
            <a:solidFill>
              <a:srgbClr val="DCE3E8">
                <a:alpha val="0"/>
              </a:srgbClr>
            </a:solidFill>
            <a:prstDash val="solid"/>
          </a:ln>
        </p:spPr>
      </p:sp>
      <p:sp>
        <p:nvSpPr>
          <p:cNvPr id="89" name="Shape 87"/>
          <p:cNvSpPr/>
          <p:nvPr/>
        </p:nvSpPr>
        <p:spPr>
          <a:xfrm>
            <a:off x="9694469" y="4839005"/>
            <a:ext cx="242316" cy="242316"/>
          </a:xfrm>
          <a:prstGeom prst="rect">
            <a:avLst/>
          </a:prstGeom>
          <a:solidFill>
            <a:srgbClr val="DCE3E8"/>
          </a:solidFill>
          <a:ln w="12700">
            <a:solidFill>
              <a:srgbClr val="DCE3E8">
                <a:alpha val="0"/>
              </a:srgbClr>
            </a:solidFill>
            <a:prstDash val="solid"/>
          </a:ln>
        </p:spPr>
      </p:sp>
      <p:sp>
        <p:nvSpPr>
          <p:cNvPr id="90" name="Shape 88"/>
          <p:cNvSpPr/>
          <p:nvPr/>
        </p:nvSpPr>
        <p:spPr>
          <a:xfrm>
            <a:off x="10001707" y="4839005"/>
            <a:ext cx="242316" cy="242316"/>
          </a:xfrm>
          <a:prstGeom prst="rect">
            <a:avLst/>
          </a:prstGeom>
          <a:solidFill>
            <a:srgbClr val="DCE3E8"/>
          </a:solidFill>
          <a:ln w="12700">
            <a:solidFill>
              <a:srgbClr val="DCE3E8">
                <a:alpha val="0"/>
              </a:srgbClr>
            </a:solidFill>
            <a:prstDash val="solid"/>
          </a:ln>
        </p:spPr>
      </p:sp>
      <p:sp>
        <p:nvSpPr>
          <p:cNvPr id="91" name="Shape 89"/>
          <p:cNvSpPr/>
          <p:nvPr/>
        </p:nvSpPr>
        <p:spPr>
          <a:xfrm>
            <a:off x="10308946" y="4839005"/>
            <a:ext cx="242316" cy="242316"/>
          </a:xfrm>
          <a:prstGeom prst="rect">
            <a:avLst/>
          </a:prstGeom>
          <a:solidFill>
            <a:srgbClr val="DCE3E8"/>
          </a:solidFill>
          <a:ln w="12700">
            <a:solidFill>
              <a:srgbClr val="DCE3E8">
                <a:alpha val="0"/>
              </a:srgbClr>
            </a:solidFill>
            <a:prstDash val="solid"/>
          </a:ln>
        </p:spPr>
      </p:sp>
      <p:sp>
        <p:nvSpPr>
          <p:cNvPr id="92" name="Shape 90"/>
          <p:cNvSpPr/>
          <p:nvPr/>
        </p:nvSpPr>
        <p:spPr>
          <a:xfrm>
            <a:off x="7543800" y="5146243"/>
            <a:ext cx="242316" cy="242316"/>
          </a:xfrm>
          <a:prstGeom prst="rect">
            <a:avLst/>
          </a:prstGeom>
          <a:solidFill>
            <a:srgbClr val="DCE3E8"/>
          </a:solidFill>
          <a:ln w="12700">
            <a:solidFill>
              <a:srgbClr val="DCE3E8">
                <a:alpha val="0"/>
              </a:srgbClr>
            </a:solidFill>
            <a:prstDash val="solid"/>
          </a:ln>
        </p:spPr>
      </p:sp>
      <p:sp>
        <p:nvSpPr>
          <p:cNvPr id="93" name="Shape 91"/>
          <p:cNvSpPr/>
          <p:nvPr/>
        </p:nvSpPr>
        <p:spPr>
          <a:xfrm>
            <a:off x="7851038" y="5146243"/>
            <a:ext cx="242316" cy="242316"/>
          </a:xfrm>
          <a:prstGeom prst="rect">
            <a:avLst/>
          </a:prstGeom>
          <a:solidFill>
            <a:srgbClr val="DCE3E8"/>
          </a:solidFill>
          <a:ln w="12700">
            <a:solidFill>
              <a:srgbClr val="DCE3E8">
                <a:alpha val="0"/>
              </a:srgbClr>
            </a:solidFill>
            <a:prstDash val="solid"/>
          </a:ln>
        </p:spPr>
      </p:sp>
      <p:sp>
        <p:nvSpPr>
          <p:cNvPr id="94" name="Shape 92"/>
          <p:cNvSpPr/>
          <p:nvPr/>
        </p:nvSpPr>
        <p:spPr>
          <a:xfrm>
            <a:off x="8158277" y="5146243"/>
            <a:ext cx="242316" cy="242316"/>
          </a:xfrm>
          <a:prstGeom prst="rect">
            <a:avLst/>
          </a:prstGeom>
          <a:solidFill>
            <a:srgbClr val="DCE3E8"/>
          </a:solidFill>
          <a:ln w="12700">
            <a:solidFill>
              <a:srgbClr val="DCE3E8">
                <a:alpha val="0"/>
              </a:srgbClr>
            </a:solidFill>
            <a:prstDash val="solid"/>
          </a:ln>
        </p:spPr>
      </p:sp>
      <p:sp>
        <p:nvSpPr>
          <p:cNvPr id="95" name="Shape 93"/>
          <p:cNvSpPr/>
          <p:nvPr/>
        </p:nvSpPr>
        <p:spPr>
          <a:xfrm>
            <a:off x="8465515" y="5146243"/>
            <a:ext cx="242316" cy="242316"/>
          </a:xfrm>
          <a:prstGeom prst="rect">
            <a:avLst/>
          </a:prstGeom>
          <a:solidFill>
            <a:srgbClr val="DCE3E8"/>
          </a:solidFill>
          <a:ln w="12700">
            <a:solidFill>
              <a:srgbClr val="DCE3E8">
                <a:alpha val="0"/>
              </a:srgbClr>
            </a:solidFill>
            <a:prstDash val="solid"/>
          </a:ln>
        </p:spPr>
      </p:sp>
      <p:sp>
        <p:nvSpPr>
          <p:cNvPr id="96" name="Shape 94"/>
          <p:cNvSpPr/>
          <p:nvPr/>
        </p:nvSpPr>
        <p:spPr>
          <a:xfrm>
            <a:off x="8772754" y="5146243"/>
            <a:ext cx="242316" cy="242316"/>
          </a:xfrm>
          <a:prstGeom prst="rect">
            <a:avLst/>
          </a:prstGeom>
          <a:solidFill>
            <a:srgbClr val="DCE3E8"/>
          </a:solidFill>
          <a:ln w="12700">
            <a:solidFill>
              <a:srgbClr val="DCE3E8">
                <a:alpha val="0"/>
              </a:srgbClr>
            </a:solidFill>
            <a:prstDash val="solid"/>
          </a:ln>
        </p:spPr>
      </p:sp>
      <p:sp>
        <p:nvSpPr>
          <p:cNvPr id="97" name="Shape 95"/>
          <p:cNvSpPr/>
          <p:nvPr/>
        </p:nvSpPr>
        <p:spPr>
          <a:xfrm>
            <a:off x="9079992" y="5146243"/>
            <a:ext cx="242316" cy="242316"/>
          </a:xfrm>
          <a:prstGeom prst="rect">
            <a:avLst/>
          </a:prstGeom>
          <a:solidFill>
            <a:srgbClr val="DCE3E8"/>
          </a:solidFill>
          <a:ln w="12700">
            <a:solidFill>
              <a:srgbClr val="DCE3E8">
                <a:alpha val="0"/>
              </a:srgbClr>
            </a:solidFill>
            <a:prstDash val="solid"/>
          </a:ln>
        </p:spPr>
      </p:sp>
      <p:sp>
        <p:nvSpPr>
          <p:cNvPr id="98" name="Shape 96"/>
          <p:cNvSpPr/>
          <p:nvPr/>
        </p:nvSpPr>
        <p:spPr>
          <a:xfrm>
            <a:off x="9387230" y="5146243"/>
            <a:ext cx="242316" cy="242316"/>
          </a:xfrm>
          <a:prstGeom prst="rect">
            <a:avLst/>
          </a:prstGeom>
          <a:solidFill>
            <a:srgbClr val="DCE3E8"/>
          </a:solidFill>
          <a:ln w="12700">
            <a:solidFill>
              <a:srgbClr val="DCE3E8">
                <a:alpha val="0"/>
              </a:srgbClr>
            </a:solidFill>
            <a:prstDash val="solid"/>
          </a:ln>
        </p:spPr>
      </p:sp>
      <p:sp>
        <p:nvSpPr>
          <p:cNvPr id="99" name="Shape 97"/>
          <p:cNvSpPr/>
          <p:nvPr/>
        </p:nvSpPr>
        <p:spPr>
          <a:xfrm>
            <a:off x="9694469" y="5146243"/>
            <a:ext cx="242316" cy="242316"/>
          </a:xfrm>
          <a:prstGeom prst="rect">
            <a:avLst/>
          </a:prstGeom>
          <a:solidFill>
            <a:srgbClr val="DCE3E8"/>
          </a:solidFill>
          <a:ln w="12700">
            <a:solidFill>
              <a:srgbClr val="DCE3E8">
                <a:alpha val="0"/>
              </a:srgbClr>
            </a:solidFill>
            <a:prstDash val="solid"/>
          </a:ln>
        </p:spPr>
      </p:sp>
      <p:sp>
        <p:nvSpPr>
          <p:cNvPr id="100" name="Shape 98"/>
          <p:cNvSpPr/>
          <p:nvPr/>
        </p:nvSpPr>
        <p:spPr>
          <a:xfrm>
            <a:off x="10001707" y="5146243"/>
            <a:ext cx="242316" cy="242316"/>
          </a:xfrm>
          <a:prstGeom prst="rect">
            <a:avLst/>
          </a:prstGeom>
          <a:solidFill>
            <a:srgbClr val="DCE3E8"/>
          </a:solidFill>
          <a:ln w="12700">
            <a:solidFill>
              <a:srgbClr val="DCE3E8">
                <a:alpha val="0"/>
              </a:srgbClr>
            </a:solidFill>
            <a:prstDash val="solid"/>
          </a:ln>
        </p:spPr>
      </p:sp>
      <p:sp>
        <p:nvSpPr>
          <p:cNvPr id="101" name="Shape 99"/>
          <p:cNvSpPr/>
          <p:nvPr/>
        </p:nvSpPr>
        <p:spPr>
          <a:xfrm>
            <a:off x="10308946" y="5146243"/>
            <a:ext cx="242316" cy="242316"/>
          </a:xfrm>
          <a:prstGeom prst="rect">
            <a:avLst/>
          </a:prstGeom>
          <a:solidFill>
            <a:srgbClr val="DCE3E8"/>
          </a:solidFill>
          <a:ln w="12700">
            <a:solidFill>
              <a:srgbClr val="DCE3E8">
                <a:alpha val="0"/>
              </a:srgbClr>
            </a:solidFill>
            <a:prstDash val="solid"/>
          </a:ln>
        </p:spPr>
      </p:sp>
      <p:sp>
        <p:nvSpPr>
          <p:cNvPr id="102" name="Shape 100"/>
          <p:cNvSpPr/>
          <p:nvPr/>
        </p:nvSpPr>
        <p:spPr>
          <a:xfrm>
            <a:off x="7543800" y="5453482"/>
            <a:ext cx="242316" cy="242316"/>
          </a:xfrm>
          <a:prstGeom prst="rect">
            <a:avLst/>
          </a:prstGeom>
          <a:solidFill>
            <a:srgbClr val="DCE3E8"/>
          </a:solidFill>
          <a:ln w="12700">
            <a:solidFill>
              <a:srgbClr val="DCE3E8">
                <a:alpha val="0"/>
              </a:srgbClr>
            </a:solidFill>
            <a:prstDash val="solid"/>
          </a:ln>
        </p:spPr>
      </p:sp>
      <p:sp>
        <p:nvSpPr>
          <p:cNvPr id="103" name="Shape 101"/>
          <p:cNvSpPr/>
          <p:nvPr/>
        </p:nvSpPr>
        <p:spPr>
          <a:xfrm>
            <a:off x="7851038" y="5453482"/>
            <a:ext cx="242316" cy="242316"/>
          </a:xfrm>
          <a:prstGeom prst="rect">
            <a:avLst/>
          </a:prstGeom>
          <a:solidFill>
            <a:srgbClr val="DCE3E8"/>
          </a:solidFill>
          <a:ln w="12700">
            <a:solidFill>
              <a:srgbClr val="DCE3E8">
                <a:alpha val="0"/>
              </a:srgbClr>
            </a:solidFill>
            <a:prstDash val="solid"/>
          </a:ln>
        </p:spPr>
      </p:sp>
      <p:sp>
        <p:nvSpPr>
          <p:cNvPr id="104" name="Shape 102"/>
          <p:cNvSpPr/>
          <p:nvPr/>
        </p:nvSpPr>
        <p:spPr>
          <a:xfrm>
            <a:off x="8158277" y="5453482"/>
            <a:ext cx="242316" cy="242316"/>
          </a:xfrm>
          <a:prstGeom prst="rect">
            <a:avLst/>
          </a:prstGeom>
          <a:solidFill>
            <a:srgbClr val="DCE3E8"/>
          </a:solidFill>
          <a:ln w="12700">
            <a:solidFill>
              <a:srgbClr val="DCE3E8">
                <a:alpha val="0"/>
              </a:srgbClr>
            </a:solidFill>
            <a:prstDash val="solid"/>
          </a:ln>
        </p:spPr>
      </p:sp>
      <p:sp>
        <p:nvSpPr>
          <p:cNvPr id="105" name="Shape 103"/>
          <p:cNvSpPr/>
          <p:nvPr/>
        </p:nvSpPr>
        <p:spPr>
          <a:xfrm>
            <a:off x="8465515" y="5453482"/>
            <a:ext cx="242316" cy="242316"/>
          </a:xfrm>
          <a:prstGeom prst="rect">
            <a:avLst/>
          </a:prstGeom>
          <a:solidFill>
            <a:srgbClr val="DCE3E8"/>
          </a:solidFill>
          <a:ln w="12700">
            <a:solidFill>
              <a:srgbClr val="DCE3E8">
                <a:alpha val="0"/>
              </a:srgbClr>
            </a:solidFill>
            <a:prstDash val="solid"/>
          </a:ln>
        </p:spPr>
      </p:sp>
      <p:sp>
        <p:nvSpPr>
          <p:cNvPr id="106" name="Shape 104"/>
          <p:cNvSpPr/>
          <p:nvPr/>
        </p:nvSpPr>
        <p:spPr>
          <a:xfrm>
            <a:off x="8772754" y="5453482"/>
            <a:ext cx="242316" cy="242316"/>
          </a:xfrm>
          <a:prstGeom prst="rect">
            <a:avLst/>
          </a:prstGeom>
          <a:solidFill>
            <a:srgbClr val="DCE3E8"/>
          </a:solidFill>
          <a:ln w="12700">
            <a:solidFill>
              <a:srgbClr val="DCE3E8">
                <a:alpha val="0"/>
              </a:srgbClr>
            </a:solidFill>
            <a:prstDash val="solid"/>
          </a:ln>
        </p:spPr>
      </p:sp>
      <p:sp>
        <p:nvSpPr>
          <p:cNvPr id="107" name="Shape 105"/>
          <p:cNvSpPr/>
          <p:nvPr/>
        </p:nvSpPr>
        <p:spPr>
          <a:xfrm>
            <a:off x="9079992" y="5453482"/>
            <a:ext cx="242316" cy="242316"/>
          </a:xfrm>
          <a:prstGeom prst="rect">
            <a:avLst/>
          </a:prstGeom>
          <a:solidFill>
            <a:srgbClr val="DCE3E8"/>
          </a:solidFill>
          <a:ln w="12700">
            <a:solidFill>
              <a:srgbClr val="DCE3E8">
                <a:alpha val="0"/>
              </a:srgbClr>
            </a:solidFill>
            <a:prstDash val="solid"/>
          </a:ln>
        </p:spPr>
      </p:sp>
      <p:sp>
        <p:nvSpPr>
          <p:cNvPr id="108" name="Shape 106"/>
          <p:cNvSpPr/>
          <p:nvPr/>
        </p:nvSpPr>
        <p:spPr>
          <a:xfrm>
            <a:off x="9387230" y="5453482"/>
            <a:ext cx="242316" cy="242316"/>
          </a:xfrm>
          <a:prstGeom prst="rect">
            <a:avLst/>
          </a:prstGeom>
          <a:solidFill>
            <a:srgbClr val="DCE3E8"/>
          </a:solidFill>
          <a:ln w="12700">
            <a:solidFill>
              <a:srgbClr val="DCE3E8">
                <a:alpha val="0"/>
              </a:srgbClr>
            </a:solidFill>
            <a:prstDash val="solid"/>
          </a:ln>
        </p:spPr>
      </p:sp>
      <p:sp>
        <p:nvSpPr>
          <p:cNvPr id="109" name="Shape 107"/>
          <p:cNvSpPr/>
          <p:nvPr/>
        </p:nvSpPr>
        <p:spPr>
          <a:xfrm>
            <a:off x="9694469" y="5453482"/>
            <a:ext cx="242316" cy="242316"/>
          </a:xfrm>
          <a:prstGeom prst="rect">
            <a:avLst/>
          </a:prstGeom>
          <a:solidFill>
            <a:srgbClr val="DCE3E8"/>
          </a:solidFill>
          <a:ln w="12700">
            <a:solidFill>
              <a:srgbClr val="DCE3E8">
                <a:alpha val="0"/>
              </a:srgbClr>
            </a:solidFill>
            <a:prstDash val="solid"/>
          </a:ln>
        </p:spPr>
      </p:sp>
      <p:sp>
        <p:nvSpPr>
          <p:cNvPr id="110" name="Shape 108"/>
          <p:cNvSpPr/>
          <p:nvPr/>
        </p:nvSpPr>
        <p:spPr>
          <a:xfrm>
            <a:off x="10001707" y="5453482"/>
            <a:ext cx="242316" cy="242316"/>
          </a:xfrm>
          <a:prstGeom prst="rect">
            <a:avLst/>
          </a:prstGeom>
          <a:solidFill>
            <a:srgbClr val="DCE3E8"/>
          </a:solidFill>
          <a:ln w="12700">
            <a:solidFill>
              <a:srgbClr val="DCE3E8">
                <a:alpha val="0"/>
              </a:srgbClr>
            </a:solidFill>
            <a:prstDash val="solid"/>
          </a:ln>
        </p:spPr>
      </p:sp>
      <p:sp>
        <p:nvSpPr>
          <p:cNvPr id="111" name="Shape 109"/>
          <p:cNvSpPr/>
          <p:nvPr/>
        </p:nvSpPr>
        <p:spPr>
          <a:xfrm>
            <a:off x="10308946" y="5453482"/>
            <a:ext cx="242316" cy="242316"/>
          </a:xfrm>
          <a:prstGeom prst="rect">
            <a:avLst/>
          </a:prstGeom>
          <a:solidFill>
            <a:srgbClr val="DCE3E8"/>
          </a:solidFill>
          <a:ln w="12700">
            <a:solidFill>
              <a:srgbClr val="DCE3E8">
                <a:alpha val="0"/>
              </a:srgbClr>
            </a:solidFill>
            <a:prstDash val="solid"/>
          </a:ln>
        </p:spPr>
      </p:sp>
      <p:sp>
        <p:nvSpPr>
          <p:cNvPr id="112" name="Text 110"/>
          <p:cNvSpPr txBox="1"/>
          <p:nvPr/>
        </p:nvSpPr>
        <p:spPr>
          <a:xfrm>
            <a:off x="7543800" y="2386584"/>
            <a:ext cx="4114800" cy="21945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020" dirty="0">
                <a:solidFill>
                  <a:srgbClr val="687782"/>
                </a:solidFill>
                <a:latin typeface="Arial" pitchFamily="34" charset="0"/>
                <a:ea typeface="Arial" pitchFamily="34" charset="-122"/>
                <a:cs typeface="Arial" pitchFamily="34" charset="-120"/>
              </a:rPr>
              <a:t>Approximate visual: 75 of 100</a:t>
            </a:r>
            <a:endParaRPr lang="en-US" sz="1020" dirty="0"/>
          </a:p>
        </p:txBody>
      </p:sp>
      <p:sp>
        <p:nvSpPr>
          <p:cNvPr id="113" name="Text 111"/>
          <p:cNvSpPr txBox="1"/>
          <p:nvPr/>
        </p:nvSpPr>
        <p:spPr>
          <a:xfrm>
            <a:off x="5623560" y="5934456"/>
            <a:ext cx="6035040" cy="22860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r" indent="0" marL="0">
              <a:buNone/>
            </a:pPr>
            <a:r>
              <a:rPr lang="en-US" sz="1290" dirty="0">
                <a:solidFill>
                  <a:srgbClr val="687782"/>
                </a:solidFill>
                <a:latin typeface="Arial" pitchFamily="34" charset="0"/>
                <a:ea typeface="Arial" pitchFamily="34" charset="-122"/>
                <a:cs typeface="Arial" pitchFamily="34" charset="-120"/>
              </a:rPr>
              <a:t>206,598 of 275,992 classed part numbers</a:t>
            </a:r>
            <a:endParaRPr lang="en-US" sz="1290" dirty="0"/>
          </a:p>
        </p:txBody>
      </p:sp>
    </p:spTree>
  </p:cSld>
  <p:clrMapOvr>
    <a:masterClrMapping/>
  </p:clrMapOvr>
  <p:transition spd="fast" advClick="1">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30352" y="301752"/>
            <a:ext cx="950976"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000" b="1" dirty="0">
                <a:solidFill>
                  <a:srgbClr val="ED0016"/>
                </a:solidFill>
                <a:latin typeface="Arial" pitchFamily="34" charset="0"/>
                <a:ea typeface="Arial" pitchFamily="34" charset="-122"/>
                <a:cs typeface="Arial" pitchFamily="34" charset="-120"/>
              </a:rPr>
              <a:t>ISUZU</a:t>
            </a:r>
            <a:endParaRPr lang="en-US" sz="2000" dirty="0"/>
          </a:p>
        </p:txBody>
      </p:sp>
      <p:sp>
        <p:nvSpPr>
          <p:cNvPr id="3" name="Text 1"/>
          <p:cNvSpPr txBox="1"/>
          <p:nvPr/>
        </p:nvSpPr>
        <p:spPr>
          <a:xfrm>
            <a:off x="1856232" y="347472"/>
            <a:ext cx="9418320" cy="16459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980" b="1" spc="145" kern="0" dirty="0">
                <a:solidFill>
                  <a:srgbClr val="687782"/>
                </a:solidFill>
                <a:latin typeface="Arial" pitchFamily="34" charset="0"/>
                <a:ea typeface="Arial" pitchFamily="34" charset="-122"/>
                <a:cs typeface="Arial" pitchFamily="34" charset="-120"/>
              </a:rPr>
              <a:t>A STEP CHANGE IN FLEXIBILITY</a:t>
            </a:r>
            <a:endParaRPr lang="en-US" sz="980" dirty="0"/>
          </a:p>
        </p:txBody>
      </p:sp>
      <p:sp>
        <p:nvSpPr>
          <p:cNvPr id="4" name="Text 2"/>
          <p:cNvSpPr txBox="1"/>
          <p:nvPr/>
        </p:nvSpPr>
        <p:spPr>
          <a:xfrm>
            <a:off x="530352" y="960120"/>
            <a:ext cx="11131296" cy="76809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3020" b="1" dirty="0">
                <a:solidFill>
                  <a:srgbClr val="17232C"/>
                </a:solidFill>
                <a:latin typeface="Arial" pitchFamily="34" charset="0"/>
                <a:ea typeface="Arial" pitchFamily="34" charset="-122"/>
                <a:cs typeface="Arial" pitchFamily="34" charset="-120"/>
              </a:rPr>
              <a:t>Replace broad class rules with part-by-part decisions.</a:t>
            </a:r>
            <a:endParaRPr lang="en-US" sz="3020" dirty="0"/>
          </a:p>
        </p:txBody>
      </p:sp>
      <p:sp>
        <p:nvSpPr>
          <p:cNvPr id="5" name="Shape 3"/>
          <p:cNvSpPr/>
          <p:nvPr/>
        </p:nvSpPr>
        <p:spPr>
          <a:xfrm>
            <a:off x="530352" y="6382512"/>
            <a:ext cx="11131296" cy="0"/>
          </a:xfrm>
          <a:prstGeom prst="line">
            <a:avLst/>
          </a:prstGeom>
          <a:solidFill>
            <a:srgbClr val="FFFFFF">
              <a:alpha val="0"/>
            </a:srgbClr>
          </a:solidFill>
          <a:ln w="8890">
            <a:solidFill>
              <a:srgbClr val="DCE3E8"/>
            </a:solidFill>
            <a:prstDash val="solid"/>
          </a:ln>
        </p:spPr>
      </p:sp>
      <p:sp>
        <p:nvSpPr>
          <p:cNvPr id="6" name="Text 4"/>
          <p:cNvSpPr txBox="1"/>
          <p:nvPr/>
        </p:nvSpPr>
        <p:spPr>
          <a:xfrm>
            <a:off x="530352" y="6483096"/>
            <a:ext cx="10216896" cy="16459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810" dirty="0">
                <a:solidFill>
                  <a:srgbClr val="687782"/>
                </a:solidFill>
                <a:latin typeface="Arial" pitchFamily="34" charset="0"/>
                <a:ea typeface="Arial" pitchFamily="34" charset="-122"/>
                <a:cs typeface="Arial" pitchFamily="34" charset="-120"/>
              </a:rPr>
              <a:t>Source: Pricing Master and management policy. Detailed basis in speaker notes.</a:t>
            </a:r>
            <a:endParaRPr lang="en-US" sz="810" dirty="0"/>
          </a:p>
        </p:txBody>
      </p:sp>
      <p:sp>
        <p:nvSpPr>
          <p:cNvPr id="7" name="Text 5"/>
          <p:cNvSpPr txBox="1"/>
          <p:nvPr/>
        </p:nvSpPr>
        <p:spPr>
          <a:xfrm>
            <a:off x="10856976" y="6469380"/>
            <a:ext cx="804672" cy="21031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r" indent="0" marL="0">
              <a:buNone/>
            </a:pPr>
            <a:r>
              <a:rPr lang="en-US" sz="910" dirty="0">
                <a:solidFill>
                  <a:srgbClr val="687782"/>
                </a:solidFill>
                <a:latin typeface="Arial" pitchFamily="34" charset="0"/>
                <a:ea typeface="Arial" pitchFamily="34" charset="-122"/>
                <a:cs typeface="Arial" pitchFamily="34" charset="-120"/>
              </a:rPr>
              <a:t>v1.4  |  07</a:t>
            </a:r>
            <a:endParaRPr lang="en-US" sz="910" dirty="0"/>
          </a:p>
        </p:txBody>
      </p:sp>
      <p:sp>
        <p:nvSpPr>
          <p:cNvPr id="8" name="Shape 6"/>
          <p:cNvSpPr/>
          <p:nvPr/>
        </p:nvSpPr>
        <p:spPr>
          <a:xfrm>
            <a:off x="530352" y="2112264"/>
            <a:ext cx="2990088" cy="3346704"/>
          </a:xfrm>
          <a:prstGeom prst="rect">
            <a:avLst/>
          </a:prstGeom>
          <a:solidFill>
            <a:srgbClr val="17232C"/>
          </a:solidFill>
          <a:ln w="12700">
            <a:solidFill>
              <a:srgbClr val="17232C">
                <a:alpha val="0"/>
              </a:srgbClr>
            </a:solidFill>
            <a:prstDash val="solid"/>
          </a:ln>
        </p:spPr>
      </p:sp>
      <p:sp>
        <p:nvSpPr>
          <p:cNvPr id="9" name="Text 7"/>
          <p:cNvSpPr txBox="1"/>
          <p:nvPr/>
        </p:nvSpPr>
        <p:spPr>
          <a:xfrm>
            <a:off x="758952" y="2414016"/>
            <a:ext cx="2532888" cy="21031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100" b="1" dirty="0">
                <a:solidFill>
                  <a:srgbClr val="C8D1D7"/>
                </a:solidFill>
                <a:latin typeface="Arial" pitchFamily="34" charset="0"/>
                <a:ea typeface="Arial" pitchFamily="34" charset="-122"/>
                <a:cs typeface="Arial" pitchFamily="34" charset="-120"/>
              </a:rPr>
              <a:t>PREVIOUS APPROACH</a:t>
            </a:r>
            <a:endParaRPr lang="en-US" sz="1100" dirty="0"/>
          </a:p>
        </p:txBody>
      </p:sp>
      <p:sp>
        <p:nvSpPr>
          <p:cNvPr id="10" name="Text 8"/>
          <p:cNvSpPr txBox="1"/>
          <p:nvPr/>
        </p:nvSpPr>
        <p:spPr>
          <a:xfrm>
            <a:off x="758952" y="2944368"/>
            <a:ext cx="2532888" cy="51206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3100" b="1" dirty="0">
                <a:solidFill>
                  <a:srgbClr val="FFFFFF"/>
                </a:solidFill>
                <a:latin typeface="Arial" pitchFamily="34" charset="0"/>
                <a:ea typeface="Arial" pitchFamily="34" charset="-122"/>
                <a:cs typeface="Arial" pitchFamily="34" charset="-120"/>
              </a:rPr>
              <a:t>Class C</a:t>
            </a:r>
            <a:endParaRPr lang="en-US" sz="3100" dirty="0"/>
          </a:p>
        </p:txBody>
      </p:sp>
      <p:sp>
        <p:nvSpPr>
          <p:cNvPr id="11" name="Text 9"/>
          <p:cNvSpPr txBox="1"/>
          <p:nvPr/>
        </p:nvSpPr>
        <p:spPr>
          <a:xfrm>
            <a:off x="758952" y="3621024"/>
            <a:ext cx="2532888" cy="77724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5200" b="1" dirty="0">
                <a:solidFill>
                  <a:srgbClr val="FFFFFF"/>
                </a:solidFill>
                <a:latin typeface="Arial" pitchFamily="34" charset="0"/>
                <a:ea typeface="Arial" pitchFamily="34" charset="-122"/>
                <a:cs typeface="Arial" pitchFamily="34" charset="-120"/>
              </a:rPr>
              <a:t>53%</a:t>
            </a:r>
            <a:endParaRPr lang="en-US" sz="5200" dirty="0"/>
          </a:p>
        </p:txBody>
      </p:sp>
      <p:sp>
        <p:nvSpPr>
          <p:cNvPr id="12" name="Text 10"/>
          <p:cNvSpPr txBox="1"/>
          <p:nvPr/>
        </p:nvSpPr>
        <p:spPr>
          <a:xfrm>
            <a:off x="758952" y="4626864"/>
            <a:ext cx="2532888" cy="52120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700" dirty="0">
                <a:solidFill>
                  <a:srgbClr val="C8D1D7"/>
                </a:solidFill>
                <a:latin typeface="Arial" pitchFamily="34" charset="0"/>
                <a:ea typeface="Arial" pitchFamily="34" charset="-122"/>
                <a:cs typeface="Arial" pitchFamily="34" charset="-120"/>
              </a:rPr>
              <a:t>One formula margin</a:t>
            </a:r>
            <a:endParaRPr lang="en-US" sz="1700" dirty="0"/>
          </a:p>
          <a:p>
            <a:pPr algn="l" indent="0" marL="0">
              <a:buNone/>
            </a:pPr>
            <a:r>
              <a:rPr lang="en-US" sz="1700" dirty="0">
                <a:solidFill>
                  <a:srgbClr val="C8D1D7"/>
                </a:solidFill>
                <a:latin typeface="Arial" pitchFamily="34" charset="0"/>
                <a:ea typeface="Arial" pitchFamily="34" charset="-122"/>
                <a:cs typeface="Arial" pitchFamily="34" charset="-120"/>
              </a:rPr>
              <a:t>across different parts.</a:t>
            </a:r>
            <a:endParaRPr lang="en-US" sz="1700" dirty="0"/>
          </a:p>
        </p:txBody>
      </p:sp>
      <p:sp>
        <p:nvSpPr>
          <p:cNvPr id="13" name="Shape 11"/>
          <p:cNvSpPr/>
          <p:nvPr/>
        </p:nvSpPr>
        <p:spPr>
          <a:xfrm>
            <a:off x="3730752" y="2551176"/>
            <a:ext cx="411480" cy="0"/>
          </a:xfrm>
          <a:prstGeom prst="line">
            <a:avLst/>
          </a:prstGeom>
          <a:solidFill>
            <a:srgbClr val="FFFFFF">
              <a:alpha val="0"/>
            </a:srgbClr>
          </a:solidFill>
          <a:ln w="21590">
            <a:solidFill>
              <a:srgbClr val="ED0016"/>
            </a:solidFill>
            <a:prstDash val="solid"/>
            <a:tailEnd type="triangle"/>
          </a:ln>
        </p:spPr>
      </p:sp>
      <p:sp>
        <p:nvSpPr>
          <p:cNvPr id="14" name="Shape 12"/>
          <p:cNvSpPr/>
          <p:nvPr/>
        </p:nvSpPr>
        <p:spPr>
          <a:xfrm>
            <a:off x="4352544" y="2157984"/>
            <a:ext cx="667512" cy="667512"/>
          </a:xfrm>
          <a:prstGeom prst="ellipse">
            <a:avLst/>
          </a:prstGeom>
          <a:solidFill>
            <a:srgbClr val="FBEDEF"/>
          </a:solidFill>
          <a:ln w="12700">
            <a:solidFill>
              <a:srgbClr val="FBEDEF">
                <a:alpha val="0"/>
              </a:srgbClr>
            </a:solidFill>
            <a:prstDash val="solid"/>
          </a:ln>
        </p:spPr>
      </p:sp>
      <p:pic>
        <p:nvPicPr>
          <p:cNvPr id="15" name="Image 0" descr="Presentation pictogram">    </p:cNvPr>
          <p:cNvPicPr>
            <a:picLocks noChangeAspect="1"/>
          </p:cNvPicPr>
          <p:nvPr/>
        </p:nvPicPr>
        <p:blipFill>
          <a:blip r:embed="rId1"/>
          <a:stretch>
            <a:fillRect/>
          </a:stretch>
        </p:blipFill>
        <p:spPr>
          <a:xfrm>
            <a:off x="4506072" y="2311512"/>
            <a:ext cx="360456" cy="360456"/>
          </a:xfrm>
          <a:prstGeom prst="rect">
            <a:avLst/>
          </a:prstGeom>
        </p:spPr>
      </p:pic>
      <p:sp>
        <p:nvSpPr>
          <p:cNvPr id="16" name="Text 13"/>
          <p:cNvSpPr txBox="1"/>
          <p:nvPr/>
        </p:nvSpPr>
        <p:spPr>
          <a:xfrm>
            <a:off x="5266944" y="2185416"/>
            <a:ext cx="6300216" cy="22860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160" b="1" spc="50" kern="0" dirty="0">
                <a:solidFill>
                  <a:srgbClr val="ED0016"/>
                </a:solidFill>
                <a:latin typeface="Arial" pitchFamily="34" charset="0"/>
                <a:ea typeface="Arial" pitchFamily="34" charset="-122"/>
                <a:cs typeface="Arial" pitchFamily="34" charset="-120"/>
              </a:rPr>
              <a:t>REDUCE SELECTIVELY</a:t>
            </a:r>
            <a:endParaRPr lang="en-US" sz="1160" dirty="0"/>
          </a:p>
        </p:txBody>
      </p:sp>
      <p:sp>
        <p:nvSpPr>
          <p:cNvPr id="17" name="Text 14"/>
          <p:cNvSpPr txBox="1"/>
          <p:nvPr/>
        </p:nvSpPr>
        <p:spPr>
          <a:xfrm>
            <a:off x="5266944" y="2523744"/>
            <a:ext cx="6300216" cy="54864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900" dirty="0">
                <a:solidFill>
                  <a:srgbClr val="17232C"/>
                </a:solidFill>
                <a:latin typeface="Arial" pitchFamily="34" charset="0"/>
                <a:ea typeface="Arial" pitchFamily="34" charset="-122"/>
                <a:cs typeface="Arial" pitchFamily="34" charset="-120"/>
              </a:rPr>
              <a:t>Support a credible competing offer where distributor room is insufficient.</a:t>
            </a:r>
            <a:endParaRPr lang="en-US" sz="1900" dirty="0"/>
          </a:p>
        </p:txBody>
      </p:sp>
      <p:sp>
        <p:nvSpPr>
          <p:cNvPr id="18" name="Shape 15"/>
          <p:cNvSpPr/>
          <p:nvPr/>
        </p:nvSpPr>
        <p:spPr>
          <a:xfrm>
            <a:off x="3730752" y="3739896"/>
            <a:ext cx="411480" cy="0"/>
          </a:xfrm>
          <a:prstGeom prst="line">
            <a:avLst/>
          </a:prstGeom>
          <a:solidFill>
            <a:srgbClr val="FFFFFF">
              <a:alpha val="0"/>
            </a:srgbClr>
          </a:solidFill>
          <a:ln w="21590">
            <a:solidFill>
              <a:srgbClr val="ED0016"/>
            </a:solidFill>
            <a:prstDash val="solid"/>
            <a:tailEnd type="triangle"/>
          </a:ln>
        </p:spPr>
      </p:sp>
      <p:sp>
        <p:nvSpPr>
          <p:cNvPr id="19" name="Shape 16"/>
          <p:cNvSpPr/>
          <p:nvPr/>
        </p:nvSpPr>
        <p:spPr>
          <a:xfrm>
            <a:off x="4352544" y="3346704"/>
            <a:ext cx="667512" cy="667512"/>
          </a:xfrm>
          <a:prstGeom prst="ellipse">
            <a:avLst/>
          </a:prstGeom>
          <a:solidFill>
            <a:srgbClr val="FBEDEF"/>
          </a:solidFill>
          <a:ln w="12700">
            <a:solidFill>
              <a:srgbClr val="FBEDEF">
                <a:alpha val="0"/>
              </a:srgbClr>
            </a:solidFill>
            <a:prstDash val="solid"/>
          </a:ln>
        </p:spPr>
      </p:sp>
      <p:pic>
        <p:nvPicPr>
          <p:cNvPr id="20" name="Image 1" descr="Presentation pictogram">    </p:cNvPr>
          <p:cNvPicPr>
            <a:picLocks noChangeAspect="1"/>
          </p:cNvPicPr>
          <p:nvPr/>
        </p:nvPicPr>
        <p:blipFill>
          <a:blip r:embed="rId2"/>
          <a:stretch>
            <a:fillRect/>
          </a:stretch>
        </p:blipFill>
        <p:spPr>
          <a:xfrm>
            <a:off x="4506072" y="3500232"/>
            <a:ext cx="360456" cy="360456"/>
          </a:xfrm>
          <a:prstGeom prst="rect">
            <a:avLst/>
          </a:prstGeom>
        </p:spPr>
      </p:pic>
      <p:sp>
        <p:nvSpPr>
          <p:cNvPr id="21" name="Text 17"/>
          <p:cNvSpPr txBox="1"/>
          <p:nvPr/>
        </p:nvSpPr>
        <p:spPr>
          <a:xfrm>
            <a:off x="5266944" y="3374136"/>
            <a:ext cx="6300216" cy="22860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160" b="1" spc="50" kern="0" dirty="0">
                <a:solidFill>
                  <a:srgbClr val="ED0016"/>
                </a:solidFill>
                <a:latin typeface="Arial" pitchFamily="34" charset="0"/>
                <a:ea typeface="Arial" pitchFamily="34" charset="-122"/>
                <a:cs typeface="Arial" pitchFamily="34" charset="-120"/>
              </a:rPr>
              <a:t>HOLD</a:t>
            </a:r>
            <a:endParaRPr lang="en-US" sz="1160" dirty="0"/>
          </a:p>
        </p:txBody>
      </p:sp>
      <p:sp>
        <p:nvSpPr>
          <p:cNvPr id="22" name="Text 18"/>
          <p:cNvSpPr txBox="1"/>
          <p:nvPr/>
        </p:nvSpPr>
        <p:spPr>
          <a:xfrm>
            <a:off x="5266944" y="3712464"/>
            <a:ext cx="6300216" cy="54864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900" dirty="0">
                <a:solidFill>
                  <a:srgbClr val="17232C"/>
                </a:solidFill>
                <a:latin typeface="Arial" pitchFamily="34" charset="0"/>
                <a:ea typeface="Arial" pitchFamily="34" charset="-122"/>
                <a:cs typeface="Arial" pitchFamily="34" charset="-120"/>
              </a:rPr>
              <a:t>Keep a price that is appropriate; do not concede margin unnecessarily.</a:t>
            </a:r>
            <a:endParaRPr lang="en-US" sz="1900" dirty="0"/>
          </a:p>
        </p:txBody>
      </p:sp>
      <p:sp>
        <p:nvSpPr>
          <p:cNvPr id="23" name="Shape 19"/>
          <p:cNvSpPr/>
          <p:nvPr/>
        </p:nvSpPr>
        <p:spPr>
          <a:xfrm>
            <a:off x="3730752" y="4928616"/>
            <a:ext cx="411480" cy="0"/>
          </a:xfrm>
          <a:prstGeom prst="line">
            <a:avLst/>
          </a:prstGeom>
          <a:solidFill>
            <a:srgbClr val="FFFFFF">
              <a:alpha val="0"/>
            </a:srgbClr>
          </a:solidFill>
          <a:ln w="21590">
            <a:solidFill>
              <a:srgbClr val="ED0016"/>
            </a:solidFill>
            <a:prstDash val="solid"/>
            <a:tailEnd type="triangle"/>
          </a:ln>
        </p:spPr>
      </p:sp>
      <p:sp>
        <p:nvSpPr>
          <p:cNvPr id="24" name="Shape 20"/>
          <p:cNvSpPr/>
          <p:nvPr/>
        </p:nvSpPr>
        <p:spPr>
          <a:xfrm>
            <a:off x="4352544" y="4535424"/>
            <a:ext cx="667512" cy="667512"/>
          </a:xfrm>
          <a:prstGeom prst="ellipse">
            <a:avLst/>
          </a:prstGeom>
          <a:solidFill>
            <a:srgbClr val="FBEDEF"/>
          </a:solidFill>
          <a:ln w="12700">
            <a:solidFill>
              <a:srgbClr val="FBEDEF">
                <a:alpha val="0"/>
              </a:srgbClr>
            </a:solidFill>
            <a:prstDash val="solid"/>
          </a:ln>
        </p:spPr>
      </p:sp>
      <p:pic>
        <p:nvPicPr>
          <p:cNvPr id="25" name="Image 2" descr="Presentation pictogram">    </p:cNvPr>
          <p:cNvPicPr>
            <a:picLocks noChangeAspect="1"/>
          </p:cNvPicPr>
          <p:nvPr/>
        </p:nvPicPr>
        <p:blipFill>
          <a:blip r:embed="rId3"/>
          <a:stretch>
            <a:fillRect/>
          </a:stretch>
        </p:blipFill>
        <p:spPr>
          <a:xfrm>
            <a:off x="4506072" y="4688952"/>
            <a:ext cx="360456" cy="360456"/>
          </a:xfrm>
          <a:prstGeom prst="rect">
            <a:avLst/>
          </a:prstGeom>
        </p:spPr>
      </p:pic>
      <p:sp>
        <p:nvSpPr>
          <p:cNvPr id="26" name="Text 21"/>
          <p:cNvSpPr txBox="1"/>
          <p:nvPr/>
        </p:nvSpPr>
        <p:spPr>
          <a:xfrm>
            <a:off x="5266944" y="4562856"/>
            <a:ext cx="6300216" cy="22860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160" b="1" spc="50" kern="0" dirty="0">
                <a:solidFill>
                  <a:srgbClr val="ED0016"/>
                </a:solidFill>
                <a:latin typeface="Arial" pitchFamily="34" charset="0"/>
                <a:ea typeface="Arial" pitchFamily="34" charset="-122"/>
                <a:cs typeface="Arial" pitchFamily="34" charset="-120"/>
              </a:rPr>
              <a:t>INCREASE SELECTIVELY</a:t>
            </a:r>
            <a:endParaRPr lang="en-US" sz="1160" dirty="0"/>
          </a:p>
        </p:txBody>
      </p:sp>
      <p:sp>
        <p:nvSpPr>
          <p:cNvPr id="27" name="Text 22"/>
          <p:cNvSpPr txBox="1"/>
          <p:nvPr/>
        </p:nvSpPr>
        <p:spPr>
          <a:xfrm>
            <a:off x="5266944" y="4901184"/>
            <a:ext cx="6300216" cy="54864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900" dirty="0">
                <a:solidFill>
                  <a:srgbClr val="17232C"/>
                </a:solidFill>
                <a:latin typeface="Arial" pitchFamily="34" charset="0"/>
                <a:ea typeface="Arial" pitchFamily="34" charset="-122"/>
                <a:cs typeface="Arial" pitchFamily="34" charset="-120"/>
              </a:rPr>
              <a:t>Earn more where a verified genuine advantage supports the price.</a:t>
            </a:r>
            <a:endParaRPr lang="en-US" sz="1900" dirty="0"/>
          </a:p>
        </p:txBody>
      </p:sp>
      <p:sp>
        <p:nvSpPr>
          <p:cNvPr id="28" name="Shape 23"/>
          <p:cNvSpPr/>
          <p:nvPr/>
        </p:nvSpPr>
        <p:spPr>
          <a:xfrm>
            <a:off x="530352" y="5870448"/>
            <a:ext cx="50292" cy="338328"/>
          </a:xfrm>
          <a:prstGeom prst="rect">
            <a:avLst/>
          </a:prstGeom>
          <a:solidFill>
            <a:srgbClr val="ED0016"/>
          </a:solidFill>
          <a:ln w="12700">
            <a:solidFill>
              <a:srgbClr val="ED0016">
                <a:alpha val="0"/>
              </a:srgbClr>
            </a:solidFill>
            <a:prstDash val="solid"/>
          </a:ln>
        </p:spPr>
      </p:sp>
      <p:sp>
        <p:nvSpPr>
          <p:cNvPr id="29" name="Text 24"/>
          <p:cNvSpPr txBox="1"/>
          <p:nvPr/>
        </p:nvSpPr>
        <p:spPr>
          <a:xfrm>
            <a:off x="694944" y="5865876"/>
            <a:ext cx="10966704" cy="36576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920" b="1" dirty="0">
                <a:solidFill>
                  <a:srgbClr val="17232C"/>
                </a:solidFill>
                <a:latin typeface="Arial" pitchFamily="34" charset="0"/>
                <a:ea typeface="Arial" pitchFamily="34" charset="-122"/>
                <a:cs typeface="Arial" pitchFamily="34" charset="-120"/>
              </a:rPr>
              <a:t>Address selected parts without giving away margin across the rest of the class.</a:t>
            </a:r>
            <a:endParaRPr lang="en-US" sz="1920" dirty="0"/>
          </a:p>
        </p:txBody>
      </p:sp>
    </p:spTree>
  </p:cSld>
  <p:clrMapOvr>
    <a:masterClrMapping/>
  </p:clrMapOvr>
  <p:transition spd="fast" advClick="1">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01752"/>
            <a:ext cx="950976" cy="274320"/>
          </a:xfrm>
          <a:prstGeom prst="rect">
            <a:avLst/>
          </a:prstGeom>
          <a:noFill/>
          <a:ln/>
        </p:spPr>
        <p:txBody>
          <a:bodyPr wrap="square" lIns="0" tIns="0" rIns="0" bIns="0" rtlCol="0" anchor="ctr"/>
          <a:lstStyle/>
          <a:p>
            <a:pPr indent="0" marL="0">
              <a:buNone/>
            </a:pPr>
            <a:r>
              <a:rPr lang="en-US" sz="2000" b="1" dirty="0">
                <a:solidFill>
                  <a:srgbClr val="ED0016"/>
                </a:solidFill>
                <a:latin typeface="Arial" pitchFamily="34" charset="0"/>
                <a:ea typeface="Arial" pitchFamily="34" charset="-122"/>
                <a:cs typeface="Arial" pitchFamily="34" charset="-120"/>
              </a:rPr>
              <a:t>ISUZU</a:t>
            </a:r>
            <a:endParaRPr lang="en-US" sz="2000" dirty="0"/>
          </a:p>
        </p:txBody>
      </p:sp>
      <p:sp>
        <p:nvSpPr>
          <p:cNvPr id="3" name="Text 1"/>
          <p:cNvSpPr/>
          <p:nvPr/>
        </p:nvSpPr>
        <p:spPr>
          <a:xfrm>
            <a:off x="1856232" y="347472"/>
            <a:ext cx="9418320" cy="164592"/>
          </a:xfrm>
          <a:prstGeom prst="rect">
            <a:avLst/>
          </a:prstGeom>
          <a:noFill/>
          <a:ln/>
        </p:spPr>
        <p:txBody>
          <a:bodyPr wrap="square" lIns="0" tIns="0" rIns="0" bIns="0" rtlCol="0" anchor="ctr"/>
          <a:lstStyle/>
          <a:p>
            <a:pPr indent="0" marL="0">
              <a:buNone/>
            </a:pPr>
            <a:r>
              <a:rPr lang="en-US" sz="980" b="1" spc="145" kern="0" dirty="0">
                <a:solidFill>
                  <a:srgbClr val="627581"/>
                </a:solidFill>
                <a:latin typeface="Arial" pitchFamily="34" charset="0"/>
                <a:ea typeface="Arial" pitchFamily="34" charset="-122"/>
                <a:cs typeface="Arial" pitchFamily="34" charset="-120"/>
              </a:rPr>
              <a:t>THE FOUNDATION FOR MORE PRECISE DECISIONS</a:t>
            </a:r>
            <a:endParaRPr lang="en-US" sz="980" dirty="0"/>
          </a:p>
        </p:txBody>
      </p:sp>
      <p:sp>
        <p:nvSpPr>
          <p:cNvPr id="4" name="Text 2"/>
          <p:cNvSpPr/>
          <p:nvPr/>
        </p:nvSpPr>
        <p:spPr>
          <a:xfrm>
            <a:off x="530352" y="960120"/>
            <a:ext cx="11130991" cy="768096"/>
          </a:xfrm>
          <a:prstGeom prst="rect">
            <a:avLst/>
          </a:prstGeom>
          <a:noFill/>
          <a:ln/>
        </p:spPr>
        <p:txBody>
          <a:bodyPr wrap="square" lIns="0" tIns="0" rIns="0" bIns="0" rtlCol="0" anchor="ctr"/>
          <a:lstStyle/>
          <a:p>
            <a:pPr indent="0" marL="0">
              <a:buNone/>
            </a:pPr>
            <a:r>
              <a:rPr lang="en-US" sz="3020" b="1" dirty="0">
                <a:solidFill>
                  <a:srgbClr val="17232C"/>
                </a:solidFill>
                <a:latin typeface="Arial" pitchFamily="34" charset="0"/>
                <a:ea typeface="Arial" pitchFamily="34" charset="-122"/>
                <a:cs typeface="Arial" pitchFamily="34" charset="-120"/>
              </a:rPr>
              <a:t>ISZE AIM — Aftersales Intelligence Model</a:t>
            </a:r>
            <a:endParaRPr lang="en-US" sz="3020" dirty="0"/>
          </a:p>
        </p:txBody>
      </p:sp>
      <p:sp>
        <p:nvSpPr>
          <p:cNvPr id="5" name="Text 3"/>
          <p:cNvSpPr/>
          <p:nvPr/>
        </p:nvSpPr>
        <p:spPr>
          <a:xfrm>
            <a:off x="530352" y="1783080"/>
            <a:ext cx="11130991" cy="466344"/>
          </a:xfrm>
          <a:prstGeom prst="rect">
            <a:avLst/>
          </a:prstGeom>
          <a:noFill/>
          <a:ln/>
        </p:spPr>
        <p:txBody>
          <a:bodyPr wrap="square" lIns="0" tIns="0" rIns="0" bIns="0" rtlCol="0" anchor="ctr"/>
          <a:lstStyle/>
          <a:p>
            <a:pPr indent="0" marL="0">
              <a:buNone/>
            </a:pPr>
            <a:r>
              <a:rPr lang="en-US" sz="1630" dirty="0">
                <a:solidFill>
                  <a:srgbClr val="627581"/>
                </a:solidFill>
                <a:latin typeface="Arial" pitchFamily="34" charset="0"/>
                <a:ea typeface="Arial" pitchFamily="34" charset="-122"/>
                <a:cs typeface="Arial" pitchFamily="34" charset="-120"/>
              </a:rPr>
              <a:t>Parts classification and commercial decision support</a:t>
            </a:r>
            <a:endParaRPr lang="en-US" sz="1630" dirty="0"/>
          </a:p>
        </p:txBody>
      </p:sp>
      <p:sp>
        <p:nvSpPr>
          <p:cNvPr id="6" name="Shape 4"/>
          <p:cNvSpPr/>
          <p:nvPr/>
        </p:nvSpPr>
        <p:spPr>
          <a:xfrm>
            <a:off x="530352" y="6382512"/>
            <a:ext cx="11130991" cy="0"/>
          </a:xfrm>
          <a:prstGeom prst="line">
            <a:avLst/>
          </a:prstGeom>
          <a:noFill/>
          <a:ln w="8890">
            <a:solidFill>
              <a:srgbClr val="DCE3E8"/>
            </a:solidFill>
            <a:prstDash val="solid"/>
          </a:ln>
        </p:spPr>
      </p:sp>
      <p:sp>
        <p:nvSpPr>
          <p:cNvPr id="7" name="Text 5"/>
          <p:cNvSpPr/>
          <p:nvPr/>
        </p:nvSpPr>
        <p:spPr>
          <a:xfrm>
            <a:off x="530352" y="6483096"/>
            <a:ext cx="10216591" cy="164592"/>
          </a:xfrm>
          <a:prstGeom prst="rect">
            <a:avLst/>
          </a:prstGeom>
          <a:noFill/>
          <a:ln/>
        </p:spPr>
        <p:txBody>
          <a:bodyPr wrap="square" lIns="0" tIns="0" rIns="0" bIns="0" rtlCol="0" anchor="ctr"/>
          <a:lstStyle/>
          <a:p>
            <a:pPr indent="0" marL="0">
              <a:buNone/>
            </a:pPr>
            <a:r>
              <a:rPr lang="en-US" sz="810" dirty="0">
                <a:solidFill>
                  <a:srgbClr val="627581"/>
                </a:solidFill>
                <a:latin typeface="Arial" pitchFamily="34" charset="0"/>
                <a:ea typeface="Arial" pitchFamily="34" charset="-122"/>
                <a:cs typeface="Arial" pitchFamily="34" charset="-120"/>
              </a:rPr>
              <a:t>Source: AIM Master and Pricing Master. Functional brake example; commercial assessment remains separate.</a:t>
            </a:r>
            <a:endParaRPr lang="en-US" sz="810" dirty="0"/>
          </a:p>
        </p:txBody>
      </p:sp>
      <p:sp>
        <p:nvSpPr>
          <p:cNvPr id="8" name="Text 6"/>
          <p:cNvSpPr/>
          <p:nvPr/>
        </p:nvSpPr>
        <p:spPr>
          <a:xfrm>
            <a:off x="10856671" y="6469380"/>
            <a:ext cx="804672" cy="210312"/>
          </a:xfrm>
          <a:prstGeom prst="rect">
            <a:avLst/>
          </a:prstGeom>
          <a:noFill/>
          <a:ln/>
        </p:spPr>
        <p:txBody>
          <a:bodyPr wrap="square" lIns="0" tIns="0" rIns="0" bIns="0" rtlCol="0" anchor="ctr"/>
          <a:lstStyle/>
          <a:p>
            <a:pPr algn="r" indent="0" marL="0">
              <a:buNone/>
            </a:pPr>
            <a:r>
              <a:rPr lang="en-US" sz="910" dirty="0">
                <a:solidFill>
                  <a:srgbClr val="627581"/>
                </a:solidFill>
                <a:latin typeface="Arial" pitchFamily="34" charset="0"/>
                <a:ea typeface="Arial" pitchFamily="34" charset="-122"/>
                <a:cs typeface="Arial" pitchFamily="34" charset="-120"/>
              </a:rPr>
              <a:t>v1.4  |  08</a:t>
            </a:r>
            <a:endParaRPr lang="en-US" sz="910" dirty="0"/>
          </a:p>
        </p:txBody>
      </p:sp>
      <p:sp>
        <p:nvSpPr>
          <p:cNvPr id="9" name="Text 7"/>
          <p:cNvSpPr/>
          <p:nvPr/>
        </p:nvSpPr>
        <p:spPr>
          <a:xfrm>
            <a:off x="530352" y="2295144"/>
            <a:ext cx="11128248" cy="585216"/>
          </a:xfrm>
          <a:prstGeom prst="rect">
            <a:avLst/>
          </a:prstGeom>
          <a:noFill/>
          <a:ln/>
        </p:spPr>
        <p:txBody>
          <a:bodyPr wrap="square" lIns="0" tIns="0" rIns="0" bIns="0" rtlCol="0" anchor="ctr"/>
          <a:lstStyle/>
          <a:p>
            <a:pPr indent="0" marL="0">
              <a:buNone/>
            </a:pPr>
            <a:r>
              <a:rPr lang="en-US" sz="1760" dirty="0">
                <a:solidFill>
                  <a:srgbClr val="17232C"/>
                </a:solidFill>
                <a:latin typeface="Arial" pitchFamily="34" charset="0"/>
                <a:ea typeface="Arial" pitchFamily="34" charset="-122"/>
                <a:cs typeface="Arial" pitchFamily="34" charset="-120"/>
              </a:rPr>
              <a:t>I developed AIM to give us a clearer understanding of our parts range</a:t>
            </a:r>
            <a:endParaRPr lang="en-US" sz="1760" dirty="0"/>
          </a:p>
          <a:p>
            <a:pPr indent="0" marL="0">
              <a:buNone/>
            </a:pPr>
            <a:r>
              <a:rPr lang="en-US" sz="1760" dirty="0">
                <a:solidFill>
                  <a:srgbClr val="17232C"/>
                </a:solidFill>
                <a:latin typeface="Arial" pitchFamily="34" charset="0"/>
                <a:ea typeface="Arial" pitchFamily="34" charset="-122"/>
                <a:cs typeface="Arial" pitchFamily="34" charset="-120"/>
              </a:rPr>
              <a:t>and a more precise basis for pricing and sales analysis.</a:t>
            </a:r>
            <a:endParaRPr lang="en-US" sz="1760" dirty="0"/>
          </a:p>
        </p:txBody>
      </p:sp>
      <p:sp>
        <p:nvSpPr>
          <p:cNvPr id="10" name="Text 8"/>
          <p:cNvSpPr/>
          <p:nvPr/>
        </p:nvSpPr>
        <p:spPr>
          <a:xfrm>
            <a:off x="530352" y="3017520"/>
            <a:ext cx="7315200" cy="201168"/>
          </a:xfrm>
          <a:prstGeom prst="rect">
            <a:avLst/>
          </a:prstGeom>
          <a:noFill/>
          <a:ln/>
        </p:spPr>
        <p:txBody>
          <a:bodyPr wrap="square" lIns="0" tIns="0" rIns="0" bIns="0" rtlCol="0" anchor="ctr"/>
          <a:lstStyle/>
          <a:p>
            <a:pPr indent="0" marL="0">
              <a:buNone/>
            </a:pPr>
            <a:r>
              <a:rPr lang="en-US" sz="1030" b="1" spc="60" kern="0" dirty="0">
                <a:solidFill>
                  <a:srgbClr val="627581"/>
                </a:solidFill>
                <a:latin typeface="Arial" pitchFamily="34" charset="0"/>
                <a:ea typeface="Arial" pitchFamily="34" charset="-122"/>
                <a:cs typeface="Arial" pitchFamily="34" charset="-120"/>
              </a:rPr>
              <a:t>THREE CLASSIFICATION LEVELS</a:t>
            </a:r>
            <a:endParaRPr lang="en-US" sz="1030" dirty="0"/>
          </a:p>
        </p:txBody>
      </p:sp>
      <p:sp>
        <p:nvSpPr>
          <p:cNvPr id="11" name="Text 9"/>
          <p:cNvSpPr/>
          <p:nvPr/>
        </p:nvSpPr>
        <p:spPr>
          <a:xfrm>
            <a:off x="8439912" y="3017520"/>
            <a:ext cx="3218688" cy="201168"/>
          </a:xfrm>
          <a:prstGeom prst="rect">
            <a:avLst/>
          </a:prstGeom>
          <a:noFill/>
          <a:ln/>
        </p:spPr>
        <p:txBody>
          <a:bodyPr wrap="square" lIns="0" tIns="0" rIns="0" bIns="0" rtlCol="0" anchor="ctr"/>
          <a:lstStyle/>
          <a:p>
            <a:pPr indent="0" marL="0">
              <a:buNone/>
            </a:pPr>
            <a:r>
              <a:rPr lang="en-US" sz="1030" b="1" spc="60" kern="0" dirty="0">
                <a:solidFill>
                  <a:srgbClr val="627581"/>
                </a:solidFill>
                <a:latin typeface="Arial" pitchFamily="34" charset="0"/>
                <a:ea typeface="Arial" pitchFamily="34" charset="-122"/>
                <a:cs typeface="Arial" pitchFamily="34" charset="-120"/>
              </a:rPr>
              <a:t>INDIVIDUAL PART</a:t>
            </a:r>
            <a:endParaRPr lang="en-US" sz="1030" dirty="0"/>
          </a:p>
        </p:txBody>
      </p:sp>
      <p:sp>
        <p:nvSpPr>
          <p:cNvPr id="12" name="Shape 10"/>
          <p:cNvSpPr/>
          <p:nvPr/>
        </p:nvSpPr>
        <p:spPr>
          <a:xfrm>
            <a:off x="530352" y="3310128"/>
            <a:ext cx="7306056" cy="0"/>
          </a:xfrm>
          <a:prstGeom prst="line">
            <a:avLst/>
          </a:prstGeom>
          <a:noFill/>
          <a:ln w="13970">
            <a:solidFill>
              <a:srgbClr val="17232C"/>
            </a:solidFill>
            <a:prstDash val="solid"/>
          </a:ln>
        </p:spPr>
      </p:sp>
      <p:sp>
        <p:nvSpPr>
          <p:cNvPr id="13" name="Shape 11"/>
          <p:cNvSpPr/>
          <p:nvPr/>
        </p:nvSpPr>
        <p:spPr>
          <a:xfrm>
            <a:off x="530352" y="3483864"/>
            <a:ext cx="2221992" cy="1920240"/>
          </a:xfrm>
          <a:prstGeom prst="rect">
            <a:avLst/>
          </a:prstGeom>
          <a:solidFill>
            <a:srgbClr val="EEF2F4"/>
          </a:solidFill>
          <a:ln w="12700">
            <a:solidFill>
              <a:srgbClr val="EEF2F4">
                <a:alpha val="0"/>
              </a:srgbClr>
            </a:solidFill>
            <a:prstDash val="solid"/>
          </a:ln>
        </p:spPr>
      </p:sp>
      <p:sp>
        <p:nvSpPr>
          <p:cNvPr id="14" name="Shape 12"/>
          <p:cNvSpPr/>
          <p:nvPr/>
        </p:nvSpPr>
        <p:spPr>
          <a:xfrm>
            <a:off x="694944" y="3657600"/>
            <a:ext cx="1051560" cy="283464"/>
          </a:xfrm>
          <a:prstGeom prst="rect">
            <a:avLst/>
          </a:prstGeom>
          <a:solidFill>
            <a:srgbClr val="17232C"/>
          </a:solidFill>
          <a:ln w="12700">
            <a:solidFill>
              <a:srgbClr val="17232C">
                <a:alpha val="0"/>
              </a:srgbClr>
            </a:solidFill>
            <a:prstDash val="solid"/>
          </a:ln>
        </p:spPr>
      </p:sp>
      <p:sp>
        <p:nvSpPr>
          <p:cNvPr id="15" name="Text 13"/>
          <p:cNvSpPr/>
          <p:nvPr/>
        </p:nvSpPr>
        <p:spPr>
          <a:xfrm>
            <a:off x="786384" y="3692347"/>
            <a:ext cx="868680" cy="182880"/>
          </a:xfrm>
          <a:prstGeom prst="rect">
            <a:avLst/>
          </a:prstGeom>
          <a:noFill/>
          <a:ln/>
        </p:spPr>
        <p:txBody>
          <a:bodyPr wrap="square" lIns="0" tIns="0" rIns="0" bIns="0" rtlCol="0" anchor="ctr"/>
          <a:lstStyle/>
          <a:p>
            <a:pPr indent="0" marL="0">
              <a:buNone/>
            </a:pPr>
            <a:r>
              <a:rPr lang="en-US" sz="920" b="1" spc="60" kern="0" dirty="0">
                <a:solidFill>
                  <a:srgbClr val="FFFFFF"/>
                </a:solidFill>
                <a:latin typeface="Arial" pitchFamily="34" charset="0"/>
                <a:ea typeface="Arial" pitchFamily="34" charset="-122"/>
                <a:cs typeface="Arial" pitchFamily="34" charset="-120"/>
              </a:rPr>
              <a:t>LEVEL 1</a:t>
            </a:r>
            <a:endParaRPr lang="en-US" sz="920" dirty="0"/>
          </a:p>
        </p:txBody>
      </p:sp>
      <p:pic>
        <p:nvPicPr>
          <p:cNvPr id="16" name="Image 0" descr="Family">    </p:cNvPr>
          <p:cNvPicPr>
            <a:picLocks noChangeAspect="1"/>
          </p:cNvPicPr>
          <p:nvPr/>
        </p:nvPicPr>
        <p:blipFill>
          <a:blip r:embed="rId1"/>
          <a:stretch>
            <a:fillRect/>
          </a:stretch>
        </p:blipFill>
        <p:spPr>
          <a:xfrm>
            <a:off x="694944" y="4160520"/>
            <a:ext cx="420624" cy="420624"/>
          </a:xfrm>
          <a:prstGeom prst="rect">
            <a:avLst/>
          </a:prstGeom>
        </p:spPr>
      </p:pic>
      <p:sp>
        <p:nvSpPr>
          <p:cNvPr id="17" name="Text 14"/>
          <p:cNvSpPr/>
          <p:nvPr/>
        </p:nvSpPr>
        <p:spPr>
          <a:xfrm>
            <a:off x="694944" y="4654296"/>
            <a:ext cx="1892808" cy="219456"/>
          </a:xfrm>
          <a:prstGeom prst="rect">
            <a:avLst/>
          </a:prstGeom>
          <a:noFill/>
          <a:ln/>
        </p:spPr>
        <p:txBody>
          <a:bodyPr wrap="square" lIns="0" tIns="0" rIns="0" bIns="0" rtlCol="0" anchor="ctr"/>
          <a:lstStyle/>
          <a:p>
            <a:pPr indent="0" marL="0">
              <a:buNone/>
            </a:pPr>
            <a:r>
              <a:rPr lang="en-US" sz="1300" dirty="0">
                <a:solidFill>
                  <a:srgbClr val="627581"/>
                </a:solidFill>
                <a:latin typeface="Arial" pitchFamily="34" charset="0"/>
                <a:ea typeface="Arial" pitchFamily="34" charset="-122"/>
                <a:cs typeface="Arial" pitchFamily="34" charset="-120"/>
              </a:rPr>
              <a:t>Family</a:t>
            </a:r>
            <a:endParaRPr lang="en-US" sz="1300" dirty="0"/>
          </a:p>
        </p:txBody>
      </p:sp>
      <p:sp>
        <p:nvSpPr>
          <p:cNvPr id="18" name="Text 15"/>
          <p:cNvSpPr/>
          <p:nvPr/>
        </p:nvSpPr>
        <p:spPr>
          <a:xfrm>
            <a:off x="694944" y="5020056"/>
            <a:ext cx="1892808" cy="301752"/>
          </a:xfrm>
          <a:prstGeom prst="rect">
            <a:avLst/>
          </a:prstGeom>
          <a:noFill/>
          <a:ln/>
        </p:spPr>
        <p:txBody>
          <a:bodyPr wrap="square" lIns="0" tIns="0" rIns="0" bIns="0" rtlCol="0" anchor="ctr"/>
          <a:lstStyle/>
          <a:p>
            <a:pPr indent="0" marL="0">
              <a:buNone/>
            </a:pPr>
            <a:r>
              <a:rPr lang="en-US" sz="1980" b="1" dirty="0">
                <a:solidFill>
                  <a:srgbClr val="17232C"/>
                </a:solidFill>
                <a:latin typeface="Arial" pitchFamily="34" charset="0"/>
                <a:ea typeface="Arial" pitchFamily="34" charset="-122"/>
                <a:cs typeface="Arial" pitchFamily="34" charset="-120"/>
              </a:rPr>
              <a:t>Brakes</a:t>
            </a:r>
            <a:endParaRPr lang="en-US" sz="1980" dirty="0"/>
          </a:p>
        </p:txBody>
      </p:sp>
      <p:sp>
        <p:nvSpPr>
          <p:cNvPr id="19" name="Shape 16"/>
          <p:cNvSpPr/>
          <p:nvPr/>
        </p:nvSpPr>
        <p:spPr>
          <a:xfrm>
            <a:off x="2816352" y="4489704"/>
            <a:ext cx="164592" cy="0"/>
          </a:xfrm>
          <a:prstGeom prst="line">
            <a:avLst/>
          </a:prstGeom>
          <a:noFill/>
          <a:ln w="21590">
            <a:solidFill>
              <a:srgbClr val="ED0016"/>
            </a:solidFill>
            <a:prstDash val="solid"/>
            <a:tailEnd type="triangle"/>
          </a:ln>
        </p:spPr>
      </p:sp>
      <p:sp>
        <p:nvSpPr>
          <p:cNvPr id="20" name="Shape 17"/>
          <p:cNvSpPr/>
          <p:nvPr/>
        </p:nvSpPr>
        <p:spPr>
          <a:xfrm>
            <a:off x="3072384" y="3483864"/>
            <a:ext cx="2221992" cy="1920240"/>
          </a:xfrm>
          <a:prstGeom prst="rect">
            <a:avLst/>
          </a:prstGeom>
          <a:solidFill>
            <a:srgbClr val="EEF2F4"/>
          </a:solidFill>
          <a:ln w="12700">
            <a:solidFill>
              <a:srgbClr val="EEF2F4">
                <a:alpha val="0"/>
              </a:srgbClr>
            </a:solidFill>
            <a:prstDash val="solid"/>
          </a:ln>
        </p:spPr>
      </p:sp>
      <p:sp>
        <p:nvSpPr>
          <p:cNvPr id="21" name="Shape 18"/>
          <p:cNvSpPr/>
          <p:nvPr/>
        </p:nvSpPr>
        <p:spPr>
          <a:xfrm>
            <a:off x="3236976" y="3657600"/>
            <a:ext cx="1051560" cy="283464"/>
          </a:xfrm>
          <a:prstGeom prst="rect">
            <a:avLst/>
          </a:prstGeom>
          <a:solidFill>
            <a:srgbClr val="17232C"/>
          </a:solidFill>
          <a:ln w="12700">
            <a:solidFill>
              <a:srgbClr val="17232C">
                <a:alpha val="0"/>
              </a:srgbClr>
            </a:solidFill>
            <a:prstDash val="solid"/>
          </a:ln>
        </p:spPr>
      </p:sp>
      <p:sp>
        <p:nvSpPr>
          <p:cNvPr id="22" name="Text 19"/>
          <p:cNvSpPr/>
          <p:nvPr/>
        </p:nvSpPr>
        <p:spPr>
          <a:xfrm>
            <a:off x="3328416" y="3692347"/>
            <a:ext cx="868680" cy="182880"/>
          </a:xfrm>
          <a:prstGeom prst="rect">
            <a:avLst/>
          </a:prstGeom>
          <a:noFill/>
          <a:ln/>
        </p:spPr>
        <p:txBody>
          <a:bodyPr wrap="square" lIns="0" tIns="0" rIns="0" bIns="0" rtlCol="0" anchor="ctr"/>
          <a:lstStyle/>
          <a:p>
            <a:pPr indent="0" marL="0">
              <a:buNone/>
            </a:pPr>
            <a:r>
              <a:rPr lang="en-US" sz="920" b="1" spc="60" kern="0" dirty="0">
                <a:solidFill>
                  <a:srgbClr val="FFFFFF"/>
                </a:solidFill>
                <a:latin typeface="Arial" pitchFamily="34" charset="0"/>
                <a:ea typeface="Arial" pitchFamily="34" charset="-122"/>
                <a:cs typeface="Arial" pitchFamily="34" charset="-120"/>
              </a:rPr>
              <a:t>LEVEL 2</a:t>
            </a:r>
            <a:endParaRPr lang="en-US" sz="920" dirty="0"/>
          </a:p>
        </p:txBody>
      </p:sp>
      <p:pic>
        <p:nvPicPr>
          <p:cNvPr id="23" name="Image 1" descr="Subgroup">    </p:cNvPr>
          <p:cNvPicPr>
            <a:picLocks noChangeAspect="1"/>
          </p:cNvPicPr>
          <p:nvPr/>
        </p:nvPicPr>
        <p:blipFill>
          <a:blip r:embed="rId2"/>
          <a:stretch>
            <a:fillRect/>
          </a:stretch>
        </p:blipFill>
        <p:spPr>
          <a:xfrm>
            <a:off x="3236976" y="4160520"/>
            <a:ext cx="420624" cy="420624"/>
          </a:xfrm>
          <a:prstGeom prst="rect">
            <a:avLst/>
          </a:prstGeom>
        </p:spPr>
      </p:pic>
      <p:sp>
        <p:nvSpPr>
          <p:cNvPr id="24" name="Text 20"/>
          <p:cNvSpPr/>
          <p:nvPr/>
        </p:nvSpPr>
        <p:spPr>
          <a:xfrm>
            <a:off x="3236976" y="4654296"/>
            <a:ext cx="1892808" cy="219456"/>
          </a:xfrm>
          <a:prstGeom prst="rect">
            <a:avLst/>
          </a:prstGeom>
          <a:noFill/>
          <a:ln/>
        </p:spPr>
        <p:txBody>
          <a:bodyPr wrap="square" lIns="0" tIns="0" rIns="0" bIns="0" rtlCol="0" anchor="ctr"/>
          <a:lstStyle/>
          <a:p>
            <a:pPr indent="0" marL="0">
              <a:buNone/>
            </a:pPr>
            <a:r>
              <a:rPr lang="en-US" sz="1300" dirty="0">
                <a:solidFill>
                  <a:srgbClr val="627581"/>
                </a:solidFill>
                <a:latin typeface="Arial" pitchFamily="34" charset="0"/>
                <a:ea typeface="Arial" pitchFamily="34" charset="-122"/>
                <a:cs typeface="Arial" pitchFamily="34" charset="-120"/>
              </a:rPr>
              <a:t>Subgroup</a:t>
            </a:r>
            <a:endParaRPr lang="en-US" sz="1300" dirty="0"/>
          </a:p>
        </p:txBody>
      </p:sp>
      <p:sp>
        <p:nvSpPr>
          <p:cNvPr id="25" name="Text 21"/>
          <p:cNvSpPr/>
          <p:nvPr/>
        </p:nvSpPr>
        <p:spPr>
          <a:xfrm>
            <a:off x="3236976" y="5020056"/>
            <a:ext cx="1892808" cy="301752"/>
          </a:xfrm>
          <a:prstGeom prst="rect">
            <a:avLst/>
          </a:prstGeom>
          <a:noFill/>
          <a:ln/>
        </p:spPr>
        <p:txBody>
          <a:bodyPr wrap="square" lIns="0" tIns="0" rIns="0" bIns="0" rtlCol="0" anchor="ctr"/>
          <a:lstStyle/>
          <a:p>
            <a:pPr indent="0" marL="0">
              <a:buNone/>
            </a:pPr>
            <a:r>
              <a:rPr lang="en-US" sz="1980" b="1" dirty="0">
                <a:solidFill>
                  <a:srgbClr val="17232C"/>
                </a:solidFill>
                <a:latin typeface="Arial" pitchFamily="34" charset="0"/>
                <a:ea typeface="Arial" pitchFamily="34" charset="-122"/>
                <a:cs typeface="Arial" pitchFamily="34" charset="-120"/>
              </a:rPr>
              <a:t>Pads &amp; Shoes</a:t>
            </a:r>
            <a:endParaRPr lang="en-US" sz="1980" dirty="0"/>
          </a:p>
        </p:txBody>
      </p:sp>
      <p:sp>
        <p:nvSpPr>
          <p:cNvPr id="26" name="Shape 22"/>
          <p:cNvSpPr/>
          <p:nvPr/>
        </p:nvSpPr>
        <p:spPr>
          <a:xfrm>
            <a:off x="5358384" y="4489704"/>
            <a:ext cx="164592" cy="0"/>
          </a:xfrm>
          <a:prstGeom prst="line">
            <a:avLst/>
          </a:prstGeom>
          <a:noFill/>
          <a:ln w="21590">
            <a:solidFill>
              <a:srgbClr val="ED0016"/>
            </a:solidFill>
            <a:prstDash val="solid"/>
            <a:tailEnd type="triangle"/>
          </a:ln>
        </p:spPr>
      </p:sp>
      <p:sp>
        <p:nvSpPr>
          <p:cNvPr id="27" name="Shape 23"/>
          <p:cNvSpPr/>
          <p:nvPr/>
        </p:nvSpPr>
        <p:spPr>
          <a:xfrm>
            <a:off x="5614416" y="3483864"/>
            <a:ext cx="2221992" cy="1920240"/>
          </a:xfrm>
          <a:prstGeom prst="rect">
            <a:avLst/>
          </a:prstGeom>
          <a:solidFill>
            <a:srgbClr val="FCEDF0"/>
          </a:solidFill>
          <a:ln w="12700">
            <a:solidFill>
              <a:srgbClr val="FCEDF0">
                <a:alpha val="0"/>
              </a:srgbClr>
            </a:solidFill>
            <a:prstDash val="solid"/>
          </a:ln>
        </p:spPr>
      </p:sp>
      <p:sp>
        <p:nvSpPr>
          <p:cNvPr id="28" name="Shape 24"/>
          <p:cNvSpPr/>
          <p:nvPr/>
        </p:nvSpPr>
        <p:spPr>
          <a:xfrm>
            <a:off x="5779008" y="3657600"/>
            <a:ext cx="1051560" cy="283464"/>
          </a:xfrm>
          <a:prstGeom prst="rect">
            <a:avLst/>
          </a:prstGeom>
          <a:solidFill>
            <a:srgbClr val="ED0016"/>
          </a:solidFill>
          <a:ln w="12700">
            <a:solidFill>
              <a:srgbClr val="ED0016">
                <a:alpha val="0"/>
              </a:srgbClr>
            </a:solidFill>
            <a:prstDash val="solid"/>
          </a:ln>
        </p:spPr>
      </p:sp>
      <p:sp>
        <p:nvSpPr>
          <p:cNvPr id="29" name="Text 25"/>
          <p:cNvSpPr/>
          <p:nvPr/>
        </p:nvSpPr>
        <p:spPr>
          <a:xfrm>
            <a:off x="5870448" y="3692347"/>
            <a:ext cx="868680" cy="182880"/>
          </a:xfrm>
          <a:prstGeom prst="rect">
            <a:avLst/>
          </a:prstGeom>
          <a:noFill/>
          <a:ln/>
        </p:spPr>
        <p:txBody>
          <a:bodyPr wrap="square" lIns="0" tIns="0" rIns="0" bIns="0" rtlCol="0" anchor="ctr"/>
          <a:lstStyle/>
          <a:p>
            <a:pPr indent="0" marL="0">
              <a:buNone/>
            </a:pPr>
            <a:r>
              <a:rPr lang="en-US" sz="920" b="1" spc="60" kern="0" dirty="0">
                <a:solidFill>
                  <a:srgbClr val="FFFFFF"/>
                </a:solidFill>
                <a:latin typeface="Arial" pitchFamily="34" charset="0"/>
                <a:ea typeface="Arial" pitchFamily="34" charset="-122"/>
                <a:cs typeface="Arial" pitchFamily="34" charset="-120"/>
              </a:rPr>
              <a:t>LEVEL 3</a:t>
            </a:r>
            <a:endParaRPr lang="en-US" sz="920" dirty="0"/>
          </a:p>
        </p:txBody>
      </p:sp>
      <p:pic>
        <p:nvPicPr>
          <p:cNvPr id="30" name="Image 2" descr="Part type">    </p:cNvPr>
          <p:cNvPicPr>
            <a:picLocks noChangeAspect="1"/>
          </p:cNvPicPr>
          <p:nvPr/>
        </p:nvPicPr>
        <p:blipFill>
          <a:blip r:embed="rId3"/>
          <a:stretch>
            <a:fillRect/>
          </a:stretch>
        </p:blipFill>
        <p:spPr>
          <a:xfrm>
            <a:off x="5779008" y="4160520"/>
            <a:ext cx="420624" cy="420624"/>
          </a:xfrm>
          <a:prstGeom prst="rect">
            <a:avLst/>
          </a:prstGeom>
        </p:spPr>
      </p:pic>
      <p:sp>
        <p:nvSpPr>
          <p:cNvPr id="31" name="Text 26"/>
          <p:cNvSpPr/>
          <p:nvPr/>
        </p:nvSpPr>
        <p:spPr>
          <a:xfrm>
            <a:off x="5779008" y="4654296"/>
            <a:ext cx="1892808" cy="219456"/>
          </a:xfrm>
          <a:prstGeom prst="rect">
            <a:avLst/>
          </a:prstGeom>
          <a:noFill/>
          <a:ln/>
        </p:spPr>
        <p:txBody>
          <a:bodyPr wrap="square" lIns="0" tIns="0" rIns="0" bIns="0" rtlCol="0" anchor="ctr"/>
          <a:lstStyle/>
          <a:p>
            <a:pPr indent="0" marL="0">
              <a:buNone/>
            </a:pPr>
            <a:r>
              <a:rPr lang="en-US" sz="1300" dirty="0">
                <a:solidFill>
                  <a:srgbClr val="627581"/>
                </a:solidFill>
                <a:latin typeface="Arial" pitchFamily="34" charset="0"/>
                <a:ea typeface="Arial" pitchFamily="34" charset="-122"/>
                <a:cs typeface="Arial" pitchFamily="34" charset="-120"/>
              </a:rPr>
              <a:t>Part type</a:t>
            </a:r>
            <a:endParaRPr lang="en-US" sz="1300" dirty="0"/>
          </a:p>
        </p:txBody>
      </p:sp>
      <p:sp>
        <p:nvSpPr>
          <p:cNvPr id="32" name="Text 27"/>
          <p:cNvSpPr/>
          <p:nvPr/>
        </p:nvSpPr>
        <p:spPr>
          <a:xfrm>
            <a:off x="5779008" y="5020056"/>
            <a:ext cx="1892808" cy="301752"/>
          </a:xfrm>
          <a:prstGeom prst="rect">
            <a:avLst/>
          </a:prstGeom>
          <a:noFill/>
          <a:ln/>
        </p:spPr>
        <p:txBody>
          <a:bodyPr wrap="square" lIns="0" tIns="0" rIns="0" bIns="0" rtlCol="0" anchor="ctr"/>
          <a:lstStyle/>
          <a:p>
            <a:pPr indent="0" marL="0">
              <a:buNone/>
            </a:pPr>
            <a:r>
              <a:rPr lang="en-US" sz="1980" b="1" dirty="0">
                <a:solidFill>
                  <a:srgbClr val="17232C"/>
                </a:solidFill>
                <a:latin typeface="Arial" pitchFamily="34" charset="0"/>
                <a:ea typeface="Arial" pitchFamily="34" charset="-122"/>
                <a:cs typeface="Arial" pitchFamily="34" charset="-120"/>
              </a:rPr>
              <a:t>Brake Pad Kit</a:t>
            </a:r>
            <a:endParaRPr lang="en-US" sz="1980" dirty="0"/>
          </a:p>
        </p:txBody>
      </p:sp>
      <p:sp>
        <p:nvSpPr>
          <p:cNvPr id="33" name="Shape 28"/>
          <p:cNvSpPr/>
          <p:nvPr/>
        </p:nvSpPr>
        <p:spPr>
          <a:xfrm>
            <a:off x="7909560" y="4489704"/>
            <a:ext cx="438912" cy="0"/>
          </a:xfrm>
          <a:prstGeom prst="line">
            <a:avLst/>
          </a:prstGeom>
          <a:noFill/>
          <a:ln w="21590">
            <a:solidFill>
              <a:srgbClr val="ED0016"/>
            </a:solidFill>
            <a:prstDash val="solid"/>
            <a:tailEnd type="triangle"/>
          </a:ln>
        </p:spPr>
      </p:sp>
      <p:sp>
        <p:nvSpPr>
          <p:cNvPr id="34" name="Shape 29"/>
          <p:cNvSpPr/>
          <p:nvPr/>
        </p:nvSpPr>
        <p:spPr>
          <a:xfrm>
            <a:off x="8439912" y="3483864"/>
            <a:ext cx="3218688" cy="1920240"/>
          </a:xfrm>
          <a:prstGeom prst="rect">
            <a:avLst/>
          </a:prstGeom>
          <a:solidFill>
            <a:srgbClr val="17232C"/>
          </a:solidFill>
          <a:ln w="12700">
            <a:solidFill>
              <a:srgbClr val="17232C">
                <a:alpha val="0"/>
              </a:srgbClr>
            </a:solidFill>
            <a:prstDash val="solid"/>
          </a:ln>
        </p:spPr>
      </p:sp>
      <p:sp>
        <p:nvSpPr>
          <p:cNvPr id="35" name="Shape 30"/>
          <p:cNvSpPr/>
          <p:nvPr/>
        </p:nvSpPr>
        <p:spPr>
          <a:xfrm>
            <a:off x="8613648" y="3712464"/>
            <a:ext cx="548640" cy="548640"/>
          </a:xfrm>
          <a:prstGeom prst="ellipse">
            <a:avLst/>
          </a:prstGeom>
          <a:solidFill>
            <a:srgbClr val="263743"/>
          </a:solidFill>
          <a:ln w="12700">
            <a:solidFill>
              <a:srgbClr val="263743">
                <a:alpha val="0"/>
              </a:srgbClr>
            </a:solidFill>
            <a:prstDash val="solid"/>
          </a:ln>
        </p:spPr>
      </p:sp>
      <p:pic>
        <p:nvPicPr>
          <p:cNvPr id="36" name="Image 3" descr="Individual part number">    </p:cNvPr>
          <p:cNvPicPr>
            <a:picLocks noChangeAspect="1"/>
          </p:cNvPicPr>
          <p:nvPr/>
        </p:nvPicPr>
        <p:blipFill>
          <a:blip r:embed="rId4"/>
          <a:stretch>
            <a:fillRect/>
          </a:stretch>
        </p:blipFill>
        <p:spPr>
          <a:xfrm>
            <a:off x="8737092" y="3835908"/>
            <a:ext cx="301752" cy="301752"/>
          </a:xfrm>
          <a:prstGeom prst="rect">
            <a:avLst/>
          </a:prstGeom>
        </p:spPr>
      </p:pic>
      <p:sp>
        <p:nvSpPr>
          <p:cNvPr id="37" name="Text 31"/>
          <p:cNvSpPr/>
          <p:nvPr/>
        </p:nvSpPr>
        <p:spPr>
          <a:xfrm>
            <a:off x="8613648" y="4535424"/>
            <a:ext cx="2852928" cy="219456"/>
          </a:xfrm>
          <a:prstGeom prst="rect">
            <a:avLst/>
          </a:prstGeom>
          <a:noFill/>
          <a:ln/>
        </p:spPr>
        <p:txBody>
          <a:bodyPr wrap="square" lIns="0" tIns="0" rIns="0" bIns="0" rtlCol="0" anchor="ctr"/>
          <a:lstStyle/>
          <a:p>
            <a:pPr indent="0" marL="0">
              <a:buNone/>
            </a:pPr>
            <a:r>
              <a:rPr lang="en-US" sz="1060" b="1" spc="50" kern="0" dirty="0">
                <a:solidFill>
                  <a:srgbClr val="C8D1D7"/>
                </a:solidFill>
                <a:latin typeface="Arial" pitchFamily="34" charset="0"/>
                <a:ea typeface="Arial" pitchFamily="34" charset="-122"/>
                <a:cs typeface="Arial" pitchFamily="34" charset="-120"/>
              </a:rPr>
              <a:t>BRAKE PAD KIT</a:t>
            </a:r>
            <a:endParaRPr lang="en-US" sz="1060" dirty="0"/>
          </a:p>
        </p:txBody>
      </p:sp>
      <p:sp>
        <p:nvSpPr>
          <p:cNvPr id="38" name="Text 32"/>
          <p:cNvSpPr/>
          <p:nvPr/>
        </p:nvSpPr>
        <p:spPr>
          <a:xfrm>
            <a:off x="8613648" y="4910328"/>
            <a:ext cx="2871216" cy="420624"/>
          </a:xfrm>
          <a:prstGeom prst="rect">
            <a:avLst/>
          </a:prstGeom>
          <a:noFill/>
          <a:ln/>
        </p:spPr>
        <p:txBody>
          <a:bodyPr wrap="square" lIns="0" tIns="0" rIns="0" bIns="0" rtlCol="0" anchor="ctr"/>
          <a:lstStyle/>
          <a:p>
            <a:pPr indent="0" marL="0">
              <a:buNone/>
            </a:pPr>
            <a:r>
              <a:rPr lang="en-US" sz="2830" b="1" dirty="0">
                <a:solidFill>
                  <a:srgbClr val="FFFFFF"/>
                </a:solidFill>
                <a:latin typeface="Arial" pitchFamily="34" charset="0"/>
                <a:ea typeface="Arial" pitchFamily="34" charset="-122"/>
                <a:cs typeface="Arial" pitchFamily="34" charset="-120"/>
              </a:rPr>
              <a:t>8982447940</a:t>
            </a:r>
            <a:endParaRPr lang="en-US" sz="2830" dirty="0"/>
          </a:p>
        </p:txBody>
      </p:sp>
      <p:sp>
        <p:nvSpPr>
          <p:cNvPr id="39" name="Shape 33"/>
          <p:cNvSpPr/>
          <p:nvPr/>
        </p:nvSpPr>
        <p:spPr>
          <a:xfrm>
            <a:off x="530352" y="5870448"/>
            <a:ext cx="50292" cy="338328"/>
          </a:xfrm>
          <a:prstGeom prst="rect">
            <a:avLst/>
          </a:prstGeom>
          <a:solidFill>
            <a:srgbClr val="ED0016"/>
          </a:solidFill>
          <a:ln w="12700">
            <a:solidFill>
              <a:srgbClr val="ED0016">
                <a:alpha val="0"/>
              </a:srgbClr>
            </a:solidFill>
            <a:prstDash val="solid"/>
          </a:ln>
        </p:spPr>
      </p:sp>
      <p:sp>
        <p:nvSpPr>
          <p:cNvPr id="40" name="Text 34"/>
          <p:cNvSpPr/>
          <p:nvPr/>
        </p:nvSpPr>
        <p:spPr>
          <a:xfrm>
            <a:off x="694944" y="5865876"/>
            <a:ext cx="10966399" cy="365760"/>
          </a:xfrm>
          <a:prstGeom prst="rect">
            <a:avLst/>
          </a:prstGeom>
          <a:noFill/>
          <a:ln/>
        </p:spPr>
        <p:txBody>
          <a:bodyPr wrap="square" lIns="0" tIns="0" rIns="0" bIns="0" rtlCol="0" anchor="ctr"/>
          <a:lstStyle/>
          <a:p>
            <a:pPr indent="0" marL="0">
              <a:buNone/>
            </a:pPr>
            <a:r>
              <a:rPr lang="en-US" sz="1920" b="1" dirty="0">
                <a:solidFill>
                  <a:srgbClr val="17232C"/>
                </a:solidFill>
                <a:latin typeface="Arial" pitchFamily="34" charset="0"/>
                <a:ea typeface="Arial" pitchFamily="34" charset="-122"/>
                <a:cs typeface="Arial" pitchFamily="34" charset="-120"/>
              </a:rPr>
              <a:t>Find the parts that need attention without changing an entire price class.</a:t>
            </a:r>
            <a:endParaRPr lang="en-US" sz="1920" dirty="0"/>
          </a:p>
        </p:txBody>
      </p:sp>
    </p:spTree>
  </p:cSld>
  <p:clrMapOvr>
    <a:masterClrMapping/>
  </p:clrMapOvr>
  <p:transition spd="fast" advClick="1">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30352" y="301752"/>
            <a:ext cx="950976"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000" b="1" dirty="0">
                <a:solidFill>
                  <a:srgbClr val="ED0016"/>
                </a:solidFill>
                <a:latin typeface="Arial" pitchFamily="34" charset="0"/>
                <a:ea typeface="Arial" pitchFamily="34" charset="-122"/>
                <a:cs typeface="Arial" pitchFamily="34" charset="-120"/>
              </a:rPr>
              <a:t>ISUZU</a:t>
            </a:r>
            <a:endParaRPr lang="en-US" sz="2000" dirty="0"/>
          </a:p>
        </p:txBody>
      </p:sp>
      <p:sp>
        <p:nvSpPr>
          <p:cNvPr id="3" name="Text 1"/>
          <p:cNvSpPr txBox="1"/>
          <p:nvPr/>
        </p:nvSpPr>
        <p:spPr>
          <a:xfrm>
            <a:off x="1856232" y="347472"/>
            <a:ext cx="9418320" cy="16459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980" b="1" spc="145" kern="0" dirty="0">
                <a:solidFill>
                  <a:srgbClr val="687782"/>
                </a:solidFill>
                <a:latin typeface="Arial" pitchFamily="34" charset="0"/>
                <a:ea typeface="Arial" pitchFamily="34" charset="-122"/>
                <a:cs typeface="Arial" pitchFamily="34" charset="-120"/>
              </a:rPr>
              <a:t>AIM | HOW IT WAS DEVELOPED</a:t>
            </a:r>
            <a:endParaRPr lang="en-US" sz="980" dirty="0"/>
          </a:p>
        </p:txBody>
      </p:sp>
      <p:sp>
        <p:nvSpPr>
          <p:cNvPr id="4" name="Text 2"/>
          <p:cNvSpPr txBox="1"/>
          <p:nvPr/>
        </p:nvSpPr>
        <p:spPr>
          <a:xfrm>
            <a:off x="530352" y="960120"/>
            <a:ext cx="11131296" cy="76809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3020" b="1" dirty="0">
                <a:solidFill>
                  <a:srgbClr val="17232C"/>
                </a:solidFill>
                <a:latin typeface="Arial" pitchFamily="34" charset="0"/>
                <a:ea typeface="Arial" pitchFamily="34" charset="-122"/>
                <a:cs typeface="Arial" pitchFamily="34" charset="-120"/>
              </a:rPr>
              <a:t>AIM was built through mapping, checking and refinement.</a:t>
            </a:r>
            <a:endParaRPr lang="en-US" sz="3020" dirty="0"/>
          </a:p>
        </p:txBody>
      </p:sp>
      <p:sp>
        <p:nvSpPr>
          <p:cNvPr id="5" name="Text 3"/>
          <p:cNvSpPr txBox="1"/>
          <p:nvPr/>
        </p:nvSpPr>
        <p:spPr>
          <a:xfrm>
            <a:off x="530352" y="1783080"/>
            <a:ext cx="11131296" cy="46634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630" dirty="0">
                <a:solidFill>
                  <a:srgbClr val="687782"/>
                </a:solidFill>
                <a:latin typeface="Arial" pitchFamily="34" charset="0"/>
                <a:ea typeface="Arial" pitchFamily="34" charset="-122"/>
                <a:cs typeface="Arial" pitchFamily="34" charset="-120"/>
              </a:rPr>
              <a:t>Part descriptions provide the starting point; catalogue references and independent checks strengthen identity.</a:t>
            </a:r>
            <a:endParaRPr lang="en-US" sz="1630" dirty="0"/>
          </a:p>
        </p:txBody>
      </p:sp>
      <p:sp>
        <p:nvSpPr>
          <p:cNvPr id="6" name="Shape 4"/>
          <p:cNvSpPr/>
          <p:nvPr/>
        </p:nvSpPr>
        <p:spPr>
          <a:xfrm>
            <a:off x="530352" y="6382512"/>
            <a:ext cx="11131296" cy="0"/>
          </a:xfrm>
          <a:prstGeom prst="line">
            <a:avLst/>
          </a:prstGeom>
          <a:solidFill>
            <a:srgbClr val="FFFFFF">
              <a:alpha val="0"/>
            </a:srgbClr>
          </a:solidFill>
          <a:ln w="8890">
            <a:solidFill>
              <a:srgbClr val="DCE3E8"/>
            </a:solidFill>
            <a:prstDash val="solid"/>
          </a:ln>
        </p:spPr>
      </p:sp>
      <p:sp>
        <p:nvSpPr>
          <p:cNvPr id="7" name="Text 5"/>
          <p:cNvSpPr txBox="1"/>
          <p:nvPr/>
        </p:nvSpPr>
        <p:spPr>
          <a:xfrm>
            <a:off x="530352" y="6483096"/>
            <a:ext cx="10216896" cy="16459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810" dirty="0">
                <a:solidFill>
                  <a:srgbClr val="687782"/>
                </a:solidFill>
                <a:latin typeface="Arial" pitchFamily="34" charset="0"/>
                <a:ea typeface="Arial" pitchFamily="34" charset="-122"/>
                <a:cs typeface="Arial" pitchFamily="34" charset="-120"/>
              </a:rPr>
              <a:t>Source: AIM Master. Original method, independent checks and revised identity structure.</a:t>
            </a:r>
            <a:endParaRPr lang="en-US" sz="810" dirty="0"/>
          </a:p>
        </p:txBody>
      </p:sp>
      <p:sp>
        <p:nvSpPr>
          <p:cNvPr id="8" name="Text 6"/>
          <p:cNvSpPr txBox="1"/>
          <p:nvPr/>
        </p:nvSpPr>
        <p:spPr>
          <a:xfrm>
            <a:off x="10856976" y="6469380"/>
            <a:ext cx="804672" cy="21031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r" indent="0" marL="0">
              <a:buNone/>
            </a:pPr>
            <a:r>
              <a:rPr lang="en-US" sz="910" dirty="0">
                <a:solidFill>
                  <a:srgbClr val="687782"/>
                </a:solidFill>
                <a:latin typeface="Arial" pitchFamily="34" charset="0"/>
                <a:ea typeface="Arial" pitchFamily="34" charset="-122"/>
                <a:cs typeface="Arial" pitchFamily="34" charset="-120"/>
              </a:rPr>
              <a:t>v1.4  |  09</a:t>
            </a:r>
            <a:endParaRPr lang="en-US" sz="910" dirty="0"/>
          </a:p>
        </p:txBody>
      </p:sp>
      <p:sp>
        <p:nvSpPr>
          <p:cNvPr id="9" name="Shape 7"/>
          <p:cNvSpPr/>
          <p:nvPr/>
        </p:nvSpPr>
        <p:spPr>
          <a:xfrm>
            <a:off x="530352" y="2606040"/>
            <a:ext cx="877824" cy="877824"/>
          </a:xfrm>
          <a:prstGeom prst="ellipse">
            <a:avLst/>
          </a:prstGeom>
          <a:solidFill>
            <a:srgbClr val="FBEDEF"/>
          </a:solidFill>
          <a:ln w="12700">
            <a:solidFill>
              <a:srgbClr val="FBEDEF">
                <a:alpha val="0"/>
              </a:srgbClr>
            </a:solidFill>
            <a:prstDash val="solid"/>
          </a:ln>
        </p:spPr>
      </p:sp>
      <p:pic>
        <p:nvPicPr>
          <p:cNvPr id="10" name="Image 0" descr="Presentation pictogram">    </p:cNvPr>
          <p:cNvPicPr>
            <a:picLocks noChangeAspect="1"/>
          </p:cNvPicPr>
          <p:nvPr/>
        </p:nvPicPr>
        <p:blipFill>
          <a:blip r:embed="rId1"/>
          <a:stretch>
            <a:fillRect/>
          </a:stretch>
        </p:blipFill>
        <p:spPr>
          <a:xfrm>
            <a:off x="732252" y="2807940"/>
            <a:ext cx="474025" cy="474025"/>
          </a:xfrm>
          <a:prstGeom prst="rect">
            <a:avLst/>
          </a:prstGeom>
        </p:spPr>
      </p:pic>
      <p:sp>
        <p:nvSpPr>
          <p:cNvPr id="11" name="Shape 8"/>
          <p:cNvSpPr/>
          <p:nvPr/>
        </p:nvSpPr>
        <p:spPr>
          <a:xfrm>
            <a:off x="1682496" y="3054096"/>
            <a:ext cx="1444752" cy="0"/>
          </a:xfrm>
          <a:prstGeom prst="line">
            <a:avLst/>
          </a:prstGeom>
          <a:solidFill>
            <a:srgbClr val="FFFFFF">
              <a:alpha val="0"/>
            </a:srgbClr>
          </a:solidFill>
          <a:ln w="25400">
            <a:solidFill>
              <a:srgbClr val="DCE3E8"/>
            </a:solidFill>
            <a:prstDash val="solid"/>
            <a:tailEnd type="triangle"/>
          </a:ln>
        </p:spPr>
      </p:sp>
      <p:sp>
        <p:nvSpPr>
          <p:cNvPr id="12" name="Text 9"/>
          <p:cNvSpPr txBox="1"/>
          <p:nvPr/>
        </p:nvSpPr>
        <p:spPr>
          <a:xfrm>
            <a:off x="530352" y="3785616"/>
            <a:ext cx="2450592" cy="43891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400" b="1" dirty="0">
                <a:solidFill>
                  <a:srgbClr val="17232C"/>
                </a:solidFill>
                <a:latin typeface="Arial" pitchFamily="34" charset="0"/>
                <a:ea typeface="Arial" pitchFamily="34" charset="-122"/>
                <a:cs typeface="Arial" pitchFamily="34" charset="-120"/>
              </a:rPr>
              <a:t>Interpret</a:t>
            </a:r>
            <a:endParaRPr lang="en-US" sz="2400" dirty="0"/>
          </a:p>
        </p:txBody>
      </p:sp>
      <p:sp>
        <p:nvSpPr>
          <p:cNvPr id="13" name="Text 10"/>
          <p:cNvSpPr txBox="1"/>
          <p:nvPr/>
        </p:nvSpPr>
        <p:spPr>
          <a:xfrm>
            <a:off x="530352" y="4471416"/>
            <a:ext cx="2450592" cy="932688"/>
          </a:xfrm>
          <a:prstGeom prst="rect">
            <a:avLst/>
          </a:prstGeom>
          <a:solidFill>
            <a:srgbClr val="FFFFFF">
              <a:alpha val="0"/>
            </a:srgbClr>
          </a:solidFill>
          <a:ln>
            <a:solidFill>
              <a:srgbClr val="FFFFFF">
                <a:alpha val="0"/>
              </a:srgbClr>
            </a:solidFill>
          </a:ln>
        </p:spPr>
        <p:txBody>
          <a:bodyPr wrap="square" lIns="0" tIns="0" rIns="0" bIns="0" rtlCol="0" anchor="t">
            <a:normAutofit/>
          </a:bodyPr>
          <a:lstStyle/>
          <a:p>
            <a:pPr algn="l" indent="0" marL="0">
              <a:buNone/>
            </a:pPr>
            <a:r>
              <a:rPr lang="en-US" sz="1750" dirty="0">
                <a:solidFill>
                  <a:srgbClr val="687782"/>
                </a:solidFill>
                <a:latin typeface="Arial" pitchFamily="34" charset="0"/>
                <a:ea typeface="Arial" pitchFamily="34" charset="-122"/>
                <a:cs typeface="Arial" pitchFamily="34" charset="-120"/>
              </a:rPr>
              <a:t>Read abbreviated part descriptions and establish initial mapping rules.</a:t>
            </a:r>
            <a:endParaRPr lang="en-US" sz="1750" dirty="0"/>
          </a:p>
        </p:txBody>
      </p:sp>
      <p:sp>
        <p:nvSpPr>
          <p:cNvPr id="14" name="Shape 11"/>
          <p:cNvSpPr/>
          <p:nvPr/>
        </p:nvSpPr>
        <p:spPr>
          <a:xfrm>
            <a:off x="3401568" y="2606040"/>
            <a:ext cx="877824" cy="877824"/>
          </a:xfrm>
          <a:prstGeom prst="ellipse">
            <a:avLst/>
          </a:prstGeom>
          <a:solidFill>
            <a:srgbClr val="FBEDEF"/>
          </a:solidFill>
          <a:ln w="12700">
            <a:solidFill>
              <a:srgbClr val="FBEDEF">
                <a:alpha val="0"/>
              </a:srgbClr>
            </a:solidFill>
            <a:prstDash val="solid"/>
          </a:ln>
        </p:spPr>
      </p:sp>
      <p:pic>
        <p:nvPicPr>
          <p:cNvPr id="15" name="Image 1" descr="Presentation pictogram">    </p:cNvPr>
          <p:cNvPicPr>
            <a:picLocks noChangeAspect="1"/>
          </p:cNvPicPr>
          <p:nvPr/>
        </p:nvPicPr>
        <p:blipFill>
          <a:blip r:embed="rId2"/>
          <a:stretch>
            <a:fillRect/>
          </a:stretch>
        </p:blipFill>
        <p:spPr>
          <a:xfrm>
            <a:off x="3603468" y="2807940"/>
            <a:ext cx="474025" cy="474025"/>
          </a:xfrm>
          <a:prstGeom prst="rect">
            <a:avLst/>
          </a:prstGeom>
        </p:spPr>
      </p:pic>
      <p:sp>
        <p:nvSpPr>
          <p:cNvPr id="16" name="Shape 12"/>
          <p:cNvSpPr/>
          <p:nvPr/>
        </p:nvSpPr>
        <p:spPr>
          <a:xfrm>
            <a:off x="4553712" y="3054096"/>
            <a:ext cx="1444752" cy="0"/>
          </a:xfrm>
          <a:prstGeom prst="line">
            <a:avLst/>
          </a:prstGeom>
          <a:solidFill>
            <a:srgbClr val="FFFFFF">
              <a:alpha val="0"/>
            </a:srgbClr>
          </a:solidFill>
          <a:ln w="25400">
            <a:solidFill>
              <a:srgbClr val="DCE3E8"/>
            </a:solidFill>
            <a:prstDash val="solid"/>
            <a:tailEnd type="triangle"/>
          </a:ln>
        </p:spPr>
      </p:sp>
      <p:sp>
        <p:nvSpPr>
          <p:cNvPr id="17" name="Text 13"/>
          <p:cNvSpPr txBox="1"/>
          <p:nvPr/>
        </p:nvSpPr>
        <p:spPr>
          <a:xfrm>
            <a:off x="3401568" y="3785616"/>
            <a:ext cx="2450592" cy="43891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400" b="1" dirty="0">
                <a:solidFill>
                  <a:srgbClr val="17232C"/>
                </a:solidFill>
                <a:latin typeface="Arial" pitchFamily="34" charset="0"/>
                <a:ea typeface="Arial" pitchFamily="34" charset="-122"/>
                <a:cs typeface="Arial" pitchFamily="34" charset="-120"/>
              </a:rPr>
              <a:t>Structure</a:t>
            </a:r>
            <a:endParaRPr lang="en-US" sz="2400" dirty="0"/>
          </a:p>
        </p:txBody>
      </p:sp>
      <p:sp>
        <p:nvSpPr>
          <p:cNvPr id="18" name="Text 14"/>
          <p:cNvSpPr txBox="1"/>
          <p:nvPr/>
        </p:nvSpPr>
        <p:spPr>
          <a:xfrm>
            <a:off x="3401568" y="4471416"/>
            <a:ext cx="2450592" cy="932688"/>
          </a:xfrm>
          <a:prstGeom prst="rect">
            <a:avLst/>
          </a:prstGeom>
          <a:solidFill>
            <a:srgbClr val="FFFFFF">
              <a:alpha val="0"/>
            </a:srgbClr>
          </a:solidFill>
          <a:ln>
            <a:solidFill>
              <a:srgbClr val="FFFFFF">
                <a:alpha val="0"/>
              </a:srgbClr>
            </a:solidFill>
          </a:ln>
        </p:spPr>
        <p:txBody>
          <a:bodyPr wrap="square" lIns="0" tIns="0" rIns="0" bIns="0" rtlCol="0" anchor="t">
            <a:normAutofit/>
          </a:bodyPr>
          <a:lstStyle/>
          <a:p>
            <a:pPr algn="l" indent="0" marL="0">
              <a:buNone/>
            </a:pPr>
            <a:r>
              <a:rPr lang="en-US" sz="1750" dirty="0">
                <a:solidFill>
                  <a:srgbClr val="687782"/>
                </a:solidFill>
                <a:latin typeface="Arial" pitchFamily="34" charset="0"/>
                <a:ea typeface="Arial" pitchFamily="34" charset="-122"/>
                <a:cs typeface="Arial" pitchFamily="34" charset="-120"/>
              </a:rPr>
              <a:t>Organise the labels into three levels, linked to the individual part number.</a:t>
            </a:r>
            <a:endParaRPr lang="en-US" sz="1750" dirty="0"/>
          </a:p>
        </p:txBody>
      </p:sp>
      <p:sp>
        <p:nvSpPr>
          <p:cNvPr id="19" name="Shape 15"/>
          <p:cNvSpPr/>
          <p:nvPr/>
        </p:nvSpPr>
        <p:spPr>
          <a:xfrm>
            <a:off x="6272784" y="2606040"/>
            <a:ext cx="877824" cy="877824"/>
          </a:xfrm>
          <a:prstGeom prst="ellipse">
            <a:avLst/>
          </a:prstGeom>
          <a:solidFill>
            <a:srgbClr val="FBEDEF"/>
          </a:solidFill>
          <a:ln w="12700">
            <a:solidFill>
              <a:srgbClr val="FBEDEF">
                <a:alpha val="0"/>
              </a:srgbClr>
            </a:solidFill>
            <a:prstDash val="solid"/>
          </a:ln>
        </p:spPr>
      </p:sp>
      <p:pic>
        <p:nvPicPr>
          <p:cNvPr id="20" name="Image 2" descr="Presentation pictogram">    </p:cNvPr>
          <p:cNvPicPr>
            <a:picLocks noChangeAspect="1"/>
          </p:cNvPicPr>
          <p:nvPr/>
        </p:nvPicPr>
        <p:blipFill>
          <a:blip r:embed="rId3"/>
          <a:stretch>
            <a:fillRect/>
          </a:stretch>
        </p:blipFill>
        <p:spPr>
          <a:xfrm>
            <a:off x="6474684" y="2807940"/>
            <a:ext cx="474025" cy="474025"/>
          </a:xfrm>
          <a:prstGeom prst="rect">
            <a:avLst/>
          </a:prstGeom>
        </p:spPr>
      </p:pic>
      <p:sp>
        <p:nvSpPr>
          <p:cNvPr id="21" name="Shape 16"/>
          <p:cNvSpPr/>
          <p:nvPr/>
        </p:nvSpPr>
        <p:spPr>
          <a:xfrm>
            <a:off x="7424928" y="3054096"/>
            <a:ext cx="1444752" cy="0"/>
          </a:xfrm>
          <a:prstGeom prst="line">
            <a:avLst/>
          </a:prstGeom>
          <a:solidFill>
            <a:srgbClr val="FFFFFF">
              <a:alpha val="0"/>
            </a:srgbClr>
          </a:solidFill>
          <a:ln w="25400">
            <a:solidFill>
              <a:srgbClr val="DCE3E8"/>
            </a:solidFill>
            <a:prstDash val="solid"/>
            <a:tailEnd type="triangle"/>
          </a:ln>
        </p:spPr>
      </p:sp>
      <p:sp>
        <p:nvSpPr>
          <p:cNvPr id="22" name="Text 17"/>
          <p:cNvSpPr txBox="1"/>
          <p:nvPr/>
        </p:nvSpPr>
        <p:spPr>
          <a:xfrm>
            <a:off x="6272784" y="3785616"/>
            <a:ext cx="2450592" cy="43891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400" b="1" dirty="0">
                <a:solidFill>
                  <a:srgbClr val="17232C"/>
                </a:solidFill>
                <a:latin typeface="Arial" pitchFamily="34" charset="0"/>
                <a:ea typeface="Arial" pitchFamily="34" charset="-122"/>
                <a:cs typeface="Arial" pitchFamily="34" charset="-120"/>
              </a:rPr>
              <a:t>Check</a:t>
            </a:r>
            <a:endParaRPr lang="en-US" sz="2400" dirty="0"/>
          </a:p>
        </p:txBody>
      </p:sp>
      <p:sp>
        <p:nvSpPr>
          <p:cNvPr id="23" name="Text 18"/>
          <p:cNvSpPr txBox="1"/>
          <p:nvPr/>
        </p:nvSpPr>
        <p:spPr>
          <a:xfrm>
            <a:off x="6272784" y="4471416"/>
            <a:ext cx="2450592" cy="932688"/>
          </a:xfrm>
          <a:prstGeom prst="rect">
            <a:avLst/>
          </a:prstGeom>
          <a:solidFill>
            <a:srgbClr val="FFFFFF">
              <a:alpha val="0"/>
            </a:srgbClr>
          </a:solidFill>
          <a:ln>
            <a:solidFill>
              <a:srgbClr val="FFFFFF">
                <a:alpha val="0"/>
              </a:srgbClr>
            </a:solidFill>
          </a:ln>
        </p:spPr>
        <p:txBody>
          <a:bodyPr wrap="square" lIns="0" tIns="0" rIns="0" bIns="0" rtlCol="0" anchor="t">
            <a:normAutofit/>
          </a:bodyPr>
          <a:lstStyle/>
          <a:p>
            <a:pPr algn="l" indent="0" marL="0">
              <a:buNone/>
            </a:pPr>
            <a:r>
              <a:rPr lang="en-US" sz="1750" dirty="0">
                <a:solidFill>
                  <a:srgbClr val="687782"/>
                </a:solidFill>
                <a:latin typeface="Arial" pitchFamily="34" charset="0"/>
                <a:ea typeface="Arial" pitchFamily="34" charset="-122"/>
                <a:cs typeface="Arial" pitchFamily="34" charset="-120"/>
              </a:rPr>
              <a:t>Compare identity with catalogue figures, customs codes and precise text rules.</a:t>
            </a:r>
            <a:endParaRPr lang="en-US" sz="1750" dirty="0"/>
          </a:p>
        </p:txBody>
      </p:sp>
      <p:sp>
        <p:nvSpPr>
          <p:cNvPr id="24" name="Shape 19"/>
          <p:cNvSpPr/>
          <p:nvPr/>
        </p:nvSpPr>
        <p:spPr>
          <a:xfrm>
            <a:off x="9144000" y="2606040"/>
            <a:ext cx="877824" cy="877824"/>
          </a:xfrm>
          <a:prstGeom prst="ellipse">
            <a:avLst/>
          </a:prstGeom>
          <a:solidFill>
            <a:srgbClr val="FBEDEF"/>
          </a:solidFill>
          <a:ln w="12700">
            <a:solidFill>
              <a:srgbClr val="FBEDEF">
                <a:alpha val="0"/>
              </a:srgbClr>
            </a:solidFill>
            <a:prstDash val="solid"/>
          </a:ln>
        </p:spPr>
      </p:sp>
      <p:pic>
        <p:nvPicPr>
          <p:cNvPr id="25" name="Image 3" descr="Presentation pictogram">    </p:cNvPr>
          <p:cNvPicPr>
            <a:picLocks noChangeAspect="1"/>
          </p:cNvPicPr>
          <p:nvPr/>
        </p:nvPicPr>
        <p:blipFill>
          <a:blip r:embed="rId4"/>
          <a:stretch>
            <a:fillRect/>
          </a:stretch>
        </p:blipFill>
        <p:spPr>
          <a:xfrm>
            <a:off x="9345900" y="2807940"/>
            <a:ext cx="474025" cy="474025"/>
          </a:xfrm>
          <a:prstGeom prst="rect">
            <a:avLst/>
          </a:prstGeom>
        </p:spPr>
      </p:pic>
      <p:sp>
        <p:nvSpPr>
          <p:cNvPr id="26" name="Text 20"/>
          <p:cNvSpPr txBox="1"/>
          <p:nvPr/>
        </p:nvSpPr>
        <p:spPr>
          <a:xfrm>
            <a:off x="9144000" y="3785616"/>
            <a:ext cx="2450592" cy="43891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400" b="1" dirty="0">
                <a:solidFill>
                  <a:srgbClr val="17232C"/>
                </a:solidFill>
                <a:latin typeface="Arial" pitchFamily="34" charset="0"/>
                <a:ea typeface="Arial" pitchFamily="34" charset="-122"/>
                <a:cs typeface="Arial" pitchFamily="34" charset="-120"/>
              </a:rPr>
              <a:t>Refine</a:t>
            </a:r>
            <a:endParaRPr lang="en-US" sz="2400" dirty="0"/>
          </a:p>
        </p:txBody>
      </p:sp>
      <p:sp>
        <p:nvSpPr>
          <p:cNvPr id="27" name="Text 21"/>
          <p:cNvSpPr txBox="1"/>
          <p:nvPr/>
        </p:nvSpPr>
        <p:spPr>
          <a:xfrm>
            <a:off x="9144000" y="4471416"/>
            <a:ext cx="2450592" cy="932688"/>
          </a:xfrm>
          <a:prstGeom prst="rect">
            <a:avLst/>
          </a:prstGeom>
          <a:solidFill>
            <a:srgbClr val="FFFFFF">
              <a:alpha val="0"/>
            </a:srgbClr>
          </a:solidFill>
          <a:ln>
            <a:solidFill>
              <a:srgbClr val="FFFFFF">
                <a:alpha val="0"/>
              </a:srgbClr>
            </a:solidFill>
          </a:ln>
        </p:spPr>
        <p:txBody>
          <a:bodyPr wrap="square" lIns="0" tIns="0" rIns="0" bIns="0" rtlCol="0" anchor="t">
            <a:normAutofit/>
          </a:bodyPr>
          <a:lstStyle/>
          <a:p>
            <a:pPr algn="l" indent="0" marL="0">
              <a:buNone/>
            </a:pPr>
            <a:r>
              <a:rPr lang="en-US" sz="1750" dirty="0">
                <a:solidFill>
                  <a:srgbClr val="687782"/>
                </a:solidFill>
                <a:latin typeface="Arial" pitchFamily="34" charset="0"/>
                <a:ea typeface="Arial" pitchFamily="34" charset="-122"/>
                <a:cs typeface="Arial" pitchFamily="34" charset="-120"/>
              </a:rPr>
              <a:t>Resolve clear identity conflicts and keep uncertain parts for review.</a:t>
            </a:r>
            <a:endParaRPr lang="en-US" sz="1750" dirty="0"/>
          </a:p>
        </p:txBody>
      </p:sp>
      <p:sp>
        <p:nvSpPr>
          <p:cNvPr id="28" name="Shape 22"/>
          <p:cNvSpPr/>
          <p:nvPr/>
        </p:nvSpPr>
        <p:spPr>
          <a:xfrm>
            <a:off x="530352" y="5870448"/>
            <a:ext cx="50292" cy="338328"/>
          </a:xfrm>
          <a:prstGeom prst="rect">
            <a:avLst/>
          </a:prstGeom>
          <a:solidFill>
            <a:srgbClr val="ED0016"/>
          </a:solidFill>
          <a:ln w="12700">
            <a:solidFill>
              <a:srgbClr val="ED0016">
                <a:alpha val="0"/>
              </a:srgbClr>
            </a:solidFill>
            <a:prstDash val="solid"/>
          </a:ln>
        </p:spPr>
      </p:sp>
      <p:sp>
        <p:nvSpPr>
          <p:cNvPr id="29" name="Text 23"/>
          <p:cNvSpPr txBox="1"/>
          <p:nvPr/>
        </p:nvSpPr>
        <p:spPr>
          <a:xfrm>
            <a:off x="694944" y="5865876"/>
            <a:ext cx="10966704" cy="36576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920" b="1" dirty="0">
                <a:solidFill>
                  <a:srgbClr val="17232C"/>
                </a:solidFill>
                <a:latin typeface="Arial" pitchFamily="34" charset="0"/>
                <a:ea typeface="Arial" pitchFamily="34" charset="-122"/>
                <a:cs typeface="Arial" pitchFamily="34" charset="-120"/>
              </a:rPr>
              <a:t>The classification identifies the part. Market evidence then guides the price.</a:t>
            </a:r>
            <a:endParaRPr lang="en-US" sz="1920" dirty="0"/>
          </a:p>
        </p:txBody>
      </p:sp>
    </p:spTree>
  </p:cSld>
  <p:clrMapOvr>
    <a:masterClrMapping/>
  </p:clrMapOvr>
  <p:transition spd="fast" advClick="1">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30352" y="301752"/>
            <a:ext cx="950976"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000" b="1" dirty="0">
                <a:solidFill>
                  <a:srgbClr val="ED0016"/>
                </a:solidFill>
                <a:latin typeface="Arial" pitchFamily="34" charset="0"/>
                <a:ea typeface="Arial" pitchFamily="34" charset="-122"/>
                <a:cs typeface="Arial" pitchFamily="34" charset="-120"/>
              </a:rPr>
              <a:t>ISUZU</a:t>
            </a:r>
            <a:endParaRPr lang="en-US" sz="2000" dirty="0"/>
          </a:p>
        </p:txBody>
      </p:sp>
      <p:sp>
        <p:nvSpPr>
          <p:cNvPr id="3" name="Text 1"/>
          <p:cNvSpPr txBox="1"/>
          <p:nvPr/>
        </p:nvSpPr>
        <p:spPr>
          <a:xfrm>
            <a:off x="1856232" y="347472"/>
            <a:ext cx="9418320" cy="16459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980" b="1" spc="145" kern="0" dirty="0">
                <a:solidFill>
                  <a:srgbClr val="687782"/>
                </a:solidFill>
                <a:latin typeface="Arial" pitchFamily="34" charset="0"/>
                <a:ea typeface="Arial" pitchFamily="34" charset="-122"/>
                <a:cs typeface="Arial" pitchFamily="34" charset="-120"/>
              </a:rPr>
              <a:t>THE EVIDENCE BEHIND THE PRICE</a:t>
            </a:r>
            <a:endParaRPr lang="en-US" sz="980" dirty="0"/>
          </a:p>
        </p:txBody>
      </p:sp>
      <p:sp>
        <p:nvSpPr>
          <p:cNvPr id="4" name="Text 2"/>
          <p:cNvSpPr txBox="1"/>
          <p:nvPr/>
        </p:nvSpPr>
        <p:spPr>
          <a:xfrm>
            <a:off x="530352" y="960120"/>
            <a:ext cx="11131296" cy="76809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3020" b="1" dirty="0">
                <a:solidFill>
                  <a:srgbClr val="17232C"/>
                </a:solidFill>
                <a:latin typeface="Arial" pitchFamily="34" charset="0"/>
                <a:ea typeface="Arial" pitchFamily="34" charset="-122"/>
                <a:cs typeface="Arial" pitchFamily="34" charset="-120"/>
              </a:rPr>
              <a:t>Use market prices and distributor feedback together.</a:t>
            </a:r>
            <a:endParaRPr lang="en-US" sz="3020" dirty="0"/>
          </a:p>
        </p:txBody>
      </p:sp>
      <p:sp>
        <p:nvSpPr>
          <p:cNvPr id="5" name="Shape 3"/>
          <p:cNvSpPr/>
          <p:nvPr/>
        </p:nvSpPr>
        <p:spPr>
          <a:xfrm>
            <a:off x="530352" y="6382512"/>
            <a:ext cx="11131296" cy="0"/>
          </a:xfrm>
          <a:prstGeom prst="line">
            <a:avLst/>
          </a:prstGeom>
          <a:solidFill>
            <a:srgbClr val="FFFFFF">
              <a:alpha val="0"/>
            </a:srgbClr>
          </a:solidFill>
          <a:ln w="8890">
            <a:solidFill>
              <a:srgbClr val="DCE3E8"/>
            </a:solidFill>
            <a:prstDash val="solid"/>
          </a:ln>
        </p:spPr>
      </p:sp>
      <p:sp>
        <p:nvSpPr>
          <p:cNvPr id="6" name="Text 4"/>
          <p:cNvSpPr txBox="1"/>
          <p:nvPr/>
        </p:nvSpPr>
        <p:spPr>
          <a:xfrm>
            <a:off x="530352" y="6483096"/>
            <a:ext cx="10216896" cy="16459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810" dirty="0">
                <a:solidFill>
                  <a:srgbClr val="687782"/>
                </a:solidFill>
                <a:latin typeface="Arial" pitchFamily="34" charset="0"/>
                <a:ea typeface="Arial" pitchFamily="34" charset="-122"/>
                <a:cs typeface="Arial" pitchFamily="34" charset="-120"/>
              </a:rPr>
              <a:t>Source: Pricing Master and management policy. Detailed basis in speaker notes.</a:t>
            </a:r>
            <a:endParaRPr lang="en-US" sz="810" dirty="0"/>
          </a:p>
        </p:txBody>
      </p:sp>
      <p:sp>
        <p:nvSpPr>
          <p:cNvPr id="7" name="Text 5"/>
          <p:cNvSpPr txBox="1"/>
          <p:nvPr/>
        </p:nvSpPr>
        <p:spPr>
          <a:xfrm>
            <a:off x="10856976" y="6469380"/>
            <a:ext cx="804672" cy="21031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r" indent="0" marL="0">
              <a:buNone/>
            </a:pPr>
            <a:r>
              <a:rPr lang="en-US" sz="910" dirty="0">
                <a:solidFill>
                  <a:srgbClr val="687782"/>
                </a:solidFill>
                <a:latin typeface="Arial" pitchFamily="34" charset="0"/>
                <a:ea typeface="Arial" pitchFamily="34" charset="-122"/>
                <a:cs typeface="Arial" pitchFamily="34" charset="-120"/>
              </a:rPr>
              <a:t>v1.4  |  10</a:t>
            </a:r>
            <a:endParaRPr lang="en-US" sz="910" dirty="0"/>
          </a:p>
        </p:txBody>
      </p:sp>
      <p:sp>
        <p:nvSpPr>
          <p:cNvPr id="8" name="Shape 6"/>
          <p:cNvSpPr/>
          <p:nvPr/>
        </p:nvSpPr>
        <p:spPr>
          <a:xfrm>
            <a:off x="530352" y="2267712"/>
            <a:ext cx="3401568" cy="3291840"/>
          </a:xfrm>
          <a:prstGeom prst="rect">
            <a:avLst/>
          </a:prstGeom>
          <a:solidFill>
            <a:srgbClr val="EFF2F4"/>
          </a:solidFill>
          <a:ln w="12700">
            <a:solidFill>
              <a:srgbClr val="EFF2F4">
                <a:alpha val="0"/>
              </a:srgbClr>
            </a:solidFill>
            <a:prstDash val="solid"/>
          </a:ln>
        </p:spPr>
      </p:sp>
      <p:sp>
        <p:nvSpPr>
          <p:cNvPr id="9" name="Shape 7"/>
          <p:cNvSpPr/>
          <p:nvPr/>
        </p:nvSpPr>
        <p:spPr>
          <a:xfrm>
            <a:off x="740664" y="2496312"/>
            <a:ext cx="667512" cy="667512"/>
          </a:xfrm>
          <a:prstGeom prst="ellipse">
            <a:avLst/>
          </a:prstGeom>
          <a:solidFill>
            <a:srgbClr val="FBEDEF"/>
          </a:solidFill>
          <a:ln w="12700">
            <a:solidFill>
              <a:srgbClr val="FBEDEF">
                <a:alpha val="0"/>
              </a:srgbClr>
            </a:solidFill>
            <a:prstDash val="solid"/>
          </a:ln>
        </p:spPr>
      </p:sp>
      <p:pic>
        <p:nvPicPr>
          <p:cNvPr id="10" name="Image 0" descr="Presentation pictogram">    </p:cNvPr>
          <p:cNvPicPr>
            <a:picLocks noChangeAspect="1"/>
          </p:cNvPicPr>
          <p:nvPr/>
        </p:nvPicPr>
        <p:blipFill>
          <a:blip r:embed="rId1"/>
          <a:stretch>
            <a:fillRect/>
          </a:stretch>
        </p:blipFill>
        <p:spPr>
          <a:xfrm>
            <a:off x="894192" y="2649840"/>
            <a:ext cx="360456" cy="360456"/>
          </a:xfrm>
          <a:prstGeom prst="rect">
            <a:avLst/>
          </a:prstGeom>
        </p:spPr>
      </p:pic>
      <p:sp>
        <p:nvSpPr>
          <p:cNvPr id="11" name="Text 8"/>
          <p:cNvSpPr txBox="1"/>
          <p:nvPr/>
        </p:nvSpPr>
        <p:spPr>
          <a:xfrm>
            <a:off x="740664" y="3438144"/>
            <a:ext cx="2980944" cy="20116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040" b="1" dirty="0">
                <a:solidFill>
                  <a:srgbClr val="687782"/>
                </a:solidFill>
                <a:latin typeface="Arial" pitchFamily="34" charset="0"/>
                <a:ea typeface="Arial" pitchFamily="34" charset="-122"/>
                <a:cs typeface="Arial" pitchFamily="34" charset="-120"/>
              </a:rPr>
              <a:t>AFTERMARKET WEBSHOP</a:t>
            </a:r>
            <a:endParaRPr lang="en-US" sz="1040" dirty="0"/>
          </a:p>
        </p:txBody>
      </p:sp>
      <p:sp>
        <p:nvSpPr>
          <p:cNvPr id="12" name="Text 9"/>
          <p:cNvSpPr txBox="1"/>
          <p:nvPr/>
        </p:nvSpPr>
        <p:spPr>
          <a:xfrm>
            <a:off x="740664" y="3822192"/>
            <a:ext cx="2980944" cy="36576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200" b="1" dirty="0">
                <a:solidFill>
                  <a:srgbClr val="17232C"/>
                </a:solidFill>
                <a:latin typeface="Arial" pitchFamily="34" charset="0"/>
                <a:ea typeface="Arial" pitchFamily="34" charset="-122"/>
                <a:cs typeface="Arial" pitchFamily="34" charset="-120"/>
              </a:rPr>
              <a:t>KS International</a:t>
            </a:r>
            <a:endParaRPr lang="en-US" sz="2200" dirty="0"/>
          </a:p>
        </p:txBody>
      </p:sp>
      <p:sp>
        <p:nvSpPr>
          <p:cNvPr id="13" name="Text 10"/>
          <p:cNvSpPr txBox="1"/>
          <p:nvPr/>
        </p:nvSpPr>
        <p:spPr>
          <a:xfrm>
            <a:off x="740664" y="4443984"/>
            <a:ext cx="2980944" cy="640080"/>
          </a:xfrm>
          <a:prstGeom prst="rect">
            <a:avLst/>
          </a:prstGeom>
          <a:solidFill>
            <a:srgbClr val="FFFFFF">
              <a:alpha val="0"/>
            </a:srgbClr>
          </a:solidFill>
          <a:ln>
            <a:solidFill>
              <a:srgbClr val="FFFFFF">
                <a:alpha val="0"/>
              </a:srgbClr>
            </a:solidFill>
          </a:ln>
        </p:spPr>
        <p:txBody>
          <a:bodyPr wrap="square" lIns="0" tIns="0" rIns="0" bIns="0" rtlCol="0" anchor="t">
            <a:normAutofit/>
          </a:bodyPr>
          <a:lstStyle/>
          <a:p>
            <a:pPr algn="l" indent="0" marL="0">
              <a:buNone/>
            </a:pPr>
            <a:r>
              <a:rPr lang="en-US" sz="1700" dirty="0">
                <a:solidFill>
                  <a:srgbClr val="17232C"/>
                </a:solidFill>
                <a:latin typeface="Arial" pitchFamily="34" charset="0"/>
                <a:ea typeface="Arial" pitchFamily="34" charset="-122"/>
                <a:cs typeface="Arial" pitchFamily="34" charset="-120"/>
              </a:rPr>
              <a:t>Dated observations on selected parts from a UK trade webshop.</a:t>
            </a:r>
            <a:endParaRPr lang="en-US" sz="1700" dirty="0"/>
          </a:p>
        </p:txBody>
      </p:sp>
      <p:sp>
        <p:nvSpPr>
          <p:cNvPr id="14" name="Shape 11"/>
          <p:cNvSpPr/>
          <p:nvPr/>
        </p:nvSpPr>
        <p:spPr>
          <a:xfrm>
            <a:off x="4389120" y="2267712"/>
            <a:ext cx="3401568" cy="3291840"/>
          </a:xfrm>
          <a:prstGeom prst="rect">
            <a:avLst/>
          </a:prstGeom>
          <a:solidFill>
            <a:srgbClr val="EFF2F4"/>
          </a:solidFill>
          <a:ln w="12700">
            <a:solidFill>
              <a:srgbClr val="EFF2F4">
                <a:alpha val="0"/>
              </a:srgbClr>
            </a:solidFill>
            <a:prstDash val="solid"/>
          </a:ln>
        </p:spPr>
      </p:sp>
      <p:sp>
        <p:nvSpPr>
          <p:cNvPr id="15" name="Shape 12"/>
          <p:cNvSpPr/>
          <p:nvPr/>
        </p:nvSpPr>
        <p:spPr>
          <a:xfrm>
            <a:off x="4599432" y="2496312"/>
            <a:ext cx="667512" cy="667512"/>
          </a:xfrm>
          <a:prstGeom prst="ellipse">
            <a:avLst/>
          </a:prstGeom>
          <a:solidFill>
            <a:srgbClr val="FBEDEF"/>
          </a:solidFill>
          <a:ln w="12700">
            <a:solidFill>
              <a:srgbClr val="FBEDEF">
                <a:alpha val="0"/>
              </a:srgbClr>
            </a:solidFill>
            <a:prstDash val="solid"/>
          </a:ln>
        </p:spPr>
      </p:sp>
      <p:pic>
        <p:nvPicPr>
          <p:cNvPr id="16" name="Image 1" descr="Presentation pictogram">    </p:cNvPr>
          <p:cNvPicPr>
            <a:picLocks noChangeAspect="1"/>
          </p:cNvPicPr>
          <p:nvPr/>
        </p:nvPicPr>
        <p:blipFill>
          <a:blip r:embed="rId2"/>
          <a:stretch>
            <a:fillRect/>
          </a:stretch>
        </p:blipFill>
        <p:spPr>
          <a:xfrm>
            <a:off x="4752960" y="2649840"/>
            <a:ext cx="360456" cy="360456"/>
          </a:xfrm>
          <a:prstGeom prst="rect">
            <a:avLst/>
          </a:prstGeom>
        </p:spPr>
      </p:pic>
      <p:sp>
        <p:nvSpPr>
          <p:cNvPr id="17" name="Text 13"/>
          <p:cNvSpPr txBox="1"/>
          <p:nvPr/>
        </p:nvSpPr>
        <p:spPr>
          <a:xfrm>
            <a:off x="4599432" y="3438144"/>
            <a:ext cx="2980944" cy="20116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040" b="1" dirty="0">
                <a:solidFill>
                  <a:srgbClr val="687782"/>
                </a:solidFill>
                <a:latin typeface="Arial" pitchFamily="34" charset="0"/>
                <a:ea typeface="Arial" pitchFamily="34" charset="-122"/>
                <a:cs typeface="Arial" pitchFamily="34" charset="-120"/>
              </a:rPr>
              <a:t>HISTORICAL PRICE DATA</a:t>
            </a:r>
            <a:endParaRPr lang="en-US" sz="1040" dirty="0"/>
          </a:p>
        </p:txBody>
      </p:sp>
      <p:sp>
        <p:nvSpPr>
          <p:cNvPr id="18" name="Text 14"/>
          <p:cNvSpPr txBox="1"/>
          <p:nvPr/>
        </p:nvSpPr>
        <p:spPr>
          <a:xfrm>
            <a:off x="4599432" y="3822192"/>
            <a:ext cx="2980944" cy="36576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200" b="1" dirty="0">
                <a:solidFill>
                  <a:srgbClr val="17232C"/>
                </a:solidFill>
                <a:latin typeface="Arial" pitchFamily="34" charset="0"/>
                <a:ea typeface="Arial" pitchFamily="34" charset="-122"/>
                <a:cs typeface="Arial" pitchFamily="34" charset="-120"/>
              </a:rPr>
              <a:t>Eucon / PartsPool</a:t>
            </a:r>
            <a:endParaRPr lang="en-US" sz="2200" dirty="0"/>
          </a:p>
        </p:txBody>
      </p:sp>
      <p:sp>
        <p:nvSpPr>
          <p:cNvPr id="19" name="Text 15"/>
          <p:cNvSpPr txBox="1"/>
          <p:nvPr/>
        </p:nvSpPr>
        <p:spPr>
          <a:xfrm>
            <a:off x="4599432" y="4443984"/>
            <a:ext cx="2980944" cy="640080"/>
          </a:xfrm>
          <a:prstGeom prst="rect">
            <a:avLst/>
          </a:prstGeom>
          <a:solidFill>
            <a:srgbClr val="FFFFFF">
              <a:alpha val="0"/>
            </a:srgbClr>
          </a:solidFill>
          <a:ln>
            <a:solidFill>
              <a:srgbClr val="FFFFFF">
                <a:alpha val="0"/>
              </a:srgbClr>
            </a:solidFill>
          </a:ln>
        </p:spPr>
        <p:txBody>
          <a:bodyPr wrap="square" lIns="0" tIns="0" rIns="0" bIns="0" rtlCol="0" anchor="t">
            <a:normAutofit/>
          </a:bodyPr>
          <a:lstStyle/>
          <a:p>
            <a:pPr algn="l" indent="0" marL="0">
              <a:buNone/>
            </a:pPr>
            <a:r>
              <a:rPr lang="en-US" sz="1700" dirty="0">
                <a:solidFill>
                  <a:srgbClr val="17232C"/>
                </a:solidFill>
                <a:latin typeface="Arial" pitchFamily="34" charset="0"/>
                <a:ea typeface="Arial" pitchFamily="34" charset="-122"/>
                <a:cs typeface="Arial" pitchFamily="34" charset="-120"/>
              </a:rPr>
              <a:t>Brand and price-tier comparisons from historical aftermarket listings.</a:t>
            </a:r>
            <a:endParaRPr lang="en-US" sz="1700" dirty="0"/>
          </a:p>
        </p:txBody>
      </p:sp>
      <p:sp>
        <p:nvSpPr>
          <p:cNvPr id="20" name="Shape 16"/>
          <p:cNvSpPr/>
          <p:nvPr/>
        </p:nvSpPr>
        <p:spPr>
          <a:xfrm>
            <a:off x="8247888" y="2267712"/>
            <a:ext cx="3401568" cy="3291840"/>
          </a:xfrm>
          <a:prstGeom prst="rect">
            <a:avLst/>
          </a:prstGeom>
          <a:solidFill>
            <a:srgbClr val="EFF2F4"/>
          </a:solidFill>
          <a:ln w="12700">
            <a:solidFill>
              <a:srgbClr val="EFF2F4">
                <a:alpha val="0"/>
              </a:srgbClr>
            </a:solidFill>
            <a:prstDash val="solid"/>
          </a:ln>
        </p:spPr>
      </p:sp>
      <p:sp>
        <p:nvSpPr>
          <p:cNvPr id="21" name="Shape 17"/>
          <p:cNvSpPr/>
          <p:nvPr/>
        </p:nvSpPr>
        <p:spPr>
          <a:xfrm>
            <a:off x="8458200" y="2496312"/>
            <a:ext cx="667512" cy="667512"/>
          </a:xfrm>
          <a:prstGeom prst="ellipse">
            <a:avLst/>
          </a:prstGeom>
          <a:solidFill>
            <a:srgbClr val="FBEDEF"/>
          </a:solidFill>
          <a:ln w="12700">
            <a:solidFill>
              <a:srgbClr val="FBEDEF">
                <a:alpha val="0"/>
              </a:srgbClr>
            </a:solidFill>
            <a:prstDash val="solid"/>
          </a:ln>
        </p:spPr>
      </p:sp>
      <p:pic>
        <p:nvPicPr>
          <p:cNvPr id="22" name="Image 2" descr="Presentation pictogram">    </p:cNvPr>
          <p:cNvPicPr>
            <a:picLocks noChangeAspect="1"/>
          </p:cNvPicPr>
          <p:nvPr/>
        </p:nvPicPr>
        <p:blipFill>
          <a:blip r:embed="rId3"/>
          <a:stretch>
            <a:fillRect/>
          </a:stretch>
        </p:blipFill>
        <p:spPr>
          <a:xfrm>
            <a:off x="8611728" y="2649840"/>
            <a:ext cx="360456" cy="360456"/>
          </a:xfrm>
          <a:prstGeom prst="rect">
            <a:avLst/>
          </a:prstGeom>
        </p:spPr>
      </p:pic>
      <p:sp>
        <p:nvSpPr>
          <p:cNvPr id="23" name="Text 18"/>
          <p:cNvSpPr txBox="1"/>
          <p:nvPr/>
        </p:nvSpPr>
        <p:spPr>
          <a:xfrm>
            <a:off x="8458200" y="3438144"/>
            <a:ext cx="2980944" cy="20116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040" b="1" dirty="0">
                <a:solidFill>
                  <a:srgbClr val="687782"/>
                </a:solidFill>
                <a:latin typeface="Arial" pitchFamily="34" charset="0"/>
                <a:ea typeface="Arial" pitchFamily="34" charset="-122"/>
                <a:cs typeface="Arial" pitchFamily="34" charset="-120"/>
              </a:rPr>
              <a:t>DISTRIBUTOR FEEDBACK</a:t>
            </a:r>
            <a:endParaRPr lang="en-US" sz="1040" dirty="0"/>
          </a:p>
        </p:txBody>
      </p:sp>
      <p:sp>
        <p:nvSpPr>
          <p:cNvPr id="24" name="Text 19"/>
          <p:cNvSpPr txBox="1"/>
          <p:nvPr/>
        </p:nvSpPr>
        <p:spPr>
          <a:xfrm>
            <a:off x="8458200" y="3822192"/>
            <a:ext cx="2980944" cy="36576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200" b="1" dirty="0">
                <a:solidFill>
                  <a:srgbClr val="17232C"/>
                </a:solidFill>
                <a:latin typeface="Arial" pitchFamily="34" charset="0"/>
                <a:ea typeface="Arial" pitchFamily="34" charset="-122"/>
                <a:cs typeface="Arial" pitchFamily="34" charset="-120"/>
              </a:rPr>
              <a:t>Commercial context</a:t>
            </a:r>
            <a:endParaRPr lang="en-US" sz="2200" dirty="0"/>
          </a:p>
        </p:txBody>
      </p:sp>
      <p:sp>
        <p:nvSpPr>
          <p:cNvPr id="25" name="Text 20"/>
          <p:cNvSpPr txBox="1"/>
          <p:nvPr/>
        </p:nvSpPr>
        <p:spPr>
          <a:xfrm>
            <a:off x="8458200" y="4443984"/>
            <a:ext cx="2980944" cy="640080"/>
          </a:xfrm>
          <a:prstGeom prst="rect">
            <a:avLst/>
          </a:prstGeom>
          <a:solidFill>
            <a:srgbClr val="FFFFFF">
              <a:alpha val="0"/>
            </a:srgbClr>
          </a:solidFill>
          <a:ln>
            <a:solidFill>
              <a:srgbClr val="FFFFFF">
                <a:alpha val="0"/>
              </a:srgbClr>
            </a:solidFill>
          </a:ln>
        </p:spPr>
        <p:txBody>
          <a:bodyPr wrap="square" lIns="0" tIns="0" rIns="0" bIns="0" rtlCol="0" anchor="t">
            <a:normAutofit/>
          </a:bodyPr>
          <a:lstStyle/>
          <a:p>
            <a:pPr algn="l" indent="0" marL="0">
              <a:buNone/>
            </a:pPr>
            <a:r>
              <a:rPr lang="en-US" sz="1700" dirty="0">
                <a:solidFill>
                  <a:srgbClr val="17232C"/>
                </a:solidFill>
                <a:latin typeface="Arial" pitchFamily="34" charset="0"/>
                <a:ea typeface="Arial" pitchFamily="34" charset="-122"/>
                <a:cs typeface="Arial" pitchFamily="34" charset="-120"/>
              </a:rPr>
              <a:t>Quotations, family-level concerns and repair-package requests from the network.</a:t>
            </a:r>
            <a:endParaRPr lang="en-US" sz="1700" dirty="0"/>
          </a:p>
        </p:txBody>
      </p:sp>
      <p:sp>
        <p:nvSpPr>
          <p:cNvPr id="26" name="Shape 21"/>
          <p:cNvSpPr/>
          <p:nvPr/>
        </p:nvSpPr>
        <p:spPr>
          <a:xfrm>
            <a:off x="530352" y="5870448"/>
            <a:ext cx="50292" cy="338328"/>
          </a:xfrm>
          <a:prstGeom prst="rect">
            <a:avLst/>
          </a:prstGeom>
          <a:solidFill>
            <a:srgbClr val="ED0016"/>
          </a:solidFill>
          <a:ln w="12700">
            <a:solidFill>
              <a:srgbClr val="ED0016">
                <a:alpha val="0"/>
              </a:srgbClr>
            </a:solidFill>
            <a:prstDash val="solid"/>
          </a:ln>
        </p:spPr>
      </p:sp>
      <p:sp>
        <p:nvSpPr>
          <p:cNvPr id="27" name="Text 22"/>
          <p:cNvSpPr txBox="1"/>
          <p:nvPr/>
        </p:nvSpPr>
        <p:spPr>
          <a:xfrm>
            <a:off x="694944" y="5865876"/>
            <a:ext cx="10966704" cy="36576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920" b="1" dirty="0">
                <a:solidFill>
                  <a:srgbClr val="17232C"/>
                </a:solidFill>
                <a:latin typeface="Arial" pitchFamily="34" charset="0"/>
                <a:ea typeface="Arial" pitchFamily="34" charset="-122"/>
                <a:cs typeface="Arial" pitchFamily="34" charset="-120"/>
              </a:rPr>
              <a:t>No competitor quotation does not mean there is no competing solution.</a:t>
            </a:r>
            <a:endParaRPr lang="en-US" sz="1920" dirty="0"/>
          </a:p>
        </p:txBody>
      </p:sp>
    </p:spTree>
  </p:cSld>
  <p:clrMapOvr>
    <a:masterClrMapping/>
  </p:clrMapOvr>
  <p:transition spd="fast" advClick="1">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30352" y="301752"/>
            <a:ext cx="950976"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000" b="1" dirty="0">
                <a:solidFill>
                  <a:srgbClr val="ED0016"/>
                </a:solidFill>
                <a:latin typeface="Arial" pitchFamily="34" charset="0"/>
                <a:ea typeface="Arial" pitchFamily="34" charset="-122"/>
                <a:cs typeface="Arial" pitchFamily="34" charset="-120"/>
              </a:rPr>
              <a:t>ISUZU</a:t>
            </a:r>
            <a:endParaRPr lang="en-US" sz="2000" dirty="0"/>
          </a:p>
        </p:txBody>
      </p:sp>
      <p:sp>
        <p:nvSpPr>
          <p:cNvPr id="3" name="Text 1"/>
          <p:cNvSpPr txBox="1"/>
          <p:nvPr/>
        </p:nvSpPr>
        <p:spPr>
          <a:xfrm>
            <a:off x="1856232" y="347472"/>
            <a:ext cx="9418320" cy="16459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980" b="1" spc="145" kern="0" dirty="0">
                <a:solidFill>
                  <a:srgbClr val="687782"/>
                </a:solidFill>
                <a:latin typeface="Arial" pitchFamily="34" charset="0"/>
                <a:ea typeface="Arial" pitchFamily="34" charset="-122"/>
                <a:cs typeface="Arial" pitchFamily="34" charset="-120"/>
              </a:rPr>
              <a:t>THE FUTURE PRICING METHOD</a:t>
            </a:r>
            <a:endParaRPr lang="en-US" sz="980" dirty="0"/>
          </a:p>
        </p:txBody>
      </p:sp>
      <p:sp>
        <p:nvSpPr>
          <p:cNvPr id="4" name="Text 2"/>
          <p:cNvSpPr txBox="1"/>
          <p:nvPr/>
        </p:nvSpPr>
        <p:spPr>
          <a:xfrm>
            <a:off x="530352" y="960120"/>
            <a:ext cx="11131296" cy="76809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3020" b="1" dirty="0">
                <a:solidFill>
                  <a:srgbClr val="17232C"/>
                </a:solidFill>
                <a:latin typeface="Arial" pitchFamily="34" charset="0"/>
                <a:ea typeface="Arial" pitchFamily="34" charset="-122"/>
                <a:cs typeface="Arial" pitchFamily="34" charset="-120"/>
              </a:rPr>
              <a:t>Translate market evidence into a viable ISZE price.</a:t>
            </a:r>
            <a:endParaRPr lang="en-US" sz="3020" dirty="0"/>
          </a:p>
        </p:txBody>
      </p:sp>
      <p:sp>
        <p:nvSpPr>
          <p:cNvPr id="5" name="Text 3"/>
          <p:cNvSpPr txBox="1"/>
          <p:nvPr/>
        </p:nvSpPr>
        <p:spPr>
          <a:xfrm>
            <a:off x="530352" y="1783080"/>
            <a:ext cx="11131296" cy="46634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630" dirty="0">
                <a:solidFill>
                  <a:srgbClr val="687782"/>
                </a:solidFill>
                <a:latin typeface="Arial" pitchFamily="34" charset="0"/>
                <a:ea typeface="Arial" pitchFamily="34" charset="-122"/>
                <a:cs typeface="Arial" pitchFamily="34" charset="-120"/>
              </a:rPr>
              <a:t>AIM identifies the part. Market evidence, distributor room and net economics guide the price.</a:t>
            </a:r>
            <a:endParaRPr lang="en-US" sz="1630" dirty="0"/>
          </a:p>
        </p:txBody>
      </p:sp>
      <p:sp>
        <p:nvSpPr>
          <p:cNvPr id="6" name="Shape 4"/>
          <p:cNvSpPr/>
          <p:nvPr/>
        </p:nvSpPr>
        <p:spPr>
          <a:xfrm>
            <a:off x="530352" y="6382512"/>
            <a:ext cx="11131296" cy="0"/>
          </a:xfrm>
          <a:prstGeom prst="line">
            <a:avLst/>
          </a:prstGeom>
          <a:solidFill>
            <a:srgbClr val="FFFFFF">
              <a:alpha val="0"/>
            </a:srgbClr>
          </a:solidFill>
          <a:ln w="8890">
            <a:solidFill>
              <a:srgbClr val="DCE3E8"/>
            </a:solidFill>
            <a:prstDash val="solid"/>
          </a:ln>
        </p:spPr>
      </p:sp>
      <p:sp>
        <p:nvSpPr>
          <p:cNvPr id="7" name="Text 5"/>
          <p:cNvSpPr txBox="1"/>
          <p:nvPr/>
        </p:nvSpPr>
        <p:spPr>
          <a:xfrm>
            <a:off x="530352" y="6483096"/>
            <a:ext cx="10216896" cy="16459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810" dirty="0">
                <a:solidFill>
                  <a:srgbClr val="687782"/>
                </a:solidFill>
                <a:latin typeface="Arial" pitchFamily="34" charset="0"/>
                <a:ea typeface="Arial" pitchFamily="34" charset="-122"/>
                <a:cs typeface="Arial" pitchFamily="34" charset="-120"/>
              </a:rPr>
              <a:t>Source: Pricing Master and management policy. Detailed basis in speaker notes.</a:t>
            </a:r>
            <a:endParaRPr lang="en-US" sz="810" dirty="0"/>
          </a:p>
        </p:txBody>
      </p:sp>
      <p:sp>
        <p:nvSpPr>
          <p:cNvPr id="8" name="Text 6"/>
          <p:cNvSpPr txBox="1"/>
          <p:nvPr/>
        </p:nvSpPr>
        <p:spPr>
          <a:xfrm>
            <a:off x="10856976" y="6469380"/>
            <a:ext cx="804672" cy="21031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r" indent="0" marL="0">
              <a:buNone/>
            </a:pPr>
            <a:r>
              <a:rPr lang="en-US" sz="910" dirty="0">
                <a:solidFill>
                  <a:srgbClr val="687782"/>
                </a:solidFill>
                <a:latin typeface="Arial" pitchFamily="34" charset="0"/>
                <a:ea typeface="Arial" pitchFamily="34" charset="-122"/>
                <a:cs typeface="Arial" pitchFamily="34" charset="-120"/>
              </a:rPr>
              <a:t>v1.4  |  11</a:t>
            </a:r>
            <a:endParaRPr lang="en-US" sz="910" dirty="0"/>
          </a:p>
        </p:txBody>
      </p:sp>
      <p:sp>
        <p:nvSpPr>
          <p:cNvPr id="9" name="Shape 7"/>
          <p:cNvSpPr/>
          <p:nvPr/>
        </p:nvSpPr>
        <p:spPr>
          <a:xfrm>
            <a:off x="530352" y="2633472"/>
            <a:ext cx="777240" cy="777240"/>
          </a:xfrm>
          <a:prstGeom prst="ellipse">
            <a:avLst/>
          </a:prstGeom>
          <a:solidFill>
            <a:srgbClr val="FBEDEF"/>
          </a:solidFill>
          <a:ln w="12700">
            <a:solidFill>
              <a:srgbClr val="FBEDEF">
                <a:alpha val="0"/>
              </a:srgbClr>
            </a:solidFill>
            <a:prstDash val="solid"/>
          </a:ln>
        </p:spPr>
      </p:sp>
      <p:pic>
        <p:nvPicPr>
          <p:cNvPr id="10" name="Image 0" descr="Presentation pictogram">    </p:cNvPr>
          <p:cNvPicPr>
            <a:picLocks noChangeAspect="1"/>
          </p:cNvPicPr>
          <p:nvPr/>
        </p:nvPicPr>
        <p:blipFill>
          <a:blip r:embed="rId1"/>
          <a:stretch>
            <a:fillRect/>
          </a:stretch>
        </p:blipFill>
        <p:spPr>
          <a:xfrm>
            <a:off x="709117" y="2812237"/>
            <a:ext cx="419710" cy="419710"/>
          </a:xfrm>
          <a:prstGeom prst="rect">
            <a:avLst/>
          </a:prstGeom>
        </p:spPr>
      </p:pic>
      <p:sp>
        <p:nvSpPr>
          <p:cNvPr id="11" name="Shape 8"/>
          <p:cNvSpPr/>
          <p:nvPr/>
        </p:nvSpPr>
        <p:spPr>
          <a:xfrm>
            <a:off x="1600200" y="3017520"/>
            <a:ext cx="1490472" cy="0"/>
          </a:xfrm>
          <a:prstGeom prst="line">
            <a:avLst/>
          </a:prstGeom>
          <a:solidFill>
            <a:srgbClr val="FFFFFF">
              <a:alpha val="0"/>
            </a:srgbClr>
          </a:solidFill>
          <a:ln w="21590">
            <a:solidFill>
              <a:srgbClr val="DCE3E8"/>
            </a:solidFill>
            <a:prstDash val="solid"/>
            <a:tailEnd type="triangle"/>
          </a:ln>
        </p:spPr>
      </p:sp>
      <p:sp>
        <p:nvSpPr>
          <p:cNvPr id="12" name="Text 9"/>
          <p:cNvSpPr txBox="1"/>
          <p:nvPr/>
        </p:nvSpPr>
        <p:spPr>
          <a:xfrm>
            <a:off x="530352" y="3794760"/>
            <a:ext cx="2441448" cy="42062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100" b="1" dirty="0">
                <a:solidFill>
                  <a:srgbClr val="17232C"/>
                </a:solidFill>
                <a:latin typeface="Arial" pitchFamily="34" charset="0"/>
                <a:ea typeface="Arial" pitchFamily="34" charset="-122"/>
                <a:cs typeface="Arial" pitchFamily="34" charset="-120"/>
              </a:rPr>
              <a:t>Compare the offer</a:t>
            </a:r>
            <a:endParaRPr lang="en-US" sz="2100" dirty="0"/>
          </a:p>
        </p:txBody>
      </p:sp>
      <p:sp>
        <p:nvSpPr>
          <p:cNvPr id="13" name="Text 10"/>
          <p:cNvSpPr txBox="1"/>
          <p:nvPr/>
        </p:nvSpPr>
        <p:spPr>
          <a:xfrm>
            <a:off x="530352" y="4517136"/>
            <a:ext cx="2441448" cy="841248"/>
          </a:xfrm>
          <a:prstGeom prst="rect">
            <a:avLst/>
          </a:prstGeom>
          <a:solidFill>
            <a:srgbClr val="FFFFFF">
              <a:alpha val="0"/>
            </a:srgbClr>
          </a:solidFill>
          <a:ln>
            <a:solidFill>
              <a:srgbClr val="FFFFFF">
                <a:alpha val="0"/>
              </a:srgbClr>
            </a:solidFill>
          </a:ln>
        </p:spPr>
        <p:txBody>
          <a:bodyPr wrap="square" lIns="0" tIns="0" rIns="0" bIns="0" rtlCol="0" anchor="t">
            <a:normAutofit/>
          </a:bodyPr>
          <a:lstStyle/>
          <a:p>
            <a:pPr algn="l" indent="0" marL="0">
              <a:buNone/>
            </a:pPr>
            <a:r>
              <a:rPr lang="en-US" sz="1760" dirty="0">
                <a:solidFill>
                  <a:srgbClr val="687782"/>
                </a:solidFill>
                <a:latin typeface="Arial" pitchFamily="34" charset="0"/>
                <a:ea typeface="Arial" pitchFamily="34" charset="-122"/>
                <a:cs typeface="Arial" pitchFamily="34" charset="-120"/>
              </a:rPr>
              <a:t>Product, quality, date, availability and price level.</a:t>
            </a:r>
            <a:endParaRPr lang="en-US" sz="1760" dirty="0"/>
          </a:p>
        </p:txBody>
      </p:sp>
      <p:sp>
        <p:nvSpPr>
          <p:cNvPr id="14" name="Shape 11"/>
          <p:cNvSpPr/>
          <p:nvPr/>
        </p:nvSpPr>
        <p:spPr>
          <a:xfrm>
            <a:off x="3401568" y="2633472"/>
            <a:ext cx="777240" cy="777240"/>
          </a:xfrm>
          <a:prstGeom prst="ellipse">
            <a:avLst/>
          </a:prstGeom>
          <a:solidFill>
            <a:srgbClr val="FBEDEF"/>
          </a:solidFill>
          <a:ln w="12700">
            <a:solidFill>
              <a:srgbClr val="FBEDEF">
                <a:alpha val="0"/>
              </a:srgbClr>
            </a:solidFill>
            <a:prstDash val="solid"/>
          </a:ln>
        </p:spPr>
      </p:sp>
      <p:pic>
        <p:nvPicPr>
          <p:cNvPr id="15" name="Image 1" descr="Presentation pictogram">    </p:cNvPr>
          <p:cNvPicPr>
            <a:picLocks noChangeAspect="1"/>
          </p:cNvPicPr>
          <p:nvPr/>
        </p:nvPicPr>
        <p:blipFill>
          <a:blip r:embed="rId2"/>
          <a:stretch>
            <a:fillRect/>
          </a:stretch>
        </p:blipFill>
        <p:spPr>
          <a:xfrm>
            <a:off x="3580333" y="2812237"/>
            <a:ext cx="419710" cy="419710"/>
          </a:xfrm>
          <a:prstGeom prst="rect">
            <a:avLst/>
          </a:prstGeom>
        </p:spPr>
      </p:pic>
      <p:sp>
        <p:nvSpPr>
          <p:cNvPr id="16" name="Shape 12"/>
          <p:cNvSpPr/>
          <p:nvPr/>
        </p:nvSpPr>
        <p:spPr>
          <a:xfrm>
            <a:off x="4471416" y="3017520"/>
            <a:ext cx="1490472" cy="0"/>
          </a:xfrm>
          <a:prstGeom prst="line">
            <a:avLst/>
          </a:prstGeom>
          <a:solidFill>
            <a:srgbClr val="FFFFFF">
              <a:alpha val="0"/>
            </a:srgbClr>
          </a:solidFill>
          <a:ln w="21590">
            <a:solidFill>
              <a:srgbClr val="DCE3E8"/>
            </a:solidFill>
            <a:prstDash val="solid"/>
            <a:tailEnd type="triangle"/>
          </a:ln>
        </p:spPr>
      </p:sp>
      <p:sp>
        <p:nvSpPr>
          <p:cNvPr id="17" name="Text 13"/>
          <p:cNvSpPr txBox="1"/>
          <p:nvPr/>
        </p:nvSpPr>
        <p:spPr>
          <a:xfrm>
            <a:off x="3401568" y="3794760"/>
            <a:ext cx="2441448" cy="42062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100" b="1" dirty="0">
                <a:solidFill>
                  <a:srgbClr val="17232C"/>
                </a:solidFill>
                <a:latin typeface="Arial" pitchFamily="34" charset="0"/>
                <a:ea typeface="Arial" pitchFamily="34" charset="-122"/>
                <a:cs typeface="Arial" pitchFamily="34" charset="-120"/>
              </a:rPr>
              <a:t>Allow network room</a:t>
            </a:r>
            <a:endParaRPr lang="en-US" sz="2100" dirty="0"/>
          </a:p>
        </p:txBody>
      </p:sp>
      <p:sp>
        <p:nvSpPr>
          <p:cNvPr id="18" name="Text 14"/>
          <p:cNvSpPr txBox="1"/>
          <p:nvPr/>
        </p:nvSpPr>
        <p:spPr>
          <a:xfrm>
            <a:off x="3401568" y="4517136"/>
            <a:ext cx="2441448" cy="841248"/>
          </a:xfrm>
          <a:prstGeom prst="rect">
            <a:avLst/>
          </a:prstGeom>
          <a:solidFill>
            <a:srgbClr val="FFFFFF">
              <a:alpha val="0"/>
            </a:srgbClr>
          </a:solidFill>
          <a:ln>
            <a:solidFill>
              <a:srgbClr val="FFFFFF">
                <a:alpha val="0"/>
              </a:srgbClr>
            </a:solidFill>
          </a:ln>
        </p:spPr>
        <p:txBody>
          <a:bodyPr wrap="square" lIns="0" tIns="0" rIns="0" bIns="0" rtlCol="0" anchor="t">
            <a:normAutofit/>
          </a:bodyPr>
          <a:lstStyle/>
          <a:p>
            <a:pPr algn="l" indent="0" marL="0">
              <a:buNone/>
            </a:pPr>
            <a:r>
              <a:rPr lang="en-US" sz="1760" dirty="0">
                <a:solidFill>
                  <a:srgbClr val="687782"/>
                </a:solidFill>
                <a:latin typeface="Arial" pitchFamily="34" charset="0"/>
                <a:ea typeface="Arial" pitchFamily="34" charset="-122"/>
                <a:cs typeface="Arial" pitchFamily="34" charset="-120"/>
              </a:rPr>
              <a:t>What makes the distributor and dealer offer viable?</a:t>
            </a:r>
            <a:endParaRPr lang="en-US" sz="1760" dirty="0"/>
          </a:p>
        </p:txBody>
      </p:sp>
      <p:sp>
        <p:nvSpPr>
          <p:cNvPr id="19" name="Shape 15"/>
          <p:cNvSpPr/>
          <p:nvPr/>
        </p:nvSpPr>
        <p:spPr>
          <a:xfrm>
            <a:off x="6272784" y="2633472"/>
            <a:ext cx="777240" cy="777240"/>
          </a:xfrm>
          <a:prstGeom prst="ellipse">
            <a:avLst/>
          </a:prstGeom>
          <a:solidFill>
            <a:srgbClr val="FBEDEF"/>
          </a:solidFill>
          <a:ln w="12700">
            <a:solidFill>
              <a:srgbClr val="FBEDEF">
                <a:alpha val="0"/>
              </a:srgbClr>
            </a:solidFill>
            <a:prstDash val="solid"/>
          </a:ln>
        </p:spPr>
      </p:sp>
      <p:pic>
        <p:nvPicPr>
          <p:cNvPr id="20" name="Image 2" descr="Presentation pictogram">    </p:cNvPr>
          <p:cNvPicPr>
            <a:picLocks noChangeAspect="1"/>
          </p:cNvPicPr>
          <p:nvPr/>
        </p:nvPicPr>
        <p:blipFill>
          <a:blip r:embed="rId3"/>
          <a:stretch>
            <a:fillRect/>
          </a:stretch>
        </p:blipFill>
        <p:spPr>
          <a:xfrm>
            <a:off x="6451549" y="2812237"/>
            <a:ext cx="419710" cy="419710"/>
          </a:xfrm>
          <a:prstGeom prst="rect">
            <a:avLst/>
          </a:prstGeom>
        </p:spPr>
      </p:pic>
      <p:sp>
        <p:nvSpPr>
          <p:cNvPr id="21" name="Shape 16"/>
          <p:cNvSpPr/>
          <p:nvPr/>
        </p:nvSpPr>
        <p:spPr>
          <a:xfrm>
            <a:off x="7342632" y="3017520"/>
            <a:ext cx="1490472" cy="0"/>
          </a:xfrm>
          <a:prstGeom prst="line">
            <a:avLst/>
          </a:prstGeom>
          <a:solidFill>
            <a:srgbClr val="FFFFFF">
              <a:alpha val="0"/>
            </a:srgbClr>
          </a:solidFill>
          <a:ln w="21590">
            <a:solidFill>
              <a:srgbClr val="DCE3E8"/>
            </a:solidFill>
            <a:prstDash val="solid"/>
            <a:tailEnd type="triangle"/>
          </a:ln>
        </p:spPr>
      </p:sp>
      <p:sp>
        <p:nvSpPr>
          <p:cNvPr id="22" name="Text 17"/>
          <p:cNvSpPr txBox="1"/>
          <p:nvPr/>
        </p:nvSpPr>
        <p:spPr>
          <a:xfrm>
            <a:off x="6272784" y="3794760"/>
            <a:ext cx="2441448" cy="42062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100" b="1" dirty="0">
                <a:solidFill>
                  <a:srgbClr val="17232C"/>
                </a:solidFill>
                <a:latin typeface="Arial" pitchFamily="34" charset="0"/>
                <a:ea typeface="Arial" pitchFamily="34" charset="-122"/>
                <a:cs typeface="Arial" pitchFamily="34" charset="-120"/>
              </a:rPr>
              <a:t>Check net economics</a:t>
            </a:r>
            <a:endParaRPr lang="en-US" sz="2100" dirty="0"/>
          </a:p>
        </p:txBody>
      </p:sp>
      <p:sp>
        <p:nvSpPr>
          <p:cNvPr id="23" name="Text 18"/>
          <p:cNvSpPr txBox="1"/>
          <p:nvPr/>
        </p:nvSpPr>
        <p:spPr>
          <a:xfrm>
            <a:off x="6272784" y="4517136"/>
            <a:ext cx="2441448" cy="841248"/>
          </a:xfrm>
          <a:prstGeom prst="rect">
            <a:avLst/>
          </a:prstGeom>
          <a:solidFill>
            <a:srgbClr val="FFFFFF">
              <a:alpha val="0"/>
            </a:srgbClr>
          </a:solidFill>
          <a:ln>
            <a:solidFill>
              <a:srgbClr val="FFFFFF">
                <a:alpha val="0"/>
              </a:srgbClr>
            </a:solidFill>
          </a:ln>
        </p:spPr>
        <p:txBody>
          <a:bodyPr wrap="square" lIns="0" tIns="0" rIns="0" bIns="0" rtlCol="0" anchor="t">
            <a:normAutofit/>
          </a:bodyPr>
          <a:lstStyle/>
          <a:p>
            <a:pPr algn="l" indent="0" marL="0">
              <a:buNone/>
            </a:pPr>
            <a:r>
              <a:rPr lang="en-US" sz="1760" dirty="0">
                <a:solidFill>
                  <a:srgbClr val="687782"/>
                </a:solidFill>
                <a:latin typeface="Arial" pitchFamily="34" charset="0"/>
                <a:ea typeface="Arial" pitchFamily="34" charset="-122"/>
                <a:cs typeface="Arial" pitchFamily="34" charset="-120"/>
              </a:rPr>
              <a:t>Purchase cost, exchange rate and actual selling support.</a:t>
            </a:r>
            <a:endParaRPr lang="en-US" sz="1760" dirty="0"/>
          </a:p>
        </p:txBody>
      </p:sp>
      <p:sp>
        <p:nvSpPr>
          <p:cNvPr id="24" name="Shape 19"/>
          <p:cNvSpPr/>
          <p:nvPr/>
        </p:nvSpPr>
        <p:spPr>
          <a:xfrm>
            <a:off x="9144000" y="2633472"/>
            <a:ext cx="777240" cy="777240"/>
          </a:xfrm>
          <a:prstGeom prst="ellipse">
            <a:avLst/>
          </a:prstGeom>
          <a:solidFill>
            <a:srgbClr val="FBEDEF"/>
          </a:solidFill>
          <a:ln w="12700">
            <a:solidFill>
              <a:srgbClr val="FBEDEF">
                <a:alpha val="0"/>
              </a:srgbClr>
            </a:solidFill>
            <a:prstDash val="solid"/>
          </a:ln>
        </p:spPr>
      </p:sp>
      <p:pic>
        <p:nvPicPr>
          <p:cNvPr id="25" name="Image 3" descr="Presentation pictogram">    </p:cNvPr>
          <p:cNvPicPr>
            <a:picLocks noChangeAspect="1"/>
          </p:cNvPicPr>
          <p:nvPr/>
        </p:nvPicPr>
        <p:blipFill>
          <a:blip r:embed="rId4"/>
          <a:stretch>
            <a:fillRect/>
          </a:stretch>
        </p:blipFill>
        <p:spPr>
          <a:xfrm>
            <a:off x="9322765" y="2812237"/>
            <a:ext cx="419710" cy="419710"/>
          </a:xfrm>
          <a:prstGeom prst="rect">
            <a:avLst/>
          </a:prstGeom>
        </p:spPr>
      </p:pic>
      <p:sp>
        <p:nvSpPr>
          <p:cNvPr id="26" name="Text 20"/>
          <p:cNvSpPr txBox="1"/>
          <p:nvPr/>
        </p:nvSpPr>
        <p:spPr>
          <a:xfrm>
            <a:off x="9144000" y="3794760"/>
            <a:ext cx="2441448" cy="42062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100" b="1" dirty="0">
                <a:solidFill>
                  <a:srgbClr val="17232C"/>
                </a:solidFill>
                <a:latin typeface="Arial" pitchFamily="34" charset="0"/>
                <a:ea typeface="Arial" pitchFamily="34" charset="-122"/>
                <a:cs typeface="Arial" pitchFamily="34" charset="-120"/>
              </a:rPr>
              <a:t>Approve the price</a:t>
            </a:r>
            <a:endParaRPr lang="en-US" sz="2100" dirty="0"/>
          </a:p>
        </p:txBody>
      </p:sp>
      <p:sp>
        <p:nvSpPr>
          <p:cNvPr id="27" name="Text 21"/>
          <p:cNvSpPr txBox="1"/>
          <p:nvPr/>
        </p:nvSpPr>
        <p:spPr>
          <a:xfrm>
            <a:off x="9144000" y="4517136"/>
            <a:ext cx="2441448" cy="841248"/>
          </a:xfrm>
          <a:prstGeom prst="rect">
            <a:avLst/>
          </a:prstGeom>
          <a:solidFill>
            <a:srgbClr val="FFFFFF">
              <a:alpha val="0"/>
            </a:srgbClr>
          </a:solidFill>
          <a:ln>
            <a:solidFill>
              <a:srgbClr val="FFFFFF">
                <a:alpha val="0"/>
              </a:srgbClr>
            </a:solidFill>
          </a:ln>
        </p:spPr>
        <p:txBody>
          <a:bodyPr wrap="square" lIns="0" tIns="0" rIns="0" bIns="0" rtlCol="0" anchor="t">
            <a:normAutofit/>
          </a:bodyPr>
          <a:lstStyle/>
          <a:p>
            <a:pPr algn="l" indent="0" marL="0">
              <a:buNone/>
            </a:pPr>
            <a:r>
              <a:rPr lang="en-US" sz="1760" dirty="0">
                <a:solidFill>
                  <a:srgbClr val="687782"/>
                </a:solidFill>
                <a:latin typeface="Arial" pitchFamily="34" charset="0"/>
                <a:ea typeface="Arial" pitchFamily="34" charset="-122"/>
                <a:cs typeface="Arial" pitchFamily="34" charset="-120"/>
              </a:rPr>
              <a:t>Evidence, commercial purpose and expected result.</a:t>
            </a:r>
            <a:endParaRPr lang="en-US" sz="1760" dirty="0"/>
          </a:p>
        </p:txBody>
      </p:sp>
      <p:sp>
        <p:nvSpPr>
          <p:cNvPr id="28" name="Shape 22"/>
          <p:cNvSpPr/>
          <p:nvPr/>
        </p:nvSpPr>
        <p:spPr>
          <a:xfrm>
            <a:off x="530352" y="5870448"/>
            <a:ext cx="50292" cy="338328"/>
          </a:xfrm>
          <a:prstGeom prst="rect">
            <a:avLst/>
          </a:prstGeom>
          <a:solidFill>
            <a:srgbClr val="ED0016"/>
          </a:solidFill>
          <a:ln w="12700">
            <a:solidFill>
              <a:srgbClr val="ED0016">
                <a:alpha val="0"/>
              </a:srgbClr>
            </a:solidFill>
            <a:prstDash val="solid"/>
          </a:ln>
        </p:spPr>
      </p:sp>
      <p:sp>
        <p:nvSpPr>
          <p:cNvPr id="29" name="Text 23"/>
          <p:cNvSpPr txBox="1"/>
          <p:nvPr/>
        </p:nvSpPr>
        <p:spPr>
          <a:xfrm>
            <a:off x="694944" y="5865876"/>
            <a:ext cx="10966704" cy="36576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920" b="1" dirty="0">
                <a:solidFill>
                  <a:srgbClr val="17232C"/>
                </a:solidFill>
                <a:latin typeface="Arial" pitchFamily="34" charset="0"/>
                <a:ea typeface="Arial" pitchFamily="34" charset="-122"/>
                <a:cs typeface="Arial" pitchFamily="34" charset="-120"/>
              </a:rPr>
              <a:t>A webshop price and our distributor net price are different transaction levels.</a:t>
            </a:r>
            <a:endParaRPr lang="en-US" sz="1920" dirty="0"/>
          </a:p>
        </p:txBody>
      </p:sp>
    </p:spTree>
  </p:cSld>
  <p:clrMapOvr>
    <a:masterClrMapping/>
  </p:clrMapOvr>
  <p:transition spd="fast" advClick="1">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30352" y="301752"/>
            <a:ext cx="950976"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000" b="1" dirty="0">
                <a:solidFill>
                  <a:srgbClr val="ED0016"/>
                </a:solidFill>
                <a:latin typeface="Arial" pitchFamily="34" charset="0"/>
                <a:ea typeface="Arial" pitchFamily="34" charset="-122"/>
                <a:cs typeface="Arial" pitchFamily="34" charset="-120"/>
              </a:rPr>
              <a:t>ISUZU</a:t>
            </a:r>
            <a:endParaRPr lang="en-US" sz="2000" dirty="0"/>
          </a:p>
        </p:txBody>
      </p:sp>
      <p:sp>
        <p:nvSpPr>
          <p:cNvPr id="3" name="Text 1"/>
          <p:cNvSpPr txBox="1"/>
          <p:nvPr/>
        </p:nvSpPr>
        <p:spPr>
          <a:xfrm>
            <a:off x="1856232" y="347472"/>
            <a:ext cx="9418320" cy="16459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980" b="1" spc="145" kern="0" dirty="0">
                <a:solidFill>
                  <a:srgbClr val="687782"/>
                </a:solidFill>
                <a:latin typeface="Arial" pitchFamily="34" charset="0"/>
                <a:ea typeface="Arial" pitchFamily="34" charset="-122"/>
                <a:cs typeface="Arial" pitchFamily="34" charset="-120"/>
              </a:rPr>
              <a:t>THE TURNOVER AND GROSS-PROFIT TEST</a:t>
            </a:r>
            <a:endParaRPr lang="en-US" sz="980" dirty="0"/>
          </a:p>
        </p:txBody>
      </p:sp>
      <p:sp>
        <p:nvSpPr>
          <p:cNvPr id="4" name="Text 2"/>
          <p:cNvSpPr txBox="1"/>
          <p:nvPr/>
        </p:nvSpPr>
        <p:spPr>
          <a:xfrm>
            <a:off x="530352" y="960120"/>
            <a:ext cx="11131296" cy="76809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3020" b="1" dirty="0">
                <a:solidFill>
                  <a:srgbClr val="17232C"/>
                </a:solidFill>
                <a:latin typeface="Arial" pitchFamily="34" charset="0"/>
                <a:ea typeface="Arial" pitchFamily="34" charset="-122"/>
                <a:cs typeface="Arial" pitchFamily="34" charset="-120"/>
              </a:rPr>
              <a:t>More distributor volume can offset a targeted reduction.</a:t>
            </a:r>
            <a:endParaRPr lang="en-US" sz="3020" dirty="0"/>
          </a:p>
        </p:txBody>
      </p:sp>
      <p:sp>
        <p:nvSpPr>
          <p:cNvPr id="5" name="Text 3"/>
          <p:cNvSpPr txBox="1"/>
          <p:nvPr/>
        </p:nvSpPr>
        <p:spPr>
          <a:xfrm>
            <a:off x="530352" y="1783080"/>
            <a:ext cx="11131296" cy="46634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630" dirty="0">
                <a:solidFill>
                  <a:srgbClr val="687782"/>
                </a:solidFill>
                <a:latin typeface="Arial" pitchFamily="34" charset="0"/>
                <a:ea typeface="Arial" pitchFamily="34" charset="-122"/>
                <a:cs typeface="Arial" pitchFamily="34" charset="-120"/>
              </a:rPr>
              <a:t>Illustration only: same basket, same period; cost unchanged at €50 per basket.</a:t>
            </a:r>
            <a:endParaRPr lang="en-US" sz="1630" dirty="0"/>
          </a:p>
        </p:txBody>
      </p:sp>
      <p:sp>
        <p:nvSpPr>
          <p:cNvPr id="6" name="Shape 4"/>
          <p:cNvSpPr/>
          <p:nvPr/>
        </p:nvSpPr>
        <p:spPr>
          <a:xfrm>
            <a:off x="530352" y="6382512"/>
            <a:ext cx="11131296" cy="0"/>
          </a:xfrm>
          <a:prstGeom prst="line">
            <a:avLst/>
          </a:prstGeom>
          <a:solidFill>
            <a:srgbClr val="FFFFFF">
              <a:alpha val="0"/>
            </a:srgbClr>
          </a:solidFill>
          <a:ln w="8890">
            <a:solidFill>
              <a:srgbClr val="DCE3E8"/>
            </a:solidFill>
            <a:prstDash val="solid"/>
          </a:ln>
        </p:spPr>
      </p:sp>
      <p:sp>
        <p:nvSpPr>
          <p:cNvPr id="7" name="Text 5"/>
          <p:cNvSpPr txBox="1"/>
          <p:nvPr/>
        </p:nvSpPr>
        <p:spPr>
          <a:xfrm>
            <a:off x="530352" y="6483096"/>
            <a:ext cx="10216896" cy="16459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810" dirty="0">
                <a:solidFill>
                  <a:srgbClr val="687782"/>
                </a:solidFill>
                <a:latin typeface="Arial" pitchFamily="34" charset="0"/>
                <a:ea typeface="Arial" pitchFamily="34" charset="-122"/>
                <a:cs typeface="Arial" pitchFamily="34" charset="-120"/>
              </a:rPr>
              <a:t>Source: illustrative assumptions and arithmetic. Assumed volume response; not a sales forecast.</a:t>
            </a:r>
            <a:endParaRPr lang="en-US" sz="810" dirty="0"/>
          </a:p>
        </p:txBody>
      </p:sp>
      <p:sp>
        <p:nvSpPr>
          <p:cNvPr id="8" name="Text 6"/>
          <p:cNvSpPr txBox="1"/>
          <p:nvPr/>
        </p:nvSpPr>
        <p:spPr>
          <a:xfrm>
            <a:off x="10856976" y="6469380"/>
            <a:ext cx="804672" cy="21031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r" indent="0" marL="0">
              <a:buNone/>
            </a:pPr>
            <a:r>
              <a:rPr lang="en-US" sz="910" dirty="0">
                <a:solidFill>
                  <a:srgbClr val="687782"/>
                </a:solidFill>
                <a:latin typeface="Arial" pitchFamily="34" charset="0"/>
                <a:ea typeface="Arial" pitchFamily="34" charset="-122"/>
                <a:cs typeface="Arial" pitchFamily="34" charset="-120"/>
              </a:rPr>
              <a:t>v1.4  |  12</a:t>
            </a:r>
            <a:endParaRPr lang="en-US" sz="910" dirty="0"/>
          </a:p>
        </p:txBody>
      </p:sp>
      <p:sp>
        <p:nvSpPr>
          <p:cNvPr id="9" name="Shape 7"/>
          <p:cNvSpPr/>
          <p:nvPr/>
        </p:nvSpPr>
        <p:spPr>
          <a:xfrm>
            <a:off x="530352" y="2350008"/>
            <a:ext cx="3255264" cy="3236976"/>
          </a:xfrm>
          <a:prstGeom prst="rect">
            <a:avLst/>
          </a:prstGeom>
          <a:solidFill>
            <a:srgbClr val="EFF2F4"/>
          </a:solidFill>
          <a:ln w="12700">
            <a:solidFill>
              <a:srgbClr val="EFF2F4">
                <a:alpha val="0"/>
              </a:srgbClr>
            </a:solidFill>
            <a:prstDash val="solid"/>
          </a:ln>
        </p:spPr>
      </p:sp>
      <p:sp>
        <p:nvSpPr>
          <p:cNvPr id="10" name="Text 8"/>
          <p:cNvSpPr txBox="1"/>
          <p:nvPr/>
        </p:nvSpPr>
        <p:spPr>
          <a:xfrm>
            <a:off x="722376" y="2560320"/>
            <a:ext cx="2852928" cy="21031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090" b="1" dirty="0">
                <a:solidFill>
                  <a:srgbClr val="687782"/>
                </a:solidFill>
                <a:latin typeface="Arial" pitchFamily="34" charset="0"/>
                <a:ea typeface="Arial" pitchFamily="34" charset="-122"/>
                <a:cs typeface="Arial" pitchFamily="34" charset="-120"/>
              </a:rPr>
              <a:t>ILLUSTRATIVE INPUTS</a:t>
            </a:r>
            <a:endParaRPr lang="en-US" sz="1090" dirty="0"/>
          </a:p>
        </p:txBody>
      </p:sp>
      <p:sp>
        <p:nvSpPr>
          <p:cNvPr id="11" name="Text 9"/>
          <p:cNvSpPr txBox="1"/>
          <p:nvPr/>
        </p:nvSpPr>
        <p:spPr>
          <a:xfrm>
            <a:off x="722376" y="3017520"/>
            <a:ext cx="2852928" cy="65836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4500" b="1" dirty="0">
                <a:solidFill>
                  <a:srgbClr val="ED0016"/>
                </a:solidFill>
                <a:latin typeface="Arial" pitchFamily="34" charset="0"/>
                <a:ea typeface="Arial" pitchFamily="34" charset="-122"/>
                <a:cs typeface="Arial" pitchFamily="34" charset="-120"/>
              </a:rPr>
              <a:t>−5%</a:t>
            </a:r>
            <a:endParaRPr lang="en-US" sz="4500" dirty="0"/>
          </a:p>
        </p:txBody>
      </p:sp>
      <p:sp>
        <p:nvSpPr>
          <p:cNvPr id="12" name="Text 10"/>
          <p:cNvSpPr txBox="1"/>
          <p:nvPr/>
        </p:nvSpPr>
        <p:spPr>
          <a:xfrm>
            <a:off x="722376" y="3739896"/>
            <a:ext cx="2852928"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640" dirty="0">
                <a:solidFill>
                  <a:srgbClr val="17232C"/>
                </a:solidFill>
                <a:latin typeface="Arial" pitchFamily="34" charset="0"/>
                <a:ea typeface="Arial" pitchFamily="34" charset="-122"/>
                <a:cs typeface="Arial" pitchFamily="34" charset="-120"/>
              </a:rPr>
              <a:t>ISZE net price: €100 → €95</a:t>
            </a:r>
            <a:endParaRPr lang="en-US" sz="1640" dirty="0"/>
          </a:p>
        </p:txBody>
      </p:sp>
      <p:sp>
        <p:nvSpPr>
          <p:cNvPr id="13" name="Text 11"/>
          <p:cNvSpPr txBox="1"/>
          <p:nvPr/>
        </p:nvSpPr>
        <p:spPr>
          <a:xfrm>
            <a:off x="722376" y="4215384"/>
            <a:ext cx="2852928" cy="65836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4500" b="1" dirty="0">
                <a:solidFill>
                  <a:srgbClr val="17232C"/>
                </a:solidFill>
                <a:latin typeface="Arial" pitchFamily="34" charset="0"/>
                <a:ea typeface="Arial" pitchFamily="34" charset="-122"/>
                <a:cs typeface="Arial" pitchFamily="34" charset="-120"/>
              </a:rPr>
              <a:t>+20%</a:t>
            </a:r>
            <a:endParaRPr lang="en-US" sz="4500" dirty="0"/>
          </a:p>
        </p:txBody>
      </p:sp>
      <p:sp>
        <p:nvSpPr>
          <p:cNvPr id="14" name="Text 12"/>
          <p:cNvSpPr txBox="1"/>
          <p:nvPr/>
        </p:nvSpPr>
        <p:spPr>
          <a:xfrm>
            <a:off x="722376" y="5001768"/>
            <a:ext cx="2852928" cy="43891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470" dirty="0">
                <a:solidFill>
                  <a:srgbClr val="687782"/>
                </a:solidFill>
                <a:latin typeface="Arial" pitchFamily="34" charset="0"/>
                <a:ea typeface="Arial" pitchFamily="34" charset="-122"/>
                <a:cs typeface="Arial" pitchFamily="34" charset="-120"/>
              </a:rPr>
              <a:t>Baskets bought: 100 → 120</a:t>
            </a:r>
            <a:endParaRPr lang="en-US" sz="1470" dirty="0"/>
          </a:p>
          <a:p>
            <a:pPr algn="l" indent="0" marL="0">
              <a:buNone/>
            </a:pPr>
            <a:r>
              <a:rPr lang="en-US" sz="1470" dirty="0">
                <a:solidFill>
                  <a:srgbClr val="687782"/>
                </a:solidFill>
                <a:latin typeface="Arial" pitchFamily="34" charset="0"/>
                <a:ea typeface="Arial" pitchFamily="34" charset="-122"/>
                <a:cs typeface="Arial" pitchFamily="34" charset="-120"/>
              </a:rPr>
              <a:t>Assumed volume response</a:t>
            </a:r>
            <a:endParaRPr lang="en-US" sz="1470" dirty="0"/>
          </a:p>
        </p:txBody>
      </p:sp>
      <p:sp>
        <p:nvSpPr>
          <p:cNvPr id="15" name="Text 13"/>
          <p:cNvSpPr txBox="1"/>
          <p:nvPr/>
        </p:nvSpPr>
        <p:spPr>
          <a:xfrm>
            <a:off x="4471416" y="2459736"/>
            <a:ext cx="3346704" cy="30175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920" b="1" dirty="0">
                <a:solidFill>
                  <a:srgbClr val="17232C"/>
                </a:solidFill>
                <a:latin typeface="Arial" pitchFamily="34" charset="0"/>
                <a:ea typeface="Arial" pitchFamily="34" charset="-122"/>
                <a:cs typeface="Arial" pitchFamily="34" charset="-120"/>
              </a:rPr>
              <a:t>ISZE turnover</a:t>
            </a:r>
            <a:endParaRPr lang="en-US" sz="1920" dirty="0"/>
          </a:p>
        </p:txBody>
      </p:sp>
      <p:sp>
        <p:nvSpPr>
          <p:cNvPr id="16" name="Text 14"/>
          <p:cNvSpPr txBox="1"/>
          <p:nvPr/>
        </p:nvSpPr>
        <p:spPr>
          <a:xfrm>
            <a:off x="4471416" y="2852928"/>
            <a:ext cx="3346704" cy="43891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700" b="1" dirty="0">
                <a:solidFill>
                  <a:srgbClr val="ED0016"/>
                </a:solidFill>
                <a:latin typeface="Arial" pitchFamily="34" charset="0"/>
                <a:ea typeface="Arial" pitchFamily="34" charset="-122"/>
                <a:cs typeface="Arial" pitchFamily="34" charset="-120"/>
              </a:rPr>
              <a:t>+14%</a:t>
            </a:r>
            <a:endParaRPr lang="en-US" sz="2700" dirty="0"/>
          </a:p>
        </p:txBody>
      </p:sp>
      <p:sp>
        <p:nvSpPr>
          <p:cNvPr id="17" name="Shape 15"/>
          <p:cNvSpPr/>
          <p:nvPr/>
        </p:nvSpPr>
        <p:spPr>
          <a:xfrm>
            <a:off x="4626864" y="3947160"/>
            <a:ext cx="1133856" cy="1264920"/>
          </a:xfrm>
          <a:prstGeom prst="rect">
            <a:avLst/>
          </a:prstGeom>
          <a:solidFill>
            <a:srgbClr val="17232C"/>
          </a:solidFill>
          <a:ln w="12700">
            <a:solidFill>
              <a:srgbClr val="17232C">
                <a:alpha val="0"/>
              </a:srgbClr>
            </a:solidFill>
            <a:prstDash val="solid"/>
          </a:ln>
        </p:spPr>
      </p:sp>
      <p:sp>
        <p:nvSpPr>
          <p:cNvPr id="18" name="Text 16"/>
          <p:cNvSpPr txBox="1"/>
          <p:nvPr/>
        </p:nvSpPr>
        <p:spPr>
          <a:xfrm>
            <a:off x="4507992" y="3617976"/>
            <a:ext cx="1380744" cy="26517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ctr" indent="0" marL="0">
              <a:buNone/>
            </a:pPr>
            <a:r>
              <a:rPr lang="en-US" sz="1530" b="1" dirty="0">
                <a:solidFill>
                  <a:srgbClr val="17232C"/>
                </a:solidFill>
                <a:latin typeface="Arial" pitchFamily="34" charset="0"/>
                <a:ea typeface="Arial" pitchFamily="34" charset="-122"/>
                <a:cs typeface="Arial" pitchFamily="34" charset="-120"/>
              </a:rPr>
              <a:t>€10,000</a:t>
            </a:r>
            <a:endParaRPr lang="en-US" sz="1530" dirty="0"/>
          </a:p>
        </p:txBody>
      </p:sp>
      <p:sp>
        <p:nvSpPr>
          <p:cNvPr id="19" name="Text 17"/>
          <p:cNvSpPr txBox="1"/>
          <p:nvPr/>
        </p:nvSpPr>
        <p:spPr>
          <a:xfrm>
            <a:off x="4535424" y="5349240"/>
            <a:ext cx="1316736" cy="22860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ctr" indent="0" marL="0">
              <a:buNone/>
            </a:pPr>
            <a:r>
              <a:rPr lang="en-US" sz="1220" dirty="0">
                <a:solidFill>
                  <a:srgbClr val="687782"/>
                </a:solidFill>
                <a:latin typeface="Arial" pitchFamily="34" charset="0"/>
                <a:ea typeface="Arial" pitchFamily="34" charset="-122"/>
                <a:cs typeface="Arial" pitchFamily="34" charset="-120"/>
              </a:rPr>
              <a:t>Before</a:t>
            </a:r>
            <a:endParaRPr lang="en-US" sz="1220" dirty="0"/>
          </a:p>
        </p:txBody>
      </p:sp>
      <p:sp>
        <p:nvSpPr>
          <p:cNvPr id="20" name="Shape 18"/>
          <p:cNvSpPr/>
          <p:nvPr/>
        </p:nvSpPr>
        <p:spPr>
          <a:xfrm>
            <a:off x="6208776" y="3770071"/>
            <a:ext cx="1133856" cy="1442009"/>
          </a:xfrm>
          <a:prstGeom prst="rect">
            <a:avLst/>
          </a:prstGeom>
          <a:solidFill>
            <a:srgbClr val="ED0016"/>
          </a:solidFill>
          <a:ln w="12700">
            <a:solidFill>
              <a:srgbClr val="ED0016">
                <a:alpha val="0"/>
              </a:srgbClr>
            </a:solidFill>
            <a:prstDash val="solid"/>
          </a:ln>
        </p:spPr>
      </p:sp>
      <p:sp>
        <p:nvSpPr>
          <p:cNvPr id="21" name="Text 19"/>
          <p:cNvSpPr txBox="1"/>
          <p:nvPr/>
        </p:nvSpPr>
        <p:spPr>
          <a:xfrm>
            <a:off x="6089904" y="3440887"/>
            <a:ext cx="1380744" cy="26517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ctr" indent="0" marL="0">
              <a:buNone/>
            </a:pPr>
            <a:r>
              <a:rPr lang="en-US" sz="1530" b="1" dirty="0">
                <a:solidFill>
                  <a:srgbClr val="17232C"/>
                </a:solidFill>
                <a:latin typeface="Arial" pitchFamily="34" charset="0"/>
                <a:ea typeface="Arial" pitchFamily="34" charset="-122"/>
                <a:cs typeface="Arial" pitchFamily="34" charset="-120"/>
              </a:rPr>
              <a:t>€11,400</a:t>
            </a:r>
            <a:endParaRPr lang="en-US" sz="1530" dirty="0"/>
          </a:p>
        </p:txBody>
      </p:sp>
      <p:sp>
        <p:nvSpPr>
          <p:cNvPr id="22" name="Text 20"/>
          <p:cNvSpPr txBox="1"/>
          <p:nvPr/>
        </p:nvSpPr>
        <p:spPr>
          <a:xfrm>
            <a:off x="6117336" y="5349240"/>
            <a:ext cx="1316736" cy="22860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ctr" indent="0" marL="0">
              <a:buNone/>
            </a:pPr>
            <a:r>
              <a:rPr lang="en-US" sz="1220" dirty="0">
                <a:solidFill>
                  <a:srgbClr val="687782"/>
                </a:solidFill>
                <a:latin typeface="Arial" pitchFamily="34" charset="0"/>
                <a:ea typeface="Arial" pitchFamily="34" charset="-122"/>
                <a:cs typeface="Arial" pitchFamily="34" charset="-120"/>
              </a:rPr>
              <a:t>Illustrated</a:t>
            </a:r>
            <a:endParaRPr lang="en-US" sz="1220" dirty="0"/>
          </a:p>
        </p:txBody>
      </p:sp>
      <p:sp>
        <p:nvSpPr>
          <p:cNvPr id="23" name="Shape 21"/>
          <p:cNvSpPr/>
          <p:nvPr/>
        </p:nvSpPr>
        <p:spPr>
          <a:xfrm>
            <a:off x="4471416" y="5212080"/>
            <a:ext cx="3108960" cy="0"/>
          </a:xfrm>
          <a:prstGeom prst="line">
            <a:avLst/>
          </a:prstGeom>
          <a:solidFill>
            <a:srgbClr val="FFFFFF">
              <a:alpha val="0"/>
            </a:srgbClr>
          </a:solidFill>
          <a:ln w="10160">
            <a:solidFill>
              <a:srgbClr val="DCE3E8"/>
            </a:solidFill>
            <a:prstDash val="solid"/>
          </a:ln>
        </p:spPr>
      </p:sp>
      <p:sp>
        <p:nvSpPr>
          <p:cNvPr id="24" name="Text 22"/>
          <p:cNvSpPr txBox="1"/>
          <p:nvPr/>
        </p:nvSpPr>
        <p:spPr>
          <a:xfrm>
            <a:off x="4288536" y="5111496"/>
            <a:ext cx="146304" cy="17373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900" dirty="0">
                <a:solidFill>
                  <a:srgbClr val="687782"/>
                </a:solidFill>
                <a:latin typeface="Arial" pitchFamily="34" charset="0"/>
                <a:ea typeface="Arial" pitchFamily="34" charset="-122"/>
                <a:cs typeface="Arial" pitchFamily="34" charset="-120"/>
              </a:rPr>
              <a:t>0</a:t>
            </a:r>
            <a:endParaRPr lang="en-US" sz="900" dirty="0"/>
          </a:p>
        </p:txBody>
      </p:sp>
      <p:sp>
        <p:nvSpPr>
          <p:cNvPr id="25" name="Text 23"/>
          <p:cNvSpPr txBox="1"/>
          <p:nvPr/>
        </p:nvSpPr>
        <p:spPr>
          <a:xfrm>
            <a:off x="8238744" y="2459736"/>
            <a:ext cx="3346704" cy="30175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920" b="1" dirty="0">
                <a:solidFill>
                  <a:srgbClr val="17232C"/>
                </a:solidFill>
                <a:latin typeface="Arial" pitchFamily="34" charset="0"/>
                <a:ea typeface="Arial" pitchFamily="34" charset="-122"/>
                <a:cs typeface="Arial" pitchFamily="34" charset="-120"/>
              </a:rPr>
              <a:t>ISZE gross profit</a:t>
            </a:r>
            <a:endParaRPr lang="en-US" sz="1920" dirty="0"/>
          </a:p>
        </p:txBody>
      </p:sp>
      <p:sp>
        <p:nvSpPr>
          <p:cNvPr id="26" name="Text 24"/>
          <p:cNvSpPr txBox="1"/>
          <p:nvPr/>
        </p:nvSpPr>
        <p:spPr>
          <a:xfrm>
            <a:off x="8238744" y="2852928"/>
            <a:ext cx="3346704" cy="43891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700" b="1" dirty="0">
                <a:solidFill>
                  <a:srgbClr val="ED0016"/>
                </a:solidFill>
                <a:latin typeface="Arial" pitchFamily="34" charset="0"/>
                <a:ea typeface="Arial" pitchFamily="34" charset="-122"/>
                <a:cs typeface="Arial" pitchFamily="34" charset="-120"/>
              </a:rPr>
              <a:t>+8%</a:t>
            </a:r>
            <a:endParaRPr lang="en-US" sz="2700" dirty="0"/>
          </a:p>
        </p:txBody>
      </p:sp>
      <p:sp>
        <p:nvSpPr>
          <p:cNvPr id="27" name="Shape 25"/>
          <p:cNvSpPr/>
          <p:nvPr/>
        </p:nvSpPr>
        <p:spPr>
          <a:xfrm>
            <a:off x="8394192" y="3947160"/>
            <a:ext cx="1133856" cy="1264920"/>
          </a:xfrm>
          <a:prstGeom prst="rect">
            <a:avLst/>
          </a:prstGeom>
          <a:solidFill>
            <a:srgbClr val="17232C"/>
          </a:solidFill>
          <a:ln w="12700">
            <a:solidFill>
              <a:srgbClr val="17232C">
                <a:alpha val="0"/>
              </a:srgbClr>
            </a:solidFill>
            <a:prstDash val="solid"/>
          </a:ln>
        </p:spPr>
      </p:sp>
      <p:sp>
        <p:nvSpPr>
          <p:cNvPr id="28" name="Text 26"/>
          <p:cNvSpPr txBox="1"/>
          <p:nvPr/>
        </p:nvSpPr>
        <p:spPr>
          <a:xfrm>
            <a:off x="8275320" y="3617976"/>
            <a:ext cx="1380744" cy="26517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ctr" indent="0" marL="0">
              <a:buNone/>
            </a:pPr>
            <a:r>
              <a:rPr lang="en-US" sz="1530" b="1" dirty="0">
                <a:solidFill>
                  <a:srgbClr val="17232C"/>
                </a:solidFill>
                <a:latin typeface="Arial" pitchFamily="34" charset="0"/>
                <a:ea typeface="Arial" pitchFamily="34" charset="-122"/>
                <a:cs typeface="Arial" pitchFamily="34" charset="-120"/>
              </a:rPr>
              <a:t>€5,000</a:t>
            </a:r>
            <a:endParaRPr lang="en-US" sz="1530" dirty="0"/>
          </a:p>
        </p:txBody>
      </p:sp>
      <p:sp>
        <p:nvSpPr>
          <p:cNvPr id="29" name="Text 27"/>
          <p:cNvSpPr txBox="1"/>
          <p:nvPr/>
        </p:nvSpPr>
        <p:spPr>
          <a:xfrm>
            <a:off x="8302752" y="5349240"/>
            <a:ext cx="1316736" cy="22860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ctr" indent="0" marL="0">
              <a:buNone/>
            </a:pPr>
            <a:r>
              <a:rPr lang="en-US" sz="1220" dirty="0">
                <a:solidFill>
                  <a:srgbClr val="687782"/>
                </a:solidFill>
                <a:latin typeface="Arial" pitchFamily="34" charset="0"/>
                <a:ea typeface="Arial" pitchFamily="34" charset="-122"/>
                <a:cs typeface="Arial" pitchFamily="34" charset="-120"/>
              </a:rPr>
              <a:t>Before</a:t>
            </a:r>
            <a:endParaRPr lang="en-US" sz="1220" dirty="0"/>
          </a:p>
        </p:txBody>
      </p:sp>
      <p:sp>
        <p:nvSpPr>
          <p:cNvPr id="30" name="Shape 28"/>
          <p:cNvSpPr/>
          <p:nvPr/>
        </p:nvSpPr>
        <p:spPr>
          <a:xfrm>
            <a:off x="9976104" y="3845966"/>
            <a:ext cx="1133856" cy="1366114"/>
          </a:xfrm>
          <a:prstGeom prst="rect">
            <a:avLst/>
          </a:prstGeom>
          <a:solidFill>
            <a:srgbClr val="ED0016"/>
          </a:solidFill>
          <a:ln w="12700">
            <a:solidFill>
              <a:srgbClr val="ED0016">
                <a:alpha val="0"/>
              </a:srgbClr>
            </a:solidFill>
            <a:prstDash val="solid"/>
          </a:ln>
        </p:spPr>
      </p:sp>
      <p:sp>
        <p:nvSpPr>
          <p:cNvPr id="31" name="Text 29"/>
          <p:cNvSpPr txBox="1"/>
          <p:nvPr/>
        </p:nvSpPr>
        <p:spPr>
          <a:xfrm>
            <a:off x="9857232" y="3516782"/>
            <a:ext cx="1380744" cy="26517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ctr" indent="0" marL="0">
              <a:buNone/>
            </a:pPr>
            <a:r>
              <a:rPr lang="en-US" sz="1530" b="1" dirty="0">
                <a:solidFill>
                  <a:srgbClr val="17232C"/>
                </a:solidFill>
                <a:latin typeface="Arial" pitchFamily="34" charset="0"/>
                <a:ea typeface="Arial" pitchFamily="34" charset="-122"/>
                <a:cs typeface="Arial" pitchFamily="34" charset="-120"/>
              </a:rPr>
              <a:t>€5,400</a:t>
            </a:r>
            <a:endParaRPr lang="en-US" sz="1530" dirty="0"/>
          </a:p>
        </p:txBody>
      </p:sp>
      <p:sp>
        <p:nvSpPr>
          <p:cNvPr id="32" name="Text 30"/>
          <p:cNvSpPr txBox="1"/>
          <p:nvPr/>
        </p:nvSpPr>
        <p:spPr>
          <a:xfrm>
            <a:off x="9884664" y="5349240"/>
            <a:ext cx="1316736" cy="22860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ctr" indent="0" marL="0">
              <a:buNone/>
            </a:pPr>
            <a:r>
              <a:rPr lang="en-US" sz="1220" dirty="0">
                <a:solidFill>
                  <a:srgbClr val="687782"/>
                </a:solidFill>
                <a:latin typeface="Arial" pitchFamily="34" charset="0"/>
                <a:ea typeface="Arial" pitchFamily="34" charset="-122"/>
                <a:cs typeface="Arial" pitchFamily="34" charset="-120"/>
              </a:rPr>
              <a:t>Illustrated</a:t>
            </a:r>
            <a:endParaRPr lang="en-US" sz="1220" dirty="0"/>
          </a:p>
        </p:txBody>
      </p:sp>
      <p:sp>
        <p:nvSpPr>
          <p:cNvPr id="33" name="Shape 31"/>
          <p:cNvSpPr/>
          <p:nvPr/>
        </p:nvSpPr>
        <p:spPr>
          <a:xfrm>
            <a:off x="8238744" y="5212080"/>
            <a:ext cx="3108960" cy="0"/>
          </a:xfrm>
          <a:prstGeom prst="line">
            <a:avLst/>
          </a:prstGeom>
          <a:solidFill>
            <a:srgbClr val="FFFFFF">
              <a:alpha val="0"/>
            </a:srgbClr>
          </a:solidFill>
          <a:ln w="10160">
            <a:solidFill>
              <a:srgbClr val="DCE3E8"/>
            </a:solidFill>
            <a:prstDash val="solid"/>
          </a:ln>
        </p:spPr>
      </p:sp>
      <p:sp>
        <p:nvSpPr>
          <p:cNvPr id="34" name="Text 32"/>
          <p:cNvSpPr txBox="1"/>
          <p:nvPr/>
        </p:nvSpPr>
        <p:spPr>
          <a:xfrm>
            <a:off x="8055864" y="5111496"/>
            <a:ext cx="146304" cy="17373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900" dirty="0">
                <a:solidFill>
                  <a:srgbClr val="687782"/>
                </a:solidFill>
                <a:latin typeface="Arial" pitchFamily="34" charset="0"/>
                <a:ea typeface="Arial" pitchFamily="34" charset="-122"/>
                <a:cs typeface="Arial" pitchFamily="34" charset="-120"/>
              </a:rPr>
              <a:t>0</a:t>
            </a:r>
            <a:endParaRPr lang="en-US" sz="900" dirty="0"/>
          </a:p>
        </p:txBody>
      </p:sp>
      <p:sp>
        <p:nvSpPr>
          <p:cNvPr id="35" name="Shape 33"/>
          <p:cNvSpPr/>
          <p:nvPr/>
        </p:nvSpPr>
        <p:spPr>
          <a:xfrm>
            <a:off x="530352" y="5870448"/>
            <a:ext cx="50292" cy="338328"/>
          </a:xfrm>
          <a:prstGeom prst="rect">
            <a:avLst/>
          </a:prstGeom>
          <a:solidFill>
            <a:srgbClr val="ED0016"/>
          </a:solidFill>
          <a:ln w="12700">
            <a:solidFill>
              <a:srgbClr val="ED0016">
                <a:alpha val="0"/>
              </a:srgbClr>
            </a:solidFill>
            <a:prstDash val="solid"/>
          </a:ln>
        </p:spPr>
      </p:sp>
      <p:sp>
        <p:nvSpPr>
          <p:cNvPr id="36" name="Text 34"/>
          <p:cNvSpPr txBox="1"/>
          <p:nvPr/>
        </p:nvSpPr>
        <p:spPr>
          <a:xfrm>
            <a:off x="694944" y="5865876"/>
            <a:ext cx="10966704" cy="36576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920" b="1" dirty="0">
                <a:solidFill>
                  <a:srgbClr val="17232C"/>
                </a:solidFill>
                <a:latin typeface="Arial" pitchFamily="34" charset="0"/>
                <a:ea typeface="Arial" pitchFamily="34" charset="-122"/>
                <a:cs typeface="Arial" pitchFamily="34" charset="-120"/>
              </a:rPr>
              <a:t>Break-even volume: +5.3% for turnover; +11.1% for gross profit.</a:t>
            </a:r>
            <a:endParaRPr lang="en-US" sz="1920" dirty="0"/>
          </a:p>
        </p:txBody>
      </p:sp>
    </p:spTree>
  </p:cSld>
  <p:clrMapOvr>
    <a:masterClrMapping/>
  </p:clrMapOvr>
  <p:transition spd="fast" advClick="1">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30352" y="301752"/>
            <a:ext cx="950976"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000" b="1" dirty="0">
                <a:solidFill>
                  <a:srgbClr val="ED0016"/>
                </a:solidFill>
                <a:latin typeface="Arial" pitchFamily="34" charset="0"/>
                <a:ea typeface="Arial" pitchFamily="34" charset="-122"/>
                <a:cs typeface="Arial" pitchFamily="34" charset="-120"/>
              </a:rPr>
              <a:t>ISUZU</a:t>
            </a:r>
            <a:endParaRPr lang="en-US" sz="2000" dirty="0"/>
          </a:p>
        </p:txBody>
      </p:sp>
      <p:sp>
        <p:nvSpPr>
          <p:cNvPr id="3" name="Text 1"/>
          <p:cNvSpPr txBox="1"/>
          <p:nvPr/>
        </p:nvSpPr>
        <p:spPr>
          <a:xfrm>
            <a:off x="1856232" y="347472"/>
            <a:ext cx="9418320" cy="16459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980" b="1" spc="145" kern="0" dirty="0">
                <a:solidFill>
                  <a:srgbClr val="687782"/>
                </a:solidFill>
                <a:latin typeface="Arial" pitchFamily="34" charset="0"/>
                <a:ea typeface="Arial" pitchFamily="34" charset="-122"/>
                <a:cs typeface="Arial" pitchFamily="34" charset="-120"/>
              </a:rPr>
              <a:t>UK TRUCKS | OPERATOR LICENSING</a:t>
            </a:r>
            <a:endParaRPr lang="en-US" sz="980" dirty="0"/>
          </a:p>
        </p:txBody>
      </p:sp>
      <p:sp>
        <p:nvSpPr>
          <p:cNvPr id="4" name="Text 2"/>
          <p:cNvSpPr txBox="1"/>
          <p:nvPr/>
        </p:nvSpPr>
        <p:spPr>
          <a:xfrm>
            <a:off x="530352" y="960120"/>
            <a:ext cx="11131296" cy="76809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3020" b="1" dirty="0">
                <a:solidFill>
                  <a:srgbClr val="17232C"/>
                </a:solidFill>
                <a:latin typeface="Arial" pitchFamily="34" charset="0"/>
                <a:ea typeface="Arial" pitchFamily="34" charset="-122"/>
                <a:cs typeface="Arial" pitchFamily="34" charset="-120"/>
              </a:rPr>
              <a:t>Repeated inspections create opportunities to win work.</a:t>
            </a:r>
            <a:endParaRPr lang="en-US" sz="3020" dirty="0"/>
          </a:p>
        </p:txBody>
      </p:sp>
      <p:sp>
        <p:nvSpPr>
          <p:cNvPr id="5" name="Text 3"/>
          <p:cNvSpPr txBox="1"/>
          <p:nvPr/>
        </p:nvSpPr>
        <p:spPr>
          <a:xfrm>
            <a:off x="530352" y="1783080"/>
            <a:ext cx="11131296" cy="46634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630" dirty="0">
                <a:solidFill>
                  <a:srgbClr val="687782"/>
                </a:solidFill>
                <a:latin typeface="Arial" pitchFamily="34" charset="0"/>
                <a:ea typeface="Arial" pitchFamily="34" charset="-122"/>
                <a:cs typeface="Arial" pitchFamily="34" charset="-120"/>
              </a:rPr>
              <a:t>ITUK, the UK truck distributor. The opportunity is recurring maintenance and repair business.</a:t>
            </a:r>
            <a:endParaRPr lang="en-US" sz="1630" dirty="0"/>
          </a:p>
        </p:txBody>
      </p:sp>
      <p:sp>
        <p:nvSpPr>
          <p:cNvPr id="6" name="Shape 4"/>
          <p:cNvSpPr/>
          <p:nvPr/>
        </p:nvSpPr>
        <p:spPr>
          <a:xfrm>
            <a:off x="530352" y="6382512"/>
            <a:ext cx="11131296" cy="0"/>
          </a:xfrm>
          <a:prstGeom prst="line">
            <a:avLst/>
          </a:prstGeom>
          <a:solidFill>
            <a:srgbClr val="FFFFFF">
              <a:alpha val="0"/>
            </a:srgbClr>
          </a:solidFill>
          <a:ln w="8890">
            <a:solidFill>
              <a:srgbClr val="DCE3E8"/>
            </a:solidFill>
            <a:prstDash val="solid"/>
          </a:ln>
        </p:spPr>
      </p:sp>
      <p:sp>
        <p:nvSpPr>
          <p:cNvPr id="7" name="Text 5"/>
          <p:cNvSpPr txBox="1"/>
          <p:nvPr/>
        </p:nvSpPr>
        <p:spPr>
          <a:xfrm>
            <a:off x="530352" y="6483096"/>
            <a:ext cx="10216896" cy="16459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810" dirty="0">
                <a:solidFill>
                  <a:srgbClr val="687782"/>
                </a:solidFill>
                <a:latin typeface="Arial" pitchFamily="34" charset="0"/>
                <a:ea typeface="Arial" pitchFamily="34" charset="-122"/>
                <a:cs typeface="Arial" pitchFamily="34" charset="-120"/>
              </a:rPr>
              <a:t>Source: DVSA roadworthiness guidance (Great Britain); management strategy. Not a service-demand forecast.</a:t>
            </a:r>
            <a:endParaRPr lang="en-US" sz="810" dirty="0"/>
          </a:p>
        </p:txBody>
      </p:sp>
      <p:sp>
        <p:nvSpPr>
          <p:cNvPr id="8" name="Text 6"/>
          <p:cNvSpPr txBox="1"/>
          <p:nvPr/>
        </p:nvSpPr>
        <p:spPr>
          <a:xfrm>
            <a:off x="10856976" y="6469380"/>
            <a:ext cx="804672" cy="21031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r" indent="0" marL="0">
              <a:buNone/>
            </a:pPr>
            <a:r>
              <a:rPr lang="en-US" sz="910" dirty="0">
                <a:solidFill>
                  <a:srgbClr val="687782"/>
                </a:solidFill>
                <a:latin typeface="Arial" pitchFamily="34" charset="0"/>
                <a:ea typeface="Arial" pitchFamily="34" charset="-122"/>
                <a:cs typeface="Arial" pitchFamily="34" charset="-120"/>
              </a:rPr>
              <a:t>v1.4  |  13</a:t>
            </a:r>
            <a:endParaRPr lang="en-US" sz="910" dirty="0"/>
          </a:p>
        </p:txBody>
      </p:sp>
      <p:sp>
        <p:nvSpPr>
          <p:cNvPr id="9" name="Shape 7"/>
          <p:cNvSpPr/>
          <p:nvPr/>
        </p:nvSpPr>
        <p:spPr>
          <a:xfrm>
            <a:off x="2386584" y="2487168"/>
            <a:ext cx="3054096" cy="3054096"/>
          </a:xfrm>
          <a:prstGeom prst="ellipse">
            <a:avLst/>
          </a:prstGeom>
          <a:solidFill>
            <a:srgbClr val="FFFFFF">
              <a:alpha val="0"/>
            </a:srgbClr>
          </a:solidFill>
          <a:ln w="165100">
            <a:solidFill>
              <a:srgbClr val="DCE3E8"/>
            </a:solidFill>
            <a:prstDash val="solid"/>
          </a:ln>
        </p:spPr>
      </p:sp>
      <p:sp>
        <p:nvSpPr>
          <p:cNvPr id="10" name="Shape 8"/>
          <p:cNvSpPr/>
          <p:nvPr/>
        </p:nvSpPr>
        <p:spPr>
          <a:xfrm>
            <a:off x="3474720" y="2350008"/>
            <a:ext cx="877824" cy="877824"/>
          </a:xfrm>
          <a:prstGeom prst="ellipse">
            <a:avLst/>
          </a:prstGeom>
          <a:solidFill>
            <a:srgbClr val="ED0016"/>
          </a:solidFill>
          <a:ln w="12700">
            <a:solidFill>
              <a:srgbClr val="ED0016">
                <a:alpha val="0"/>
              </a:srgbClr>
            </a:solidFill>
            <a:prstDash val="solid"/>
          </a:ln>
        </p:spPr>
      </p:sp>
      <p:pic>
        <p:nvPicPr>
          <p:cNvPr id="11" name="Image 0" descr="Presentation pictogram">    </p:cNvPr>
          <p:cNvPicPr>
            <a:picLocks noChangeAspect="1"/>
          </p:cNvPicPr>
          <p:nvPr/>
        </p:nvPicPr>
        <p:blipFill>
          <a:blip r:embed="rId1"/>
          <a:stretch>
            <a:fillRect/>
          </a:stretch>
        </p:blipFill>
        <p:spPr>
          <a:xfrm>
            <a:off x="3676620" y="2551908"/>
            <a:ext cx="474025" cy="474025"/>
          </a:xfrm>
          <a:prstGeom prst="rect">
            <a:avLst/>
          </a:prstGeom>
        </p:spPr>
      </p:pic>
      <p:sp>
        <p:nvSpPr>
          <p:cNvPr id="12" name="Text 9"/>
          <p:cNvSpPr txBox="1"/>
          <p:nvPr/>
        </p:nvSpPr>
        <p:spPr>
          <a:xfrm>
            <a:off x="4608576" y="2395728"/>
            <a:ext cx="2286000" cy="56692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740" b="1" dirty="0">
                <a:solidFill>
                  <a:srgbClr val="17232C"/>
                </a:solidFill>
                <a:latin typeface="Arial" pitchFamily="34" charset="0"/>
                <a:ea typeface="Arial" pitchFamily="34" charset="-122"/>
                <a:cs typeface="Arial" pitchFamily="34" charset="-120"/>
              </a:rPr>
              <a:t>Inspect</a:t>
            </a:r>
            <a:endParaRPr lang="en-US" sz="1740" dirty="0"/>
          </a:p>
        </p:txBody>
      </p:sp>
      <p:sp>
        <p:nvSpPr>
          <p:cNvPr id="13" name="Shape 10"/>
          <p:cNvSpPr/>
          <p:nvPr/>
        </p:nvSpPr>
        <p:spPr>
          <a:xfrm>
            <a:off x="4864608" y="3575304"/>
            <a:ext cx="877824" cy="877824"/>
          </a:xfrm>
          <a:prstGeom prst="ellipse">
            <a:avLst/>
          </a:prstGeom>
          <a:solidFill>
            <a:srgbClr val="ED0016"/>
          </a:solidFill>
          <a:ln w="12700">
            <a:solidFill>
              <a:srgbClr val="ED0016">
                <a:alpha val="0"/>
              </a:srgbClr>
            </a:solidFill>
            <a:prstDash val="solid"/>
          </a:ln>
        </p:spPr>
      </p:sp>
      <p:pic>
        <p:nvPicPr>
          <p:cNvPr id="14" name="Image 1" descr="Presentation pictogram">    </p:cNvPr>
          <p:cNvPicPr>
            <a:picLocks noChangeAspect="1"/>
          </p:cNvPicPr>
          <p:nvPr/>
        </p:nvPicPr>
        <p:blipFill>
          <a:blip r:embed="rId2"/>
          <a:stretch>
            <a:fillRect/>
          </a:stretch>
        </p:blipFill>
        <p:spPr>
          <a:xfrm>
            <a:off x="5066508" y="3777204"/>
            <a:ext cx="474025" cy="474025"/>
          </a:xfrm>
          <a:prstGeom prst="rect">
            <a:avLst/>
          </a:prstGeom>
        </p:spPr>
      </p:pic>
      <p:sp>
        <p:nvSpPr>
          <p:cNvPr id="15" name="Text 11"/>
          <p:cNvSpPr txBox="1"/>
          <p:nvPr/>
        </p:nvSpPr>
        <p:spPr>
          <a:xfrm>
            <a:off x="5897880" y="3849624"/>
            <a:ext cx="1444752" cy="56692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740" b="1" dirty="0">
                <a:solidFill>
                  <a:srgbClr val="17232C"/>
                </a:solidFill>
                <a:latin typeface="Arial" pitchFamily="34" charset="0"/>
                <a:ea typeface="Arial" pitchFamily="34" charset="-122"/>
                <a:cs typeface="Arial" pitchFamily="34" charset="-120"/>
              </a:rPr>
              <a:t>Repair</a:t>
            </a:r>
            <a:endParaRPr lang="en-US" sz="1740" dirty="0"/>
          </a:p>
          <a:p>
            <a:pPr algn="l" indent="0" marL="0">
              <a:buNone/>
            </a:pPr>
            <a:r>
              <a:rPr lang="en-US" sz="1740" b="1" dirty="0">
                <a:solidFill>
                  <a:srgbClr val="17232C"/>
                </a:solidFill>
                <a:latin typeface="Arial" pitchFamily="34" charset="0"/>
                <a:ea typeface="Arial" pitchFamily="34" charset="-122"/>
                <a:cs typeface="Arial" pitchFamily="34" charset="-120"/>
              </a:rPr>
              <a:t>as needed</a:t>
            </a:r>
            <a:endParaRPr lang="en-US" sz="1740" dirty="0"/>
          </a:p>
        </p:txBody>
      </p:sp>
      <p:sp>
        <p:nvSpPr>
          <p:cNvPr id="16" name="Shape 12"/>
          <p:cNvSpPr/>
          <p:nvPr/>
        </p:nvSpPr>
        <p:spPr>
          <a:xfrm>
            <a:off x="3474720" y="4892040"/>
            <a:ext cx="877824" cy="877824"/>
          </a:xfrm>
          <a:prstGeom prst="ellipse">
            <a:avLst/>
          </a:prstGeom>
          <a:solidFill>
            <a:srgbClr val="ED0016"/>
          </a:solidFill>
          <a:ln w="12700">
            <a:solidFill>
              <a:srgbClr val="ED0016">
                <a:alpha val="0"/>
              </a:srgbClr>
            </a:solidFill>
            <a:prstDash val="solid"/>
          </a:ln>
        </p:spPr>
      </p:sp>
      <p:pic>
        <p:nvPicPr>
          <p:cNvPr id="17" name="Image 2" descr="Presentation pictogram">    </p:cNvPr>
          <p:cNvPicPr>
            <a:picLocks noChangeAspect="1"/>
          </p:cNvPicPr>
          <p:nvPr/>
        </p:nvPicPr>
        <p:blipFill>
          <a:blip r:embed="rId3"/>
          <a:stretch>
            <a:fillRect/>
          </a:stretch>
        </p:blipFill>
        <p:spPr>
          <a:xfrm>
            <a:off x="3676620" y="5093940"/>
            <a:ext cx="474025" cy="474025"/>
          </a:xfrm>
          <a:prstGeom prst="rect">
            <a:avLst/>
          </a:prstGeom>
        </p:spPr>
      </p:pic>
      <p:sp>
        <p:nvSpPr>
          <p:cNvPr id="18" name="Text 13"/>
          <p:cNvSpPr txBox="1"/>
          <p:nvPr/>
        </p:nvSpPr>
        <p:spPr>
          <a:xfrm>
            <a:off x="950976" y="5138928"/>
            <a:ext cx="2313432" cy="56692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740" b="1" dirty="0">
                <a:solidFill>
                  <a:srgbClr val="17232C"/>
                </a:solidFill>
                <a:latin typeface="Arial" pitchFamily="34" charset="0"/>
                <a:ea typeface="Arial" pitchFamily="34" charset="-122"/>
                <a:cs typeface="Arial" pitchFamily="34" charset="-120"/>
              </a:rPr>
              <a:t>Record</a:t>
            </a:r>
            <a:endParaRPr lang="en-US" sz="1740" dirty="0"/>
          </a:p>
          <a:p>
            <a:pPr algn="l" indent="0" marL="0">
              <a:buNone/>
            </a:pPr>
            <a:r>
              <a:rPr lang="en-US" sz="1740" b="1" dirty="0">
                <a:solidFill>
                  <a:srgbClr val="17232C"/>
                </a:solidFill>
                <a:latin typeface="Arial" pitchFamily="34" charset="0"/>
                <a:ea typeface="Arial" pitchFamily="34" charset="-122"/>
                <a:cs typeface="Arial" pitchFamily="34" charset="-120"/>
              </a:rPr>
              <a:t>and plan</a:t>
            </a:r>
            <a:endParaRPr lang="en-US" sz="1740" dirty="0"/>
          </a:p>
        </p:txBody>
      </p:sp>
      <p:sp>
        <p:nvSpPr>
          <p:cNvPr id="19" name="Shape 14"/>
          <p:cNvSpPr/>
          <p:nvPr/>
        </p:nvSpPr>
        <p:spPr>
          <a:xfrm>
            <a:off x="2093976" y="3575304"/>
            <a:ext cx="877824" cy="877824"/>
          </a:xfrm>
          <a:prstGeom prst="ellipse">
            <a:avLst/>
          </a:prstGeom>
          <a:solidFill>
            <a:srgbClr val="ED0016"/>
          </a:solidFill>
          <a:ln w="12700">
            <a:solidFill>
              <a:srgbClr val="ED0016">
                <a:alpha val="0"/>
              </a:srgbClr>
            </a:solidFill>
            <a:prstDash val="solid"/>
          </a:ln>
        </p:spPr>
      </p:sp>
      <p:pic>
        <p:nvPicPr>
          <p:cNvPr id="20" name="Image 3" descr="Presentation pictogram">    </p:cNvPr>
          <p:cNvPicPr>
            <a:picLocks noChangeAspect="1"/>
          </p:cNvPicPr>
          <p:nvPr/>
        </p:nvPicPr>
        <p:blipFill>
          <a:blip r:embed="rId4"/>
          <a:stretch>
            <a:fillRect/>
          </a:stretch>
        </p:blipFill>
        <p:spPr>
          <a:xfrm>
            <a:off x="2295876" y="3777204"/>
            <a:ext cx="474025" cy="474025"/>
          </a:xfrm>
          <a:prstGeom prst="rect">
            <a:avLst/>
          </a:prstGeom>
        </p:spPr>
      </p:pic>
      <p:sp>
        <p:nvSpPr>
          <p:cNvPr id="21" name="Text 15"/>
          <p:cNvSpPr txBox="1"/>
          <p:nvPr/>
        </p:nvSpPr>
        <p:spPr>
          <a:xfrm>
            <a:off x="603504" y="3776472"/>
            <a:ext cx="1298448" cy="56692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740" b="1" dirty="0">
                <a:solidFill>
                  <a:srgbClr val="17232C"/>
                </a:solidFill>
                <a:latin typeface="Arial" pitchFamily="34" charset="0"/>
                <a:ea typeface="Arial" pitchFamily="34" charset="-122"/>
                <a:cs typeface="Arial" pitchFamily="34" charset="-120"/>
              </a:rPr>
              <a:t>Operate</a:t>
            </a:r>
            <a:endParaRPr lang="en-US" sz="1740" dirty="0"/>
          </a:p>
        </p:txBody>
      </p:sp>
      <p:pic>
        <p:nvPicPr>
          <p:cNvPr id="22" name="Image 4" descr="Presentation pictogram">    </p:cNvPr>
          <p:cNvPicPr>
            <a:picLocks noChangeAspect="1"/>
          </p:cNvPicPr>
          <p:nvPr/>
        </p:nvPicPr>
        <p:blipFill>
          <a:blip r:embed="rId5"/>
          <a:stretch>
            <a:fillRect/>
          </a:stretch>
        </p:blipFill>
        <p:spPr>
          <a:xfrm>
            <a:off x="3429000" y="3474720"/>
            <a:ext cx="1005840" cy="1005840"/>
          </a:xfrm>
          <a:prstGeom prst="rect">
            <a:avLst/>
          </a:prstGeom>
        </p:spPr>
      </p:pic>
      <p:sp>
        <p:nvSpPr>
          <p:cNvPr id="23" name="Text 16"/>
          <p:cNvSpPr txBox="1"/>
          <p:nvPr/>
        </p:nvSpPr>
        <p:spPr>
          <a:xfrm>
            <a:off x="2697480" y="4617720"/>
            <a:ext cx="2450592" cy="22860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ctr" indent="0" marL="0">
              <a:buNone/>
            </a:pPr>
            <a:r>
              <a:rPr lang="en-US" sz="1140" b="1" dirty="0">
                <a:solidFill>
                  <a:srgbClr val="687782"/>
                </a:solidFill>
                <a:latin typeface="Arial" pitchFamily="34" charset="0"/>
                <a:ea typeface="Arial" pitchFamily="34" charset="-122"/>
                <a:cs typeface="Arial" pitchFamily="34" charset="-120"/>
              </a:rPr>
              <a:t>Repeat opportunity</a:t>
            </a:r>
            <a:endParaRPr lang="en-US" sz="1140" dirty="0"/>
          </a:p>
        </p:txBody>
      </p:sp>
      <p:sp>
        <p:nvSpPr>
          <p:cNvPr id="24" name="Shape 17"/>
          <p:cNvSpPr/>
          <p:nvPr/>
        </p:nvSpPr>
        <p:spPr>
          <a:xfrm>
            <a:off x="7571232" y="2542032"/>
            <a:ext cx="0" cy="2953512"/>
          </a:xfrm>
          <a:prstGeom prst="line">
            <a:avLst/>
          </a:prstGeom>
          <a:solidFill>
            <a:srgbClr val="FFFFFF">
              <a:alpha val="0"/>
            </a:srgbClr>
          </a:solidFill>
          <a:ln w="12700">
            <a:solidFill>
              <a:srgbClr val="DCE3E8"/>
            </a:solidFill>
            <a:prstDash val="solid"/>
          </a:ln>
        </p:spPr>
      </p:sp>
      <p:sp>
        <p:nvSpPr>
          <p:cNvPr id="25" name="Text 18"/>
          <p:cNvSpPr txBox="1"/>
          <p:nvPr/>
        </p:nvSpPr>
        <p:spPr>
          <a:xfrm>
            <a:off x="8065008" y="2542032"/>
            <a:ext cx="3236976" cy="94183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5900" b="1" dirty="0">
                <a:solidFill>
                  <a:srgbClr val="ED0016"/>
                </a:solidFill>
                <a:latin typeface="Arial" pitchFamily="34" charset="0"/>
                <a:ea typeface="Arial" pitchFamily="34" charset="-122"/>
                <a:cs typeface="Arial" pitchFamily="34" charset="-120"/>
              </a:rPr>
              <a:t>4-13</a:t>
            </a:r>
            <a:endParaRPr lang="en-US" sz="5900" dirty="0"/>
          </a:p>
        </p:txBody>
      </p:sp>
      <p:sp>
        <p:nvSpPr>
          <p:cNvPr id="26" name="Text 19"/>
          <p:cNvSpPr txBox="1"/>
          <p:nvPr/>
        </p:nvSpPr>
        <p:spPr>
          <a:xfrm>
            <a:off x="8101584" y="3520440"/>
            <a:ext cx="3191256" cy="47548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800" b="1" dirty="0">
                <a:solidFill>
                  <a:srgbClr val="17232C"/>
                </a:solidFill>
                <a:latin typeface="Arial" pitchFamily="34" charset="0"/>
                <a:ea typeface="Arial" pitchFamily="34" charset="-122"/>
                <a:cs typeface="Arial" pitchFamily="34" charset="-120"/>
              </a:rPr>
              <a:t>weeks</a:t>
            </a:r>
            <a:endParaRPr lang="en-US" sz="2800" dirty="0"/>
          </a:p>
        </p:txBody>
      </p:sp>
      <p:sp>
        <p:nvSpPr>
          <p:cNvPr id="27" name="Text 20"/>
          <p:cNvSpPr txBox="1"/>
          <p:nvPr/>
        </p:nvSpPr>
        <p:spPr>
          <a:xfrm>
            <a:off x="8101584" y="4169664"/>
            <a:ext cx="3328416" cy="58521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900" b="1" dirty="0">
                <a:solidFill>
                  <a:srgbClr val="17232C"/>
                </a:solidFill>
                <a:latin typeface="Arial" pitchFamily="34" charset="0"/>
                <a:ea typeface="Arial" pitchFamily="34" charset="-122"/>
                <a:cs typeface="Arial" pitchFamily="34" charset="-120"/>
              </a:rPr>
              <a:t>Normal safety-inspection range</a:t>
            </a:r>
            <a:endParaRPr lang="en-US" sz="1900" dirty="0"/>
          </a:p>
        </p:txBody>
      </p:sp>
      <p:sp>
        <p:nvSpPr>
          <p:cNvPr id="28" name="Text 21"/>
          <p:cNvSpPr txBox="1"/>
          <p:nvPr/>
        </p:nvSpPr>
        <p:spPr>
          <a:xfrm>
            <a:off x="8101584" y="4928616"/>
            <a:ext cx="3392424" cy="55778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430" dirty="0">
                <a:solidFill>
                  <a:srgbClr val="687782"/>
                </a:solidFill>
                <a:latin typeface="Arial" pitchFamily="34" charset="0"/>
                <a:ea typeface="Arial" pitchFamily="34" charset="-122"/>
                <a:cs typeface="Arial" pitchFamily="34" charset="-120"/>
              </a:rPr>
              <a:t>Frequency depends on use.</a:t>
            </a:r>
            <a:endParaRPr lang="en-US" sz="1430" dirty="0"/>
          </a:p>
          <a:p>
            <a:pPr algn="l" indent="0" marL="0">
              <a:buNone/>
            </a:pPr>
            <a:r>
              <a:rPr lang="en-US" sz="1430" dirty="0">
                <a:solidFill>
                  <a:srgbClr val="687782"/>
                </a:solidFill>
                <a:latin typeface="Arial" pitchFamily="34" charset="0"/>
                <a:ea typeface="Arial" pitchFamily="34" charset="-122"/>
                <a:cs typeface="Arial" pitchFamily="34" charset="-120"/>
              </a:rPr>
              <a:t>An inspection is not a full service</a:t>
            </a:r>
            <a:endParaRPr lang="en-US" sz="1430" dirty="0"/>
          </a:p>
          <a:p>
            <a:pPr algn="l" indent="0" marL="0">
              <a:buNone/>
            </a:pPr>
            <a:r>
              <a:rPr lang="en-US" sz="1430" dirty="0">
                <a:solidFill>
                  <a:srgbClr val="687782"/>
                </a:solidFill>
                <a:latin typeface="Arial" pitchFamily="34" charset="0"/>
                <a:ea typeface="Arial" pitchFamily="34" charset="-122"/>
                <a:cs typeface="Arial" pitchFamily="34" charset="-120"/>
              </a:rPr>
              <a:t>or an automatic Isuzu visit.</a:t>
            </a:r>
            <a:endParaRPr lang="en-US" sz="1430" dirty="0"/>
          </a:p>
        </p:txBody>
      </p:sp>
      <p:sp>
        <p:nvSpPr>
          <p:cNvPr id="29" name="Shape 22"/>
          <p:cNvSpPr/>
          <p:nvPr/>
        </p:nvSpPr>
        <p:spPr>
          <a:xfrm>
            <a:off x="530352" y="5870448"/>
            <a:ext cx="50292" cy="338328"/>
          </a:xfrm>
          <a:prstGeom prst="rect">
            <a:avLst/>
          </a:prstGeom>
          <a:solidFill>
            <a:srgbClr val="ED0016"/>
          </a:solidFill>
          <a:ln w="12700">
            <a:solidFill>
              <a:srgbClr val="ED0016">
                <a:alpha val="0"/>
              </a:srgbClr>
            </a:solidFill>
            <a:prstDash val="solid"/>
          </a:ln>
        </p:spPr>
      </p:sp>
      <p:sp>
        <p:nvSpPr>
          <p:cNvPr id="30" name="Text 23"/>
          <p:cNvSpPr txBox="1"/>
          <p:nvPr/>
        </p:nvSpPr>
        <p:spPr>
          <a:xfrm>
            <a:off x="694944" y="5865876"/>
            <a:ext cx="10966704" cy="36576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920" b="1" dirty="0">
                <a:solidFill>
                  <a:srgbClr val="17232C"/>
                </a:solidFill>
                <a:latin typeface="Arial" pitchFamily="34" charset="0"/>
                <a:ea typeface="Arial" pitchFamily="34" charset="-122"/>
                <a:cs typeface="Arial" pitchFamily="34" charset="-120"/>
              </a:rPr>
              <a:t>Turn recurring inspection opportunities into recurring genuine-parts business.</a:t>
            </a:r>
            <a:endParaRPr lang="en-US" sz="1920" dirty="0"/>
          </a:p>
        </p:txBody>
      </p:sp>
    </p:spTree>
  </p:cSld>
  <p:clrMapOvr>
    <a:masterClrMapping/>
  </p:clrMapOvr>
  <p:transition spd="fast" advClick="1">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7232C"/>
        </a:solidFill>
      </p:bgPr>
    </p:bg>
    <p:spTree>
      <p:nvGrpSpPr>
        <p:cNvPr id="1" name=""/>
        <p:cNvGrpSpPr/>
        <p:nvPr/>
      </p:nvGrpSpPr>
      <p:grpSpPr>
        <a:xfrm>
          <a:off x="0" y="0"/>
          <a:ext cx="0" cy="0"/>
          <a:chOff x="0" y="0"/>
          <a:chExt cx="0" cy="0"/>
        </a:xfrm>
      </p:grpSpPr>
      <p:sp>
        <p:nvSpPr>
          <p:cNvPr id="2" name="Text 0"/>
          <p:cNvSpPr txBox="1"/>
          <p:nvPr/>
        </p:nvSpPr>
        <p:spPr>
          <a:xfrm>
            <a:off x="530352" y="301752"/>
            <a:ext cx="950976"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000" b="1" dirty="0">
                <a:solidFill>
                  <a:srgbClr val="ED0016"/>
                </a:solidFill>
                <a:latin typeface="Arial" pitchFamily="34" charset="0"/>
                <a:ea typeface="Arial" pitchFamily="34" charset="-122"/>
                <a:cs typeface="Arial" pitchFamily="34" charset="-120"/>
              </a:rPr>
              <a:t>ISUZU</a:t>
            </a:r>
            <a:endParaRPr lang="en-US" sz="2000" dirty="0"/>
          </a:p>
        </p:txBody>
      </p:sp>
      <p:sp>
        <p:nvSpPr>
          <p:cNvPr id="3" name="Text 1"/>
          <p:cNvSpPr txBox="1"/>
          <p:nvPr/>
        </p:nvSpPr>
        <p:spPr>
          <a:xfrm>
            <a:off x="1856232" y="347472"/>
            <a:ext cx="9418320" cy="16459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980" b="1" spc="145" kern="0" dirty="0">
                <a:solidFill>
                  <a:srgbClr val="C8D1D7"/>
                </a:solidFill>
                <a:latin typeface="Arial" pitchFamily="34" charset="0"/>
                <a:ea typeface="Arial" pitchFamily="34" charset="-122"/>
                <a:cs typeface="Arial" pitchFamily="34" charset="-120"/>
              </a:rPr>
              <a:t>UK TRUCKS | THE COMMERCIAL OBJECTIVE</a:t>
            </a:r>
            <a:endParaRPr lang="en-US" sz="980" dirty="0"/>
          </a:p>
        </p:txBody>
      </p:sp>
      <p:sp>
        <p:nvSpPr>
          <p:cNvPr id="4" name="Text 2"/>
          <p:cNvSpPr txBox="1"/>
          <p:nvPr/>
        </p:nvSpPr>
        <p:spPr>
          <a:xfrm>
            <a:off x="530352" y="960120"/>
            <a:ext cx="11131296" cy="76809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3020" b="1" dirty="0">
                <a:solidFill>
                  <a:srgbClr val="FFFFFF"/>
                </a:solidFill>
                <a:latin typeface="Arial" pitchFamily="34" charset="0"/>
                <a:ea typeface="Arial" pitchFamily="34" charset="-122"/>
                <a:cs typeface="Arial" pitchFamily="34" charset="-120"/>
              </a:rPr>
              <a:t>Win and retain the operator's maintenance business.</a:t>
            </a:r>
            <a:endParaRPr lang="en-US" sz="3020" dirty="0"/>
          </a:p>
        </p:txBody>
      </p:sp>
      <p:sp>
        <p:nvSpPr>
          <p:cNvPr id="5" name="Text 3"/>
          <p:cNvSpPr txBox="1"/>
          <p:nvPr/>
        </p:nvSpPr>
        <p:spPr>
          <a:xfrm>
            <a:off x="530352" y="1783080"/>
            <a:ext cx="11131296" cy="46634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630" dirty="0">
                <a:solidFill>
                  <a:srgbClr val="C8D1D7"/>
                </a:solidFill>
                <a:latin typeface="Arial" pitchFamily="34" charset="0"/>
                <a:ea typeface="Arial" pitchFamily="34" charset="-122"/>
                <a:cs typeface="Arial" pitchFamily="34" charset="-120"/>
              </a:rPr>
              <a:t>Competitive service and wear-part pricing supports the complete offer - not just one cheaper pad kit.</a:t>
            </a:r>
            <a:endParaRPr lang="en-US" sz="1630" dirty="0"/>
          </a:p>
        </p:txBody>
      </p:sp>
      <p:sp>
        <p:nvSpPr>
          <p:cNvPr id="6" name="Shape 4"/>
          <p:cNvSpPr/>
          <p:nvPr/>
        </p:nvSpPr>
        <p:spPr>
          <a:xfrm>
            <a:off x="530352" y="6382512"/>
            <a:ext cx="11131296" cy="0"/>
          </a:xfrm>
          <a:prstGeom prst="line">
            <a:avLst/>
          </a:prstGeom>
          <a:solidFill>
            <a:srgbClr val="FFFFFF">
              <a:alpha val="0"/>
            </a:srgbClr>
          </a:solidFill>
          <a:ln w="8890">
            <a:solidFill>
              <a:srgbClr val="41505B"/>
            </a:solidFill>
            <a:prstDash val="solid"/>
          </a:ln>
        </p:spPr>
      </p:sp>
      <p:sp>
        <p:nvSpPr>
          <p:cNvPr id="7" name="Text 5"/>
          <p:cNvSpPr txBox="1"/>
          <p:nvPr/>
        </p:nvSpPr>
        <p:spPr>
          <a:xfrm>
            <a:off x="530352" y="6483096"/>
            <a:ext cx="10216896" cy="16459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810" dirty="0">
                <a:solidFill>
                  <a:srgbClr val="C8D1D7"/>
                </a:solidFill>
                <a:latin typeface="Arial" pitchFamily="34" charset="0"/>
                <a:ea typeface="Arial" pitchFamily="34" charset="-122"/>
                <a:cs typeface="Arial" pitchFamily="34" charset="-120"/>
              </a:rPr>
              <a:t>Source: management strategy. Intended response, not a measured sales result.</a:t>
            </a:r>
            <a:endParaRPr lang="en-US" sz="810" dirty="0"/>
          </a:p>
        </p:txBody>
      </p:sp>
      <p:sp>
        <p:nvSpPr>
          <p:cNvPr id="8" name="Text 6"/>
          <p:cNvSpPr txBox="1"/>
          <p:nvPr/>
        </p:nvSpPr>
        <p:spPr>
          <a:xfrm>
            <a:off x="10856976" y="6469380"/>
            <a:ext cx="804672" cy="21031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r" indent="0" marL="0">
              <a:buNone/>
            </a:pPr>
            <a:r>
              <a:rPr lang="en-US" sz="910" dirty="0">
                <a:solidFill>
                  <a:srgbClr val="C8D1D7"/>
                </a:solidFill>
                <a:latin typeface="Arial" pitchFamily="34" charset="0"/>
                <a:ea typeface="Arial" pitchFamily="34" charset="-122"/>
                <a:cs typeface="Arial" pitchFamily="34" charset="-120"/>
              </a:rPr>
              <a:t>v1.4  |  14</a:t>
            </a:r>
            <a:endParaRPr lang="en-US" sz="910" dirty="0"/>
          </a:p>
        </p:txBody>
      </p:sp>
      <p:sp>
        <p:nvSpPr>
          <p:cNvPr id="9" name="Shape 7"/>
          <p:cNvSpPr/>
          <p:nvPr/>
        </p:nvSpPr>
        <p:spPr>
          <a:xfrm>
            <a:off x="530352" y="2679192"/>
            <a:ext cx="905256" cy="905256"/>
          </a:xfrm>
          <a:prstGeom prst="ellipse">
            <a:avLst/>
          </a:prstGeom>
          <a:solidFill>
            <a:srgbClr val="263743"/>
          </a:solidFill>
          <a:ln w="12700">
            <a:solidFill>
              <a:srgbClr val="263743">
                <a:alpha val="0"/>
              </a:srgbClr>
            </a:solidFill>
            <a:prstDash val="solid"/>
          </a:ln>
        </p:spPr>
      </p:sp>
      <p:pic>
        <p:nvPicPr>
          <p:cNvPr id="10" name="Image 0" descr="Presentation pictogram">    </p:cNvPr>
          <p:cNvPicPr>
            <a:picLocks noChangeAspect="1"/>
          </p:cNvPicPr>
          <p:nvPr/>
        </p:nvPicPr>
        <p:blipFill>
          <a:blip r:embed="rId1"/>
          <a:stretch>
            <a:fillRect/>
          </a:stretch>
        </p:blipFill>
        <p:spPr>
          <a:xfrm>
            <a:off x="738561" y="2887401"/>
            <a:ext cx="488838" cy="488838"/>
          </a:xfrm>
          <a:prstGeom prst="rect">
            <a:avLst/>
          </a:prstGeom>
        </p:spPr>
      </p:pic>
      <p:sp>
        <p:nvSpPr>
          <p:cNvPr id="11" name="Shape 8"/>
          <p:cNvSpPr/>
          <p:nvPr/>
        </p:nvSpPr>
        <p:spPr>
          <a:xfrm>
            <a:off x="1655064" y="3136392"/>
            <a:ext cx="1463040" cy="0"/>
          </a:xfrm>
          <a:prstGeom prst="line">
            <a:avLst/>
          </a:prstGeom>
          <a:solidFill>
            <a:srgbClr val="FFFFFF">
              <a:alpha val="0"/>
            </a:srgbClr>
          </a:solidFill>
          <a:ln w="25400">
            <a:solidFill>
              <a:srgbClr val="ED0016"/>
            </a:solidFill>
            <a:prstDash val="solid"/>
            <a:tailEnd type="triangle"/>
          </a:ln>
        </p:spPr>
      </p:sp>
      <p:sp>
        <p:nvSpPr>
          <p:cNvPr id="12" name="Text 9"/>
          <p:cNvSpPr txBox="1"/>
          <p:nvPr/>
        </p:nvSpPr>
        <p:spPr>
          <a:xfrm>
            <a:off x="530352" y="3886200"/>
            <a:ext cx="2450592" cy="43891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700" b="1" dirty="0">
                <a:solidFill>
                  <a:srgbClr val="FFFFFF"/>
                </a:solidFill>
                <a:latin typeface="Arial" pitchFamily="34" charset="0"/>
                <a:ea typeface="Arial" pitchFamily="34" charset="-122"/>
                <a:cs typeface="Arial" pitchFamily="34" charset="-120"/>
              </a:rPr>
              <a:t>ISZE</a:t>
            </a:r>
            <a:endParaRPr lang="en-US" sz="2700" dirty="0"/>
          </a:p>
        </p:txBody>
      </p:sp>
      <p:sp>
        <p:nvSpPr>
          <p:cNvPr id="13" name="Text 10"/>
          <p:cNvSpPr txBox="1"/>
          <p:nvPr/>
        </p:nvSpPr>
        <p:spPr>
          <a:xfrm>
            <a:off x="530352" y="4517136"/>
            <a:ext cx="2450592" cy="31089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620" b="1" dirty="0">
                <a:solidFill>
                  <a:srgbClr val="FFFFFF"/>
                </a:solidFill>
                <a:latin typeface="Arial" pitchFamily="34" charset="0"/>
                <a:ea typeface="Arial" pitchFamily="34" charset="-122"/>
                <a:cs typeface="Arial" pitchFamily="34" charset="-120"/>
              </a:rPr>
              <a:t>Targeted pricing</a:t>
            </a:r>
            <a:endParaRPr lang="en-US" sz="1620" dirty="0"/>
          </a:p>
        </p:txBody>
      </p:sp>
      <p:sp>
        <p:nvSpPr>
          <p:cNvPr id="14" name="Text 11"/>
          <p:cNvSpPr txBox="1"/>
          <p:nvPr/>
        </p:nvSpPr>
        <p:spPr>
          <a:xfrm>
            <a:off x="530352" y="4892040"/>
            <a:ext cx="2450592" cy="5029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650" dirty="0">
                <a:solidFill>
                  <a:srgbClr val="C8D1D7"/>
                </a:solidFill>
                <a:latin typeface="Arial" pitchFamily="34" charset="0"/>
                <a:ea typeface="Arial" pitchFamily="34" charset="-122"/>
                <a:cs typeface="Arial" pitchFamily="34" charset="-120"/>
              </a:rPr>
              <a:t>Give ITUK room on</a:t>
            </a:r>
            <a:endParaRPr lang="en-US" sz="1650" dirty="0"/>
          </a:p>
          <a:p>
            <a:pPr algn="l" indent="0" marL="0">
              <a:buNone/>
            </a:pPr>
            <a:r>
              <a:rPr lang="en-US" sz="1650" dirty="0">
                <a:solidFill>
                  <a:srgbClr val="C8D1D7"/>
                </a:solidFill>
                <a:latin typeface="Arial" pitchFamily="34" charset="0"/>
                <a:ea typeface="Arial" pitchFamily="34" charset="-122"/>
                <a:cs typeface="Arial" pitchFamily="34" charset="-120"/>
              </a:rPr>
              <a:t>the parts that matter.</a:t>
            </a:r>
            <a:endParaRPr lang="en-US" sz="1650" dirty="0"/>
          </a:p>
        </p:txBody>
      </p:sp>
      <p:sp>
        <p:nvSpPr>
          <p:cNvPr id="15" name="Shape 12"/>
          <p:cNvSpPr/>
          <p:nvPr/>
        </p:nvSpPr>
        <p:spPr>
          <a:xfrm>
            <a:off x="3401568" y="2679192"/>
            <a:ext cx="905256" cy="905256"/>
          </a:xfrm>
          <a:prstGeom prst="ellipse">
            <a:avLst/>
          </a:prstGeom>
          <a:solidFill>
            <a:srgbClr val="263743"/>
          </a:solidFill>
          <a:ln w="12700">
            <a:solidFill>
              <a:srgbClr val="263743">
                <a:alpha val="0"/>
              </a:srgbClr>
            </a:solidFill>
            <a:prstDash val="solid"/>
          </a:ln>
        </p:spPr>
      </p:sp>
      <p:pic>
        <p:nvPicPr>
          <p:cNvPr id="16" name="Image 1" descr="Presentation pictogram">    </p:cNvPr>
          <p:cNvPicPr>
            <a:picLocks noChangeAspect="1"/>
          </p:cNvPicPr>
          <p:nvPr/>
        </p:nvPicPr>
        <p:blipFill>
          <a:blip r:embed="rId2"/>
          <a:stretch>
            <a:fillRect/>
          </a:stretch>
        </p:blipFill>
        <p:spPr>
          <a:xfrm>
            <a:off x="3609777" y="2887401"/>
            <a:ext cx="488838" cy="488838"/>
          </a:xfrm>
          <a:prstGeom prst="rect">
            <a:avLst/>
          </a:prstGeom>
        </p:spPr>
      </p:pic>
      <p:sp>
        <p:nvSpPr>
          <p:cNvPr id="17" name="Shape 13"/>
          <p:cNvSpPr/>
          <p:nvPr/>
        </p:nvSpPr>
        <p:spPr>
          <a:xfrm>
            <a:off x="4526280" y="3136392"/>
            <a:ext cx="1463040" cy="0"/>
          </a:xfrm>
          <a:prstGeom prst="line">
            <a:avLst/>
          </a:prstGeom>
          <a:solidFill>
            <a:srgbClr val="FFFFFF">
              <a:alpha val="0"/>
            </a:srgbClr>
          </a:solidFill>
          <a:ln w="25400">
            <a:solidFill>
              <a:srgbClr val="ED0016"/>
            </a:solidFill>
            <a:prstDash val="solid"/>
            <a:tailEnd type="triangle"/>
          </a:ln>
        </p:spPr>
      </p:sp>
      <p:sp>
        <p:nvSpPr>
          <p:cNvPr id="18" name="Text 14"/>
          <p:cNvSpPr txBox="1"/>
          <p:nvPr/>
        </p:nvSpPr>
        <p:spPr>
          <a:xfrm>
            <a:off x="3401568" y="3886200"/>
            <a:ext cx="2450592" cy="43891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700" b="1" dirty="0">
                <a:solidFill>
                  <a:srgbClr val="FFFFFF"/>
                </a:solidFill>
                <a:latin typeface="Arial" pitchFamily="34" charset="0"/>
                <a:ea typeface="Arial" pitchFamily="34" charset="-122"/>
                <a:cs typeface="Arial" pitchFamily="34" charset="-120"/>
              </a:rPr>
              <a:t>ITUK</a:t>
            </a:r>
            <a:endParaRPr lang="en-US" sz="2700" dirty="0"/>
          </a:p>
        </p:txBody>
      </p:sp>
      <p:sp>
        <p:nvSpPr>
          <p:cNvPr id="19" name="Text 15"/>
          <p:cNvSpPr txBox="1"/>
          <p:nvPr/>
        </p:nvSpPr>
        <p:spPr>
          <a:xfrm>
            <a:off x="3401568" y="4517136"/>
            <a:ext cx="2450592" cy="31089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620" b="1" dirty="0">
                <a:solidFill>
                  <a:srgbClr val="FFFFFF"/>
                </a:solidFill>
                <a:latin typeface="Arial" pitchFamily="34" charset="0"/>
                <a:ea typeface="Arial" pitchFamily="34" charset="-122"/>
                <a:cs typeface="Arial" pitchFamily="34" charset="-120"/>
              </a:rPr>
              <a:t>Distributor offer</a:t>
            </a:r>
            <a:endParaRPr lang="en-US" sz="1620" dirty="0"/>
          </a:p>
        </p:txBody>
      </p:sp>
      <p:sp>
        <p:nvSpPr>
          <p:cNvPr id="20" name="Text 16"/>
          <p:cNvSpPr txBox="1"/>
          <p:nvPr/>
        </p:nvSpPr>
        <p:spPr>
          <a:xfrm>
            <a:off x="3401568" y="4892040"/>
            <a:ext cx="2450592" cy="5029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650" dirty="0">
                <a:solidFill>
                  <a:srgbClr val="C8D1D7"/>
                </a:solidFill>
                <a:latin typeface="Arial" pitchFamily="34" charset="0"/>
                <a:ea typeface="Arial" pitchFamily="34" charset="-122"/>
                <a:cs typeface="Arial" pitchFamily="34" charset="-120"/>
              </a:rPr>
              <a:t>Support the dealer</a:t>
            </a:r>
            <a:endParaRPr lang="en-US" sz="1650" dirty="0"/>
          </a:p>
          <a:p>
            <a:pPr algn="l" indent="0" marL="0">
              <a:buNone/>
            </a:pPr>
            <a:r>
              <a:rPr lang="en-US" sz="1650" dirty="0">
                <a:solidFill>
                  <a:srgbClr val="C8D1D7"/>
                </a:solidFill>
                <a:latin typeface="Arial" pitchFamily="34" charset="0"/>
                <a:ea typeface="Arial" pitchFamily="34" charset="-122"/>
                <a:cs typeface="Arial" pitchFamily="34" charset="-120"/>
              </a:rPr>
              <a:t>with viable terms.</a:t>
            </a:r>
            <a:endParaRPr lang="en-US" sz="1650" dirty="0"/>
          </a:p>
        </p:txBody>
      </p:sp>
      <p:sp>
        <p:nvSpPr>
          <p:cNvPr id="21" name="Shape 17"/>
          <p:cNvSpPr/>
          <p:nvPr/>
        </p:nvSpPr>
        <p:spPr>
          <a:xfrm>
            <a:off x="6272784" y="2679192"/>
            <a:ext cx="905256" cy="905256"/>
          </a:xfrm>
          <a:prstGeom prst="ellipse">
            <a:avLst/>
          </a:prstGeom>
          <a:solidFill>
            <a:srgbClr val="263743"/>
          </a:solidFill>
          <a:ln w="12700">
            <a:solidFill>
              <a:srgbClr val="263743">
                <a:alpha val="0"/>
              </a:srgbClr>
            </a:solidFill>
            <a:prstDash val="solid"/>
          </a:ln>
        </p:spPr>
      </p:sp>
      <p:pic>
        <p:nvPicPr>
          <p:cNvPr id="22" name="Image 2" descr="Presentation pictogram">    </p:cNvPr>
          <p:cNvPicPr>
            <a:picLocks noChangeAspect="1"/>
          </p:cNvPicPr>
          <p:nvPr/>
        </p:nvPicPr>
        <p:blipFill>
          <a:blip r:embed="rId3"/>
          <a:stretch>
            <a:fillRect/>
          </a:stretch>
        </p:blipFill>
        <p:spPr>
          <a:xfrm>
            <a:off x="6480993" y="2887401"/>
            <a:ext cx="488838" cy="488838"/>
          </a:xfrm>
          <a:prstGeom prst="rect">
            <a:avLst/>
          </a:prstGeom>
        </p:spPr>
      </p:pic>
      <p:sp>
        <p:nvSpPr>
          <p:cNvPr id="23" name="Shape 18"/>
          <p:cNvSpPr/>
          <p:nvPr/>
        </p:nvSpPr>
        <p:spPr>
          <a:xfrm>
            <a:off x="7397496" y="3136392"/>
            <a:ext cx="1463040" cy="0"/>
          </a:xfrm>
          <a:prstGeom prst="line">
            <a:avLst/>
          </a:prstGeom>
          <a:solidFill>
            <a:srgbClr val="FFFFFF">
              <a:alpha val="0"/>
            </a:srgbClr>
          </a:solidFill>
          <a:ln w="25400">
            <a:solidFill>
              <a:srgbClr val="ED0016"/>
            </a:solidFill>
            <a:prstDash val="solid"/>
            <a:tailEnd type="triangle"/>
          </a:ln>
        </p:spPr>
      </p:sp>
      <p:sp>
        <p:nvSpPr>
          <p:cNvPr id="24" name="Text 19"/>
          <p:cNvSpPr txBox="1"/>
          <p:nvPr/>
        </p:nvSpPr>
        <p:spPr>
          <a:xfrm>
            <a:off x="6272784" y="3886200"/>
            <a:ext cx="2450592" cy="43891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700" b="1" dirty="0">
                <a:solidFill>
                  <a:srgbClr val="FFFFFF"/>
                </a:solidFill>
                <a:latin typeface="Arial" pitchFamily="34" charset="0"/>
                <a:ea typeface="Arial" pitchFamily="34" charset="-122"/>
                <a:cs typeface="Arial" pitchFamily="34" charset="-120"/>
              </a:rPr>
              <a:t>Dealer</a:t>
            </a:r>
            <a:endParaRPr lang="en-US" sz="2700" dirty="0"/>
          </a:p>
        </p:txBody>
      </p:sp>
      <p:sp>
        <p:nvSpPr>
          <p:cNvPr id="25" name="Text 20"/>
          <p:cNvSpPr txBox="1"/>
          <p:nvPr/>
        </p:nvSpPr>
        <p:spPr>
          <a:xfrm>
            <a:off x="6272784" y="4517136"/>
            <a:ext cx="2450592" cy="31089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620" b="1" dirty="0">
                <a:solidFill>
                  <a:srgbClr val="FFFFFF"/>
                </a:solidFill>
                <a:latin typeface="Arial" pitchFamily="34" charset="0"/>
                <a:ea typeface="Arial" pitchFamily="34" charset="-122"/>
                <a:cs typeface="Arial" pitchFamily="34" charset="-120"/>
              </a:rPr>
              <a:t>Maintenance offer</a:t>
            </a:r>
            <a:endParaRPr lang="en-US" sz="1620" dirty="0"/>
          </a:p>
        </p:txBody>
      </p:sp>
      <p:sp>
        <p:nvSpPr>
          <p:cNvPr id="26" name="Text 21"/>
          <p:cNvSpPr txBox="1"/>
          <p:nvPr/>
        </p:nvSpPr>
        <p:spPr>
          <a:xfrm>
            <a:off x="6272784" y="4892040"/>
            <a:ext cx="2450592" cy="5029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650" dirty="0">
                <a:solidFill>
                  <a:srgbClr val="C8D1D7"/>
                </a:solidFill>
                <a:latin typeface="Arial" pitchFamily="34" charset="0"/>
                <a:ea typeface="Arial" pitchFamily="34" charset="-122"/>
                <a:cs typeface="Arial" pitchFamily="34" charset="-120"/>
              </a:rPr>
              <a:t>Compete for the account</a:t>
            </a:r>
            <a:endParaRPr lang="en-US" sz="1650" dirty="0"/>
          </a:p>
          <a:p>
            <a:pPr algn="l" indent="0" marL="0">
              <a:buNone/>
            </a:pPr>
            <a:r>
              <a:rPr lang="en-US" sz="1650" dirty="0">
                <a:solidFill>
                  <a:srgbClr val="C8D1D7"/>
                </a:solidFill>
                <a:latin typeface="Arial" pitchFamily="34" charset="0"/>
                <a:ea typeface="Arial" pitchFamily="34" charset="-122"/>
                <a:cs typeface="Arial" pitchFamily="34" charset="-120"/>
              </a:rPr>
              <a:t>and supply the work.</a:t>
            </a:r>
            <a:endParaRPr lang="en-US" sz="1650" dirty="0"/>
          </a:p>
        </p:txBody>
      </p:sp>
      <p:sp>
        <p:nvSpPr>
          <p:cNvPr id="27" name="Shape 22"/>
          <p:cNvSpPr/>
          <p:nvPr/>
        </p:nvSpPr>
        <p:spPr>
          <a:xfrm>
            <a:off x="9144000" y="2679192"/>
            <a:ext cx="905256" cy="905256"/>
          </a:xfrm>
          <a:prstGeom prst="ellipse">
            <a:avLst/>
          </a:prstGeom>
          <a:solidFill>
            <a:srgbClr val="263743"/>
          </a:solidFill>
          <a:ln w="12700">
            <a:solidFill>
              <a:srgbClr val="263743">
                <a:alpha val="0"/>
              </a:srgbClr>
            </a:solidFill>
            <a:prstDash val="solid"/>
          </a:ln>
        </p:spPr>
      </p:sp>
      <p:pic>
        <p:nvPicPr>
          <p:cNvPr id="28" name="Image 3" descr="Presentation pictogram">    </p:cNvPr>
          <p:cNvPicPr>
            <a:picLocks noChangeAspect="1"/>
          </p:cNvPicPr>
          <p:nvPr/>
        </p:nvPicPr>
        <p:blipFill>
          <a:blip r:embed="rId4"/>
          <a:stretch>
            <a:fillRect/>
          </a:stretch>
        </p:blipFill>
        <p:spPr>
          <a:xfrm>
            <a:off x="9352209" y="2887401"/>
            <a:ext cx="488838" cy="488838"/>
          </a:xfrm>
          <a:prstGeom prst="rect">
            <a:avLst/>
          </a:prstGeom>
        </p:spPr>
      </p:pic>
      <p:sp>
        <p:nvSpPr>
          <p:cNvPr id="29" name="Text 23"/>
          <p:cNvSpPr txBox="1"/>
          <p:nvPr/>
        </p:nvSpPr>
        <p:spPr>
          <a:xfrm>
            <a:off x="9144000" y="3886200"/>
            <a:ext cx="2450592" cy="43891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700" b="1" dirty="0">
                <a:solidFill>
                  <a:srgbClr val="FFFFFF"/>
                </a:solidFill>
                <a:latin typeface="Arial" pitchFamily="34" charset="0"/>
                <a:ea typeface="Arial" pitchFamily="34" charset="-122"/>
                <a:cs typeface="Arial" pitchFamily="34" charset="-120"/>
              </a:rPr>
              <a:t>Operator</a:t>
            </a:r>
            <a:endParaRPr lang="en-US" sz="2700" dirty="0"/>
          </a:p>
        </p:txBody>
      </p:sp>
      <p:sp>
        <p:nvSpPr>
          <p:cNvPr id="30" name="Text 24"/>
          <p:cNvSpPr txBox="1"/>
          <p:nvPr/>
        </p:nvSpPr>
        <p:spPr>
          <a:xfrm>
            <a:off x="9144000" y="4517136"/>
            <a:ext cx="2450592" cy="31089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620" b="1" dirty="0">
                <a:solidFill>
                  <a:srgbClr val="FFFFFF"/>
                </a:solidFill>
                <a:latin typeface="Arial" pitchFamily="34" charset="0"/>
                <a:ea typeface="Arial" pitchFamily="34" charset="-122"/>
                <a:cs typeface="Arial" pitchFamily="34" charset="-120"/>
              </a:rPr>
              <a:t>Repeat relationship</a:t>
            </a:r>
            <a:endParaRPr lang="en-US" sz="1620" dirty="0"/>
          </a:p>
        </p:txBody>
      </p:sp>
      <p:sp>
        <p:nvSpPr>
          <p:cNvPr id="31" name="Text 25"/>
          <p:cNvSpPr txBox="1"/>
          <p:nvPr/>
        </p:nvSpPr>
        <p:spPr>
          <a:xfrm>
            <a:off x="9144000" y="4892040"/>
            <a:ext cx="2450592" cy="5029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650" dirty="0">
                <a:solidFill>
                  <a:srgbClr val="C8D1D7"/>
                </a:solidFill>
                <a:latin typeface="Arial" pitchFamily="34" charset="0"/>
                <a:ea typeface="Arial" pitchFamily="34" charset="-122"/>
                <a:cs typeface="Arial" pitchFamily="34" charset="-120"/>
              </a:rPr>
              <a:t>Choose a viable offer</a:t>
            </a:r>
            <a:endParaRPr lang="en-US" sz="1650" dirty="0"/>
          </a:p>
          <a:p>
            <a:pPr algn="l" indent="0" marL="0">
              <a:buNone/>
            </a:pPr>
            <a:r>
              <a:rPr lang="en-US" sz="1650" dirty="0">
                <a:solidFill>
                  <a:srgbClr val="C8D1D7"/>
                </a:solidFill>
                <a:latin typeface="Arial" pitchFamily="34" charset="0"/>
                <a:ea typeface="Arial" pitchFamily="34" charset="-122"/>
                <a:cs typeface="Arial" pitchFamily="34" charset="-120"/>
              </a:rPr>
              <a:t>and return for work.</a:t>
            </a:r>
            <a:endParaRPr lang="en-US" sz="1650" dirty="0"/>
          </a:p>
        </p:txBody>
      </p:sp>
      <p:sp>
        <p:nvSpPr>
          <p:cNvPr id="32" name="Shape 26"/>
          <p:cNvSpPr/>
          <p:nvPr/>
        </p:nvSpPr>
        <p:spPr>
          <a:xfrm>
            <a:off x="530352" y="5870448"/>
            <a:ext cx="50292" cy="338328"/>
          </a:xfrm>
          <a:prstGeom prst="rect">
            <a:avLst/>
          </a:prstGeom>
          <a:solidFill>
            <a:srgbClr val="ED0016"/>
          </a:solidFill>
          <a:ln w="12700">
            <a:solidFill>
              <a:srgbClr val="ED0016">
                <a:alpha val="0"/>
              </a:srgbClr>
            </a:solidFill>
            <a:prstDash val="solid"/>
          </a:ln>
        </p:spPr>
      </p:sp>
      <p:sp>
        <p:nvSpPr>
          <p:cNvPr id="33" name="Text 27"/>
          <p:cNvSpPr txBox="1"/>
          <p:nvPr/>
        </p:nvSpPr>
        <p:spPr>
          <a:xfrm>
            <a:off x="694944" y="5865876"/>
            <a:ext cx="10966704" cy="36576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920" b="1" dirty="0">
                <a:solidFill>
                  <a:srgbClr val="FFFFFF"/>
                </a:solidFill>
                <a:latin typeface="Arial" pitchFamily="34" charset="0"/>
                <a:ea typeface="Arial" pitchFamily="34" charset="-122"/>
                <a:cs typeface="Arial" pitchFamily="34" charset="-120"/>
              </a:rPr>
              <a:t>Supply more of the parts used within the maintenance relationship.</a:t>
            </a:r>
            <a:endParaRPr lang="en-US" sz="1920" dirty="0"/>
          </a:p>
        </p:txBody>
      </p:sp>
      <p:sp>
        <p:nvSpPr>
          <p:cNvPr id="35" name="Shape 28"/>
          <p:cNvSpPr/>
          <p:nvPr/>
        </p:nvSpPr>
        <p:spPr>
          <a:xfrm>
            <a:off x="923544" y="5605272"/>
            <a:ext cx="10140696" cy="0"/>
          </a:xfrm>
          <a:prstGeom prst="line">
            <a:avLst/>
          </a:prstGeom>
          <a:noFill/>
          <a:ln w="13335">
            <a:solidFill>
              <a:srgbClr val="647781"/>
            </a:solidFill>
            <a:prstDash val="solid"/>
            <a:headEnd type="triangle"/>
          </a:ln>
        </p:spPr>
      </p:sp>
      <p:sp>
        <p:nvSpPr>
          <p:cNvPr id="36" name="Shape 29"/>
          <p:cNvSpPr/>
          <p:nvPr/>
        </p:nvSpPr>
        <p:spPr>
          <a:xfrm>
            <a:off x="2798064" y="5472684"/>
            <a:ext cx="6620256" cy="265176"/>
          </a:xfrm>
          <a:prstGeom prst="rect">
            <a:avLst/>
          </a:prstGeom>
          <a:solidFill>
            <a:srgbClr val="17232C"/>
          </a:solidFill>
          <a:ln w="12700">
            <a:solidFill>
              <a:srgbClr val="17232C">
                <a:alpha val="0"/>
              </a:srgbClr>
            </a:solidFill>
            <a:prstDash val="solid"/>
          </a:ln>
        </p:spPr>
      </p:sp>
      <p:sp>
        <p:nvSpPr>
          <p:cNvPr id="37" name="Text 30"/>
          <p:cNvSpPr/>
          <p:nvPr/>
        </p:nvSpPr>
        <p:spPr>
          <a:xfrm>
            <a:off x="2852928" y="5500116"/>
            <a:ext cx="6510528" cy="201168"/>
          </a:xfrm>
          <a:prstGeom prst="rect">
            <a:avLst/>
          </a:prstGeom>
          <a:noFill/>
          <a:ln/>
        </p:spPr>
        <p:txBody>
          <a:bodyPr wrap="square" lIns="0" tIns="0" rIns="0" bIns="0" rtlCol="0" anchor="ctr"/>
          <a:lstStyle/>
          <a:p>
            <a:pPr algn="ctr" indent="0" marL="0">
              <a:buNone/>
            </a:pPr>
            <a:r>
              <a:rPr lang="en-US" sz="1110" b="1" dirty="0">
                <a:solidFill>
                  <a:srgbClr val="C8D1D7"/>
                </a:solidFill>
                <a:latin typeface="Arial" pitchFamily="34" charset="0"/>
                <a:ea typeface="Arial" pitchFamily="34" charset="-122"/>
                <a:cs typeface="Arial" pitchFamily="34" charset="-120"/>
              </a:rPr>
              <a:t>Repeat work  •  Broader parts purchases  •  Repeat ISZE orders</a:t>
            </a:r>
            <a:endParaRPr lang="en-US" sz="1110" dirty="0"/>
          </a:p>
        </p:txBody>
      </p:sp>
    </p:spTree>
  </p:cSld>
  <p:clrMapOvr>
    <a:masterClrMapping/>
  </p:clrMapOvr>
  <p:transition spd="fast" advClick="1">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30352" y="301752"/>
            <a:ext cx="950976"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000" b="1" dirty="0">
                <a:solidFill>
                  <a:srgbClr val="ED0016"/>
                </a:solidFill>
                <a:latin typeface="Arial" pitchFamily="34" charset="0"/>
                <a:ea typeface="Arial" pitchFamily="34" charset="-122"/>
                <a:cs typeface="Arial" pitchFamily="34" charset="-120"/>
              </a:rPr>
              <a:t>ISUZU</a:t>
            </a:r>
            <a:endParaRPr lang="en-US" sz="2000" dirty="0"/>
          </a:p>
        </p:txBody>
      </p:sp>
      <p:sp>
        <p:nvSpPr>
          <p:cNvPr id="3" name="Text 1"/>
          <p:cNvSpPr txBox="1"/>
          <p:nvPr/>
        </p:nvSpPr>
        <p:spPr>
          <a:xfrm>
            <a:off x="1856232" y="347472"/>
            <a:ext cx="9418320" cy="16459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980" b="1" spc="145" kern="0" dirty="0">
                <a:solidFill>
                  <a:srgbClr val="687782"/>
                </a:solidFill>
                <a:latin typeface="Arial" pitchFamily="34" charset="0"/>
                <a:ea typeface="Arial" pitchFamily="34" charset="-122"/>
                <a:cs typeface="Arial" pitchFamily="34" charset="-120"/>
              </a:rPr>
              <a:t>ISRAEL | COLLISION AND INSURANCE</a:t>
            </a:r>
            <a:endParaRPr lang="en-US" sz="980" dirty="0"/>
          </a:p>
        </p:txBody>
      </p:sp>
      <p:sp>
        <p:nvSpPr>
          <p:cNvPr id="4" name="Text 2"/>
          <p:cNvSpPr txBox="1"/>
          <p:nvPr/>
        </p:nvSpPr>
        <p:spPr>
          <a:xfrm>
            <a:off x="530352" y="960120"/>
            <a:ext cx="11131296" cy="76809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3020" b="1" dirty="0">
                <a:solidFill>
                  <a:srgbClr val="17232C"/>
                </a:solidFill>
                <a:latin typeface="Arial" pitchFamily="34" charset="0"/>
                <a:ea typeface="Arial" pitchFamily="34" charset="-122"/>
                <a:cs typeface="Arial" pitchFamily="34" charset="-120"/>
              </a:rPr>
              <a:t>Protect the repair order, not only the lamp margin.</a:t>
            </a:r>
            <a:endParaRPr lang="en-US" sz="3020" dirty="0"/>
          </a:p>
        </p:txBody>
      </p:sp>
      <p:sp>
        <p:nvSpPr>
          <p:cNvPr id="5" name="Text 3"/>
          <p:cNvSpPr txBox="1"/>
          <p:nvPr/>
        </p:nvSpPr>
        <p:spPr>
          <a:xfrm>
            <a:off x="530352" y="1783080"/>
            <a:ext cx="11131296" cy="46634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630" dirty="0">
                <a:solidFill>
                  <a:srgbClr val="687782"/>
                </a:solidFill>
                <a:latin typeface="Arial" pitchFamily="34" charset="0"/>
                <a:ea typeface="Arial" pitchFamily="34" charset="-122"/>
                <a:cs typeface="Arial" pitchFamily="34" charset="-120"/>
              </a:rPr>
              <a:t>UTI, Israel trucks. Selected component support should improve the complete genuine-parts quotation.</a:t>
            </a:r>
            <a:endParaRPr lang="en-US" sz="1630" dirty="0"/>
          </a:p>
        </p:txBody>
      </p:sp>
      <p:sp>
        <p:nvSpPr>
          <p:cNvPr id="6" name="Shape 4"/>
          <p:cNvSpPr/>
          <p:nvPr/>
        </p:nvSpPr>
        <p:spPr>
          <a:xfrm>
            <a:off x="530352" y="6382512"/>
            <a:ext cx="11131296" cy="0"/>
          </a:xfrm>
          <a:prstGeom prst="line">
            <a:avLst/>
          </a:prstGeom>
          <a:solidFill>
            <a:srgbClr val="FFFFFF">
              <a:alpha val="0"/>
            </a:srgbClr>
          </a:solidFill>
          <a:ln w="8890">
            <a:solidFill>
              <a:srgbClr val="DCE3E8"/>
            </a:solidFill>
            <a:prstDash val="solid"/>
          </a:ln>
        </p:spPr>
      </p:sp>
      <p:sp>
        <p:nvSpPr>
          <p:cNvPr id="7" name="Text 5"/>
          <p:cNvSpPr txBox="1"/>
          <p:nvPr/>
        </p:nvSpPr>
        <p:spPr>
          <a:xfrm>
            <a:off x="530352" y="6483096"/>
            <a:ext cx="10216896" cy="16459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810" dirty="0">
                <a:solidFill>
                  <a:srgbClr val="687782"/>
                </a:solidFill>
                <a:latin typeface="Arial" pitchFamily="34" charset="0"/>
                <a:ea typeface="Arial" pitchFamily="34" charset="-122"/>
                <a:cs typeface="Arial" pitchFamily="34" charset="-120"/>
              </a:rPr>
              <a:t>Source: Pricing Master and management policy. Detailed basis in speaker notes.</a:t>
            </a:r>
            <a:endParaRPr lang="en-US" sz="810" dirty="0"/>
          </a:p>
        </p:txBody>
      </p:sp>
      <p:sp>
        <p:nvSpPr>
          <p:cNvPr id="8" name="Text 6"/>
          <p:cNvSpPr txBox="1"/>
          <p:nvPr/>
        </p:nvSpPr>
        <p:spPr>
          <a:xfrm>
            <a:off x="10856976" y="6469380"/>
            <a:ext cx="804672" cy="21031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r" indent="0" marL="0">
              <a:buNone/>
            </a:pPr>
            <a:r>
              <a:rPr lang="en-US" sz="910" dirty="0">
                <a:solidFill>
                  <a:srgbClr val="687782"/>
                </a:solidFill>
                <a:latin typeface="Arial" pitchFamily="34" charset="0"/>
                <a:ea typeface="Arial" pitchFamily="34" charset="-122"/>
                <a:cs typeface="Arial" pitchFamily="34" charset="-120"/>
              </a:rPr>
              <a:t>v1.4  |  15</a:t>
            </a:r>
            <a:endParaRPr lang="en-US" sz="910" dirty="0"/>
          </a:p>
        </p:txBody>
      </p:sp>
      <p:pic>
        <p:nvPicPr>
          <p:cNvPr id="9" name="Image 0" descr="Presentation pictogram">    </p:cNvPr>
          <p:cNvPicPr>
            <a:picLocks noChangeAspect="1"/>
          </p:cNvPicPr>
          <p:nvPr/>
        </p:nvPicPr>
        <p:blipFill>
          <a:blip r:embed="rId1"/>
          <a:stretch>
            <a:fillRect/>
          </a:stretch>
        </p:blipFill>
        <p:spPr>
          <a:xfrm>
            <a:off x="532419" y="2450592"/>
            <a:ext cx="3680899" cy="2871216"/>
          </a:xfrm>
          <a:prstGeom prst="rect">
            <a:avLst/>
          </a:prstGeom>
        </p:spPr>
      </p:pic>
      <p:sp>
        <p:nvSpPr>
          <p:cNvPr id="10" name="Shape 7"/>
          <p:cNvSpPr/>
          <p:nvPr/>
        </p:nvSpPr>
        <p:spPr>
          <a:xfrm>
            <a:off x="530352" y="5330952"/>
            <a:ext cx="3685032" cy="374904"/>
          </a:xfrm>
          <a:prstGeom prst="rect">
            <a:avLst/>
          </a:prstGeom>
          <a:solidFill>
            <a:srgbClr val="17232C"/>
          </a:solidFill>
          <a:ln w="12700">
            <a:solidFill>
              <a:srgbClr val="17232C">
                <a:alpha val="0"/>
              </a:srgbClr>
            </a:solidFill>
            <a:prstDash val="solid"/>
          </a:ln>
        </p:spPr>
      </p:sp>
      <p:sp>
        <p:nvSpPr>
          <p:cNvPr id="11" name="Text 8"/>
          <p:cNvSpPr txBox="1"/>
          <p:nvPr/>
        </p:nvSpPr>
        <p:spPr>
          <a:xfrm>
            <a:off x="667512" y="5431536"/>
            <a:ext cx="3410712" cy="18288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000" b="1" dirty="0">
                <a:solidFill>
                  <a:srgbClr val="FFFFFF"/>
                </a:solidFill>
                <a:latin typeface="Arial" pitchFamily="34" charset="0"/>
                <a:ea typeface="Arial" pitchFamily="34" charset="-122"/>
                <a:cs typeface="Arial" pitchFamily="34" charset="-120"/>
              </a:rPr>
              <a:t>LAMPS + BODYWORK + REPAIR PACKAGE</a:t>
            </a:r>
            <a:endParaRPr lang="en-US" sz="1000" dirty="0"/>
          </a:p>
        </p:txBody>
      </p:sp>
      <p:sp>
        <p:nvSpPr>
          <p:cNvPr id="12" name="Shape 9"/>
          <p:cNvSpPr/>
          <p:nvPr/>
        </p:nvSpPr>
        <p:spPr>
          <a:xfrm>
            <a:off x="4626864" y="2450592"/>
            <a:ext cx="7031736" cy="539496"/>
          </a:xfrm>
          <a:prstGeom prst="rect">
            <a:avLst/>
          </a:prstGeom>
          <a:solidFill>
            <a:srgbClr val="17232C"/>
          </a:solidFill>
          <a:ln w="12700">
            <a:solidFill>
              <a:srgbClr val="17232C">
                <a:alpha val="0"/>
              </a:srgbClr>
            </a:solidFill>
            <a:prstDash val="solid"/>
          </a:ln>
        </p:spPr>
      </p:sp>
      <p:pic>
        <p:nvPicPr>
          <p:cNvPr id="13" name="Image 1" descr="Presentation pictogram">    </p:cNvPr>
          <p:cNvPicPr>
            <a:picLocks noChangeAspect="1"/>
          </p:cNvPicPr>
          <p:nvPr/>
        </p:nvPicPr>
        <p:blipFill>
          <a:blip r:embed="rId2"/>
          <a:stretch>
            <a:fillRect/>
          </a:stretch>
        </p:blipFill>
        <p:spPr>
          <a:xfrm>
            <a:off x="4828032" y="2606040"/>
            <a:ext cx="228600" cy="228600"/>
          </a:xfrm>
          <a:prstGeom prst="rect">
            <a:avLst/>
          </a:prstGeom>
        </p:spPr>
      </p:pic>
      <p:sp>
        <p:nvSpPr>
          <p:cNvPr id="14" name="Text 10"/>
          <p:cNvSpPr txBox="1"/>
          <p:nvPr/>
        </p:nvSpPr>
        <p:spPr>
          <a:xfrm>
            <a:off x="5321808" y="2606040"/>
            <a:ext cx="5943600" cy="24688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800" b="1" dirty="0">
                <a:solidFill>
                  <a:srgbClr val="FFFFFF"/>
                </a:solidFill>
                <a:latin typeface="Arial" pitchFamily="34" charset="0"/>
                <a:ea typeface="Arial" pitchFamily="34" charset="-122"/>
                <a:cs typeface="Arial" pitchFamily="34" charset="-120"/>
              </a:rPr>
              <a:t>INSURER / REPAIRER QUOTATION</a:t>
            </a:r>
            <a:endParaRPr lang="en-US" sz="1800" dirty="0"/>
          </a:p>
        </p:txBody>
      </p:sp>
      <p:sp>
        <p:nvSpPr>
          <p:cNvPr id="15" name="Shape 11"/>
          <p:cNvSpPr/>
          <p:nvPr/>
        </p:nvSpPr>
        <p:spPr>
          <a:xfrm>
            <a:off x="4672584" y="3346704"/>
            <a:ext cx="630936" cy="630936"/>
          </a:xfrm>
          <a:prstGeom prst="ellipse">
            <a:avLst/>
          </a:prstGeom>
          <a:solidFill>
            <a:srgbClr val="FBEDEF"/>
          </a:solidFill>
          <a:ln w="12700">
            <a:solidFill>
              <a:srgbClr val="FBEDEF">
                <a:alpha val="0"/>
              </a:srgbClr>
            </a:solidFill>
            <a:prstDash val="solid"/>
          </a:ln>
        </p:spPr>
      </p:sp>
      <p:pic>
        <p:nvPicPr>
          <p:cNvPr id="16" name="Image 2" descr="Presentation pictogram">    </p:cNvPr>
          <p:cNvPicPr>
            <a:picLocks noChangeAspect="1"/>
          </p:cNvPicPr>
          <p:nvPr/>
        </p:nvPicPr>
        <p:blipFill>
          <a:blip r:embed="rId3"/>
          <a:stretch>
            <a:fillRect/>
          </a:stretch>
        </p:blipFill>
        <p:spPr>
          <a:xfrm>
            <a:off x="4817699" y="3491819"/>
            <a:ext cx="340705" cy="340705"/>
          </a:xfrm>
          <a:prstGeom prst="rect">
            <a:avLst/>
          </a:prstGeom>
        </p:spPr>
      </p:pic>
      <p:sp>
        <p:nvSpPr>
          <p:cNvPr id="17" name="Text 12"/>
          <p:cNvSpPr txBox="1"/>
          <p:nvPr/>
        </p:nvSpPr>
        <p:spPr>
          <a:xfrm>
            <a:off x="5532120" y="3319272"/>
            <a:ext cx="5888736" cy="32918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000" b="1" dirty="0">
                <a:solidFill>
                  <a:srgbClr val="17232C"/>
                </a:solidFill>
                <a:latin typeface="Arial" pitchFamily="34" charset="0"/>
                <a:ea typeface="Arial" pitchFamily="34" charset="-122"/>
                <a:cs typeface="Arial" pitchFamily="34" charset="-120"/>
              </a:rPr>
              <a:t>Uncompetitive repair package</a:t>
            </a:r>
            <a:endParaRPr lang="en-US" sz="2000" dirty="0"/>
          </a:p>
        </p:txBody>
      </p:sp>
      <p:sp>
        <p:nvSpPr>
          <p:cNvPr id="18" name="Text 13"/>
          <p:cNvSpPr txBox="1"/>
          <p:nvPr/>
        </p:nvSpPr>
        <p:spPr>
          <a:xfrm>
            <a:off x="5532120" y="3803904"/>
            <a:ext cx="5833872" cy="61264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720" dirty="0">
                <a:solidFill>
                  <a:srgbClr val="687782"/>
                </a:solidFill>
                <a:latin typeface="Arial" pitchFamily="34" charset="0"/>
                <a:ea typeface="Arial" pitchFamily="34" charset="-122"/>
                <a:cs typeface="Arial" pitchFamily="34" charset="-120"/>
              </a:rPr>
              <a:t>Alternative parts or an uneconomic repair</a:t>
            </a:r>
            <a:endParaRPr lang="en-US" sz="1720" dirty="0"/>
          </a:p>
          <a:p>
            <a:pPr algn="l" indent="0" marL="0">
              <a:buNone/>
            </a:pPr>
            <a:r>
              <a:rPr lang="en-US" sz="1720" dirty="0">
                <a:solidFill>
                  <a:srgbClr val="687782"/>
                </a:solidFill>
                <a:latin typeface="Arial" pitchFamily="34" charset="0"/>
                <a:ea typeface="Arial" pitchFamily="34" charset="-122"/>
                <a:cs typeface="Arial" pitchFamily="34" charset="-120"/>
              </a:rPr>
              <a:t>can put the complete genuine-parts order at risk.</a:t>
            </a:r>
            <a:endParaRPr lang="en-US" sz="1720" dirty="0"/>
          </a:p>
        </p:txBody>
      </p:sp>
      <p:sp>
        <p:nvSpPr>
          <p:cNvPr id="19" name="Shape 14"/>
          <p:cNvSpPr/>
          <p:nvPr/>
        </p:nvSpPr>
        <p:spPr>
          <a:xfrm>
            <a:off x="4672584" y="4626864"/>
            <a:ext cx="630936" cy="630936"/>
          </a:xfrm>
          <a:prstGeom prst="ellipse">
            <a:avLst/>
          </a:prstGeom>
          <a:solidFill>
            <a:srgbClr val="FBEDEF"/>
          </a:solidFill>
          <a:ln w="12700">
            <a:solidFill>
              <a:srgbClr val="FBEDEF">
                <a:alpha val="0"/>
              </a:srgbClr>
            </a:solidFill>
            <a:prstDash val="solid"/>
          </a:ln>
        </p:spPr>
      </p:sp>
      <p:pic>
        <p:nvPicPr>
          <p:cNvPr id="20" name="Image 3" descr="Presentation pictogram">    </p:cNvPr>
          <p:cNvPicPr>
            <a:picLocks noChangeAspect="1"/>
          </p:cNvPicPr>
          <p:nvPr/>
        </p:nvPicPr>
        <p:blipFill>
          <a:blip r:embed="rId4"/>
          <a:stretch>
            <a:fillRect/>
          </a:stretch>
        </p:blipFill>
        <p:spPr>
          <a:xfrm>
            <a:off x="4817699" y="4771979"/>
            <a:ext cx="340705" cy="340705"/>
          </a:xfrm>
          <a:prstGeom prst="rect">
            <a:avLst/>
          </a:prstGeom>
        </p:spPr>
      </p:pic>
      <p:sp>
        <p:nvSpPr>
          <p:cNvPr id="21" name="Text 15"/>
          <p:cNvSpPr txBox="1"/>
          <p:nvPr/>
        </p:nvSpPr>
        <p:spPr>
          <a:xfrm>
            <a:off x="5532120" y="4599432"/>
            <a:ext cx="5888736" cy="32918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000" b="1" dirty="0">
                <a:solidFill>
                  <a:srgbClr val="17232C"/>
                </a:solidFill>
                <a:latin typeface="Arial" pitchFamily="34" charset="0"/>
                <a:ea typeface="Arial" pitchFamily="34" charset="-122"/>
                <a:cs typeface="Arial" pitchFamily="34" charset="-120"/>
              </a:rPr>
              <a:t>Targeted support where it matters</a:t>
            </a:r>
            <a:endParaRPr lang="en-US" sz="2000" dirty="0"/>
          </a:p>
        </p:txBody>
      </p:sp>
      <p:sp>
        <p:nvSpPr>
          <p:cNvPr id="22" name="Text 16"/>
          <p:cNvSpPr txBox="1"/>
          <p:nvPr/>
        </p:nvSpPr>
        <p:spPr>
          <a:xfrm>
            <a:off x="5532120" y="5084064"/>
            <a:ext cx="5833872" cy="57607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720" dirty="0">
                <a:solidFill>
                  <a:srgbClr val="687782"/>
                </a:solidFill>
                <a:latin typeface="Arial" pitchFamily="34" charset="0"/>
                <a:ea typeface="Arial" pitchFamily="34" charset="-122"/>
                <a:cs typeface="Arial" pitchFamily="34" charset="-120"/>
              </a:rPr>
              <a:t>Give UTI room to retain a viable</a:t>
            </a:r>
            <a:endParaRPr lang="en-US" sz="1720" dirty="0"/>
          </a:p>
          <a:p>
            <a:pPr algn="l" indent="0" marL="0">
              <a:buNone/>
            </a:pPr>
            <a:r>
              <a:rPr lang="en-US" sz="1720" dirty="0">
                <a:solidFill>
                  <a:srgbClr val="687782"/>
                </a:solidFill>
                <a:latin typeface="Arial" pitchFamily="34" charset="0"/>
                <a:ea typeface="Arial" pitchFamily="34" charset="-122"/>
                <a:cs typeface="Arial" pitchFamily="34" charset="-120"/>
              </a:rPr>
              <a:t>complete genuine-parts repair offer.</a:t>
            </a:r>
            <a:endParaRPr lang="en-US" sz="1720" dirty="0"/>
          </a:p>
        </p:txBody>
      </p:sp>
      <p:sp>
        <p:nvSpPr>
          <p:cNvPr id="23" name="Shape 17"/>
          <p:cNvSpPr/>
          <p:nvPr/>
        </p:nvSpPr>
        <p:spPr>
          <a:xfrm>
            <a:off x="530352" y="5870448"/>
            <a:ext cx="50292" cy="338328"/>
          </a:xfrm>
          <a:prstGeom prst="rect">
            <a:avLst/>
          </a:prstGeom>
          <a:solidFill>
            <a:srgbClr val="ED0016"/>
          </a:solidFill>
          <a:ln w="12700">
            <a:solidFill>
              <a:srgbClr val="ED0016">
                <a:alpha val="0"/>
              </a:srgbClr>
            </a:solidFill>
            <a:prstDash val="solid"/>
          </a:ln>
        </p:spPr>
      </p:sp>
      <p:sp>
        <p:nvSpPr>
          <p:cNvPr id="24" name="Text 18"/>
          <p:cNvSpPr txBox="1"/>
          <p:nvPr/>
        </p:nvSpPr>
        <p:spPr>
          <a:xfrm>
            <a:off x="694944" y="5865876"/>
            <a:ext cx="10966704" cy="36576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920" b="1" dirty="0">
                <a:solidFill>
                  <a:srgbClr val="17232C"/>
                </a:solidFill>
                <a:latin typeface="Arial" pitchFamily="34" charset="0"/>
                <a:ea typeface="Arial" pitchFamily="34" charset="-122"/>
                <a:cs typeface="Arial" pitchFamily="34" charset="-120"/>
              </a:rPr>
              <a:t>The benefit must reach the repair quotation to influence the outcome.</a:t>
            </a:r>
            <a:endParaRPr lang="en-US" sz="1920" dirty="0"/>
          </a:p>
        </p:txBody>
      </p:sp>
    </p:spTree>
  </p:cSld>
  <p:clrMapOvr>
    <a:masterClrMapping/>
  </p:clrMapOvr>
  <p:transition spd="fast" advClick="1">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30352" y="301752"/>
            <a:ext cx="950976"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000" b="1" dirty="0">
                <a:solidFill>
                  <a:srgbClr val="ED0016"/>
                </a:solidFill>
                <a:latin typeface="Arial" pitchFamily="34" charset="0"/>
                <a:ea typeface="Arial" pitchFamily="34" charset="-122"/>
                <a:cs typeface="Arial" pitchFamily="34" charset="-120"/>
              </a:rPr>
              <a:t>ISUZU</a:t>
            </a:r>
            <a:endParaRPr lang="en-US" sz="2000" dirty="0"/>
          </a:p>
        </p:txBody>
      </p:sp>
      <p:sp>
        <p:nvSpPr>
          <p:cNvPr id="3" name="Text 1"/>
          <p:cNvSpPr txBox="1"/>
          <p:nvPr/>
        </p:nvSpPr>
        <p:spPr>
          <a:xfrm>
            <a:off x="1856232" y="347472"/>
            <a:ext cx="9418320" cy="16459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980" b="1" spc="145" kern="0" dirty="0">
                <a:solidFill>
                  <a:srgbClr val="687782"/>
                </a:solidFill>
                <a:latin typeface="Arial" pitchFamily="34" charset="0"/>
                <a:ea typeface="Arial" pitchFamily="34" charset="-122"/>
                <a:cs typeface="Arial" pitchFamily="34" charset="-120"/>
              </a:rPr>
              <a:t>BATTERY PRICING | AN INTERNAL PRECEDENT</a:t>
            </a:r>
            <a:endParaRPr lang="en-US" sz="980" dirty="0"/>
          </a:p>
        </p:txBody>
      </p:sp>
      <p:sp>
        <p:nvSpPr>
          <p:cNvPr id="4" name="Text 2"/>
          <p:cNvSpPr txBox="1"/>
          <p:nvPr/>
        </p:nvSpPr>
        <p:spPr>
          <a:xfrm>
            <a:off x="530352" y="960120"/>
            <a:ext cx="11131296" cy="76809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3020" b="1" dirty="0">
                <a:solidFill>
                  <a:srgbClr val="17232C"/>
                </a:solidFill>
                <a:latin typeface="Arial" pitchFamily="34" charset="0"/>
                <a:ea typeface="Arial" pitchFamily="34" charset="-122"/>
                <a:cs typeface="Arial" pitchFamily="34" charset="-120"/>
              </a:rPr>
              <a:t>A component exception can support the wider vehicle offer.</a:t>
            </a:r>
            <a:endParaRPr lang="en-US" sz="3020" dirty="0"/>
          </a:p>
        </p:txBody>
      </p:sp>
      <p:sp>
        <p:nvSpPr>
          <p:cNvPr id="5" name="Text 3"/>
          <p:cNvSpPr txBox="1"/>
          <p:nvPr/>
        </p:nvSpPr>
        <p:spPr>
          <a:xfrm>
            <a:off x="530352" y="1783080"/>
            <a:ext cx="11131296" cy="46634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630" dirty="0">
                <a:solidFill>
                  <a:srgbClr val="687782"/>
                </a:solidFill>
                <a:latin typeface="Arial" pitchFamily="34" charset="0"/>
                <a:ea typeface="Arial" pitchFamily="34" charset="-122"/>
                <a:cs typeface="Arial" pitchFamily="34" charset="-120"/>
              </a:rPr>
              <a:t>Battery-electric vehicle (BEV): management-reported response to an insurance-cost concern.</a:t>
            </a:r>
            <a:endParaRPr lang="en-US" sz="1630" dirty="0"/>
          </a:p>
        </p:txBody>
      </p:sp>
      <p:sp>
        <p:nvSpPr>
          <p:cNvPr id="6" name="Shape 4"/>
          <p:cNvSpPr/>
          <p:nvPr/>
        </p:nvSpPr>
        <p:spPr>
          <a:xfrm>
            <a:off x="530352" y="6382512"/>
            <a:ext cx="11131296" cy="0"/>
          </a:xfrm>
          <a:prstGeom prst="line">
            <a:avLst/>
          </a:prstGeom>
          <a:solidFill>
            <a:srgbClr val="FFFFFF">
              <a:alpha val="0"/>
            </a:srgbClr>
          </a:solidFill>
          <a:ln w="8890">
            <a:solidFill>
              <a:srgbClr val="DCE3E8"/>
            </a:solidFill>
            <a:prstDash val="solid"/>
          </a:ln>
        </p:spPr>
      </p:sp>
      <p:sp>
        <p:nvSpPr>
          <p:cNvPr id="7" name="Text 5"/>
          <p:cNvSpPr txBox="1"/>
          <p:nvPr/>
        </p:nvSpPr>
        <p:spPr>
          <a:xfrm>
            <a:off x="530352" y="6483096"/>
            <a:ext cx="10216896" cy="16459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810" dirty="0">
                <a:solidFill>
                  <a:srgbClr val="687782"/>
                </a:solidFill>
                <a:latin typeface="Arial" pitchFamily="34" charset="0"/>
                <a:ea typeface="Arial" pitchFamily="34" charset="-122"/>
                <a:cs typeface="Arial" pitchFamily="34" charset="-120"/>
              </a:rPr>
              <a:t>Source: management-reported battery decision. Model, timing and margin cost basis to confirm.</a:t>
            </a:r>
            <a:endParaRPr lang="en-US" sz="810" dirty="0"/>
          </a:p>
        </p:txBody>
      </p:sp>
      <p:sp>
        <p:nvSpPr>
          <p:cNvPr id="8" name="Text 6"/>
          <p:cNvSpPr txBox="1"/>
          <p:nvPr/>
        </p:nvSpPr>
        <p:spPr>
          <a:xfrm>
            <a:off x="10856976" y="6469380"/>
            <a:ext cx="804672" cy="21031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r" indent="0" marL="0">
              <a:buNone/>
            </a:pPr>
            <a:r>
              <a:rPr lang="en-US" sz="910" dirty="0">
                <a:solidFill>
                  <a:srgbClr val="687782"/>
                </a:solidFill>
                <a:latin typeface="Arial" pitchFamily="34" charset="0"/>
                <a:ea typeface="Arial" pitchFamily="34" charset="-122"/>
                <a:cs typeface="Arial" pitchFamily="34" charset="-120"/>
              </a:rPr>
              <a:t>v1.4  |  16</a:t>
            </a:r>
            <a:endParaRPr lang="en-US" sz="910" dirty="0"/>
          </a:p>
        </p:txBody>
      </p:sp>
      <p:sp>
        <p:nvSpPr>
          <p:cNvPr id="9" name="Shape 7"/>
          <p:cNvSpPr/>
          <p:nvPr/>
        </p:nvSpPr>
        <p:spPr>
          <a:xfrm>
            <a:off x="530352" y="2505456"/>
            <a:ext cx="4160520" cy="3099816"/>
          </a:xfrm>
          <a:prstGeom prst="rect">
            <a:avLst/>
          </a:prstGeom>
          <a:solidFill>
            <a:srgbClr val="17232C"/>
          </a:solidFill>
          <a:ln w="12700">
            <a:solidFill>
              <a:srgbClr val="17232C">
                <a:alpha val="0"/>
              </a:srgbClr>
            </a:solidFill>
            <a:prstDash val="solid"/>
          </a:ln>
        </p:spPr>
      </p:sp>
      <p:pic>
        <p:nvPicPr>
          <p:cNvPr id="10" name="Image 0" descr="Presentation pictogram">    </p:cNvPr>
          <p:cNvPicPr>
            <a:picLocks noChangeAspect="1"/>
          </p:cNvPicPr>
          <p:nvPr/>
        </p:nvPicPr>
        <p:blipFill>
          <a:blip r:embed="rId1"/>
          <a:stretch>
            <a:fillRect/>
          </a:stretch>
        </p:blipFill>
        <p:spPr>
          <a:xfrm>
            <a:off x="982980" y="2743200"/>
            <a:ext cx="786384" cy="786384"/>
          </a:xfrm>
          <a:prstGeom prst="rect">
            <a:avLst/>
          </a:prstGeom>
        </p:spPr>
      </p:pic>
      <p:sp>
        <p:nvSpPr>
          <p:cNvPr id="11" name="Text 8"/>
          <p:cNvSpPr txBox="1"/>
          <p:nvPr/>
        </p:nvSpPr>
        <p:spPr>
          <a:xfrm>
            <a:off x="749808" y="3822192"/>
            <a:ext cx="3630168" cy="9601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7600" b="1" dirty="0">
                <a:solidFill>
                  <a:srgbClr val="FFFFFF"/>
                </a:solidFill>
                <a:latin typeface="Arial" pitchFamily="34" charset="0"/>
                <a:ea typeface="Arial" pitchFamily="34" charset="-122"/>
                <a:cs typeface="Arial" pitchFamily="34" charset="-120"/>
              </a:rPr>
              <a:t>1%</a:t>
            </a:r>
            <a:endParaRPr lang="en-US" sz="7600" dirty="0"/>
          </a:p>
        </p:txBody>
      </p:sp>
      <p:sp>
        <p:nvSpPr>
          <p:cNvPr id="12" name="Text 9"/>
          <p:cNvSpPr txBox="1"/>
          <p:nvPr/>
        </p:nvSpPr>
        <p:spPr>
          <a:xfrm>
            <a:off x="786384" y="5084064"/>
            <a:ext cx="3483864" cy="23774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100" b="1" spc="100" kern="0" dirty="0">
                <a:solidFill>
                  <a:srgbClr val="C8D1D7"/>
                </a:solidFill>
                <a:latin typeface="Arial" pitchFamily="34" charset="0"/>
                <a:ea typeface="Arial" pitchFamily="34" charset="-122"/>
                <a:cs typeface="Arial" pitchFamily="34" charset="-120"/>
              </a:rPr>
              <a:t>REPORTED MARGIN</a:t>
            </a:r>
            <a:endParaRPr lang="en-US" sz="1100" dirty="0"/>
          </a:p>
        </p:txBody>
      </p:sp>
      <p:sp>
        <p:nvSpPr>
          <p:cNvPr id="13" name="Shape 10"/>
          <p:cNvSpPr/>
          <p:nvPr/>
        </p:nvSpPr>
        <p:spPr>
          <a:xfrm>
            <a:off x="5385816" y="2606040"/>
            <a:ext cx="621792" cy="621792"/>
          </a:xfrm>
          <a:prstGeom prst="ellipse">
            <a:avLst/>
          </a:prstGeom>
          <a:solidFill>
            <a:srgbClr val="FBEDEF"/>
          </a:solidFill>
          <a:ln w="12700">
            <a:solidFill>
              <a:srgbClr val="FBEDEF">
                <a:alpha val="0"/>
              </a:srgbClr>
            </a:solidFill>
            <a:prstDash val="solid"/>
          </a:ln>
        </p:spPr>
      </p:sp>
      <p:pic>
        <p:nvPicPr>
          <p:cNvPr id="14" name="Image 1" descr="Presentation pictogram">    </p:cNvPr>
          <p:cNvPicPr>
            <a:picLocks noChangeAspect="1"/>
          </p:cNvPicPr>
          <p:nvPr/>
        </p:nvPicPr>
        <p:blipFill>
          <a:blip r:embed="rId2"/>
          <a:stretch>
            <a:fillRect/>
          </a:stretch>
        </p:blipFill>
        <p:spPr>
          <a:xfrm>
            <a:off x="5528828" y="2749052"/>
            <a:ext cx="335768" cy="335768"/>
          </a:xfrm>
          <a:prstGeom prst="rect">
            <a:avLst/>
          </a:prstGeom>
        </p:spPr>
      </p:pic>
      <p:sp>
        <p:nvSpPr>
          <p:cNvPr id="15" name="Text 11"/>
          <p:cNvSpPr txBox="1"/>
          <p:nvPr/>
        </p:nvSpPr>
        <p:spPr>
          <a:xfrm>
            <a:off x="6245352" y="2642616"/>
            <a:ext cx="5248656" cy="32918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100" b="1" dirty="0">
                <a:solidFill>
                  <a:srgbClr val="17232C"/>
                </a:solidFill>
                <a:latin typeface="Arial" pitchFamily="34" charset="0"/>
                <a:ea typeface="Arial" pitchFamily="34" charset="-122"/>
                <a:cs typeface="Arial" pitchFamily="34" charset="-120"/>
              </a:rPr>
              <a:t>The reported decision</a:t>
            </a:r>
            <a:endParaRPr lang="en-US" sz="2100" dirty="0"/>
          </a:p>
        </p:txBody>
      </p:sp>
      <p:sp>
        <p:nvSpPr>
          <p:cNvPr id="16" name="Text 12"/>
          <p:cNvSpPr txBox="1"/>
          <p:nvPr/>
        </p:nvSpPr>
        <p:spPr>
          <a:xfrm>
            <a:off x="6245352" y="3136392"/>
            <a:ext cx="5212080" cy="60350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850" dirty="0">
                <a:solidFill>
                  <a:srgbClr val="687782"/>
                </a:solidFill>
                <a:latin typeface="Arial" pitchFamily="34" charset="0"/>
                <a:ea typeface="Arial" pitchFamily="34" charset="-122"/>
                <a:cs typeface="Arial" pitchFamily="34" charset="-120"/>
              </a:rPr>
              <a:t>The battery price was reduced to address</a:t>
            </a:r>
            <a:endParaRPr lang="en-US" sz="1850" dirty="0"/>
          </a:p>
          <a:p>
            <a:pPr algn="l" indent="0" marL="0">
              <a:buNone/>
            </a:pPr>
            <a:r>
              <a:rPr lang="en-US" sz="1850" dirty="0">
                <a:solidFill>
                  <a:srgbClr val="687782"/>
                </a:solidFill>
                <a:latin typeface="Arial" pitchFamily="34" charset="0"/>
                <a:ea typeface="Arial" pitchFamily="34" charset="-122"/>
                <a:cs typeface="Arial" pitchFamily="34" charset="-120"/>
              </a:rPr>
              <a:t>an insurance-cost concern.</a:t>
            </a:r>
            <a:endParaRPr lang="en-US" sz="1850" dirty="0"/>
          </a:p>
        </p:txBody>
      </p:sp>
      <p:sp>
        <p:nvSpPr>
          <p:cNvPr id="17" name="Shape 13"/>
          <p:cNvSpPr/>
          <p:nvPr/>
        </p:nvSpPr>
        <p:spPr>
          <a:xfrm>
            <a:off x="5385816" y="4206240"/>
            <a:ext cx="621792" cy="621792"/>
          </a:xfrm>
          <a:prstGeom prst="ellipse">
            <a:avLst/>
          </a:prstGeom>
          <a:solidFill>
            <a:srgbClr val="FBEDEF"/>
          </a:solidFill>
          <a:ln w="12700">
            <a:solidFill>
              <a:srgbClr val="FBEDEF">
                <a:alpha val="0"/>
              </a:srgbClr>
            </a:solidFill>
            <a:prstDash val="solid"/>
          </a:ln>
        </p:spPr>
      </p:sp>
      <p:pic>
        <p:nvPicPr>
          <p:cNvPr id="18" name="Image 2" descr="Presentation pictogram">    </p:cNvPr>
          <p:cNvPicPr>
            <a:picLocks noChangeAspect="1"/>
          </p:cNvPicPr>
          <p:nvPr/>
        </p:nvPicPr>
        <p:blipFill>
          <a:blip r:embed="rId3"/>
          <a:stretch>
            <a:fillRect/>
          </a:stretch>
        </p:blipFill>
        <p:spPr>
          <a:xfrm>
            <a:off x="5528828" y="4349252"/>
            <a:ext cx="335768" cy="335768"/>
          </a:xfrm>
          <a:prstGeom prst="rect">
            <a:avLst/>
          </a:prstGeom>
        </p:spPr>
      </p:pic>
      <p:sp>
        <p:nvSpPr>
          <p:cNvPr id="19" name="Text 14"/>
          <p:cNvSpPr txBox="1"/>
          <p:nvPr/>
        </p:nvSpPr>
        <p:spPr>
          <a:xfrm>
            <a:off x="6245352" y="4242816"/>
            <a:ext cx="5248656" cy="32918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100" b="1" dirty="0">
                <a:solidFill>
                  <a:srgbClr val="17232C"/>
                </a:solidFill>
                <a:latin typeface="Arial" pitchFamily="34" charset="0"/>
                <a:ea typeface="Arial" pitchFamily="34" charset="-122"/>
                <a:cs typeface="Arial" pitchFamily="34" charset="-120"/>
              </a:rPr>
              <a:t>The commercial principle</a:t>
            </a:r>
            <a:endParaRPr lang="en-US" sz="2100" dirty="0"/>
          </a:p>
        </p:txBody>
      </p:sp>
      <p:sp>
        <p:nvSpPr>
          <p:cNvPr id="20" name="Text 15"/>
          <p:cNvSpPr txBox="1"/>
          <p:nvPr/>
        </p:nvSpPr>
        <p:spPr>
          <a:xfrm>
            <a:off x="6245352" y="4736592"/>
            <a:ext cx="5212080" cy="62179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850" dirty="0">
                <a:solidFill>
                  <a:srgbClr val="687782"/>
                </a:solidFill>
                <a:latin typeface="Arial" pitchFamily="34" charset="0"/>
                <a:ea typeface="Arial" pitchFamily="34" charset="-122"/>
                <a:cs typeface="Arial" pitchFamily="34" charset="-120"/>
              </a:rPr>
              <a:t>Assess the wider vehicle proposition,</a:t>
            </a:r>
            <a:endParaRPr lang="en-US" sz="1850" dirty="0"/>
          </a:p>
          <a:p>
            <a:pPr algn="l" indent="0" marL="0">
              <a:buNone/>
            </a:pPr>
            <a:r>
              <a:rPr lang="en-US" sz="1850" dirty="0">
                <a:solidFill>
                  <a:srgbClr val="687782"/>
                </a:solidFill>
                <a:latin typeface="Arial" pitchFamily="34" charset="0"/>
                <a:ea typeface="Arial" pitchFamily="34" charset="-122"/>
                <a:cs typeface="Arial" pitchFamily="34" charset="-120"/>
              </a:rPr>
              <a:t>not just the component margin.</a:t>
            </a:r>
            <a:endParaRPr lang="en-US" sz="1850" dirty="0"/>
          </a:p>
        </p:txBody>
      </p:sp>
      <p:sp>
        <p:nvSpPr>
          <p:cNvPr id="21" name="Shape 16"/>
          <p:cNvSpPr/>
          <p:nvPr/>
        </p:nvSpPr>
        <p:spPr>
          <a:xfrm>
            <a:off x="530352" y="5870448"/>
            <a:ext cx="50292" cy="338328"/>
          </a:xfrm>
          <a:prstGeom prst="rect">
            <a:avLst/>
          </a:prstGeom>
          <a:solidFill>
            <a:srgbClr val="ED0016"/>
          </a:solidFill>
          <a:ln w="12700">
            <a:solidFill>
              <a:srgbClr val="ED0016">
                <a:alpha val="0"/>
              </a:srgbClr>
            </a:solidFill>
            <a:prstDash val="solid"/>
          </a:ln>
        </p:spPr>
      </p:sp>
      <p:sp>
        <p:nvSpPr>
          <p:cNvPr id="22" name="Text 17"/>
          <p:cNvSpPr txBox="1"/>
          <p:nvPr/>
        </p:nvSpPr>
        <p:spPr>
          <a:xfrm>
            <a:off x="694944" y="5865876"/>
            <a:ext cx="10966704" cy="36576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920" b="1" dirty="0">
                <a:solidFill>
                  <a:srgbClr val="17232C"/>
                </a:solidFill>
                <a:latin typeface="Arial" pitchFamily="34" charset="0"/>
                <a:ea typeface="Arial" pitchFamily="34" charset="-122"/>
                <a:cs typeface="Arial" pitchFamily="34" charset="-120"/>
              </a:rPr>
              <a:t>An exceptional decision - not a standard margin for the whole family.</a:t>
            </a:r>
            <a:endParaRPr lang="en-US" sz="1920" dirty="0"/>
          </a:p>
        </p:txBody>
      </p:sp>
    </p:spTree>
  </p:cSld>
  <p:clrMapOvr>
    <a:masterClrMapping/>
  </p:clrMapOvr>
  <p:transition spd="fast" advClick="1">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30352" y="301752"/>
            <a:ext cx="950976"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000" b="1" dirty="0">
                <a:solidFill>
                  <a:srgbClr val="ED0016"/>
                </a:solidFill>
                <a:latin typeface="Arial" pitchFamily="34" charset="0"/>
                <a:ea typeface="Arial" pitchFamily="34" charset="-122"/>
                <a:cs typeface="Arial" pitchFamily="34" charset="-120"/>
              </a:rPr>
              <a:t>ISUZU</a:t>
            </a:r>
            <a:endParaRPr lang="en-US" sz="2000" dirty="0"/>
          </a:p>
        </p:txBody>
      </p:sp>
      <p:sp>
        <p:nvSpPr>
          <p:cNvPr id="3" name="Text 1"/>
          <p:cNvSpPr txBox="1"/>
          <p:nvPr/>
        </p:nvSpPr>
        <p:spPr>
          <a:xfrm>
            <a:off x="1856232" y="347472"/>
            <a:ext cx="9418320" cy="16459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980" b="1" spc="145" kern="0" dirty="0">
                <a:solidFill>
                  <a:srgbClr val="687782"/>
                </a:solidFill>
                <a:latin typeface="Arial" pitchFamily="34" charset="0"/>
                <a:ea typeface="Arial" pitchFamily="34" charset="-122"/>
                <a:cs typeface="Arial" pitchFamily="34" charset="-120"/>
              </a:rPr>
              <a:t>FIRST APPLICATION AND MEASUREMENT</a:t>
            </a:r>
            <a:endParaRPr lang="en-US" sz="980" dirty="0"/>
          </a:p>
        </p:txBody>
      </p:sp>
      <p:sp>
        <p:nvSpPr>
          <p:cNvPr id="4" name="Text 2"/>
          <p:cNvSpPr txBox="1"/>
          <p:nvPr/>
        </p:nvSpPr>
        <p:spPr>
          <a:xfrm>
            <a:off x="530352" y="960120"/>
            <a:ext cx="11131296" cy="76809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3020" b="1" dirty="0">
                <a:solidFill>
                  <a:srgbClr val="17232C"/>
                </a:solidFill>
                <a:latin typeface="Arial" pitchFamily="34" charset="0"/>
                <a:ea typeface="Arial" pitchFamily="34" charset="-122"/>
                <a:cs typeface="Arial" pitchFamily="34" charset="-120"/>
              </a:rPr>
              <a:t>Start selectively. Measure sustained distributor business.</a:t>
            </a:r>
            <a:endParaRPr lang="en-US" sz="3020" dirty="0"/>
          </a:p>
        </p:txBody>
      </p:sp>
      <p:sp>
        <p:nvSpPr>
          <p:cNvPr id="5" name="Text 3"/>
          <p:cNvSpPr txBox="1"/>
          <p:nvPr/>
        </p:nvSpPr>
        <p:spPr>
          <a:xfrm>
            <a:off x="530352" y="1783080"/>
            <a:ext cx="11131296" cy="46634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630" dirty="0">
                <a:solidFill>
                  <a:srgbClr val="687782"/>
                </a:solidFill>
                <a:latin typeface="Arial" pitchFamily="34" charset="0"/>
                <a:ea typeface="Arial" pitchFamily="34" charset="-122"/>
                <a:cs typeface="Arial" pitchFamily="34" charset="-120"/>
              </a:rPr>
              <a:t>A first stock order is not proof that the competitive offer has won lasting demand.</a:t>
            </a:r>
            <a:endParaRPr lang="en-US" sz="1630" dirty="0"/>
          </a:p>
        </p:txBody>
      </p:sp>
      <p:sp>
        <p:nvSpPr>
          <p:cNvPr id="6" name="Shape 4"/>
          <p:cNvSpPr/>
          <p:nvPr/>
        </p:nvSpPr>
        <p:spPr>
          <a:xfrm>
            <a:off x="530352" y="6382512"/>
            <a:ext cx="11131296" cy="0"/>
          </a:xfrm>
          <a:prstGeom prst="line">
            <a:avLst/>
          </a:prstGeom>
          <a:solidFill>
            <a:srgbClr val="FFFFFF">
              <a:alpha val="0"/>
            </a:srgbClr>
          </a:solidFill>
          <a:ln w="8890">
            <a:solidFill>
              <a:srgbClr val="DCE3E8"/>
            </a:solidFill>
            <a:prstDash val="solid"/>
          </a:ln>
        </p:spPr>
      </p:sp>
      <p:sp>
        <p:nvSpPr>
          <p:cNvPr id="7" name="Text 5"/>
          <p:cNvSpPr txBox="1"/>
          <p:nvPr/>
        </p:nvSpPr>
        <p:spPr>
          <a:xfrm>
            <a:off x="530352" y="6483096"/>
            <a:ext cx="10216896" cy="16459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810" dirty="0">
                <a:solidFill>
                  <a:srgbClr val="687782"/>
                </a:solidFill>
                <a:latin typeface="Arial" pitchFamily="34" charset="0"/>
                <a:ea typeface="Arial" pitchFamily="34" charset="-122"/>
                <a:cs typeface="Arial" pitchFamily="34" charset="-120"/>
              </a:rPr>
              <a:t>Source: Pricing Master and management policy. Detailed basis in speaker notes.</a:t>
            </a:r>
            <a:endParaRPr lang="en-US" sz="810" dirty="0"/>
          </a:p>
        </p:txBody>
      </p:sp>
      <p:sp>
        <p:nvSpPr>
          <p:cNvPr id="8" name="Text 6"/>
          <p:cNvSpPr txBox="1"/>
          <p:nvPr/>
        </p:nvSpPr>
        <p:spPr>
          <a:xfrm>
            <a:off x="10856976" y="6469380"/>
            <a:ext cx="804672" cy="21031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r" indent="0" marL="0">
              <a:buNone/>
            </a:pPr>
            <a:r>
              <a:rPr lang="en-US" sz="910" dirty="0">
                <a:solidFill>
                  <a:srgbClr val="687782"/>
                </a:solidFill>
                <a:latin typeface="Arial" pitchFamily="34" charset="0"/>
                <a:ea typeface="Arial" pitchFamily="34" charset="-122"/>
                <a:cs typeface="Arial" pitchFamily="34" charset="-120"/>
              </a:rPr>
              <a:t>v1.4  |  17</a:t>
            </a:r>
            <a:endParaRPr lang="en-US" sz="910" dirty="0"/>
          </a:p>
        </p:txBody>
      </p:sp>
      <p:sp>
        <p:nvSpPr>
          <p:cNvPr id="9" name="Shape 7"/>
          <p:cNvSpPr/>
          <p:nvPr/>
        </p:nvSpPr>
        <p:spPr>
          <a:xfrm>
            <a:off x="530352" y="2532888"/>
            <a:ext cx="676656" cy="676656"/>
          </a:xfrm>
          <a:prstGeom prst="ellipse">
            <a:avLst/>
          </a:prstGeom>
          <a:solidFill>
            <a:srgbClr val="FBEDEF"/>
          </a:solidFill>
          <a:ln w="12700">
            <a:solidFill>
              <a:srgbClr val="FBEDEF">
                <a:alpha val="0"/>
              </a:srgbClr>
            </a:solidFill>
            <a:prstDash val="solid"/>
          </a:ln>
        </p:spPr>
      </p:sp>
      <p:pic>
        <p:nvPicPr>
          <p:cNvPr id="10" name="Image 0" descr="Presentation pictogram">    </p:cNvPr>
          <p:cNvPicPr>
            <a:picLocks noChangeAspect="1"/>
          </p:cNvPicPr>
          <p:nvPr/>
        </p:nvPicPr>
        <p:blipFill>
          <a:blip r:embed="rId1"/>
          <a:stretch>
            <a:fillRect/>
          </a:stretch>
        </p:blipFill>
        <p:spPr>
          <a:xfrm>
            <a:off x="685983" y="2688519"/>
            <a:ext cx="365394" cy="365394"/>
          </a:xfrm>
          <a:prstGeom prst="rect">
            <a:avLst/>
          </a:prstGeom>
        </p:spPr>
      </p:pic>
      <p:sp>
        <p:nvSpPr>
          <p:cNvPr id="11" name="Text 8"/>
          <p:cNvSpPr txBox="1"/>
          <p:nvPr/>
        </p:nvSpPr>
        <p:spPr>
          <a:xfrm>
            <a:off x="1444752" y="2560320"/>
            <a:ext cx="3218688" cy="32004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100" b="1" dirty="0">
                <a:solidFill>
                  <a:srgbClr val="17232C"/>
                </a:solidFill>
                <a:latin typeface="Arial" pitchFamily="34" charset="0"/>
                <a:ea typeface="Arial" pitchFamily="34" charset="-122"/>
                <a:cs typeface="Arial" pitchFamily="34" charset="-120"/>
              </a:rPr>
              <a:t>Define the case</a:t>
            </a:r>
            <a:endParaRPr lang="en-US" sz="2100" dirty="0"/>
          </a:p>
        </p:txBody>
      </p:sp>
      <p:sp>
        <p:nvSpPr>
          <p:cNvPr id="12" name="Text 9"/>
          <p:cNvSpPr txBox="1"/>
          <p:nvPr/>
        </p:nvSpPr>
        <p:spPr>
          <a:xfrm>
            <a:off x="4736592" y="2523744"/>
            <a:ext cx="6665976" cy="62179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750" dirty="0">
                <a:solidFill>
                  <a:srgbClr val="687782"/>
                </a:solidFill>
                <a:latin typeface="Arial" pitchFamily="34" charset="0"/>
                <a:ea typeface="Arial" pitchFamily="34" charset="-122"/>
                <a:cs typeface="Arial" pitchFamily="34" charset="-120"/>
              </a:rPr>
              <a:t>ITUK maintenance or UTI repair package.</a:t>
            </a:r>
            <a:endParaRPr lang="en-US" sz="1750" dirty="0"/>
          </a:p>
          <a:p>
            <a:pPr algn="l" indent="0" marL="0">
              <a:buNone/>
            </a:pPr>
            <a:r>
              <a:rPr lang="en-US" sz="1750" dirty="0">
                <a:solidFill>
                  <a:srgbClr val="687782"/>
                </a:solidFill>
                <a:latin typeface="Arial" pitchFamily="34" charset="0"/>
                <a:ea typeface="Arial" pitchFamily="34" charset="-122"/>
                <a:cs typeface="Arial" pitchFamily="34" charset="-120"/>
              </a:rPr>
              <a:t>Name the relevant parts and commercial purpose.</a:t>
            </a:r>
            <a:endParaRPr lang="en-US" sz="1750" dirty="0"/>
          </a:p>
        </p:txBody>
      </p:sp>
      <p:sp>
        <p:nvSpPr>
          <p:cNvPr id="13" name="Shape 10"/>
          <p:cNvSpPr/>
          <p:nvPr/>
        </p:nvSpPr>
        <p:spPr>
          <a:xfrm>
            <a:off x="1444752" y="3346704"/>
            <a:ext cx="10216896" cy="0"/>
          </a:xfrm>
          <a:prstGeom prst="line">
            <a:avLst/>
          </a:prstGeom>
          <a:solidFill>
            <a:srgbClr val="FFFFFF">
              <a:alpha val="0"/>
            </a:srgbClr>
          </a:solidFill>
          <a:ln w="8890">
            <a:solidFill>
              <a:srgbClr val="DCE3E8"/>
            </a:solidFill>
            <a:prstDash val="solid"/>
          </a:ln>
        </p:spPr>
      </p:sp>
      <p:sp>
        <p:nvSpPr>
          <p:cNvPr id="14" name="Shape 11"/>
          <p:cNvSpPr/>
          <p:nvPr/>
        </p:nvSpPr>
        <p:spPr>
          <a:xfrm>
            <a:off x="530352" y="3538728"/>
            <a:ext cx="676656" cy="676656"/>
          </a:xfrm>
          <a:prstGeom prst="ellipse">
            <a:avLst/>
          </a:prstGeom>
          <a:solidFill>
            <a:srgbClr val="FBEDEF"/>
          </a:solidFill>
          <a:ln w="12700">
            <a:solidFill>
              <a:srgbClr val="FBEDEF">
                <a:alpha val="0"/>
              </a:srgbClr>
            </a:solidFill>
            <a:prstDash val="solid"/>
          </a:ln>
        </p:spPr>
      </p:sp>
      <p:pic>
        <p:nvPicPr>
          <p:cNvPr id="15" name="Image 1" descr="Presentation pictogram">    </p:cNvPr>
          <p:cNvPicPr>
            <a:picLocks noChangeAspect="1"/>
          </p:cNvPicPr>
          <p:nvPr/>
        </p:nvPicPr>
        <p:blipFill>
          <a:blip r:embed="rId2"/>
          <a:stretch>
            <a:fillRect/>
          </a:stretch>
        </p:blipFill>
        <p:spPr>
          <a:xfrm>
            <a:off x="685983" y="3694359"/>
            <a:ext cx="365394" cy="365394"/>
          </a:xfrm>
          <a:prstGeom prst="rect">
            <a:avLst/>
          </a:prstGeom>
        </p:spPr>
      </p:pic>
      <p:sp>
        <p:nvSpPr>
          <p:cNvPr id="16" name="Text 12"/>
          <p:cNvSpPr txBox="1"/>
          <p:nvPr/>
        </p:nvSpPr>
        <p:spPr>
          <a:xfrm>
            <a:off x="1444752" y="3566160"/>
            <a:ext cx="3218688" cy="32004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100" b="1" dirty="0">
                <a:solidFill>
                  <a:srgbClr val="17232C"/>
                </a:solidFill>
                <a:latin typeface="Arial" pitchFamily="34" charset="0"/>
                <a:ea typeface="Arial" pitchFamily="34" charset="-122"/>
                <a:cs typeface="Arial" pitchFamily="34" charset="-120"/>
              </a:rPr>
              <a:t>Agree the action</a:t>
            </a:r>
            <a:endParaRPr lang="en-US" sz="2100" dirty="0"/>
          </a:p>
        </p:txBody>
      </p:sp>
      <p:sp>
        <p:nvSpPr>
          <p:cNvPr id="17" name="Text 13"/>
          <p:cNvSpPr txBox="1"/>
          <p:nvPr/>
        </p:nvSpPr>
        <p:spPr>
          <a:xfrm>
            <a:off x="4736592" y="3529584"/>
            <a:ext cx="6665976" cy="62179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750" dirty="0">
                <a:solidFill>
                  <a:srgbClr val="687782"/>
                </a:solidFill>
                <a:latin typeface="Arial" pitchFamily="34" charset="0"/>
                <a:ea typeface="Arial" pitchFamily="34" charset="-122"/>
                <a:cs typeface="Arial" pitchFamily="34" charset="-120"/>
              </a:rPr>
              <a:t>Connect targeted support to a credible offer.</a:t>
            </a:r>
            <a:endParaRPr lang="en-US" sz="1750" dirty="0"/>
          </a:p>
          <a:p>
            <a:pPr algn="l" indent="0" marL="0">
              <a:buNone/>
            </a:pPr>
            <a:r>
              <a:rPr lang="en-US" sz="1750" dirty="0">
                <a:solidFill>
                  <a:srgbClr val="687782"/>
                </a:solidFill>
                <a:latin typeface="Arial" pitchFamily="34" charset="0"/>
                <a:ea typeface="Arial" pitchFamily="34" charset="-122"/>
                <a:cs typeface="Arial" pitchFamily="34" charset="-120"/>
              </a:rPr>
              <a:t>Do not assume an entire family needs a cut.</a:t>
            </a:r>
            <a:endParaRPr lang="en-US" sz="1750" dirty="0"/>
          </a:p>
        </p:txBody>
      </p:sp>
      <p:sp>
        <p:nvSpPr>
          <p:cNvPr id="18" name="Shape 14"/>
          <p:cNvSpPr/>
          <p:nvPr/>
        </p:nvSpPr>
        <p:spPr>
          <a:xfrm>
            <a:off x="1444752" y="4352544"/>
            <a:ext cx="10216896" cy="0"/>
          </a:xfrm>
          <a:prstGeom prst="line">
            <a:avLst/>
          </a:prstGeom>
          <a:solidFill>
            <a:srgbClr val="FFFFFF">
              <a:alpha val="0"/>
            </a:srgbClr>
          </a:solidFill>
          <a:ln w="8890">
            <a:solidFill>
              <a:srgbClr val="DCE3E8"/>
            </a:solidFill>
            <a:prstDash val="solid"/>
          </a:ln>
        </p:spPr>
      </p:sp>
      <p:sp>
        <p:nvSpPr>
          <p:cNvPr id="19" name="Shape 15"/>
          <p:cNvSpPr/>
          <p:nvPr/>
        </p:nvSpPr>
        <p:spPr>
          <a:xfrm>
            <a:off x="530352" y="4544568"/>
            <a:ext cx="676656" cy="676656"/>
          </a:xfrm>
          <a:prstGeom prst="ellipse">
            <a:avLst/>
          </a:prstGeom>
          <a:solidFill>
            <a:srgbClr val="FBEDEF"/>
          </a:solidFill>
          <a:ln w="12700">
            <a:solidFill>
              <a:srgbClr val="FBEDEF">
                <a:alpha val="0"/>
              </a:srgbClr>
            </a:solidFill>
            <a:prstDash val="solid"/>
          </a:ln>
        </p:spPr>
      </p:sp>
      <p:pic>
        <p:nvPicPr>
          <p:cNvPr id="20" name="Image 2" descr="Presentation pictogram">    </p:cNvPr>
          <p:cNvPicPr>
            <a:picLocks noChangeAspect="1"/>
          </p:cNvPicPr>
          <p:nvPr/>
        </p:nvPicPr>
        <p:blipFill>
          <a:blip r:embed="rId3"/>
          <a:stretch>
            <a:fillRect/>
          </a:stretch>
        </p:blipFill>
        <p:spPr>
          <a:xfrm>
            <a:off x="685983" y="4700199"/>
            <a:ext cx="365394" cy="365394"/>
          </a:xfrm>
          <a:prstGeom prst="rect">
            <a:avLst/>
          </a:prstGeom>
        </p:spPr>
      </p:pic>
      <p:sp>
        <p:nvSpPr>
          <p:cNvPr id="21" name="Text 16"/>
          <p:cNvSpPr txBox="1"/>
          <p:nvPr/>
        </p:nvSpPr>
        <p:spPr>
          <a:xfrm>
            <a:off x="1444752" y="4572000"/>
            <a:ext cx="3218688" cy="32004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100" b="1" dirty="0">
                <a:solidFill>
                  <a:srgbClr val="17232C"/>
                </a:solidFill>
                <a:latin typeface="Arial" pitchFamily="34" charset="0"/>
                <a:ea typeface="Arial" pitchFamily="34" charset="-122"/>
                <a:cs typeface="Arial" pitchFamily="34" charset="-120"/>
              </a:rPr>
              <a:t>Check the result</a:t>
            </a:r>
            <a:endParaRPr lang="en-US" sz="2100" dirty="0"/>
          </a:p>
        </p:txBody>
      </p:sp>
      <p:sp>
        <p:nvSpPr>
          <p:cNvPr id="22" name="Text 17"/>
          <p:cNvSpPr txBox="1"/>
          <p:nvPr/>
        </p:nvSpPr>
        <p:spPr>
          <a:xfrm>
            <a:off x="4736592" y="4535424"/>
            <a:ext cx="6665976" cy="62179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750" dirty="0">
                <a:solidFill>
                  <a:srgbClr val="687782"/>
                </a:solidFill>
                <a:latin typeface="Arial" pitchFamily="34" charset="0"/>
                <a:ea typeface="Arial" pitchFamily="34" charset="-122"/>
                <a:cs typeface="Arial" pitchFamily="34" charset="-120"/>
              </a:rPr>
              <a:t>Compare matched periods, net prices and costs.</a:t>
            </a:r>
            <a:endParaRPr lang="en-US" sz="1750" dirty="0"/>
          </a:p>
          <a:p>
            <a:pPr algn="l" indent="0" marL="0">
              <a:buNone/>
            </a:pPr>
            <a:r>
              <a:rPr lang="en-US" sz="1750" dirty="0">
                <a:solidFill>
                  <a:srgbClr val="687782"/>
                </a:solidFill>
                <a:latin typeface="Arial" pitchFamily="34" charset="0"/>
                <a:ea typeface="Arial" pitchFamily="34" charset="-122"/>
                <a:cs typeface="Arial" pitchFamily="34" charset="-120"/>
              </a:rPr>
              <a:t>Use sales to dealer and stock where available.</a:t>
            </a:r>
            <a:endParaRPr lang="en-US" sz="1750" dirty="0"/>
          </a:p>
        </p:txBody>
      </p:sp>
      <p:sp>
        <p:nvSpPr>
          <p:cNvPr id="23" name="Shape 18"/>
          <p:cNvSpPr/>
          <p:nvPr/>
        </p:nvSpPr>
        <p:spPr>
          <a:xfrm>
            <a:off x="530352" y="5769864"/>
            <a:ext cx="3374136" cy="274320"/>
          </a:xfrm>
          <a:prstGeom prst="rect">
            <a:avLst/>
          </a:prstGeom>
          <a:solidFill>
            <a:srgbClr val="17232C"/>
          </a:solidFill>
          <a:ln w="12700">
            <a:solidFill>
              <a:srgbClr val="17232C">
                <a:alpha val="0"/>
              </a:srgbClr>
            </a:solidFill>
            <a:prstDash val="solid"/>
          </a:ln>
        </p:spPr>
      </p:sp>
      <p:sp>
        <p:nvSpPr>
          <p:cNvPr id="24" name="Text 19"/>
          <p:cNvSpPr txBox="1"/>
          <p:nvPr/>
        </p:nvSpPr>
        <p:spPr>
          <a:xfrm>
            <a:off x="621792" y="5801868"/>
            <a:ext cx="3191256" cy="20116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920" b="1" spc="45" kern="0" dirty="0">
                <a:solidFill>
                  <a:srgbClr val="FFFFFF"/>
                </a:solidFill>
                <a:latin typeface="Arial" pitchFamily="34" charset="0"/>
                <a:ea typeface="Arial" pitchFamily="34" charset="-122"/>
                <a:cs typeface="Arial" pitchFamily="34" charset="-120"/>
              </a:rPr>
              <a:t>REPEAT ISZE ORDERS</a:t>
            </a:r>
            <a:endParaRPr lang="en-US" sz="920" dirty="0"/>
          </a:p>
        </p:txBody>
      </p:sp>
      <p:sp>
        <p:nvSpPr>
          <p:cNvPr id="25" name="Shape 20"/>
          <p:cNvSpPr/>
          <p:nvPr/>
        </p:nvSpPr>
        <p:spPr>
          <a:xfrm>
            <a:off x="4398264" y="5769864"/>
            <a:ext cx="3374136" cy="274320"/>
          </a:xfrm>
          <a:prstGeom prst="rect">
            <a:avLst/>
          </a:prstGeom>
          <a:solidFill>
            <a:srgbClr val="17232C"/>
          </a:solidFill>
          <a:ln w="12700">
            <a:solidFill>
              <a:srgbClr val="17232C">
                <a:alpha val="0"/>
              </a:srgbClr>
            </a:solidFill>
            <a:prstDash val="solid"/>
          </a:ln>
        </p:spPr>
      </p:sp>
      <p:sp>
        <p:nvSpPr>
          <p:cNvPr id="26" name="Text 21"/>
          <p:cNvSpPr txBox="1"/>
          <p:nvPr/>
        </p:nvSpPr>
        <p:spPr>
          <a:xfrm>
            <a:off x="4489704" y="5801868"/>
            <a:ext cx="3191256" cy="20116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920" b="1" spc="45" kern="0" dirty="0">
                <a:solidFill>
                  <a:srgbClr val="FFFFFF"/>
                </a:solidFill>
                <a:latin typeface="Arial" pitchFamily="34" charset="0"/>
                <a:ea typeface="Arial" pitchFamily="34" charset="-122"/>
                <a:cs typeface="Arial" pitchFamily="34" charset="-120"/>
              </a:rPr>
              <a:t>BROADER PARTS PURCHASES</a:t>
            </a:r>
            <a:endParaRPr lang="en-US" sz="920" dirty="0"/>
          </a:p>
        </p:txBody>
      </p:sp>
      <p:sp>
        <p:nvSpPr>
          <p:cNvPr id="27" name="Shape 22"/>
          <p:cNvSpPr/>
          <p:nvPr/>
        </p:nvSpPr>
        <p:spPr>
          <a:xfrm>
            <a:off x="8266176" y="5769864"/>
            <a:ext cx="3374136" cy="274320"/>
          </a:xfrm>
          <a:prstGeom prst="rect">
            <a:avLst/>
          </a:prstGeom>
          <a:solidFill>
            <a:srgbClr val="17232C"/>
          </a:solidFill>
          <a:ln w="12700">
            <a:solidFill>
              <a:srgbClr val="17232C">
                <a:alpha val="0"/>
              </a:srgbClr>
            </a:solidFill>
            <a:prstDash val="solid"/>
          </a:ln>
        </p:spPr>
      </p:sp>
      <p:sp>
        <p:nvSpPr>
          <p:cNvPr id="28" name="Text 23"/>
          <p:cNvSpPr txBox="1"/>
          <p:nvPr/>
        </p:nvSpPr>
        <p:spPr>
          <a:xfrm>
            <a:off x="8357616" y="5801868"/>
            <a:ext cx="3191256" cy="20116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920" b="1" spc="45" kern="0" dirty="0">
                <a:solidFill>
                  <a:srgbClr val="FFFFFF"/>
                </a:solidFill>
                <a:latin typeface="Arial" pitchFamily="34" charset="0"/>
                <a:ea typeface="Arial" pitchFamily="34" charset="-122"/>
                <a:cs typeface="Arial" pitchFamily="34" charset="-120"/>
              </a:rPr>
              <a:t>GROSS PROFIT AFTER SUPPORT</a:t>
            </a:r>
            <a:endParaRPr lang="en-US" sz="920" dirty="0"/>
          </a:p>
        </p:txBody>
      </p:sp>
    </p:spTree>
  </p:cSld>
  <p:clrMapOvr>
    <a:masterClrMapping/>
  </p:clrMapOvr>
  <p:transition spd="fast" advClick="1">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7232C"/>
        </a:solidFill>
      </p:bgPr>
    </p:bg>
    <p:spTree>
      <p:nvGrpSpPr>
        <p:cNvPr id="1" name=""/>
        <p:cNvGrpSpPr/>
        <p:nvPr/>
      </p:nvGrpSpPr>
      <p:grpSpPr>
        <a:xfrm>
          <a:off x="0" y="0"/>
          <a:ext cx="0" cy="0"/>
          <a:chOff x="0" y="0"/>
          <a:chExt cx="0" cy="0"/>
        </a:xfrm>
      </p:grpSpPr>
      <p:sp>
        <p:nvSpPr>
          <p:cNvPr id="2" name="Text 0"/>
          <p:cNvSpPr txBox="1"/>
          <p:nvPr/>
        </p:nvSpPr>
        <p:spPr>
          <a:xfrm>
            <a:off x="530352" y="301752"/>
            <a:ext cx="950976"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000" b="1" dirty="0">
                <a:solidFill>
                  <a:srgbClr val="ED0016"/>
                </a:solidFill>
                <a:latin typeface="Arial" pitchFamily="34" charset="0"/>
                <a:ea typeface="Arial" pitchFamily="34" charset="-122"/>
                <a:cs typeface="Arial" pitchFamily="34" charset="-120"/>
              </a:rPr>
              <a:t>ISUZU</a:t>
            </a:r>
            <a:endParaRPr lang="en-US" sz="2000" dirty="0"/>
          </a:p>
        </p:txBody>
      </p:sp>
      <p:sp>
        <p:nvSpPr>
          <p:cNvPr id="3" name="Text 1"/>
          <p:cNvSpPr txBox="1"/>
          <p:nvPr/>
        </p:nvSpPr>
        <p:spPr>
          <a:xfrm>
            <a:off x="1856232" y="347472"/>
            <a:ext cx="9418320" cy="16459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980" b="1" spc="145" kern="0" dirty="0">
                <a:solidFill>
                  <a:srgbClr val="C8D1D7"/>
                </a:solidFill>
                <a:latin typeface="Arial" pitchFamily="34" charset="0"/>
                <a:ea typeface="Arial" pitchFamily="34" charset="-122"/>
                <a:cs typeface="Arial" pitchFamily="34" charset="-120"/>
              </a:rPr>
              <a:t>MANAGEMENT APPROVAL</a:t>
            </a:r>
            <a:endParaRPr lang="en-US" sz="980" dirty="0"/>
          </a:p>
        </p:txBody>
      </p:sp>
      <p:sp>
        <p:nvSpPr>
          <p:cNvPr id="4" name="Text 2"/>
          <p:cNvSpPr txBox="1"/>
          <p:nvPr/>
        </p:nvSpPr>
        <p:spPr>
          <a:xfrm>
            <a:off x="530352" y="960120"/>
            <a:ext cx="11131296" cy="76809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3020" b="1" dirty="0">
                <a:solidFill>
                  <a:srgbClr val="FFFFFF"/>
                </a:solidFill>
                <a:latin typeface="Arial" pitchFamily="34" charset="0"/>
                <a:ea typeface="Arial" pitchFamily="34" charset="-122"/>
                <a:cs typeface="Arial" pitchFamily="34" charset="-120"/>
              </a:rPr>
              <a:t>Approve the method; sign off final price moves separately.</a:t>
            </a:r>
            <a:endParaRPr lang="en-US" sz="3020" dirty="0"/>
          </a:p>
        </p:txBody>
      </p:sp>
      <p:sp>
        <p:nvSpPr>
          <p:cNvPr id="5" name="Text 3"/>
          <p:cNvSpPr txBox="1"/>
          <p:nvPr/>
        </p:nvSpPr>
        <p:spPr>
          <a:xfrm>
            <a:off x="530352" y="1783080"/>
            <a:ext cx="11131296" cy="46634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630" dirty="0">
                <a:solidFill>
                  <a:srgbClr val="C8D1D7"/>
                </a:solidFill>
                <a:latin typeface="Arial" pitchFamily="34" charset="0"/>
                <a:ea typeface="Arial" pitchFamily="34" charset="-122"/>
                <a:cs typeface="Arial" pitchFamily="34" charset="-120"/>
              </a:rPr>
              <a:t>A controlled change in pricing judgement - not a blanket price reduction.</a:t>
            </a:r>
            <a:endParaRPr lang="en-US" sz="1630" dirty="0"/>
          </a:p>
        </p:txBody>
      </p:sp>
      <p:sp>
        <p:nvSpPr>
          <p:cNvPr id="6" name="Shape 4"/>
          <p:cNvSpPr/>
          <p:nvPr/>
        </p:nvSpPr>
        <p:spPr>
          <a:xfrm>
            <a:off x="530352" y="6382512"/>
            <a:ext cx="11131296" cy="0"/>
          </a:xfrm>
          <a:prstGeom prst="line">
            <a:avLst/>
          </a:prstGeom>
          <a:solidFill>
            <a:srgbClr val="FFFFFF">
              <a:alpha val="0"/>
            </a:srgbClr>
          </a:solidFill>
          <a:ln w="8890">
            <a:solidFill>
              <a:srgbClr val="41505B"/>
            </a:solidFill>
            <a:prstDash val="solid"/>
          </a:ln>
        </p:spPr>
      </p:sp>
      <p:sp>
        <p:nvSpPr>
          <p:cNvPr id="7" name="Text 5"/>
          <p:cNvSpPr txBox="1"/>
          <p:nvPr/>
        </p:nvSpPr>
        <p:spPr>
          <a:xfrm>
            <a:off x="530352" y="6483096"/>
            <a:ext cx="10216896" cy="16459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810" dirty="0">
                <a:solidFill>
                  <a:srgbClr val="C8D1D7"/>
                </a:solidFill>
                <a:latin typeface="Arial" pitchFamily="34" charset="0"/>
                <a:ea typeface="Arial" pitchFamily="34" charset="-122"/>
                <a:cs typeface="Arial" pitchFamily="34" charset="-120"/>
              </a:rPr>
              <a:t>Source: management proposal. No price list is issued by this presentation.</a:t>
            </a:r>
            <a:endParaRPr lang="en-US" sz="810" dirty="0"/>
          </a:p>
        </p:txBody>
      </p:sp>
      <p:sp>
        <p:nvSpPr>
          <p:cNvPr id="8" name="Text 6"/>
          <p:cNvSpPr txBox="1"/>
          <p:nvPr/>
        </p:nvSpPr>
        <p:spPr>
          <a:xfrm>
            <a:off x="10856976" y="6469380"/>
            <a:ext cx="804672" cy="21031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r" indent="0" marL="0">
              <a:buNone/>
            </a:pPr>
            <a:r>
              <a:rPr lang="en-US" sz="910" dirty="0">
                <a:solidFill>
                  <a:srgbClr val="C8D1D7"/>
                </a:solidFill>
                <a:latin typeface="Arial" pitchFamily="34" charset="0"/>
                <a:ea typeface="Arial" pitchFamily="34" charset="-122"/>
                <a:cs typeface="Arial" pitchFamily="34" charset="-120"/>
              </a:rPr>
              <a:t>v1.4  |  18</a:t>
            </a:r>
            <a:endParaRPr lang="en-US" sz="910" dirty="0"/>
          </a:p>
        </p:txBody>
      </p:sp>
      <p:sp>
        <p:nvSpPr>
          <p:cNvPr id="9" name="Shape 7"/>
          <p:cNvSpPr/>
          <p:nvPr/>
        </p:nvSpPr>
        <p:spPr>
          <a:xfrm>
            <a:off x="530352" y="2551176"/>
            <a:ext cx="667512" cy="667512"/>
          </a:xfrm>
          <a:prstGeom prst="ellipse">
            <a:avLst/>
          </a:prstGeom>
          <a:solidFill>
            <a:srgbClr val="263743"/>
          </a:solidFill>
          <a:ln w="12700">
            <a:solidFill>
              <a:srgbClr val="263743">
                <a:alpha val="0"/>
              </a:srgbClr>
            </a:solidFill>
            <a:prstDash val="solid"/>
          </a:ln>
        </p:spPr>
      </p:sp>
      <p:pic>
        <p:nvPicPr>
          <p:cNvPr id="10" name="Image 0" descr="Presentation pictogram">    </p:cNvPr>
          <p:cNvPicPr>
            <a:picLocks noChangeAspect="1"/>
          </p:cNvPicPr>
          <p:nvPr/>
        </p:nvPicPr>
        <p:blipFill>
          <a:blip r:embed="rId1"/>
          <a:stretch>
            <a:fillRect/>
          </a:stretch>
        </p:blipFill>
        <p:spPr>
          <a:xfrm>
            <a:off x="683880" y="2704704"/>
            <a:ext cx="360456" cy="360456"/>
          </a:xfrm>
          <a:prstGeom prst="rect">
            <a:avLst/>
          </a:prstGeom>
        </p:spPr>
      </p:pic>
      <p:sp>
        <p:nvSpPr>
          <p:cNvPr id="11" name="Text 8"/>
          <p:cNvSpPr txBox="1"/>
          <p:nvPr/>
        </p:nvSpPr>
        <p:spPr>
          <a:xfrm>
            <a:off x="1453896" y="2532888"/>
            <a:ext cx="4782312" cy="34747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180" b="1" dirty="0">
                <a:solidFill>
                  <a:srgbClr val="FFFFFF"/>
                </a:solidFill>
                <a:latin typeface="Arial" pitchFamily="34" charset="0"/>
                <a:ea typeface="Arial" pitchFamily="34" charset="-122"/>
                <a:cs typeface="Arial" pitchFamily="34" charset="-120"/>
              </a:rPr>
              <a:t>Replace the class rule</a:t>
            </a:r>
            <a:endParaRPr lang="en-US" sz="2180" dirty="0"/>
          </a:p>
        </p:txBody>
      </p:sp>
      <p:sp>
        <p:nvSpPr>
          <p:cNvPr id="12" name="Text 9"/>
          <p:cNvSpPr txBox="1"/>
          <p:nvPr/>
        </p:nvSpPr>
        <p:spPr>
          <a:xfrm>
            <a:off x="1453896" y="2999232"/>
            <a:ext cx="9994392" cy="34747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780" dirty="0">
                <a:solidFill>
                  <a:srgbClr val="C8D1D7"/>
                </a:solidFill>
                <a:latin typeface="Arial" pitchFamily="34" charset="0"/>
                <a:ea typeface="Arial" pitchFamily="34" charset="-122"/>
                <a:cs typeface="Arial" pitchFamily="34" charset="-120"/>
              </a:rPr>
              <a:t>Use part identity, market evidence and the distributor opportunity.</a:t>
            </a:r>
            <a:endParaRPr lang="en-US" sz="1780" dirty="0"/>
          </a:p>
        </p:txBody>
      </p:sp>
      <p:sp>
        <p:nvSpPr>
          <p:cNvPr id="13" name="Shape 10"/>
          <p:cNvSpPr/>
          <p:nvPr/>
        </p:nvSpPr>
        <p:spPr>
          <a:xfrm>
            <a:off x="530352" y="3575304"/>
            <a:ext cx="667512" cy="667512"/>
          </a:xfrm>
          <a:prstGeom prst="ellipse">
            <a:avLst/>
          </a:prstGeom>
          <a:solidFill>
            <a:srgbClr val="263743"/>
          </a:solidFill>
          <a:ln w="12700">
            <a:solidFill>
              <a:srgbClr val="263743">
                <a:alpha val="0"/>
              </a:srgbClr>
            </a:solidFill>
            <a:prstDash val="solid"/>
          </a:ln>
        </p:spPr>
      </p:sp>
      <p:pic>
        <p:nvPicPr>
          <p:cNvPr id="14" name="Image 1" descr="Presentation pictogram">    </p:cNvPr>
          <p:cNvPicPr>
            <a:picLocks noChangeAspect="1"/>
          </p:cNvPicPr>
          <p:nvPr/>
        </p:nvPicPr>
        <p:blipFill>
          <a:blip r:embed="rId2"/>
          <a:stretch>
            <a:fillRect/>
          </a:stretch>
        </p:blipFill>
        <p:spPr>
          <a:xfrm>
            <a:off x="683880" y="3728832"/>
            <a:ext cx="360456" cy="360456"/>
          </a:xfrm>
          <a:prstGeom prst="rect">
            <a:avLst/>
          </a:prstGeom>
        </p:spPr>
      </p:pic>
      <p:sp>
        <p:nvSpPr>
          <p:cNvPr id="15" name="Text 11"/>
          <p:cNvSpPr txBox="1"/>
          <p:nvPr/>
        </p:nvSpPr>
        <p:spPr>
          <a:xfrm>
            <a:off x="1453896" y="3557016"/>
            <a:ext cx="4782312" cy="34747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180" b="1" dirty="0">
                <a:solidFill>
                  <a:srgbClr val="FFFFFF"/>
                </a:solidFill>
                <a:latin typeface="Arial" pitchFamily="34" charset="0"/>
                <a:ea typeface="Arial" pitchFamily="34" charset="-122"/>
                <a:cs typeface="Arial" pitchFamily="34" charset="-120"/>
              </a:rPr>
              <a:t>Approve selective flexibility</a:t>
            </a:r>
            <a:endParaRPr lang="en-US" sz="2180" dirty="0"/>
          </a:p>
        </p:txBody>
      </p:sp>
      <p:sp>
        <p:nvSpPr>
          <p:cNvPr id="16" name="Text 12"/>
          <p:cNvSpPr txBox="1"/>
          <p:nvPr/>
        </p:nvSpPr>
        <p:spPr>
          <a:xfrm>
            <a:off x="1453896" y="4023360"/>
            <a:ext cx="9994392" cy="34747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780" dirty="0">
                <a:solidFill>
                  <a:srgbClr val="C8D1D7"/>
                </a:solidFill>
                <a:latin typeface="Arial" pitchFamily="34" charset="0"/>
                <a:ea typeface="Arial" pitchFamily="34" charset="-122"/>
                <a:cs typeface="Arial" pitchFamily="34" charset="-120"/>
              </a:rPr>
              <a:t>Protect competitiveness and allow justified exceptions or increases.</a:t>
            </a:r>
            <a:endParaRPr lang="en-US" sz="1780" dirty="0"/>
          </a:p>
        </p:txBody>
      </p:sp>
      <p:sp>
        <p:nvSpPr>
          <p:cNvPr id="17" name="Shape 13"/>
          <p:cNvSpPr/>
          <p:nvPr/>
        </p:nvSpPr>
        <p:spPr>
          <a:xfrm>
            <a:off x="530352" y="4599432"/>
            <a:ext cx="667512" cy="667512"/>
          </a:xfrm>
          <a:prstGeom prst="ellipse">
            <a:avLst/>
          </a:prstGeom>
          <a:solidFill>
            <a:srgbClr val="263743"/>
          </a:solidFill>
          <a:ln w="12700">
            <a:solidFill>
              <a:srgbClr val="263743">
                <a:alpha val="0"/>
              </a:srgbClr>
            </a:solidFill>
            <a:prstDash val="solid"/>
          </a:ln>
        </p:spPr>
      </p:sp>
      <p:pic>
        <p:nvPicPr>
          <p:cNvPr id="18" name="Image 2" descr="Presentation pictogram">    </p:cNvPr>
          <p:cNvPicPr>
            <a:picLocks noChangeAspect="1"/>
          </p:cNvPicPr>
          <p:nvPr/>
        </p:nvPicPr>
        <p:blipFill>
          <a:blip r:embed="rId3"/>
          <a:stretch>
            <a:fillRect/>
          </a:stretch>
        </p:blipFill>
        <p:spPr>
          <a:xfrm>
            <a:off x="683880" y="4752960"/>
            <a:ext cx="360456" cy="360456"/>
          </a:xfrm>
          <a:prstGeom prst="rect">
            <a:avLst/>
          </a:prstGeom>
        </p:spPr>
      </p:pic>
      <p:sp>
        <p:nvSpPr>
          <p:cNvPr id="19" name="Text 14"/>
          <p:cNvSpPr txBox="1"/>
          <p:nvPr/>
        </p:nvSpPr>
        <p:spPr>
          <a:xfrm>
            <a:off x="1453896" y="4581144"/>
            <a:ext cx="4782312" cy="34747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180" b="1" dirty="0">
                <a:solidFill>
                  <a:srgbClr val="FFFFFF"/>
                </a:solidFill>
                <a:latin typeface="Arial" pitchFamily="34" charset="0"/>
                <a:ea typeface="Arial" pitchFamily="34" charset="-122"/>
                <a:cs typeface="Arial" pitchFamily="34" charset="-120"/>
              </a:rPr>
              <a:t>Control the net result</a:t>
            </a:r>
            <a:endParaRPr lang="en-US" sz="2180" dirty="0"/>
          </a:p>
        </p:txBody>
      </p:sp>
      <p:sp>
        <p:nvSpPr>
          <p:cNvPr id="20" name="Text 15"/>
          <p:cNvSpPr txBox="1"/>
          <p:nvPr/>
        </p:nvSpPr>
        <p:spPr>
          <a:xfrm>
            <a:off x="1453896" y="5047488"/>
            <a:ext cx="9994392" cy="34747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780" dirty="0">
                <a:solidFill>
                  <a:srgbClr val="C8D1D7"/>
                </a:solidFill>
                <a:latin typeface="Arial" pitchFamily="34" charset="0"/>
                <a:ea typeface="Arial" pitchFamily="34" charset="-122"/>
                <a:cs typeface="Arial" pitchFamily="34" charset="-120"/>
              </a:rPr>
              <a:t>Confirm scope, support, authority and repeat-business measurement.</a:t>
            </a:r>
            <a:endParaRPr lang="en-US" sz="1780" dirty="0"/>
          </a:p>
        </p:txBody>
      </p:sp>
      <p:sp>
        <p:nvSpPr>
          <p:cNvPr id="21" name="Shape 16"/>
          <p:cNvSpPr/>
          <p:nvPr/>
        </p:nvSpPr>
        <p:spPr>
          <a:xfrm>
            <a:off x="530352" y="5870448"/>
            <a:ext cx="50292" cy="338328"/>
          </a:xfrm>
          <a:prstGeom prst="rect">
            <a:avLst/>
          </a:prstGeom>
          <a:solidFill>
            <a:srgbClr val="ED0016"/>
          </a:solidFill>
          <a:ln w="12700">
            <a:solidFill>
              <a:srgbClr val="ED0016">
                <a:alpha val="0"/>
              </a:srgbClr>
            </a:solidFill>
            <a:prstDash val="solid"/>
          </a:ln>
        </p:spPr>
      </p:sp>
      <p:sp>
        <p:nvSpPr>
          <p:cNvPr id="22" name="Text 17"/>
          <p:cNvSpPr txBox="1"/>
          <p:nvPr/>
        </p:nvSpPr>
        <p:spPr>
          <a:xfrm>
            <a:off x="694944" y="5865876"/>
            <a:ext cx="10966704" cy="36576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920" b="1" dirty="0">
                <a:solidFill>
                  <a:srgbClr val="FFFFFF"/>
                </a:solidFill>
                <a:latin typeface="Arial" pitchFamily="34" charset="0"/>
                <a:ea typeface="Arial" pitchFamily="34" charset="-122"/>
                <a:cs typeface="Arial" pitchFamily="34" charset="-120"/>
              </a:rPr>
              <a:t>No universal 8% ceiling. Evidence, net margin and appropriate approval remain essential.</a:t>
            </a:r>
            <a:endParaRPr lang="en-US" sz="1920" dirty="0"/>
          </a:p>
        </p:txBody>
      </p:sp>
    </p:spTree>
  </p:cSld>
  <p:clrMapOvr>
    <a:masterClrMapping/>
  </p:clrMapOvr>
  <p:transition spd="fast" advClick="1">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30352" y="301752"/>
            <a:ext cx="950976"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000" b="1" dirty="0">
                <a:solidFill>
                  <a:srgbClr val="ED0016"/>
                </a:solidFill>
                <a:latin typeface="Arial" pitchFamily="34" charset="0"/>
                <a:ea typeface="Arial" pitchFamily="34" charset="-122"/>
                <a:cs typeface="Arial" pitchFamily="34" charset="-120"/>
              </a:rPr>
              <a:t>ISUZU</a:t>
            </a:r>
            <a:endParaRPr lang="en-US" sz="2000" dirty="0"/>
          </a:p>
        </p:txBody>
      </p:sp>
      <p:sp>
        <p:nvSpPr>
          <p:cNvPr id="3" name="Text 1"/>
          <p:cNvSpPr txBox="1"/>
          <p:nvPr/>
        </p:nvSpPr>
        <p:spPr>
          <a:xfrm>
            <a:off x="1856232" y="347472"/>
            <a:ext cx="9418320" cy="16459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980" b="1" spc="145" kern="0" dirty="0">
                <a:solidFill>
                  <a:srgbClr val="687782"/>
                </a:solidFill>
                <a:latin typeface="Arial" pitchFamily="34" charset="0"/>
                <a:ea typeface="Arial" pitchFamily="34" charset="-122"/>
                <a:cs typeface="Arial" pitchFamily="34" charset="-120"/>
              </a:rPr>
              <a:t>APPENDIX A | FORMULA AND EFFECTIVE DATES</a:t>
            </a:r>
            <a:endParaRPr lang="en-US" sz="980" dirty="0"/>
          </a:p>
        </p:txBody>
      </p:sp>
      <p:sp>
        <p:nvSpPr>
          <p:cNvPr id="4" name="Text 2"/>
          <p:cNvSpPr txBox="1"/>
          <p:nvPr/>
        </p:nvSpPr>
        <p:spPr>
          <a:xfrm>
            <a:off x="530352" y="960120"/>
            <a:ext cx="11131296" cy="76809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3020" b="1" dirty="0">
                <a:solidFill>
                  <a:srgbClr val="17232C"/>
                </a:solidFill>
                <a:latin typeface="Arial" pitchFamily="34" charset="0"/>
                <a:ea typeface="Arial" pitchFamily="34" charset="-122"/>
                <a:cs typeface="Arial" pitchFamily="34" charset="-120"/>
              </a:rPr>
              <a:t>Separate list-price history from current and announced cost.</a:t>
            </a:r>
            <a:endParaRPr lang="en-US" sz="3020" dirty="0"/>
          </a:p>
        </p:txBody>
      </p:sp>
      <p:sp>
        <p:nvSpPr>
          <p:cNvPr id="5" name="Text 3"/>
          <p:cNvSpPr txBox="1"/>
          <p:nvPr/>
        </p:nvSpPr>
        <p:spPr>
          <a:xfrm>
            <a:off x="530352" y="1783080"/>
            <a:ext cx="11131296" cy="46634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630" dirty="0">
                <a:solidFill>
                  <a:srgbClr val="687782"/>
                </a:solidFill>
                <a:latin typeface="Arial" pitchFamily="34" charset="0"/>
                <a:ea typeface="Arial" pitchFamily="34" charset="-122"/>
                <a:cs typeface="Arial" pitchFamily="34" charset="-120"/>
              </a:rPr>
              <a:t>Historical formula illustration, not actual part prices. Unchanged base: JPY 16,370.</a:t>
            </a:r>
            <a:endParaRPr lang="en-US" sz="1630" dirty="0"/>
          </a:p>
        </p:txBody>
      </p:sp>
      <p:sp>
        <p:nvSpPr>
          <p:cNvPr id="6" name="Shape 4"/>
          <p:cNvSpPr/>
          <p:nvPr/>
        </p:nvSpPr>
        <p:spPr>
          <a:xfrm>
            <a:off x="530352" y="6382512"/>
            <a:ext cx="11131296" cy="0"/>
          </a:xfrm>
          <a:prstGeom prst="line">
            <a:avLst/>
          </a:prstGeom>
          <a:solidFill>
            <a:srgbClr val="FFFFFF">
              <a:alpha val="0"/>
            </a:srgbClr>
          </a:solidFill>
          <a:ln w="8890">
            <a:solidFill>
              <a:srgbClr val="DCE3E8"/>
            </a:solidFill>
            <a:prstDash val="solid"/>
          </a:ln>
        </p:spPr>
      </p:sp>
      <p:sp>
        <p:nvSpPr>
          <p:cNvPr id="7" name="Text 5"/>
          <p:cNvSpPr txBox="1"/>
          <p:nvPr/>
        </p:nvSpPr>
        <p:spPr>
          <a:xfrm>
            <a:off x="530352" y="6483096"/>
            <a:ext cx="10216896" cy="16459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810" dirty="0">
                <a:solidFill>
                  <a:srgbClr val="687782"/>
                </a:solidFill>
                <a:latin typeface="Arial" pitchFamily="34" charset="0"/>
                <a:ea typeface="Arial" pitchFamily="34" charset="-122"/>
                <a:cs typeface="Arial" pitchFamily="34" charset="-120"/>
              </a:rPr>
              <a:t>Source: Pricing Master and management policy. Detailed basis in speaker notes.</a:t>
            </a:r>
            <a:endParaRPr lang="en-US" sz="810" dirty="0"/>
          </a:p>
        </p:txBody>
      </p:sp>
      <p:sp>
        <p:nvSpPr>
          <p:cNvPr id="8" name="Text 6"/>
          <p:cNvSpPr txBox="1"/>
          <p:nvPr/>
        </p:nvSpPr>
        <p:spPr>
          <a:xfrm>
            <a:off x="10856976" y="6469380"/>
            <a:ext cx="804672" cy="21031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r" indent="0" marL="0">
              <a:buNone/>
            </a:pPr>
            <a:r>
              <a:rPr lang="en-US" sz="910" dirty="0">
                <a:solidFill>
                  <a:srgbClr val="687782"/>
                </a:solidFill>
                <a:latin typeface="Arial" pitchFamily="34" charset="0"/>
                <a:ea typeface="Arial" pitchFamily="34" charset="-122"/>
                <a:cs typeface="Arial" pitchFamily="34" charset="-120"/>
              </a:rPr>
              <a:t>v1.4  |  19</a:t>
            </a:r>
            <a:endParaRPr lang="en-US" sz="910" dirty="0"/>
          </a:p>
        </p:txBody>
      </p:sp>
      <p:sp>
        <p:nvSpPr>
          <p:cNvPr id="9" name="Shape 7"/>
          <p:cNvSpPr/>
          <p:nvPr/>
        </p:nvSpPr>
        <p:spPr>
          <a:xfrm>
            <a:off x="530352" y="2395728"/>
            <a:ext cx="4341205" cy="438912"/>
          </a:xfrm>
          <a:prstGeom prst="rect">
            <a:avLst/>
          </a:prstGeom>
          <a:solidFill>
            <a:srgbClr val="17232C"/>
          </a:solidFill>
          <a:ln w="12700">
            <a:solidFill>
              <a:srgbClr val="17232C">
                <a:alpha val="0"/>
              </a:srgbClr>
            </a:solidFill>
            <a:prstDash val="solid"/>
          </a:ln>
        </p:spPr>
      </p:sp>
      <p:sp>
        <p:nvSpPr>
          <p:cNvPr id="10" name="Text 8"/>
          <p:cNvSpPr txBox="1"/>
          <p:nvPr/>
        </p:nvSpPr>
        <p:spPr>
          <a:xfrm>
            <a:off x="658368" y="2468880"/>
            <a:ext cx="4085173" cy="29260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180" b="1" dirty="0">
                <a:solidFill>
                  <a:srgbClr val="FFFFFF"/>
                </a:solidFill>
                <a:latin typeface="Arial" pitchFamily="34" charset="0"/>
                <a:ea typeface="Arial" pitchFamily="34" charset="-122"/>
                <a:cs typeface="Arial" pitchFamily="34" charset="-120"/>
              </a:rPr>
              <a:t>INPUT / HISTORICAL FORMULA</a:t>
            </a:r>
            <a:endParaRPr lang="en-US" sz="1180" dirty="0"/>
          </a:p>
        </p:txBody>
      </p:sp>
      <p:sp>
        <p:nvSpPr>
          <p:cNvPr id="11" name="Shape 9"/>
          <p:cNvSpPr/>
          <p:nvPr/>
        </p:nvSpPr>
        <p:spPr>
          <a:xfrm>
            <a:off x="4871557" y="2395728"/>
            <a:ext cx="2448885" cy="438912"/>
          </a:xfrm>
          <a:prstGeom prst="rect">
            <a:avLst/>
          </a:prstGeom>
          <a:solidFill>
            <a:srgbClr val="17232C"/>
          </a:solidFill>
          <a:ln w="12700">
            <a:solidFill>
              <a:srgbClr val="17232C">
                <a:alpha val="0"/>
              </a:srgbClr>
            </a:solidFill>
            <a:prstDash val="solid"/>
          </a:ln>
        </p:spPr>
      </p:sp>
      <p:sp>
        <p:nvSpPr>
          <p:cNvPr id="12" name="Text 10"/>
          <p:cNvSpPr txBox="1"/>
          <p:nvPr/>
        </p:nvSpPr>
        <p:spPr>
          <a:xfrm>
            <a:off x="4999573" y="2468880"/>
            <a:ext cx="2192853" cy="29260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180" b="1" dirty="0">
                <a:solidFill>
                  <a:srgbClr val="FFFFFF"/>
                </a:solidFill>
                <a:latin typeface="Arial" pitchFamily="34" charset="0"/>
                <a:ea typeface="Arial" pitchFamily="34" charset="-122"/>
                <a:cs typeface="Arial" pitchFamily="34" charset="-120"/>
              </a:rPr>
              <a:t>OCT 2025 LIST BASIS</a:t>
            </a:r>
            <a:endParaRPr lang="en-US" sz="1180" dirty="0"/>
          </a:p>
        </p:txBody>
      </p:sp>
      <p:sp>
        <p:nvSpPr>
          <p:cNvPr id="13" name="Shape 11"/>
          <p:cNvSpPr/>
          <p:nvPr/>
        </p:nvSpPr>
        <p:spPr>
          <a:xfrm>
            <a:off x="7320443" y="2395728"/>
            <a:ext cx="1892320" cy="438912"/>
          </a:xfrm>
          <a:prstGeom prst="rect">
            <a:avLst/>
          </a:prstGeom>
          <a:solidFill>
            <a:srgbClr val="17232C"/>
          </a:solidFill>
          <a:ln w="12700">
            <a:solidFill>
              <a:srgbClr val="17232C">
                <a:alpha val="0"/>
              </a:srgbClr>
            </a:solidFill>
            <a:prstDash val="solid"/>
          </a:ln>
        </p:spPr>
      </p:sp>
      <p:sp>
        <p:nvSpPr>
          <p:cNvPr id="14" name="Text 12"/>
          <p:cNvSpPr txBox="1"/>
          <p:nvPr/>
        </p:nvSpPr>
        <p:spPr>
          <a:xfrm>
            <a:off x="7448459" y="2468880"/>
            <a:ext cx="1636288" cy="29260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180" b="1" dirty="0">
                <a:solidFill>
                  <a:srgbClr val="FFFFFF"/>
                </a:solidFill>
                <a:latin typeface="Arial" pitchFamily="34" charset="0"/>
                <a:ea typeface="Arial" pitchFamily="34" charset="-122"/>
                <a:cs typeface="Arial" pitchFamily="34" charset="-120"/>
              </a:rPr>
              <a:t>APR-SEP 2026</a:t>
            </a:r>
            <a:endParaRPr lang="en-US" sz="1180" dirty="0"/>
          </a:p>
        </p:txBody>
      </p:sp>
      <p:sp>
        <p:nvSpPr>
          <p:cNvPr id="15" name="Shape 13"/>
          <p:cNvSpPr/>
          <p:nvPr/>
        </p:nvSpPr>
        <p:spPr>
          <a:xfrm>
            <a:off x="9212763" y="2395728"/>
            <a:ext cx="2448885" cy="438912"/>
          </a:xfrm>
          <a:prstGeom prst="rect">
            <a:avLst/>
          </a:prstGeom>
          <a:solidFill>
            <a:srgbClr val="17232C"/>
          </a:solidFill>
          <a:ln w="12700">
            <a:solidFill>
              <a:srgbClr val="17232C">
                <a:alpha val="0"/>
              </a:srgbClr>
            </a:solidFill>
            <a:prstDash val="solid"/>
          </a:ln>
        </p:spPr>
      </p:sp>
      <p:sp>
        <p:nvSpPr>
          <p:cNvPr id="16" name="Text 14"/>
          <p:cNvSpPr txBox="1"/>
          <p:nvPr/>
        </p:nvSpPr>
        <p:spPr>
          <a:xfrm>
            <a:off x="9340779" y="2468880"/>
            <a:ext cx="2192853" cy="29260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180" b="1" dirty="0">
                <a:solidFill>
                  <a:srgbClr val="FFFFFF"/>
                </a:solidFill>
                <a:latin typeface="Arial" pitchFamily="34" charset="0"/>
                <a:ea typeface="Arial" pitchFamily="34" charset="-122"/>
                <a:cs typeface="Arial" pitchFamily="34" charset="-120"/>
              </a:rPr>
              <a:t>OCT 2026-MAR 2027</a:t>
            </a:r>
            <a:endParaRPr lang="en-US" sz="1180" dirty="0"/>
          </a:p>
        </p:txBody>
      </p:sp>
      <p:sp>
        <p:nvSpPr>
          <p:cNvPr id="17" name="Shape 15"/>
          <p:cNvSpPr/>
          <p:nvPr/>
        </p:nvSpPr>
        <p:spPr>
          <a:xfrm>
            <a:off x="530352" y="2834640"/>
            <a:ext cx="4341205" cy="512064"/>
          </a:xfrm>
          <a:prstGeom prst="rect">
            <a:avLst/>
          </a:prstGeom>
          <a:solidFill>
            <a:srgbClr val="EFF2F4"/>
          </a:solidFill>
          <a:ln w="12700">
            <a:solidFill>
              <a:srgbClr val="EFF2F4">
                <a:alpha val="0"/>
              </a:srgbClr>
            </a:solidFill>
            <a:prstDash val="solid"/>
          </a:ln>
        </p:spPr>
      </p:sp>
      <p:sp>
        <p:nvSpPr>
          <p:cNvPr id="18" name="Text 16"/>
          <p:cNvSpPr txBox="1"/>
          <p:nvPr/>
        </p:nvSpPr>
        <p:spPr>
          <a:xfrm>
            <a:off x="658368" y="2926080"/>
            <a:ext cx="4085173" cy="32918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520" b="1" dirty="0">
                <a:solidFill>
                  <a:srgbClr val="687782"/>
                </a:solidFill>
                <a:latin typeface="Arial" pitchFamily="34" charset="0"/>
                <a:ea typeface="Arial" pitchFamily="34" charset="-122"/>
                <a:cs typeface="Arial" pitchFamily="34" charset="-120"/>
              </a:rPr>
              <a:t>Corporate rate: JPY per EUR</a:t>
            </a:r>
            <a:endParaRPr lang="en-US" sz="1520" dirty="0"/>
          </a:p>
        </p:txBody>
      </p:sp>
      <p:sp>
        <p:nvSpPr>
          <p:cNvPr id="19" name="Shape 17"/>
          <p:cNvSpPr/>
          <p:nvPr/>
        </p:nvSpPr>
        <p:spPr>
          <a:xfrm>
            <a:off x="4871557" y="2834640"/>
            <a:ext cx="2448885" cy="512064"/>
          </a:xfrm>
          <a:prstGeom prst="rect">
            <a:avLst/>
          </a:prstGeom>
          <a:solidFill>
            <a:srgbClr val="EFF2F4"/>
          </a:solidFill>
          <a:ln w="12700">
            <a:solidFill>
              <a:srgbClr val="EFF2F4">
                <a:alpha val="0"/>
              </a:srgbClr>
            </a:solidFill>
            <a:prstDash val="solid"/>
          </a:ln>
        </p:spPr>
      </p:sp>
      <p:sp>
        <p:nvSpPr>
          <p:cNvPr id="20" name="Text 18"/>
          <p:cNvSpPr txBox="1"/>
          <p:nvPr/>
        </p:nvSpPr>
        <p:spPr>
          <a:xfrm>
            <a:off x="4999573" y="2926080"/>
            <a:ext cx="2192853" cy="32918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520" dirty="0">
                <a:solidFill>
                  <a:srgbClr val="17232C"/>
                </a:solidFill>
                <a:latin typeface="Arial" pitchFamily="34" charset="0"/>
                <a:ea typeface="Arial" pitchFamily="34" charset="-122"/>
                <a:cs typeface="Arial" pitchFamily="34" charset="-120"/>
              </a:rPr>
              <a:t>163.7</a:t>
            </a:r>
            <a:endParaRPr lang="en-US" sz="1520" dirty="0"/>
          </a:p>
        </p:txBody>
      </p:sp>
      <p:sp>
        <p:nvSpPr>
          <p:cNvPr id="21" name="Shape 19"/>
          <p:cNvSpPr/>
          <p:nvPr/>
        </p:nvSpPr>
        <p:spPr>
          <a:xfrm>
            <a:off x="7320443" y="2834640"/>
            <a:ext cx="1892320" cy="512064"/>
          </a:xfrm>
          <a:prstGeom prst="rect">
            <a:avLst/>
          </a:prstGeom>
          <a:solidFill>
            <a:srgbClr val="EFF2F4"/>
          </a:solidFill>
          <a:ln w="12700">
            <a:solidFill>
              <a:srgbClr val="EFF2F4">
                <a:alpha val="0"/>
              </a:srgbClr>
            </a:solidFill>
            <a:prstDash val="solid"/>
          </a:ln>
        </p:spPr>
      </p:sp>
      <p:sp>
        <p:nvSpPr>
          <p:cNvPr id="22" name="Text 20"/>
          <p:cNvSpPr txBox="1"/>
          <p:nvPr/>
        </p:nvSpPr>
        <p:spPr>
          <a:xfrm>
            <a:off x="7448459" y="2926080"/>
            <a:ext cx="1636288" cy="32918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520" dirty="0">
                <a:solidFill>
                  <a:srgbClr val="17232C"/>
                </a:solidFill>
                <a:latin typeface="Arial" pitchFamily="34" charset="0"/>
                <a:ea typeface="Arial" pitchFamily="34" charset="-122"/>
                <a:cs typeface="Arial" pitchFamily="34" charset="-120"/>
              </a:rPr>
              <a:t>172.6</a:t>
            </a:r>
            <a:endParaRPr lang="en-US" sz="1520" dirty="0"/>
          </a:p>
        </p:txBody>
      </p:sp>
      <p:sp>
        <p:nvSpPr>
          <p:cNvPr id="23" name="Shape 21"/>
          <p:cNvSpPr/>
          <p:nvPr/>
        </p:nvSpPr>
        <p:spPr>
          <a:xfrm>
            <a:off x="9212763" y="2834640"/>
            <a:ext cx="2448885" cy="512064"/>
          </a:xfrm>
          <a:prstGeom prst="rect">
            <a:avLst/>
          </a:prstGeom>
          <a:solidFill>
            <a:srgbClr val="EFF2F4"/>
          </a:solidFill>
          <a:ln w="12700">
            <a:solidFill>
              <a:srgbClr val="EFF2F4">
                <a:alpha val="0"/>
              </a:srgbClr>
            </a:solidFill>
            <a:prstDash val="solid"/>
          </a:ln>
        </p:spPr>
      </p:sp>
      <p:sp>
        <p:nvSpPr>
          <p:cNvPr id="24" name="Text 22"/>
          <p:cNvSpPr txBox="1"/>
          <p:nvPr/>
        </p:nvSpPr>
        <p:spPr>
          <a:xfrm>
            <a:off x="9340779" y="2926080"/>
            <a:ext cx="2192853" cy="32918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520" dirty="0">
                <a:solidFill>
                  <a:srgbClr val="17232C"/>
                </a:solidFill>
                <a:latin typeface="Arial" pitchFamily="34" charset="0"/>
                <a:ea typeface="Arial" pitchFamily="34" charset="-122"/>
                <a:cs typeface="Arial" pitchFamily="34" charset="-120"/>
              </a:rPr>
              <a:t>178.5</a:t>
            </a:r>
            <a:endParaRPr lang="en-US" sz="1520" dirty="0"/>
          </a:p>
        </p:txBody>
      </p:sp>
      <p:sp>
        <p:nvSpPr>
          <p:cNvPr id="25" name="Shape 23"/>
          <p:cNvSpPr/>
          <p:nvPr/>
        </p:nvSpPr>
        <p:spPr>
          <a:xfrm>
            <a:off x="530352" y="3346704"/>
            <a:ext cx="4341205" cy="512064"/>
          </a:xfrm>
          <a:prstGeom prst="rect">
            <a:avLst/>
          </a:prstGeom>
          <a:solidFill>
            <a:srgbClr val="FFFFFF"/>
          </a:solidFill>
          <a:ln w="12700">
            <a:solidFill>
              <a:srgbClr val="FFFFFF">
                <a:alpha val="0"/>
              </a:srgbClr>
            </a:solidFill>
            <a:prstDash val="solid"/>
          </a:ln>
        </p:spPr>
      </p:sp>
      <p:sp>
        <p:nvSpPr>
          <p:cNvPr id="26" name="Text 24"/>
          <p:cNvSpPr txBox="1"/>
          <p:nvPr/>
        </p:nvSpPr>
        <p:spPr>
          <a:xfrm>
            <a:off x="658368" y="3438144"/>
            <a:ext cx="4085173" cy="32918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520" b="1" dirty="0">
                <a:solidFill>
                  <a:srgbClr val="687782"/>
                </a:solidFill>
                <a:latin typeface="Arial" pitchFamily="34" charset="0"/>
                <a:ea typeface="Arial" pitchFamily="34" charset="-122"/>
                <a:cs typeface="Arial" pitchFamily="34" charset="-120"/>
              </a:rPr>
              <a:t>Japan purchasing discount</a:t>
            </a:r>
            <a:endParaRPr lang="en-US" sz="1520" dirty="0"/>
          </a:p>
        </p:txBody>
      </p:sp>
      <p:sp>
        <p:nvSpPr>
          <p:cNvPr id="27" name="Shape 25"/>
          <p:cNvSpPr/>
          <p:nvPr/>
        </p:nvSpPr>
        <p:spPr>
          <a:xfrm>
            <a:off x="4871557" y="3346704"/>
            <a:ext cx="2448885" cy="512064"/>
          </a:xfrm>
          <a:prstGeom prst="rect">
            <a:avLst/>
          </a:prstGeom>
          <a:solidFill>
            <a:srgbClr val="FFFFFF"/>
          </a:solidFill>
          <a:ln w="12700">
            <a:solidFill>
              <a:srgbClr val="FFFFFF">
                <a:alpha val="0"/>
              </a:srgbClr>
            </a:solidFill>
            <a:prstDash val="solid"/>
          </a:ln>
        </p:spPr>
      </p:sp>
      <p:sp>
        <p:nvSpPr>
          <p:cNvPr id="28" name="Text 26"/>
          <p:cNvSpPr txBox="1"/>
          <p:nvPr/>
        </p:nvSpPr>
        <p:spPr>
          <a:xfrm>
            <a:off x="4999573" y="3438144"/>
            <a:ext cx="2192853" cy="32918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520" dirty="0">
                <a:solidFill>
                  <a:srgbClr val="17232C"/>
                </a:solidFill>
                <a:latin typeface="Arial" pitchFamily="34" charset="0"/>
                <a:ea typeface="Arial" pitchFamily="34" charset="-122"/>
                <a:cs typeface="Arial" pitchFamily="34" charset="-120"/>
              </a:rPr>
              <a:t>38.0%</a:t>
            </a:r>
            <a:endParaRPr lang="en-US" sz="1520" dirty="0"/>
          </a:p>
        </p:txBody>
      </p:sp>
      <p:sp>
        <p:nvSpPr>
          <p:cNvPr id="29" name="Shape 27"/>
          <p:cNvSpPr/>
          <p:nvPr/>
        </p:nvSpPr>
        <p:spPr>
          <a:xfrm>
            <a:off x="7320443" y="3346704"/>
            <a:ext cx="1892320" cy="512064"/>
          </a:xfrm>
          <a:prstGeom prst="rect">
            <a:avLst/>
          </a:prstGeom>
          <a:solidFill>
            <a:srgbClr val="FFFFFF"/>
          </a:solidFill>
          <a:ln w="12700">
            <a:solidFill>
              <a:srgbClr val="FFFFFF">
                <a:alpha val="0"/>
              </a:srgbClr>
            </a:solidFill>
            <a:prstDash val="solid"/>
          </a:ln>
        </p:spPr>
      </p:sp>
      <p:sp>
        <p:nvSpPr>
          <p:cNvPr id="30" name="Text 28"/>
          <p:cNvSpPr txBox="1"/>
          <p:nvPr/>
        </p:nvSpPr>
        <p:spPr>
          <a:xfrm>
            <a:off x="7448459" y="3438144"/>
            <a:ext cx="1636288" cy="32918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520" dirty="0">
                <a:solidFill>
                  <a:srgbClr val="17232C"/>
                </a:solidFill>
                <a:latin typeface="Arial" pitchFamily="34" charset="0"/>
                <a:ea typeface="Arial" pitchFamily="34" charset="-122"/>
                <a:cs typeface="Arial" pitchFamily="34" charset="-120"/>
              </a:rPr>
              <a:t>32.7%</a:t>
            </a:r>
            <a:endParaRPr lang="en-US" sz="1520" dirty="0"/>
          </a:p>
        </p:txBody>
      </p:sp>
      <p:sp>
        <p:nvSpPr>
          <p:cNvPr id="31" name="Shape 29"/>
          <p:cNvSpPr/>
          <p:nvPr/>
        </p:nvSpPr>
        <p:spPr>
          <a:xfrm>
            <a:off x="9212763" y="3346704"/>
            <a:ext cx="2448885" cy="512064"/>
          </a:xfrm>
          <a:prstGeom prst="rect">
            <a:avLst/>
          </a:prstGeom>
          <a:solidFill>
            <a:srgbClr val="FFFFFF"/>
          </a:solidFill>
          <a:ln w="12700">
            <a:solidFill>
              <a:srgbClr val="FFFFFF">
                <a:alpha val="0"/>
              </a:srgbClr>
            </a:solidFill>
            <a:prstDash val="solid"/>
          </a:ln>
        </p:spPr>
      </p:sp>
      <p:sp>
        <p:nvSpPr>
          <p:cNvPr id="32" name="Text 30"/>
          <p:cNvSpPr txBox="1"/>
          <p:nvPr/>
        </p:nvSpPr>
        <p:spPr>
          <a:xfrm>
            <a:off x="9340779" y="3438144"/>
            <a:ext cx="2192853" cy="32918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520" dirty="0">
                <a:solidFill>
                  <a:srgbClr val="17232C"/>
                </a:solidFill>
                <a:latin typeface="Arial" pitchFamily="34" charset="0"/>
                <a:ea typeface="Arial" pitchFamily="34" charset="-122"/>
                <a:cs typeface="Arial" pitchFamily="34" charset="-120"/>
              </a:rPr>
              <a:t>32.7%</a:t>
            </a:r>
            <a:endParaRPr lang="en-US" sz="1520" dirty="0"/>
          </a:p>
        </p:txBody>
      </p:sp>
      <p:sp>
        <p:nvSpPr>
          <p:cNvPr id="33" name="Shape 31"/>
          <p:cNvSpPr/>
          <p:nvPr/>
        </p:nvSpPr>
        <p:spPr>
          <a:xfrm>
            <a:off x="530352" y="3858768"/>
            <a:ext cx="4341205" cy="512064"/>
          </a:xfrm>
          <a:prstGeom prst="rect">
            <a:avLst/>
          </a:prstGeom>
          <a:solidFill>
            <a:srgbClr val="EFF2F4"/>
          </a:solidFill>
          <a:ln w="12700">
            <a:solidFill>
              <a:srgbClr val="EFF2F4">
                <a:alpha val="0"/>
              </a:srgbClr>
            </a:solidFill>
            <a:prstDash val="solid"/>
          </a:ln>
        </p:spPr>
      </p:sp>
      <p:sp>
        <p:nvSpPr>
          <p:cNvPr id="34" name="Text 32"/>
          <p:cNvSpPr txBox="1"/>
          <p:nvPr/>
        </p:nvSpPr>
        <p:spPr>
          <a:xfrm>
            <a:off x="658368" y="3950208"/>
            <a:ext cx="4085173" cy="32918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520" b="1" dirty="0">
                <a:solidFill>
                  <a:srgbClr val="687782"/>
                </a:solidFill>
                <a:latin typeface="Arial" pitchFamily="34" charset="0"/>
                <a:ea typeface="Arial" pitchFamily="34" charset="-122"/>
                <a:cs typeface="Arial" pitchFamily="34" charset="-120"/>
              </a:rPr>
              <a:t>Purchase cost in the formula</a:t>
            </a:r>
            <a:endParaRPr lang="en-US" sz="1520" dirty="0"/>
          </a:p>
        </p:txBody>
      </p:sp>
      <p:sp>
        <p:nvSpPr>
          <p:cNvPr id="35" name="Shape 33"/>
          <p:cNvSpPr/>
          <p:nvPr/>
        </p:nvSpPr>
        <p:spPr>
          <a:xfrm>
            <a:off x="4871557" y="3858768"/>
            <a:ext cx="2448885" cy="512064"/>
          </a:xfrm>
          <a:prstGeom prst="rect">
            <a:avLst/>
          </a:prstGeom>
          <a:solidFill>
            <a:srgbClr val="EFF2F4"/>
          </a:solidFill>
          <a:ln w="12700">
            <a:solidFill>
              <a:srgbClr val="EFF2F4">
                <a:alpha val="0"/>
              </a:srgbClr>
            </a:solidFill>
            <a:prstDash val="solid"/>
          </a:ln>
        </p:spPr>
      </p:sp>
      <p:sp>
        <p:nvSpPr>
          <p:cNvPr id="36" name="Text 34"/>
          <p:cNvSpPr txBox="1"/>
          <p:nvPr/>
        </p:nvSpPr>
        <p:spPr>
          <a:xfrm>
            <a:off x="4999573" y="3950208"/>
            <a:ext cx="2192853" cy="32918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520" dirty="0">
                <a:solidFill>
                  <a:srgbClr val="17232C"/>
                </a:solidFill>
                <a:latin typeface="Arial" pitchFamily="34" charset="0"/>
                <a:ea typeface="Arial" pitchFamily="34" charset="-122"/>
                <a:cs typeface="Arial" pitchFamily="34" charset="-120"/>
              </a:rPr>
              <a:t>€62.00</a:t>
            </a:r>
            <a:endParaRPr lang="en-US" sz="1520" dirty="0"/>
          </a:p>
        </p:txBody>
      </p:sp>
      <p:sp>
        <p:nvSpPr>
          <p:cNvPr id="37" name="Shape 35"/>
          <p:cNvSpPr/>
          <p:nvPr/>
        </p:nvSpPr>
        <p:spPr>
          <a:xfrm>
            <a:off x="7320443" y="3858768"/>
            <a:ext cx="1892320" cy="512064"/>
          </a:xfrm>
          <a:prstGeom prst="rect">
            <a:avLst/>
          </a:prstGeom>
          <a:solidFill>
            <a:srgbClr val="EFF2F4"/>
          </a:solidFill>
          <a:ln w="12700">
            <a:solidFill>
              <a:srgbClr val="EFF2F4">
                <a:alpha val="0"/>
              </a:srgbClr>
            </a:solidFill>
            <a:prstDash val="solid"/>
          </a:ln>
        </p:spPr>
      </p:sp>
      <p:sp>
        <p:nvSpPr>
          <p:cNvPr id="38" name="Text 36"/>
          <p:cNvSpPr txBox="1"/>
          <p:nvPr/>
        </p:nvSpPr>
        <p:spPr>
          <a:xfrm>
            <a:off x="7448459" y="3950208"/>
            <a:ext cx="1636288" cy="32918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520" dirty="0">
                <a:solidFill>
                  <a:srgbClr val="17232C"/>
                </a:solidFill>
                <a:latin typeface="Arial" pitchFamily="34" charset="0"/>
                <a:ea typeface="Arial" pitchFamily="34" charset="-122"/>
                <a:cs typeface="Arial" pitchFamily="34" charset="-120"/>
              </a:rPr>
              <a:t>€63.83</a:t>
            </a:r>
            <a:endParaRPr lang="en-US" sz="1520" dirty="0"/>
          </a:p>
        </p:txBody>
      </p:sp>
      <p:sp>
        <p:nvSpPr>
          <p:cNvPr id="39" name="Shape 37"/>
          <p:cNvSpPr/>
          <p:nvPr/>
        </p:nvSpPr>
        <p:spPr>
          <a:xfrm>
            <a:off x="9212763" y="3858768"/>
            <a:ext cx="2448885" cy="512064"/>
          </a:xfrm>
          <a:prstGeom prst="rect">
            <a:avLst/>
          </a:prstGeom>
          <a:solidFill>
            <a:srgbClr val="EFF2F4"/>
          </a:solidFill>
          <a:ln w="12700">
            <a:solidFill>
              <a:srgbClr val="EFF2F4">
                <a:alpha val="0"/>
              </a:srgbClr>
            </a:solidFill>
            <a:prstDash val="solid"/>
          </a:ln>
        </p:spPr>
      </p:sp>
      <p:sp>
        <p:nvSpPr>
          <p:cNvPr id="40" name="Text 38"/>
          <p:cNvSpPr txBox="1"/>
          <p:nvPr/>
        </p:nvSpPr>
        <p:spPr>
          <a:xfrm>
            <a:off x="9340779" y="3950208"/>
            <a:ext cx="2192853" cy="32918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520" dirty="0">
                <a:solidFill>
                  <a:srgbClr val="17232C"/>
                </a:solidFill>
                <a:latin typeface="Arial" pitchFamily="34" charset="0"/>
                <a:ea typeface="Arial" pitchFamily="34" charset="-122"/>
                <a:cs typeface="Arial" pitchFamily="34" charset="-120"/>
              </a:rPr>
              <a:t>€61.72</a:t>
            </a:r>
            <a:endParaRPr lang="en-US" sz="1520" dirty="0"/>
          </a:p>
        </p:txBody>
      </p:sp>
      <p:sp>
        <p:nvSpPr>
          <p:cNvPr id="41" name="Shape 39"/>
          <p:cNvSpPr/>
          <p:nvPr/>
        </p:nvSpPr>
        <p:spPr>
          <a:xfrm>
            <a:off x="530352" y="4370832"/>
            <a:ext cx="4341205" cy="512064"/>
          </a:xfrm>
          <a:prstGeom prst="rect">
            <a:avLst/>
          </a:prstGeom>
          <a:solidFill>
            <a:srgbClr val="FFFFFF"/>
          </a:solidFill>
          <a:ln w="12700">
            <a:solidFill>
              <a:srgbClr val="FFFFFF">
                <a:alpha val="0"/>
              </a:srgbClr>
            </a:solidFill>
            <a:prstDash val="solid"/>
          </a:ln>
        </p:spPr>
      </p:sp>
      <p:sp>
        <p:nvSpPr>
          <p:cNvPr id="42" name="Text 40"/>
          <p:cNvSpPr txBox="1"/>
          <p:nvPr/>
        </p:nvSpPr>
        <p:spPr>
          <a:xfrm>
            <a:off x="658368" y="4462272"/>
            <a:ext cx="4085173" cy="32918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520" b="1" dirty="0">
                <a:solidFill>
                  <a:srgbClr val="687782"/>
                </a:solidFill>
                <a:latin typeface="Arial" pitchFamily="34" charset="0"/>
                <a:ea typeface="Arial" pitchFamily="34" charset="-122"/>
                <a:cs typeface="Arial" pitchFamily="34" charset="-120"/>
              </a:rPr>
              <a:t>Old Class C rule: 53% margin</a:t>
            </a:r>
            <a:endParaRPr lang="en-US" sz="1520" dirty="0"/>
          </a:p>
        </p:txBody>
      </p:sp>
      <p:sp>
        <p:nvSpPr>
          <p:cNvPr id="43" name="Shape 41"/>
          <p:cNvSpPr/>
          <p:nvPr/>
        </p:nvSpPr>
        <p:spPr>
          <a:xfrm>
            <a:off x="4871557" y="4370832"/>
            <a:ext cx="2448885" cy="512064"/>
          </a:xfrm>
          <a:prstGeom prst="rect">
            <a:avLst/>
          </a:prstGeom>
          <a:solidFill>
            <a:srgbClr val="FFFFFF"/>
          </a:solidFill>
          <a:ln w="12700">
            <a:solidFill>
              <a:srgbClr val="FFFFFF">
                <a:alpha val="0"/>
              </a:srgbClr>
            </a:solidFill>
            <a:prstDash val="solid"/>
          </a:ln>
        </p:spPr>
      </p:sp>
      <p:sp>
        <p:nvSpPr>
          <p:cNvPr id="44" name="Text 42"/>
          <p:cNvSpPr txBox="1"/>
          <p:nvPr/>
        </p:nvSpPr>
        <p:spPr>
          <a:xfrm>
            <a:off x="4999573" y="4462272"/>
            <a:ext cx="2192853" cy="32918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520" dirty="0">
                <a:solidFill>
                  <a:srgbClr val="17232C"/>
                </a:solidFill>
                <a:latin typeface="Arial" pitchFamily="34" charset="0"/>
                <a:ea typeface="Arial" pitchFamily="34" charset="-122"/>
                <a:cs typeface="Arial" pitchFamily="34" charset="-120"/>
              </a:rPr>
              <a:t>€131.91</a:t>
            </a:r>
            <a:endParaRPr lang="en-US" sz="1520" dirty="0"/>
          </a:p>
        </p:txBody>
      </p:sp>
      <p:sp>
        <p:nvSpPr>
          <p:cNvPr id="45" name="Shape 43"/>
          <p:cNvSpPr/>
          <p:nvPr/>
        </p:nvSpPr>
        <p:spPr>
          <a:xfrm>
            <a:off x="7320443" y="4370832"/>
            <a:ext cx="1892320" cy="512064"/>
          </a:xfrm>
          <a:prstGeom prst="rect">
            <a:avLst/>
          </a:prstGeom>
          <a:solidFill>
            <a:srgbClr val="FFFFFF"/>
          </a:solidFill>
          <a:ln w="12700">
            <a:solidFill>
              <a:srgbClr val="FFFFFF">
                <a:alpha val="0"/>
              </a:srgbClr>
            </a:solidFill>
            <a:prstDash val="solid"/>
          </a:ln>
        </p:spPr>
      </p:sp>
      <p:sp>
        <p:nvSpPr>
          <p:cNvPr id="46" name="Text 44"/>
          <p:cNvSpPr txBox="1"/>
          <p:nvPr/>
        </p:nvSpPr>
        <p:spPr>
          <a:xfrm>
            <a:off x="7448459" y="4462272"/>
            <a:ext cx="1636288" cy="32918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520" dirty="0">
                <a:solidFill>
                  <a:srgbClr val="17232C"/>
                </a:solidFill>
                <a:latin typeface="Arial" pitchFamily="34" charset="0"/>
                <a:ea typeface="Arial" pitchFamily="34" charset="-122"/>
                <a:cs typeface="Arial" pitchFamily="34" charset="-120"/>
              </a:rPr>
              <a:t>€135.81</a:t>
            </a:r>
            <a:endParaRPr lang="en-US" sz="1520" dirty="0"/>
          </a:p>
        </p:txBody>
      </p:sp>
      <p:sp>
        <p:nvSpPr>
          <p:cNvPr id="47" name="Shape 45"/>
          <p:cNvSpPr/>
          <p:nvPr/>
        </p:nvSpPr>
        <p:spPr>
          <a:xfrm>
            <a:off x="9212763" y="4370832"/>
            <a:ext cx="2448885" cy="512064"/>
          </a:xfrm>
          <a:prstGeom prst="rect">
            <a:avLst/>
          </a:prstGeom>
          <a:solidFill>
            <a:srgbClr val="FFFFFF"/>
          </a:solidFill>
          <a:ln w="12700">
            <a:solidFill>
              <a:srgbClr val="FFFFFF">
                <a:alpha val="0"/>
              </a:srgbClr>
            </a:solidFill>
            <a:prstDash val="solid"/>
          </a:ln>
        </p:spPr>
      </p:sp>
      <p:sp>
        <p:nvSpPr>
          <p:cNvPr id="48" name="Text 46"/>
          <p:cNvSpPr txBox="1"/>
          <p:nvPr/>
        </p:nvSpPr>
        <p:spPr>
          <a:xfrm>
            <a:off x="9340779" y="4462272"/>
            <a:ext cx="2192853" cy="32918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520" dirty="0">
                <a:solidFill>
                  <a:srgbClr val="17232C"/>
                </a:solidFill>
                <a:latin typeface="Arial" pitchFamily="34" charset="0"/>
                <a:ea typeface="Arial" pitchFamily="34" charset="-122"/>
                <a:cs typeface="Arial" pitchFamily="34" charset="-120"/>
              </a:rPr>
              <a:t>€131.32</a:t>
            </a:r>
            <a:endParaRPr lang="en-US" sz="1520" dirty="0"/>
          </a:p>
        </p:txBody>
      </p:sp>
      <p:sp>
        <p:nvSpPr>
          <p:cNvPr id="49" name="Shape 47"/>
          <p:cNvSpPr/>
          <p:nvPr/>
        </p:nvSpPr>
        <p:spPr>
          <a:xfrm>
            <a:off x="530352" y="4882896"/>
            <a:ext cx="4341205" cy="512064"/>
          </a:xfrm>
          <a:prstGeom prst="rect">
            <a:avLst/>
          </a:prstGeom>
          <a:solidFill>
            <a:srgbClr val="EFF2F4"/>
          </a:solidFill>
          <a:ln w="12700">
            <a:solidFill>
              <a:srgbClr val="EFF2F4">
                <a:alpha val="0"/>
              </a:srgbClr>
            </a:solidFill>
            <a:prstDash val="solid"/>
          </a:ln>
        </p:spPr>
      </p:sp>
      <p:sp>
        <p:nvSpPr>
          <p:cNvPr id="50" name="Text 48"/>
          <p:cNvSpPr txBox="1"/>
          <p:nvPr/>
        </p:nvSpPr>
        <p:spPr>
          <a:xfrm>
            <a:off x="658368" y="4974336"/>
            <a:ext cx="4085173" cy="32918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520" b="1" dirty="0">
                <a:solidFill>
                  <a:srgbClr val="687782"/>
                </a:solidFill>
                <a:latin typeface="Arial" pitchFamily="34" charset="0"/>
                <a:ea typeface="Arial" pitchFamily="34" charset="-122"/>
                <a:cs typeface="Arial" pitchFamily="34" charset="-120"/>
              </a:rPr>
              <a:t>Old Class V rule: 45% margin</a:t>
            </a:r>
            <a:endParaRPr lang="en-US" sz="1520" dirty="0"/>
          </a:p>
        </p:txBody>
      </p:sp>
      <p:sp>
        <p:nvSpPr>
          <p:cNvPr id="51" name="Shape 49"/>
          <p:cNvSpPr/>
          <p:nvPr/>
        </p:nvSpPr>
        <p:spPr>
          <a:xfrm>
            <a:off x="4871557" y="4882896"/>
            <a:ext cx="2448885" cy="512064"/>
          </a:xfrm>
          <a:prstGeom prst="rect">
            <a:avLst/>
          </a:prstGeom>
          <a:solidFill>
            <a:srgbClr val="EFF2F4"/>
          </a:solidFill>
          <a:ln w="12700">
            <a:solidFill>
              <a:srgbClr val="EFF2F4">
                <a:alpha val="0"/>
              </a:srgbClr>
            </a:solidFill>
            <a:prstDash val="solid"/>
          </a:ln>
        </p:spPr>
      </p:sp>
      <p:sp>
        <p:nvSpPr>
          <p:cNvPr id="52" name="Text 50"/>
          <p:cNvSpPr txBox="1"/>
          <p:nvPr/>
        </p:nvSpPr>
        <p:spPr>
          <a:xfrm>
            <a:off x="4999573" y="4974336"/>
            <a:ext cx="2192853" cy="32918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520" dirty="0">
                <a:solidFill>
                  <a:srgbClr val="17232C"/>
                </a:solidFill>
                <a:latin typeface="Arial" pitchFamily="34" charset="0"/>
                <a:ea typeface="Arial" pitchFamily="34" charset="-122"/>
                <a:cs typeface="Arial" pitchFamily="34" charset="-120"/>
              </a:rPr>
              <a:t>€112.73</a:t>
            </a:r>
            <a:endParaRPr lang="en-US" sz="1520" dirty="0"/>
          </a:p>
        </p:txBody>
      </p:sp>
      <p:sp>
        <p:nvSpPr>
          <p:cNvPr id="53" name="Shape 51"/>
          <p:cNvSpPr/>
          <p:nvPr/>
        </p:nvSpPr>
        <p:spPr>
          <a:xfrm>
            <a:off x="7320443" y="4882896"/>
            <a:ext cx="1892320" cy="512064"/>
          </a:xfrm>
          <a:prstGeom prst="rect">
            <a:avLst/>
          </a:prstGeom>
          <a:solidFill>
            <a:srgbClr val="EFF2F4"/>
          </a:solidFill>
          <a:ln w="12700">
            <a:solidFill>
              <a:srgbClr val="EFF2F4">
                <a:alpha val="0"/>
              </a:srgbClr>
            </a:solidFill>
            <a:prstDash val="solid"/>
          </a:ln>
        </p:spPr>
      </p:sp>
      <p:sp>
        <p:nvSpPr>
          <p:cNvPr id="54" name="Text 52"/>
          <p:cNvSpPr txBox="1"/>
          <p:nvPr/>
        </p:nvSpPr>
        <p:spPr>
          <a:xfrm>
            <a:off x="7448459" y="4974336"/>
            <a:ext cx="1636288" cy="32918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520" dirty="0">
                <a:solidFill>
                  <a:srgbClr val="17232C"/>
                </a:solidFill>
                <a:latin typeface="Arial" pitchFamily="34" charset="0"/>
                <a:ea typeface="Arial" pitchFamily="34" charset="-122"/>
                <a:cs typeface="Arial" pitchFamily="34" charset="-120"/>
              </a:rPr>
              <a:t>€116.05</a:t>
            </a:r>
            <a:endParaRPr lang="en-US" sz="1520" dirty="0"/>
          </a:p>
        </p:txBody>
      </p:sp>
      <p:sp>
        <p:nvSpPr>
          <p:cNvPr id="55" name="Shape 53"/>
          <p:cNvSpPr/>
          <p:nvPr/>
        </p:nvSpPr>
        <p:spPr>
          <a:xfrm>
            <a:off x="9212763" y="4882896"/>
            <a:ext cx="2448885" cy="512064"/>
          </a:xfrm>
          <a:prstGeom prst="rect">
            <a:avLst/>
          </a:prstGeom>
          <a:solidFill>
            <a:srgbClr val="EFF2F4"/>
          </a:solidFill>
          <a:ln w="12700">
            <a:solidFill>
              <a:srgbClr val="EFF2F4">
                <a:alpha val="0"/>
              </a:srgbClr>
            </a:solidFill>
            <a:prstDash val="solid"/>
          </a:ln>
        </p:spPr>
      </p:sp>
      <p:sp>
        <p:nvSpPr>
          <p:cNvPr id="56" name="Text 54"/>
          <p:cNvSpPr txBox="1"/>
          <p:nvPr/>
        </p:nvSpPr>
        <p:spPr>
          <a:xfrm>
            <a:off x="9340779" y="4974336"/>
            <a:ext cx="2192853" cy="32918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520" dirty="0">
                <a:solidFill>
                  <a:srgbClr val="17232C"/>
                </a:solidFill>
                <a:latin typeface="Arial" pitchFamily="34" charset="0"/>
                <a:ea typeface="Arial" pitchFamily="34" charset="-122"/>
                <a:cs typeface="Arial" pitchFamily="34" charset="-120"/>
              </a:rPr>
              <a:t>€112.22</a:t>
            </a:r>
            <a:endParaRPr lang="en-US" sz="1520" dirty="0"/>
          </a:p>
        </p:txBody>
      </p:sp>
      <p:sp>
        <p:nvSpPr>
          <p:cNvPr id="57" name="Shape 55"/>
          <p:cNvSpPr/>
          <p:nvPr/>
        </p:nvSpPr>
        <p:spPr>
          <a:xfrm>
            <a:off x="530352" y="5614416"/>
            <a:ext cx="11131296" cy="466344"/>
          </a:xfrm>
          <a:prstGeom prst="rect">
            <a:avLst/>
          </a:prstGeom>
          <a:solidFill>
            <a:srgbClr val="FBEDEF"/>
          </a:solidFill>
          <a:ln w="12700">
            <a:solidFill>
              <a:srgbClr val="FBEDEF">
                <a:alpha val="0"/>
              </a:srgbClr>
            </a:solidFill>
            <a:prstDash val="solid"/>
          </a:ln>
        </p:spPr>
      </p:sp>
      <p:sp>
        <p:nvSpPr>
          <p:cNvPr id="58" name="Text 56"/>
          <p:cNvSpPr txBox="1"/>
          <p:nvPr/>
        </p:nvSpPr>
        <p:spPr>
          <a:xfrm>
            <a:off x="658368" y="5733288"/>
            <a:ext cx="10875264" cy="21945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310" b="1" dirty="0">
                <a:solidFill>
                  <a:srgbClr val="17232C"/>
                </a:solidFill>
                <a:latin typeface="Arial" pitchFamily="34" charset="0"/>
                <a:ea typeface="Arial" pitchFamily="34" charset="-122"/>
                <a:cs typeface="Arial" pitchFamily="34" charset="-120"/>
              </a:rPr>
              <a:t>Japan terms changed on 5 January. The October rate is announced, not yet effective on 19 September.</a:t>
            </a:r>
            <a:endParaRPr lang="en-US" sz="1310" dirty="0"/>
          </a:p>
        </p:txBody>
      </p:sp>
    </p:spTree>
  </p:cSld>
  <p:clrMapOvr>
    <a:masterClrMapping/>
  </p:clrMapOvr>
  <p:transition spd="fast" advClick="1">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30352" y="301752"/>
            <a:ext cx="950976"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000" b="1" dirty="0">
                <a:solidFill>
                  <a:srgbClr val="ED0016"/>
                </a:solidFill>
                <a:latin typeface="Arial" pitchFamily="34" charset="0"/>
                <a:ea typeface="Arial" pitchFamily="34" charset="-122"/>
                <a:cs typeface="Arial" pitchFamily="34" charset="-120"/>
              </a:rPr>
              <a:t>ISUZU</a:t>
            </a:r>
            <a:endParaRPr lang="en-US" sz="2000" dirty="0"/>
          </a:p>
        </p:txBody>
      </p:sp>
      <p:sp>
        <p:nvSpPr>
          <p:cNvPr id="3" name="Text 1"/>
          <p:cNvSpPr txBox="1"/>
          <p:nvPr/>
        </p:nvSpPr>
        <p:spPr>
          <a:xfrm>
            <a:off x="1856232" y="347472"/>
            <a:ext cx="9418320" cy="16459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980" b="1" spc="145" kern="0" dirty="0">
                <a:solidFill>
                  <a:srgbClr val="687782"/>
                </a:solidFill>
                <a:latin typeface="Arial" pitchFamily="34" charset="0"/>
                <a:ea typeface="Arial" pitchFamily="34" charset="-122"/>
                <a:cs typeface="Arial" pitchFamily="34" charset="-120"/>
              </a:rPr>
              <a:t>APPENDIX B | A REAL COMPARATOR RANGE</a:t>
            </a:r>
            <a:endParaRPr lang="en-US" sz="980" dirty="0"/>
          </a:p>
        </p:txBody>
      </p:sp>
      <p:sp>
        <p:nvSpPr>
          <p:cNvPr id="4" name="Text 2"/>
          <p:cNvSpPr txBox="1"/>
          <p:nvPr/>
        </p:nvSpPr>
        <p:spPr>
          <a:xfrm>
            <a:off x="530352" y="960120"/>
            <a:ext cx="11131296" cy="76809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3020" b="1" dirty="0">
                <a:solidFill>
                  <a:srgbClr val="17232C"/>
                </a:solidFill>
                <a:latin typeface="Arial" pitchFamily="34" charset="0"/>
                <a:ea typeface="Arial" pitchFamily="34" charset="-122"/>
                <a:cs typeface="Arial" pitchFamily="34" charset="-120"/>
              </a:rPr>
              <a:t>There is a price range for a part, not one aftermarket price.</a:t>
            </a:r>
            <a:endParaRPr lang="en-US" sz="3020" dirty="0"/>
          </a:p>
        </p:txBody>
      </p:sp>
      <p:sp>
        <p:nvSpPr>
          <p:cNvPr id="5" name="Text 3"/>
          <p:cNvSpPr txBox="1"/>
          <p:nvPr/>
        </p:nvSpPr>
        <p:spPr>
          <a:xfrm>
            <a:off x="530352" y="1783080"/>
            <a:ext cx="11131296" cy="46634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630" dirty="0">
                <a:solidFill>
                  <a:srgbClr val="687782"/>
                </a:solidFill>
                <a:latin typeface="Arial" pitchFamily="34" charset="0"/>
                <a:ea typeface="Arial" pitchFamily="34" charset="-122"/>
                <a:cs typeface="Arial" pitchFamily="34" charset="-120"/>
              </a:rPr>
              <a:t>Part number 8975546610. Historical Eucon / PartsPool sample: 42 online listings.</a:t>
            </a:r>
            <a:endParaRPr lang="en-US" sz="1630" dirty="0"/>
          </a:p>
        </p:txBody>
      </p:sp>
      <p:sp>
        <p:nvSpPr>
          <p:cNvPr id="6" name="Shape 4"/>
          <p:cNvSpPr/>
          <p:nvPr/>
        </p:nvSpPr>
        <p:spPr>
          <a:xfrm>
            <a:off x="530352" y="6382512"/>
            <a:ext cx="11131296" cy="0"/>
          </a:xfrm>
          <a:prstGeom prst="line">
            <a:avLst/>
          </a:prstGeom>
          <a:solidFill>
            <a:srgbClr val="FFFFFF">
              <a:alpha val="0"/>
            </a:srgbClr>
          </a:solidFill>
          <a:ln w="8890">
            <a:solidFill>
              <a:srgbClr val="DCE3E8"/>
            </a:solidFill>
            <a:prstDash val="solid"/>
          </a:ln>
        </p:spPr>
      </p:sp>
      <p:sp>
        <p:nvSpPr>
          <p:cNvPr id="7" name="Text 5"/>
          <p:cNvSpPr txBox="1"/>
          <p:nvPr/>
        </p:nvSpPr>
        <p:spPr>
          <a:xfrm>
            <a:off x="530352" y="6483096"/>
            <a:ext cx="10216896" cy="16459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810" dirty="0">
                <a:solidFill>
                  <a:srgbClr val="687782"/>
                </a:solidFill>
                <a:latin typeface="Arial" pitchFamily="34" charset="0"/>
                <a:ea typeface="Arial" pitchFamily="34" charset="-122"/>
                <a:cs typeface="Arial" pitchFamily="34" charset="-120"/>
              </a:rPr>
              <a:t>Source: Pricing Master. Eucon / PartsPool, March 2026; ISZE reference from the 2026 Price Master.</a:t>
            </a:r>
            <a:endParaRPr lang="en-US" sz="810" dirty="0"/>
          </a:p>
        </p:txBody>
      </p:sp>
      <p:sp>
        <p:nvSpPr>
          <p:cNvPr id="8" name="Text 6"/>
          <p:cNvSpPr txBox="1"/>
          <p:nvPr/>
        </p:nvSpPr>
        <p:spPr>
          <a:xfrm>
            <a:off x="10856976" y="6469380"/>
            <a:ext cx="804672" cy="21031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r" indent="0" marL="0">
              <a:buNone/>
            </a:pPr>
            <a:r>
              <a:rPr lang="en-US" sz="910" dirty="0">
                <a:solidFill>
                  <a:srgbClr val="687782"/>
                </a:solidFill>
                <a:latin typeface="Arial" pitchFamily="34" charset="0"/>
                <a:ea typeface="Arial" pitchFamily="34" charset="-122"/>
                <a:cs typeface="Arial" pitchFamily="34" charset="-120"/>
              </a:rPr>
              <a:t>v1.4  |  20</a:t>
            </a:r>
            <a:endParaRPr lang="en-US" sz="910" dirty="0"/>
          </a:p>
        </p:txBody>
      </p:sp>
      <p:sp>
        <p:nvSpPr>
          <p:cNvPr id="9" name="Shape 7"/>
          <p:cNvSpPr/>
          <p:nvPr/>
        </p:nvSpPr>
        <p:spPr>
          <a:xfrm>
            <a:off x="530352" y="2670048"/>
            <a:ext cx="3401568" cy="1764792"/>
          </a:xfrm>
          <a:prstGeom prst="rect">
            <a:avLst/>
          </a:prstGeom>
          <a:solidFill>
            <a:srgbClr val="EFF2F4"/>
          </a:solidFill>
          <a:ln w="12700">
            <a:solidFill>
              <a:srgbClr val="EFF2F4">
                <a:alpha val="0"/>
              </a:srgbClr>
            </a:solidFill>
            <a:prstDash val="solid"/>
          </a:ln>
        </p:spPr>
      </p:sp>
      <p:sp>
        <p:nvSpPr>
          <p:cNvPr id="10" name="Text 8"/>
          <p:cNvSpPr txBox="1"/>
          <p:nvPr/>
        </p:nvSpPr>
        <p:spPr>
          <a:xfrm>
            <a:off x="731520" y="2898648"/>
            <a:ext cx="2980944" cy="21031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100" b="1" dirty="0">
                <a:solidFill>
                  <a:srgbClr val="687782"/>
                </a:solidFill>
                <a:latin typeface="Arial" pitchFamily="34" charset="0"/>
                <a:ea typeface="Arial" pitchFamily="34" charset="-122"/>
                <a:cs typeface="Arial" pitchFamily="34" charset="-120"/>
              </a:rPr>
              <a:t>LOW END</a:t>
            </a:r>
            <a:endParaRPr lang="en-US" sz="1100" dirty="0"/>
          </a:p>
        </p:txBody>
      </p:sp>
      <p:sp>
        <p:nvSpPr>
          <p:cNvPr id="11" name="Text 9"/>
          <p:cNvSpPr txBox="1"/>
          <p:nvPr/>
        </p:nvSpPr>
        <p:spPr>
          <a:xfrm>
            <a:off x="731520" y="3355848"/>
            <a:ext cx="2980944" cy="53949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3600" b="1" dirty="0">
                <a:solidFill>
                  <a:srgbClr val="17232C"/>
                </a:solidFill>
                <a:latin typeface="Arial" pitchFamily="34" charset="0"/>
                <a:ea typeface="Arial" pitchFamily="34" charset="-122"/>
                <a:cs typeface="Arial" pitchFamily="34" charset="-120"/>
              </a:rPr>
              <a:t>€17.09</a:t>
            </a:r>
            <a:endParaRPr lang="en-US" sz="3600" dirty="0"/>
          </a:p>
        </p:txBody>
      </p:sp>
      <p:sp>
        <p:nvSpPr>
          <p:cNvPr id="12" name="Text 10"/>
          <p:cNvSpPr txBox="1"/>
          <p:nvPr/>
        </p:nvSpPr>
        <p:spPr>
          <a:xfrm>
            <a:off x="731520" y="4069080"/>
            <a:ext cx="2980944" cy="21031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550" dirty="0">
                <a:solidFill>
                  <a:srgbClr val="687782"/>
                </a:solidFill>
                <a:latin typeface="Arial" pitchFamily="34" charset="0"/>
                <a:ea typeface="Arial" pitchFamily="34" charset="-122"/>
                <a:cs typeface="Arial" pitchFamily="34" charset="-120"/>
              </a:rPr>
              <a:t>Rap Brakes</a:t>
            </a:r>
            <a:endParaRPr lang="en-US" sz="1550" dirty="0"/>
          </a:p>
        </p:txBody>
      </p:sp>
      <p:sp>
        <p:nvSpPr>
          <p:cNvPr id="13" name="Shape 11"/>
          <p:cNvSpPr/>
          <p:nvPr/>
        </p:nvSpPr>
        <p:spPr>
          <a:xfrm>
            <a:off x="4389120" y="2670048"/>
            <a:ext cx="3401568" cy="1764792"/>
          </a:xfrm>
          <a:prstGeom prst="rect">
            <a:avLst/>
          </a:prstGeom>
          <a:solidFill>
            <a:srgbClr val="EFF2F4"/>
          </a:solidFill>
          <a:ln w="12700">
            <a:solidFill>
              <a:srgbClr val="EFF2F4">
                <a:alpha val="0"/>
              </a:srgbClr>
            </a:solidFill>
            <a:prstDash val="solid"/>
          </a:ln>
        </p:spPr>
      </p:sp>
      <p:sp>
        <p:nvSpPr>
          <p:cNvPr id="14" name="Text 12"/>
          <p:cNvSpPr txBox="1"/>
          <p:nvPr/>
        </p:nvSpPr>
        <p:spPr>
          <a:xfrm>
            <a:off x="4590288" y="2898648"/>
            <a:ext cx="2980944" cy="21031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100" b="1" dirty="0">
                <a:solidFill>
                  <a:srgbClr val="687782"/>
                </a:solidFill>
                <a:latin typeface="Arial" pitchFamily="34" charset="0"/>
                <a:ea typeface="Arial" pitchFamily="34" charset="-122"/>
                <a:cs typeface="Arial" pitchFamily="34" charset="-120"/>
              </a:rPr>
              <a:t>MEDIAN</a:t>
            </a:r>
            <a:endParaRPr lang="en-US" sz="1100" dirty="0"/>
          </a:p>
        </p:txBody>
      </p:sp>
      <p:sp>
        <p:nvSpPr>
          <p:cNvPr id="15" name="Text 13"/>
          <p:cNvSpPr txBox="1"/>
          <p:nvPr/>
        </p:nvSpPr>
        <p:spPr>
          <a:xfrm>
            <a:off x="4590288" y="3355848"/>
            <a:ext cx="2980944" cy="53949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3600" b="1" dirty="0">
                <a:solidFill>
                  <a:srgbClr val="17232C"/>
                </a:solidFill>
                <a:latin typeface="Arial" pitchFamily="34" charset="0"/>
                <a:ea typeface="Arial" pitchFamily="34" charset="-122"/>
                <a:cs typeface="Arial" pitchFamily="34" charset="-120"/>
              </a:rPr>
              <a:t>€58.09</a:t>
            </a:r>
            <a:endParaRPr lang="en-US" sz="3600" dirty="0"/>
          </a:p>
        </p:txBody>
      </p:sp>
      <p:sp>
        <p:nvSpPr>
          <p:cNvPr id="16" name="Text 14"/>
          <p:cNvSpPr txBox="1"/>
          <p:nvPr/>
        </p:nvSpPr>
        <p:spPr>
          <a:xfrm>
            <a:off x="4590288" y="4069080"/>
            <a:ext cx="2980944" cy="21031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550" dirty="0">
                <a:solidFill>
                  <a:srgbClr val="687782"/>
                </a:solidFill>
                <a:latin typeface="Arial" pitchFamily="34" charset="0"/>
                <a:ea typeface="Arial" pitchFamily="34" charset="-122"/>
                <a:cs typeface="Arial" pitchFamily="34" charset="-120"/>
              </a:rPr>
              <a:t>Across the listings</a:t>
            </a:r>
            <a:endParaRPr lang="en-US" sz="1550" dirty="0"/>
          </a:p>
        </p:txBody>
      </p:sp>
      <p:sp>
        <p:nvSpPr>
          <p:cNvPr id="17" name="Shape 15"/>
          <p:cNvSpPr/>
          <p:nvPr/>
        </p:nvSpPr>
        <p:spPr>
          <a:xfrm>
            <a:off x="8247888" y="2670048"/>
            <a:ext cx="3401568" cy="1764792"/>
          </a:xfrm>
          <a:prstGeom prst="rect">
            <a:avLst/>
          </a:prstGeom>
          <a:solidFill>
            <a:srgbClr val="EFF2F4"/>
          </a:solidFill>
          <a:ln w="12700">
            <a:solidFill>
              <a:srgbClr val="EFF2F4">
                <a:alpha val="0"/>
              </a:srgbClr>
            </a:solidFill>
            <a:prstDash val="solid"/>
          </a:ln>
        </p:spPr>
      </p:sp>
      <p:sp>
        <p:nvSpPr>
          <p:cNvPr id="18" name="Text 16"/>
          <p:cNvSpPr txBox="1"/>
          <p:nvPr/>
        </p:nvSpPr>
        <p:spPr>
          <a:xfrm>
            <a:off x="8449056" y="2898648"/>
            <a:ext cx="2980944" cy="21031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100" b="1" dirty="0">
                <a:solidFill>
                  <a:srgbClr val="687782"/>
                </a:solidFill>
                <a:latin typeface="Arial" pitchFamily="34" charset="0"/>
                <a:ea typeface="Arial" pitchFamily="34" charset="-122"/>
                <a:cs typeface="Arial" pitchFamily="34" charset="-120"/>
              </a:rPr>
              <a:t>HIGH END</a:t>
            </a:r>
            <a:endParaRPr lang="en-US" sz="1100" dirty="0"/>
          </a:p>
        </p:txBody>
      </p:sp>
      <p:sp>
        <p:nvSpPr>
          <p:cNvPr id="19" name="Text 17"/>
          <p:cNvSpPr txBox="1"/>
          <p:nvPr/>
        </p:nvSpPr>
        <p:spPr>
          <a:xfrm>
            <a:off x="8449056" y="3355848"/>
            <a:ext cx="2980944" cy="53949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3600" b="1" dirty="0">
                <a:solidFill>
                  <a:srgbClr val="17232C"/>
                </a:solidFill>
                <a:latin typeface="Arial" pitchFamily="34" charset="0"/>
                <a:ea typeface="Arial" pitchFamily="34" charset="-122"/>
                <a:cs typeface="Arial" pitchFamily="34" charset="-120"/>
              </a:rPr>
              <a:t>€213.40</a:t>
            </a:r>
            <a:endParaRPr lang="en-US" sz="3600" dirty="0"/>
          </a:p>
        </p:txBody>
      </p:sp>
      <p:sp>
        <p:nvSpPr>
          <p:cNvPr id="20" name="Text 18"/>
          <p:cNvSpPr txBox="1"/>
          <p:nvPr/>
        </p:nvSpPr>
        <p:spPr>
          <a:xfrm>
            <a:off x="8449056" y="4069080"/>
            <a:ext cx="2980944" cy="21031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550" dirty="0">
                <a:solidFill>
                  <a:srgbClr val="687782"/>
                </a:solidFill>
                <a:latin typeface="Arial" pitchFamily="34" charset="0"/>
                <a:ea typeface="Arial" pitchFamily="34" charset="-122"/>
                <a:cs typeface="Arial" pitchFamily="34" charset="-120"/>
              </a:rPr>
              <a:t>Pagid</a:t>
            </a:r>
            <a:endParaRPr lang="en-US" sz="1550" dirty="0"/>
          </a:p>
        </p:txBody>
      </p:sp>
      <p:sp>
        <p:nvSpPr>
          <p:cNvPr id="21" name="Shape 19"/>
          <p:cNvSpPr/>
          <p:nvPr/>
        </p:nvSpPr>
        <p:spPr>
          <a:xfrm>
            <a:off x="530352" y="4773168"/>
            <a:ext cx="11131296" cy="768096"/>
          </a:xfrm>
          <a:prstGeom prst="rect">
            <a:avLst/>
          </a:prstGeom>
          <a:solidFill>
            <a:srgbClr val="17232C"/>
          </a:solidFill>
          <a:ln w="12700">
            <a:solidFill>
              <a:srgbClr val="17232C">
                <a:alpha val="0"/>
              </a:srgbClr>
            </a:solidFill>
            <a:prstDash val="solid"/>
          </a:ln>
        </p:spPr>
      </p:sp>
      <p:sp>
        <p:nvSpPr>
          <p:cNvPr id="22" name="Text 20"/>
          <p:cNvSpPr txBox="1"/>
          <p:nvPr/>
        </p:nvSpPr>
        <p:spPr>
          <a:xfrm>
            <a:off x="694944" y="4937760"/>
            <a:ext cx="3108960" cy="21945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160" b="1" dirty="0">
                <a:solidFill>
                  <a:srgbClr val="C8D1D7"/>
                </a:solidFill>
                <a:latin typeface="Arial" pitchFamily="34" charset="0"/>
                <a:ea typeface="Arial" pitchFamily="34" charset="-122"/>
                <a:cs typeface="Arial" pitchFamily="34" charset="-120"/>
              </a:rPr>
              <a:t>ISZE LIST REFERENCE</a:t>
            </a:r>
            <a:endParaRPr lang="en-US" sz="1160" dirty="0"/>
          </a:p>
        </p:txBody>
      </p:sp>
      <p:sp>
        <p:nvSpPr>
          <p:cNvPr id="23" name="Text 21"/>
          <p:cNvSpPr txBox="1"/>
          <p:nvPr/>
        </p:nvSpPr>
        <p:spPr>
          <a:xfrm>
            <a:off x="3931920" y="4928616"/>
            <a:ext cx="2350008" cy="36576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500" b="1" dirty="0">
                <a:solidFill>
                  <a:srgbClr val="FFFFFF"/>
                </a:solidFill>
                <a:latin typeface="Arial" pitchFamily="34" charset="0"/>
                <a:ea typeface="Arial" pitchFamily="34" charset="-122"/>
                <a:cs typeface="Arial" pitchFamily="34" charset="-120"/>
              </a:rPr>
              <a:t>€82.25</a:t>
            </a:r>
            <a:endParaRPr lang="en-US" sz="2500" dirty="0"/>
          </a:p>
        </p:txBody>
      </p:sp>
      <p:sp>
        <p:nvSpPr>
          <p:cNvPr id="24" name="Text 22"/>
          <p:cNvSpPr txBox="1"/>
          <p:nvPr/>
        </p:nvSpPr>
        <p:spPr>
          <a:xfrm>
            <a:off x="6455664" y="4882896"/>
            <a:ext cx="4864608" cy="46634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580" dirty="0">
                <a:solidFill>
                  <a:srgbClr val="FFFFFF"/>
                </a:solidFill>
                <a:latin typeface="Arial" pitchFamily="34" charset="0"/>
                <a:ea typeface="Arial" pitchFamily="34" charset="-122"/>
                <a:cs typeface="Arial" pitchFamily="34" charset="-120"/>
              </a:rPr>
              <a:t>Different transaction levels and brands:</a:t>
            </a:r>
            <a:endParaRPr lang="en-US" sz="1580" dirty="0"/>
          </a:p>
          <a:p>
            <a:pPr algn="l" indent="0" marL="0">
              <a:buNone/>
            </a:pPr>
            <a:r>
              <a:rPr lang="en-US" sz="1580" dirty="0">
                <a:solidFill>
                  <a:srgbClr val="FFFFFF"/>
                </a:solidFill>
                <a:latin typeface="Arial" pitchFamily="34" charset="0"/>
                <a:ea typeface="Arial" pitchFamily="34" charset="-122"/>
                <a:cs typeface="Arial" pitchFamily="34" charset="-120"/>
              </a:rPr>
              <a:t>not a like-for-like net-price comparison.</a:t>
            </a:r>
            <a:endParaRPr lang="en-US" sz="1580" dirty="0"/>
          </a:p>
        </p:txBody>
      </p:sp>
      <p:sp>
        <p:nvSpPr>
          <p:cNvPr id="25" name="Shape 23"/>
          <p:cNvSpPr/>
          <p:nvPr/>
        </p:nvSpPr>
        <p:spPr>
          <a:xfrm>
            <a:off x="530352" y="5870448"/>
            <a:ext cx="50292" cy="338328"/>
          </a:xfrm>
          <a:prstGeom prst="rect">
            <a:avLst/>
          </a:prstGeom>
          <a:solidFill>
            <a:srgbClr val="ED0016"/>
          </a:solidFill>
          <a:ln w="12700">
            <a:solidFill>
              <a:srgbClr val="ED0016">
                <a:alpha val="0"/>
              </a:srgbClr>
            </a:solidFill>
            <a:prstDash val="solid"/>
          </a:ln>
        </p:spPr>
      </p:sp>
      <p:sp>
        <p:nvSpPr>
          <p:cNvPr id="26" name="Text 24"/>
          <p:cNvSpPr txBox="1"/>
          <p:nvPr/>
        </p:nvSpPr>
        <p:spPr>
          <a:xfrm>
            <a:off x="694944" y="5865876"/>
            <a:ext cx="10966704" cy="36576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920" b="1" dirty="0">
                <a:solidFill>
                  <a:srgbClr val="17232C"/>
                </a:solidFill>
                <a:latin typeface="Arial" pitchFamily="34" charset="0"/>
                <a:ea typeface="Arial" pitchFamily="34" charset="-122"/>
                <a:cs typeface="Arial" pitchFamily="34" charset="-120"/>
              </a:rPr>
              <a:t>Match the offer and check network room before deciding the ISZE price.</a:t>
            </a:r>
            <a:endParaRPr lang="en-US" sz="1920" dirty="0"/>
          </a:p>
        </p:txBody>
      </p:sp>
    </p:spTree>
  </p:cSld>
  <p:clrMapOvr>
    <a:masterClrMapping/>
  </p:clrMapOvr>
  <p:transition spd="fast" advClick="1">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30352" y="301752"/>
            <a:ext cx="950976"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000" b="1" dirty="0">
                <a:solidFill>
                  <a:srgbClr val="ED0016"/>
                </a:solidFill>
                <a:latin typeface="Arial" pitchFamily="34" charset="0"/>
                <a:ea typeface="Arial" pitchFamily="34" charset="-122"/>
                <a:cs typeface="Arial" pitchFamily="34" charset="-120"/>
              </a:rPr>
              <a:t>ISUZU</a:t>
            </a:r>
            <a:endParaRPr lang="en-US" sz="2000" dirty="0"/>
          </a:p>
        </p:txBody>
      </p:sp>
      <p:sp>
        <p:nvSpPr>
          <p:cNvPr id="3" name="Text 1"/>
          <p:cNvSpPr txBox="1"/>
          <p:nvPr/>
        </p:nvSpPr>
        <p:spPr>
          <a:xfrm>
            <a:off x="1856232" y="347472"/>
            <a:ext cx="9418320" cy="16459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980" b="1" spc="145" kern="0" dirty="0">
                <a:solidFill>
                  <a:srgbClr val="687782"/>
                </a:solidFill>
                <a:latin typeface="Arial" pitchFamily="34" charset="0"/>
                <a:ea typeface="Arial" pitchFamily="34" charset="-122"/>
                <a:cs typeface="Arial" pitchFamily="34" charset="-120"/>
              </a:rPr>
              <a:t>APPENDIX C | EVIDENCE BEFORE PRICE APPROVAL</a:t>
            </a:r>
            <a:endParaRPr lang="en-US" sz="980" dirty="0"/>
          </a:p>
        </p:txBody>
      </p:sp>
      <p:sp>
        <p:nvSpPr>
          <p:cNvPr id="4" name="Text 2"/>
          <p:cNvSpPr txBox="1"/>
          <p:nvPr/>
        </p:nvSpPr>
        <p:spPr>
          <a:xfrm>
            <a:off x="530352" y="960120"/>
            <a:ext cx="11131296" cy="76809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3020" b="1" dirty="0">
                <a:solidFill>
                  <a:srgbClr val="17232C"/>
                </a:solidFill>
                <a:latin typeface="Arial" pitchFamily="34" charset="0"/>
                <a:ea typeface="Arial" pitchFamily="34" charset="-122"/>
                <a:cs typeface="Arial" pitchFamily="34" charset="-120"/>
              </a:rPr>
              <a:t>The commercial principle is clear; each case needs its economics.</a:t>
            </a:r>
            <a:endParaRPr lang="en-US" sz="3020" dirty="0"/>
          </a:p>
        </p:txBody>
      </p:sp>
      <p:sp>
        <p:nvSpPr>
          <p:cNvPr id="5" name="Shape 3"/>
          <p:cNvSpPr/>
          <p:nvPr/>
        </p:nvSpPr>
        <p:spPr>
          <a:xfrm>
            <a:off x="530352" y="6382512"/>
            <a:ext cx="11131296" cy="0"/>
          </a:xfrm>
          <a:prstGeom prst="line">
            <a:avLst/>
          </a:prstGeom>
          <a:solidFill>
            <a:srgbClr val="FFFFFF">
              <a:alpha val="0"/>
            </a:srgbClr>
          </a:solidFill>
          <a:ln w="8890">
            <a:solidFill>
              <a:srgbClr val="DCE3E8"/>
            </a:solidFill>
            <a:prstDash val="solid"/>
          </a:ln>
        </p:spPr>
      </p:sp>
      <p:sp>
        <p:nvSpPr>
          <p:cNvPr id="6" name="Text 4"/>
          <p:cNvSpPr txBox="1"/>
          <p:nvPr/>
        </p:nvSpPr>
        <p:spPr>
          <a:xfrm>
            <a:off x="530352" y="6483096"/>
            <a:ext cx="10216896" cy="16459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810" dirty="0">
                <a:solidFill>
                  <a:srgbClr val="687782"/>
                </a:solidFill>
                <a:latin typeface="Arial" pitchFamily="34" charset="0"/>
                <a:ea typeface="Arial" pitchFamily="34" charset="-122"/>
                <a:cs typeface="Arial" pitchFamily="34" charset="-120"/>
              </a:rPr>
              <a:t>Source: Pricing Master and management policy. Detailed basis in speaker notes.</a:t>
            </a:r>
            <a:endParaRPr lang="en-US" sz="810" dirty="0"/>
          </a:p>
        </p:txBody>
      </p:sp>
      <p:sp>
        <p:nvSpPr>
          <p:cNvPr id="7" name="Text 5"/>
          <p:cNvSpPr txBox="1"/>
          <p:nvPr/>
        </p:nvSpPr>
        <p:spPr>
          <a:xfrm>
            <a:off x="10856976" y="6469380"/>
            <a:ext cx="804672" cy="21031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r" indent="0" marL="0">
              <a:buNone/>
            </a:pPr>
            <a:r>
              <a:rPr lang="en-US" sz="910" dirty="0">
                <a:solidFill>
                  <a:srgbClr val="687782"/>
                </a:solidFill>
                <a:latin typeface="Arial" pitchFamily="34" charset="0"/>
                <a:ea typeface="Arial" pitchFamily="34" charset="-122"/>
                <a:cs typeface="Arial" pitchFamily="34" charset="-120"/>
              </a:rPr>
              <a:t>v1.4  |  21</a:t>
            </a:r>
            <a:endParaRPr lang="en-US" sz="910" dirty="0"/>
          </a:p>
        </p:txBody>
      </p:sp>
      <p:sp>
        <p:nvSpPr>
          <p:cNvPr id="8" name="Shape 6"/>
          <p:cNvSpPr/>
          <p:nvPr/>
        </p:nvSpPr>
        <p:spPr>
          <a:xfrm>
            <a:off x="530352" y="2386584"/>
            <a:ext cx="1781007" cy="438912"/>
          </a:xfrm>
          <a:prstGeom prst="rect">
            <a:avLst/>
          </a:prstGeom>
          <a:solidFill>
            <a:srgbClr val="17232C"/>
          </a:solidFill>
          <a:ln w="12700">
            <a:solidFill>
              <a:srgbClr val="17232C">
                <a:alpha val="0"/>
              </a:srgbClr>
            </a:solidFill>
            <a:prstDash val="solid"/>
          </a:ln>
        </p:spPr>
      </p:sp>
      <p:sp>
        <p:nvSpPr>
          <p:cNvPr id="9" name="Text 7"/>
          <p:cNvSpPr txBox="1"/>
          <p:nvPr/>
        </p:nvSpPr>
        <p:spPr>
          <a:xfrm>
            <a:off x="658368" y="2459736"/>
            <a:ext cx="1524975" cy="29260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180" b="1" dirty="0">
                <a:solidFill>
                  <a:srgbClr val="FFFFFF"/>
                </a:solidFill>
                <a:latin typeface="Arial" pitchFamily="34" charset="0"/>
                <a:ea typeface="Arial" pitchFamily="34" charset="-122"/>
                <a:cs typeface="Arial" pitchFamily="34" charset="-120"/>
              </a:rPr>
              <a:t>CASE</a:t>
            </a:r>
            <a:endParaRPr lang="en-US" sz="1180" dirty="0"/>
          </a:p>
        </p:txBody>
      </p:sp>
      <p:sp>
        <p:nvSpPr>
          <p:cNvPr id="10" name="Shape 8"/>
          <p:cNvSpPr/>
          <p:nvPr/>
        </p:nvSpPr>
        <p:spPr>
          <a:xfrm>
            <a:off x="2311359" y="2386584"/>
            <a:ext cx="4452518" cy="438912"/>
          </a:xfrm>
          <a:prstGeom prst="rect">
            <a:avLst/>
          </a:prstGeom>
          <a:solidFill>
            <a:srgbClr val="17232C"/>
          </a:solidFill>
          <a:ln w="12700">
            <a:solidFill>
              <a:srgbClr val="17232C">
                <a:alpha val="0"/>
              </a:srgbClr>
            </a:solidFill>
            <a:prstDash val="solid"/>
          </a:ln>
        </p:spPr>
      </p:sp>
      <p:sp>
        <p:nvSpPr>
          <p:cNvPr id="11" name="Text 9"/>
          <p:cNvSpPr txBox="1"/>
          <p:nvPr/>
        </p:nvSpPr>
        <p:spPr>
          <a:xfrm>
            <a:off x="2439375" y="2459736"/>
            <a:ext cx="4196486" cy="29260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180" b="1" dirty="0">
                <a:solidFill>
                  <a:srgbClr val="FFFFFF"/>
                </a:solidFill>
                <a:latin typeface="Arial" pitchFamily="34" charset="0"/>
                <a:ea typeface="Arial" pitchFamily="34" charset="-122"/>
                <a:cs typeface="Arial" pitchFamily="34" charset="-120"/>
              </a:rPr>
              <a:t>WHAT SUPPORTS IT</a:t>
            </a:r>
            <a:endParaRPr lang="en-US" sz="1180" dirty="0"/>
          </a:p>
        </p:txBody>
      </p:sp>
      <p:sp>
        <p:nvSpPr>
          <p:cNvPr id="12" name="Shape 10"/>
          <p:cNvSpPr/>
          <p:nvPr/>
        </p:nvSpPr>
        <p:spPr>
          <a:xfrm>
            <a:off x="6763878" y="2386584"/>
            <a:ext cx="4897770" cy="438912"/>
          </a:xfrm>
          <a:prstGeom prst="rect">
            <a:avLst/>
          </a:prstGeom>
          <a:solidFill>
            <a:srgbClr val="17232C"/>
          </a:solidFill>
          <a:ln w="12700">
            <a:solidFill>
              <a:srgbClr val="17232C">
                <a:alpha val="0"/>
              </a:srgbClr>
            </a:solidFill>
            <a:prstDash val="solid"/>
          </a:ln>
        </p:spPr>
      </p:sp>
      <p:sp>
        <p:nvSpPr>
          <p:cNvPr id="13" name="Text 11"/>
          <p:cNvSpPr txBox="1"/>
          <p:nvPr/>
        </p:nvSpPr>
        <p:spPr>
          <a:xfrm>
            <a:off x="6891894" y="2459736"/>
            <a:ext cx="4641738" cy="29260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180" b="1" dirty="0">
                <a:solidFill>
                  <a:srgbClr val="FFFFFF"/>
                </a:solidFill>
                <a:latin typeface="Arial" pitchFamily="34" charset="0"/>
                <a:ea typeface="Arial" pitchFamily="34" charset="-122"/>
                <a:cs typeface="Arial" pitchFamily="34" charset="-120"/>
              </a:rPr>
              <a:t>WHAT TO CONFIRM</a:t>
            </a:r>
            <a:endParaRPr lang="en-US" sz="1180" dirty="0"/>
          </a:p>
        </p:txBody>
      </p:sp>
      <p:sp>
        <p:nvSpPr>
          <p:cNvPr id="14" name="Shape 12"/>
          <p:cNvSpPr/>
          <p:nvPr/>
        </p:nvSpPr>
        <p:spPr>
          <a:xfrm>
            <a:off x="530352" y="2825496"/>
            <a:ext cx="1781007" cy="868680"/>
          </a:xfrm>
          <a:prstGeom prst="rect">
            <a:avLst/>
          </a:prstGeom>
          <a:solidFill>
            <a:srgbClr val="EFF2F4"/>
          </a:solidFill>
          <a:ln w="12700">
            <a:solidFill>
              <a:srgbClr val="EFF2F4">
                <a:alpha val="0"/>
              </a:srgbClr>
            </a:solidFill>
            <a:prstDash val="solid"/>
          </a:ln>
        </p:spPr>
      </p:sp>
      <p:sp>
        <p:nvSpPr>
          <p:cNvPr id="15" name="Text 13"/>
          <p:cNvSpPr txBox="1"/>
          <p:nvPr/>
        </p:nvSpPr>
        <p:spPr>
          <a:xfrm>
            <a:off x="658368" y="2916936"/>
            <a:ext cx="1524975" cy="68580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520" b="1" dirty="0">
                <a:solidFill>
                  <a:srgbClr val="687782"/>
                </a:solidFill>
                <a:latin typeface="Arial" pitchFamily="34" charset="0"/>
                <a:ea typeface="Arial" pitchFamily="34" charset="-122"/>
                <a:cs typeface="Arial" pitchFamily="34" charset="-120"/>
              </a:rPr>
              <a:t>UK / ITUK</a:t>
            </a:r>
            <a:endParaRPr lang="en-US" sz="1520" dirty="0"/>
          </a:p>
        </p:txBody>
      </p:sp>
      <p:sp>
        <p:nvSpPr>
          <p:cNvPr id="16" name="Shape 14"/>
          <p:cNvSpPr/>
          <p:nvPr/>
        </p:nvSpPr>
        <p:spPr>
          <a:xfrm>
            <a:off x="2311359" y="2825496"/>
            <a:ext cx="4452518" cy="868680"/>
          </a:xfrm>
          <a:prstGeom prst="rect">
            <a:avLst/>
          </a:prstGeom>
          <a:solidFill>
            <a:srgbClr val="EFF2F4"/>
          </a:solidFill>
          <a:ln w="12700">
            <a:solidFill>
              <a:srgbClr val="EFF2F4">
                <a:alpha val="0"/>
              </a:srgbClr>
            </a:solidFill>
            <a:prstDash val="solid"/>
          </a:ln>
        </p:spPr>
      </p:sp>
      <p:sp>
        <p:nvSpPr>
          <p:cNvPr id="17" name="Text 15"/>
          <p:cNvSpPr txBox="1"/>
          <p:nvPr/>
        </p:nvSpPr>
        <p:spPr>
          <a:xfrm>
            <a:off x="2439375" y="2916936"/>
            <a:ext cx="4196486" cy="68580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520" dirty="0">
                <a:solidFill>
                  <a:srgbClr val="17232C"/>
                </a:solidFill>
                <a:latin typeface="Arial" pitchFamily="34" charset="0"/>
                <a:ea typeface="Arial" pitchFamily="34" charset="-122"/>
                <a:cs typeface="Arial" pitchFamily="34" charset="-120"/>
              </a:rPr>
              <a:t>Recurring inspection cycle; a defined maintenance and pad-kit opportunity.</a:t>
            </a:r>
            <a:endParaRPr lang="en-US" sz="1520" dirty="0"/>
          </a:p>
        </p:txBody>
      </p:sp>
      <p:sp>
        <p:nvSpPr>
          <p:cNvPr id="18" name="Shape 16"/>
          <p:cNvSpPr/>
          <p:nvPr/>
        </p:nvSpPr>
        <p:spPr>
          <a:xfrm>
            <a:off x="6763878" y="2825496"/>
            <a:ext cx="4897770" cy="868680"/>
          </a:xfrm>
          <a:prstGeom prst="rect">
            <a:avLst/>
          </a:prstGeom>
          <a:solidFill>
            <a:srgbClr val="EFF2F4"/>
          </a:solidFill>
          <a:ln w="12700">
            <a:solidFill>
              <a:srgbClr val="EFF2F4">
                <a:alpha val="0"/>
              </a:srgbClr>
            </a:solidFill>
            <a:prstDash val="solid"/>
          </a:ln>
        </p:spPr>
      </p:sp>
      <p:sp>
        <p:nvSpPr>
          <p:cNvPr id="19" name="Text 17"/>
          <p:cNvSpPr txBox="1"/>
          <p:nvPr/>
        </p:nvSpPr>
        <p:spPr>
          <a:xfrm>
            <a:off x="6891894" y="2916936"/>
            <a:ext cx="4641738" cy="68580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520" dirty="0">
                <a:solidFill>
                  <a:srgbClr val="17232C"/>
                </a:solidFill>
                <a:latin typeface="Arial" pitchFamily="34" charset="0"/>
                <a:ea typeface="Arial" pitchFamily="34" charset="-122"/>
                <a:cs typeface="Arial" pitchFamily="34" charset="-120"/>
              </a:rPr>
              <a:t>Network share of maintenance work; net offer and credible purchasing commitment.</a:t>
            </a:r>
            <a:endParaRPr lang="en-US" sz="1520" dirty="0"/>
          </a:p>
        </p:txBody>
      </p:sp>
      <p:sp>
        <p:nvSpPr>
          <p:cNvPr id="20" name="Shape 18"/>
          <p:cNvSpPr/>
          <p:nvPr/>
        </p:nvSpPr>
        <p:spPr>
          <a:xfrm>
            <a:off x="530352" y="3694176"/>
            <a:ext cx="1781007" cy="868680"/>
          </a:xfrm>
          <a:prstGeom prst="rect">
            <a:avLst/>
          </a:prstGeom>
          <a:solidFill>
            <a:srgbClr val="FFFFFF"/>
          </a:solidFill>
          <a:ln w="12700">
            <a:solidFill>
              <a:srgbClr val="FFFFFF">
                <a:alpha val="0"/>
              </a:srgbClr>
            </a:solidFill>
            <a:prstDash val="solid"/>
          </a:ln>
        </p:spPr>
      </p:sp>
      <p:sp>
        <p:nvSpPr>
          <p:cNvPr id="21" name="Text 19"/>
          <p:cNvSpPr txBox="1"/>
          <p:nvPr/>
        </p:nvSpPr>
        <p:spPr>
          <a:xfrm>
            <a:off x="658368" y="3785616"/>
            <a:ext cx="1524975" cy="68580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520" b="1" dirty="0">
                <a:solidFill>
                  <a:srgbClr val="687782"/>
                </a:solidFill>
                <a:latin typeface="Arial" pitchFamily="34" charset="0"/>
                <a:ea typeface="Arial" pitchFamily="34" charset="-122"/>
                <a:cs typeface="Arial" pitchFamily="34" charset="-120"/>
              </a:rPr>
              <a:t>Israel / UTI</a:t>
            </a:r>
            <a:endParaRPr lang="en-US" sz="1520" dirty="0"/>
          </a:p>
        </p:txBody>
      </p:sp>
      <p:sp>
        <p:nvSpPr>
          <p:cNvPr id="22" name="Shape 20"/>
          <p:cNvSpPr/>
          <p:nvPr/>
        </p:nvSpPr>
        <p:spPr>
          <a:xfrm>
            <a:off x="2311359" y="3694176"/>
            <a:ext cx="4452518" cy="868680"/>
          </a:xfrm>
          <a:prstGeom prst="rect">
            <a:avLst/>
          </a:prstGeom>
          <a:solidFill>
            <a:srgbClr val="FFFFFF"/>
          </a:solidFill>
          <a:ln w="12700">
            <a:solidFill>
              <a:srgbClr val="FFFFFF">
                <a:alpha val="0"/>
              </a:srgbClr>
            </a:solidFill>
            <a:prstDash val="solid"/>
          </a:ln>
        </p:spPr>
      </p:sp>
      <p:sp>
        <p:nvSpPr>
          <p:cNvPr id="23" name="Text 21"/>
          <p:cNvSpPr txBox="1"/>
          <p:nvPr/>
        </p:nvSpPr>
        <p:spPr>
          <a:xfrm>
            <a:off x="2439375" y="3785616"/>
            <a:ext cx="4196486" cy="68580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520" dirty="0">
                <a:solidFill>
                  <a:srgbClr val="17232C"/>
                </a:solidFill>
                <a:latin typeface="Arial" pitchFamily="34" charset="0"/>
                <a:ea typeface="Arial" pitchFamily="34" charset="-122"/>
                <a:cs typeface="Arial" pitchFamily="34" charset="-120"/>
              </a:rPr>
              <a:t>Reported collision-price and insurance concerns on genuine-parts repairs.</a:t>
            </a:r>
            <a:endParaRPr lang="en-US" sz="1520" dirty="0"/>
          </a:p>
        </p:txBody>
      </p:sp>
      <p:sp>
        <p:nvSpPr>
          <p:cNvPr id="24" name="Shape 22"/>
          <p:cNvSpPr/>
          <p:nvPr/>
        </p:nvSpPr>
        <p:spPr>
          <a:xfrm>
            <a:off x="6763878" y="3694176"/>
            <a:ext cx="4897770" cy="868680"/>
          </a:xfrm>
          <a:prstGeom prst="rect">
            <a:avLst/>
          </a:prstGeom>
          <a:solidFill>
            <a:srgbClr val="FFFFFF"/>
          </a:solidFill>
          <a:ln w="12700">
            <a:solidFill>
              <a:srgbClr val="FFFFFF">
                <a:alpha val="0"/>
              </a:srgbClr>
            </a:solidFill>
            <a:prstDash val="solid"/>
          </a:ln>
        </p:spPr>
      </p:sp>
      <p:sp>
        <p:nvSpPr>
          <p:cNvPr id="25" name="Text 23"/>
          <p:cNvSpPr txBox="1"/>
          <p:nvPr/>
        </p:nvSpPr>
        <p:spPr>
          <a:xfrm>
            <a:off x="6891894" y="3785616"/>
            <a:ext cx="4641738" cy="68580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520" dirty="0">
                <a:solidFill>
                  <a:srgbClr val="17232C"/>
                </a:solidFill>
                <a:latin typeface="Arial" pitchFamily="34" charset="0"/>
                <a:ea typeface="Arial" pitchFamily="34" charset="-122"/>
                <a:cs typeface="Arial" pitchFamily="34" charset="-120"/>
              </a:rPr>
              <a:t>Heavy-truck policy wording; actual quotation at risk; effect of support.</a:t>
            </a:r>
            <a:endParaRPr lang="en-US" sz="1520" dirty="0"/>
          </a:p>
        </p:txBody>
      </p:sp>
      <p:sp>
        <p:nvSpPr>
          <p:cNvPr id="26" name="Shape 24"/>
          <p:cNvSpPr/>
          <p:nvPr/>
        </p:nvSpPr>
        <p:spPr>
          <a:xfrm>
            <a:off x="530352" y="4562856"/>
            <a:ext cx="1781007" cy="868680"/>
          </a:xfrm>
          <a:prstGeom prst="rect">
            <a:avLst/>
          </a:prstGeom>
          <a:solidFill>
            <a:srgbClr val="EFF2F4"/>
          </a:solidFill>
          <a:ln w="12700">
            <a:solidFill>
              <a:srgbClr val="EFF2F4">
                <a:alpha val="0"/>
              </a:srgbClr>
            </a:solidFill>
            <a:prstDash val="solid"/>
          </a:ln>
        </p:spPr>
      </p:sp>
      <p:sp>
        <p:nvSpPr>
          <p:cNvPr id="27" name="Text 25"/>
          <p:cNvSpPr txBox="1"/>
          <p:nvPr/>
        </p:nvSpPr>
        <p:spPr>
          <a:xfrm>
            <a:off x="658368" y="4654296"/>
            <a:ext cx="1524975" cy="68580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520" b="1" dirty="0">
                <a:solidFill>
                  <a:srgbClr val="687782"/>
                </a:solidFill>
                <a:latin typeface="Arial" pitchFamily="34" charset="0"/>
                <a:ea typeface="Arial" pitchFamily="34" charset="-122"/>
                <a:cs typeface="Arial" pitchFamily="34" charset="-120"/>
              </a:rPr>
              <a:t>BEV battery</a:t>
            </a:r>
            <a:endParaRPr lang="en-US" sz="1520" dirty="0"/>
          </a:p>
        </p:txBody>
      </p:sp>
      <p:sp>
        <p:nvSpPr>
          <p:cNvPr id="28" name="Shape 26"/>
          <p:cNvSpPr/>
          <p:nvPr/>
        </p:nvSpPr>
        <p:spPr>
          <a:xfrm>
            <a:off x="2311359" y="4562856"/>
            <a:ext cx="4452518" cy="868680"/>
          </a:xfrm>
          <a:prstGeom prst="rect">
            <a:avLst/>
          </a:prstGeom>
          <a:solidFill>
            <a:srgbClr val="EFF2F4"/>
          </a:solidFill>
          <a:ln w="12700">
            <a:solidFill>
              <a:srgbClr val="EFF2F4">
                <a:alpha val="0"/>
              </a:srgbClr>
            </a:solidFill>
            <a:prstDash val="solid"/>
          </a:ln>
        </p:spPr>
      </p:sp>
      <p:sp>
        <p:nvSpPr>
          <p:cNvPr id="29" name="Text 27"/>
          <p:cNvSpPr txBox="1"/>
          <p:nvPr/>
        </p:nvSpPr>
        <p:spPr>
          <a:xfrm>
            <a:off x="2439375" y="4654296"/>
            <a:ext cx="4196486" cy="68580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520" dirty="0">
                <a:solidFill>
                  <a:srgbClr val="17232C"/>
                </a:solidFill>
                <a:latin typeface="Arial" pitchFamily="34" charset="0"/>
                <a:ea typeface="Arial" pitchFamily="34" charset="-122"/>
                <a:cs typeface="Arial" pitchFamily="34" charset="-120"/>
              </a:rPr>
              <a:t>Management reports an exceptional 1% margin decision.</a:t>
            </a:r>
            <a:endParaRPr lang="en-US" sz="1520" dirty="0"/>
          </a:p>
        </p:txBody>
      </p:sp>
      <p:sp>
        <p:nvSpPr>
          <p:cNvPr id="30" name="Shape 28"/>
          <p:cNvSpPr/>
          <p:nvPr/>
        </p:nvSpPr>
        <p:spPr>
          <a:xfrm>
            <a:off x="6763878" y="4562856"/>
            <a:ext cx="4897770" cy="868680"/>
          </a:xfrm>
          <a:prstGeom prst="rect">
            <a:avLst/>
          </a:prstGeom>
          <a:solidFill>
            <a:srgbClr val="EFF2F4"/>
          </a:solidFill>
          <a:ln w="12700">
            <a:solidFill>
              <a:srgbClr val="EFF2F4">
                <a:alpha val="0"/>
              </a:srgbClr>
            </a:solidFill>
            <a:prstDash val="solid"/>
          </a:ln>
        </p:spPr>
      </p:sp>
      <p:sp>
        <p:nvSpPr>
          <p:cNvPr id="31" name="Text 29"/>
          <p:cNvSpPr txBox="1"/>
          <p:nvPr/>
        </p:nvSpPr>
        <p:spPr>
          <a:xfrm>
            <a:off x="6891894" y="4654296"/>
            <a:ext cx="4641738" cy="68580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520" dirty="0">
                <a:solidFill>
                  <a:srgbClr val="17232C"/>
                </a:solidFill>
                <a:latin typeface="Arial" pitchFamily="34" charset="0"/>
                <a:ea typeface="Arial" pitchFamily="34" charset="-122"/>
                <a:cs typeface="Arial" pitchFamily="34" charset="-120"/>
              </a:rPr>
              <a:t>Model, market, decision date, whose margin and the precise cost basis.</a:t>
            </a:r>
            <a:endParaRPr lang="en-US" sz="1520" dirty="0"/>
          </a:p>
        </p:txBody>
      </p:sp>
      <p:sp>
        <p:nvSpPr>
          <p:cNvPr id="32" name="Shape 30"/>
          <p:cNvSpPr/>
          <p:nvPr/>
        </p:nvSpPr>
        <p:spPr>
          <a:xfrm>
            <a:off x="530352" y="5870448"/>
            <a:ext cx="50292" cy="338328"/>
          </a:xfrm>
          <a:prstGeom prst="rect">
            <a:avLst/>
          </a:prstGeom>
          <a:solidFill>
            <a:srgbClr val="ED0016"/>
          </a:solidFill>
          <a:ln w="12700">
            <a:solidFill>
              <a:srgbClr val="ED0016">
                <a:alpha val="0"/>
              </a:srgbClr>
            </a:solidFill>
            <a:prstDash val="solid"/>
          </a:ln>
        </p:spPr>
      </p:sp>
      <p:sp>
        <p:nvSpPr>
          <p:cNvPr id="33" name="Text 31"/>
          <p:cNvSpPr txBox="1"/>
          <p:nvPr/>
        </p:nvSpPr>
        <p:spPr>
          <a:xfrm>
            <a:off x="694944" y="5865876"/>
            <a:ext cx="10966704" cy="36576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920" b="1" dirty="0">
                <a:solidFill>
                  <a:srgbClr val="17232C"/>
                </a:solidFill>
                <a:latin typeface="Arial" pitchFamily="34" charset="0"/>
                <a:ea typeface="Arial" pitchFamily="34" charset="-122"/>
                <a:cs typeface="Arial" pitchFamily="34" charset="-120"/>
              </a:rPr>
              <a:t>A reported risk or intended response is not an observed sales gain.</a:t>
            </a:r>
            <a:endParaRPr lang="en-US" sz="1920" dirty="0"/>
          </a:p>
        </p:txBody>
      </p:sp>
    </p:spTree>
  </p:cSld>
  <p:clrMapOvr>
    <a:masterClrMapping/>
  </p:clrMapOvr>
  <p:transition spd="fast" advClick="1">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30352" y="301752"/>
            <a:ext cx="950976"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000" b="1" dirty="0">
                <a:solidFill>
                  <a:srgbClr val="ED0016"/>
                </a:solidFill>
                <a:latin typeface="Arial" pitchFamily="34" charset="0"/>
                <a:ea typeface="Arial" pitchFamily="34" charset="-122"/>
                <a:cs typeface="Arial" pitchFamily="34" charset="-120"/>
              </a:rPr>
              <a:t>ISUZU</a:t>
            </a:r>
            <a:endParaRPr lang="en-US" sz="2000" dirty="0"/>
          </a:p>
        </p:txBody>
      </p:sp>
      <p:sp>
        <p:nvSpPr>
          <p:cNvPr id="3" name="Text 1"/>
          <p:cNvSpPr txBox="1"/>
          <p:nvPr/>
        </p:nvSpPr>
        <p:spPr>
          <a:xfrm>
            <a:off x="1856232" y="347472"/>
            <a:ext cx="9418320" cy="16459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980" b="1" spc="145" kern="0" dirty="0">
                <a:solidFill>
                  <a:srgbClr val="687782"/>
                </a:solidFill>
                <a:latin typeface="Arial" pitchFamily="34" charset="0"/>
                <a:ea typeface="Arial" pitchFamily="34" charset="-122"/>
                <a:cs typeface="Arial" pitchFamily="34" charset="-120"/>
              </a:rPr>
              <a:t>APPENDIX D | POLICY STATUS</a:t>
            </a:r>
            <a:endParaRPr lang="en-US" sz="980" dirty="0"/>
          </a:p>
        </p:txBody>
      </p:sp>
      <p:sp>
        <p:nvSpPr>
          <p:cNvPr id="4" name="Text 2"/>
          <p:cNvSpPr txBox="1"/>
          <p:nvPr/>
        </p:nvSpPr>
        <p:spPr>
          <a:xfrm>
            <a:off x="530352" y="960120"/>
            <a:ext cx="11131296" cy="76809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3020" b="1" dirty="0">
                <a:solidFill>
                  <a:srgbClr val="17232C"/>
                </a:solidFill>
                <a:latin typeface="Arial" pitchFamily="34" charset="0"/>
                <a:ea typeface="Arial" pitchFamily="34" charset="-122"/>
                <a:cs typeface="Arial" pitchFamily="34" charset="-120"/>
              </a:rPr>
              <a:t>Keep agreed principles separate from release decisions.</a:t>
            </a:r>
            <a:endParaRPr lang="en-US" sz="3020" dirty="0"/>
          </a:p>
        </p:txBody>
      </p:sp>
      <p:sp>
        <p:nvSpPr>
          <p:cNvPr id="5" name="Shape 3"/>
          <p:cNvSpPr/>
          <p:nvPr/>
        </p:nvSpPr>
        <p:spPr>
          <a:xfrm>
            <a:off x="530352" y="6382512"/>
            <a:ext cx="11131296" cy="0"/>
          </a:xfrm>
          <a:prstGeom prst="line">
            <a:avLst/>
          </a:prstGeom>
          <a:solidFill>
            <a:srgbClr val="FFFFFF">
              <a:alpha val="0"/>
            </a:srgbClr>
          </a:solidFill>
          <a:ln w="8890">
            <a:solidFill>
              <a:srgbClr val="DCE3E8"/>
            </a:solidFill>
            <a:prstDash val="solid"/>
          </a:ln>
        </p:spPr>
      </p:sp>
      <p:sp>
        <p:nvSpPr>
          <p:cNvPr id="6" name="Text 4"/>
          <p:cNvSpPr txBox="1"/>
          <p:nvPr/>
        </p:nvSpPr>
        <p:spPr>
          <a:xfrm>
            <a:off x="530352" y="6483096"/>
            <a:ext cx="10216896" cy="16459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810" dirty="0">
                <a:solidFill>
                  <a:srgbClr val="687782"/>
                </a:solidFill>
                <a:latin typeface="Arial" pitchFamily="34" charset="0"/>
                <a:ea typeface="Arial" pitchFamily="34" charset="-122"/>
                <a:cs typeface="Arial" pitchFamily="34" charset="-120"/>
              </a:rPr>
              <a:t>Source: Pricing Master and management policy. Detailed basis in speaker notes.</a:t>
            </a:r>
            <a:endParaRPr lang="en-US" sz="810" dirty="0"/>
          </a:p>
        </p:txBody>
      </p:sp>
      <p:sp>
        <p:nvSpPr>
          <p:cNvPr id="7" name="Text 5"/>
          <p:cNvSpPr txBox="1"/>
          <p:nvPr/>
        </p:nvSpPr>
        <p:spPr>
          <a:xfrm>
            <a:off x="10856976" y="6469380"/>
            <a:ext cx="804672" cy="21031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r" indent="0" marL="0">
              <a:buNone/>
            </a:pPr>
            <a:r>
              <a:rPr lang="en-US" sz="910" dirty="0">
                <a:solidFill>
                  <a:srgbClr val="687782"/>
                </a:solidFill>
                <a:latin typeface="Arial" pitchFamily="34" charset="0"/>
                <a:ea typeface="Arial" pitchFamily="34" charset="-122"/>
                <a:cs typeface="Arial" pitchFamily="34" charset="-120"/>
              </a:rPr>
              <a:t>v1.4  |  22</a:t>
            </a:r>
            <a:endParaRPr lang="en-US" sz="910" dirty="0"/>
          </a:p>
        </p:txBody>
      </p:sp>
      <p:sp>
        <p:nvSpPr>
          <p:cNvPr id="8" name="Shape 6"/>
          <p:cNvSpPr/>
          <p:nvPr/>
        </p:nvSpPr>
        <p:spPr>
          <a:xfrm>
            <a:off x="530352" y="2386584"/>
            <a:ext cx="5454335" cy="438912"/>
          </a:xfrm>
          <a:prstGeom prst="rect">
            <a:avLst/>
          </a:prstGeom>
          <a:solidFill>
            <a:srgbClr val="17232C"/>
          </a:solidFill>
          <a:ln w="12700">
            <a:solidFill>
              <a:srgbClr val="17232C">
                <a:alpha val="0"/>
              </a:srgbClr>
            </a:solidFill>
            <a:prstDash val="solid"/>
          </a:ln>
        </p:spPr>
      </p:sp>
      <p:sp>
        <p:nvSpPr>
          <p:cNvPr id="9" name="Text 7"/>
          <p:cNvSpPr txBox="1"/>
          <p:nvPr/>
        </p:nvSpPr>
        <p:spPr>
          <a:xfrm>
            <a:off x="658368" y="2459736"/>
            <a:ext cx="5198303" cy="29260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180" b="1" dirty="0">
                <a:solidFill>
                  <a:srgbClr val="FFFFFF"/>
                </a:solidFill>
                <a:latin typeface="Arial" pitchFamily="34" charset="0"/>
                <a:ea typeface="Arial" pitchFamily="34" charset="-122"/>
                <a:cs typeface="Arial" pitchFamily="34" charset="-120"/>
              </a:rPr>
              <a:t>AGREED / RECORDED</a:t>
            </a:r>
            <a:endParaRPr lang="en-US" sz="1180" dirty="0"/>
          </a:p>
        </p:txBody>
      </p:sp>
      <p:sp>
        <p:nvSpPr>
          <p:cNvPr id="10" name="Shape 8"/>
          <p:cNvSpPr/>
          <p:nvPr/>
        </p:nvSpPr>
        <p:spPr>
          <a:xfrm>
            <a:off x="5984687" y="2386584"/>
            <a:ext cx="5676961" cy="438912"/>
          </a:xfrm>
          <a:prstGeom prst="rect">
            <a:avLst/>
          </a:prstGeom>
          <a:solidFill>
            <a:srgbClr val="17232C"/>
          </a:solidFill>
          <a:ln w="12700">
            <a:solidFill>
              <a:srgbClr val="17232C">
                <a:alpha val="0"/>
              </a:srgbClr>
            </a:solidFill>
            <a:prstDash val="solid"/>
          </a:ln>
        </p:spPr>
      </p:sp>
      <p:sp>
        <p:nvSpPr>
          <p:cNvPr id="11" name="Text 9"/>
          <p:cNvSpPr txBox="1"/>
          <p:nvPr/>
        </p:nvSpPr>
        <p:spPr>
          <a:xfrm>
            <a:off x="6112703" y="2459736"/>
            <a:ext cx="5420929" cy="29260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180" b="1" dirty="0">
                <a:solidFill>
                  <a:srgbClr val="FFFFFF"/>
                </a:solidFill>
                <a:latin typeface="Arial" pitchFamily="34" charset="0"/>
                <a:ea typeface="Arial" pitchFamily="34" charset="-122"/>
                <a:cs typeface="Arial" pitchFamily="34" charset="-120"/>
              </a:rPr>
              <a:t>TO SET OR VALIDATE</a:t>
            </a:r>
            <a:endParaRPr lang="en-US" sz="1180" dirty="0"/>
          </a:p>
        </p:txBody>
      </p:sp>
      <p:sp>
        <p:nvSpPr>
          <p:cNvPr id="12" name="Shape 10"/>
          <p:cNvSpPr/>
          <p:nvPr/>
        </p:nvSpPr>
        <p:spPr>
          <a:xfrm>
            <a:off x="530352" y="2825496"/>
            <a:ext cx="5454335" cy="630936"/>
          </a:xfrm>
          <a:prstGeom prst="rect">
            <a:avLst/>
          </a:prstGeom>
          <a:solidFill>
            <a:srgbClr val="EFF2F4"/>
          </a:solidFill>
          <a:ln w="12700">
            <a:solidFill>
              <a:srgbClr val="EFF2F4">
                <a:alpha val="0"/>
              </a:srgbClr>
            </a:solidFill>
            <a:prstDash val="solid"/>
          </a:ln>
        </p:spPr>
      </p:sp>
      <p:sp>
        <p:nvSpPr>
          <p:cNvPr id="13" name="Text 11"/>
          <p:cNvSpPr txBox="1"/>
          <p:nvPr/>
        </p:nvSpPr>
        <p:spPr>
          <a:xfrm>
            <a:off x="658368" y="2916936"/>
            <a:ext cx="5198303" cy="44805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520" b="1" dirty="0">
                <a:solidFill>
                  <a:srgbClr val="687782"/>
                </a:solidFill>
                <a:latin typeface="Arial" pitchFamily="34" charset="0"/>
                <a:ea typeface="Arial" pitchFamily="34" charset="-122"/>
                <a:cs typeface="Arial" pitchFamily="34" charset="-120"/>
              </a:rPr>
              <a:t>Replace automatic price-class margins.</a:t>
            </a:r>
            <a:endParaRPr lang="en-US" sz="1520" dirty="0"/>
          </a:p>
        </p:txBody>
      </p:sp>
      <p:sp>
        <p:nvSpPr>
          <p:cNvPr id="14" name="Shape 12"/>
          <p:cNvSpPr/>
          <p:nvPr/>
        </p:nvSpPr>
        <p:spPr>
          <a:xfrm>
            <a:off x="5984687" y="2825496"/>
            <a:ext cx="5676961" cy="630936"/>
          </a:xfrm>
          <a:prstGeom prst="rect">
            <a:avLst/>
          </a:prstGeom>
          <a:solidFill>
            <a:srgbClr val="EFF2F4"/>
          </a:solidFill>
          <a:ln w="12700">
            <a:solidFill>
              <a:srgbClr val="EFF2F4">
                <a:alpha val="0"/>
              </a:srgbClr>
            </a:solidFill>
            <a:prstDash val="solid"/>
          </a:ln>
        </p:spPr>
      </p:sp>
      <p:sp>
        <p:nvSpPr>
          <p:cNvPr id="15" name="Text 13"/>
          <p:cNvSpPr txBox="1"/>
          <p:nvPr/>
        </p:nvSpPr>
        <p:spPr>
          <a:xfrm>
            <a:off x="6112703" y="2916936"/>
            <a:ext cx="5420929" cy="44805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520" dirty="0">
                <a:solidFill>
                  <a:srgbClr val="17232C"/>
                </a:solidFill>
                <a:latin typeface="Arial" pitchFamily="34" charset="0"/>
                <a:ea typeface="Arial" pitchFamily="34" charset="-122"/>
                <a:cs typeface="Arial" pitchFamily="34" charset="-120"/>
              </a:rPr>
              <a:t>Final objective, scope, prices, support and timing.</a:t>
            </a:r>
            <a:endParaRPr lang="en-US" sz="1520" dirty="0"/>
          </a:p>
        </p:txBody>
      </p:sp>
      <p:sp>
        <p:nvSpPr>
          <p:cNvPr id="16" name="Shape 14"/>
          <p:cNvSpPr/>
          <p:nvPr/>
        </p:nvSpPr>
        <p:spPr>
          <a:xfrm>
            <a:off x="530352" y="3456432"/>
            <a:ext cx="5454335" cy="630936"/>
          </a:xfrm>
          <a:prstGeom prst="rect">
            <a:avLst/>
          </a:prstGeom>
          <a:solidFill>
            <a:srgbClr val="FFFFFF"/>
          </a:solidFill>
          <a:ln w="12700">
            <a:solidFill>
              <a:srgbClr val="FFFFFF">
                <a:alpha val="0"/>
              </a:srgbClr>
            </a:solidFill>
            <a:prstDash val="solid"/>
          </a:ln>
        </p:spPr>
      </p:sp>
      <p:sp>
        <p:nvSpPr>
          <p:cNvPr id="17" name="Text 15"/>
          <p:cNvSpPr txBox="1"/>
          <p:nvPr/>
        </p:nvSpPr>
        <p:spPr>
          <a:xfrm>
            <a:off x="658368" y="3547872"/>
            <a:ext cx="5198303" cy="44805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520" b="1" dirty="0">
                <a:solidFill>
                  <a:srgbClr val="687782"/>
                </a:solidFill>
                <a:latin typeface="Arial" pitchFamily="34" charset="0"/>
                <a:ea typeface="Arial" pitchFamily="34" charset="-122"/>
                <a:cs typeface="Arial" pitchFamily="34" charset="-120"/>
              </a:rPr>
              <a:t>No universal 8% ceiling.</a:t>
            </a:r>
            <a:endParaRPr lang="en-US" sz="1520" dirty="0"/>
          </a:p>
        </p:txBody>
      </p:sp>
      <p:sp>
        <p:nvSpPr>
          <p:cNvPr id="18" name="Shape 16"/>
          <p:cNvSpPr/>
          <p:nvPr/>
        </p:nvSpPr>
        <p:spPr>
          <a:xfrm>
            <a:off x="5984687" y="3456432"/>
            <a:ext cx="5676961" cy="630936"/>
          </a:xfrm>
          <a:prstGeom prst="rect">
            <a:avLst/>
          </a:prstGeom>
          <a:solidFill>
            <a:srgbClr val="FFFFFF"/>
          </a:solidFill>
          <a:ln w="12700">
            <a:solidFill>
              <a:srgbClr val="FFFFFF">
                <a:alpha val="0"/>
              </a:srgbClr>
            </a:solidFill>
            <a:prstDash val="solid"/>
          </a:ln>
        </p:spPr>
      </p:sp>
      <p:sp>
        <p:nvSpPr>
          <p:cNvPr id="19" name="Text 17"/>
          <p:cNvSpPr txBox="1"/>
          <p:nvPr/>
        </p:nvSpPr>
        <p:spPr>
          <a:xfrm>
            <a:off x="6112703" y="3547872"/>
            <a:ext cx="5420929" cy="44805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520" dirty="0">
                <a:solidFill>
                  <a:srgbClr val="17232C"/>
                </a:solidFill>
                <a:latin typeface="Arial" pitchFamily="34" charset="0"/>
                <a:ea typeface="Arial" pitchFamily="34" charset="-122"/>
                <a:cs typeface="Arial" pitchFamily="34" charset="-120"/>
              </a:rPr>
              <a:t>Appropriate evidence and approval for exceptional moves.</a:t>
            </a:r>
            <a:endParaRPr lang="en-US" sz="1520" dirty="0"/>
          </a:p>
        </p:txBody>
      </p:sp>
      <p:sp>
        <p:nvSpPr>
          <p:cNvPr id="20" name="Shape 18"/>
          <p:cNvSpPr/>
          <p:nvPr/>
        </p:nvSpPr>
        <p:spPr>
          <a:xfrm>
            <a:off x="530352" y="4087368"/>
            <a:ext cx="5454335" cy="630936"/>
          </a:xfrm>
          <a:prstGeom prst="rect">
            <a:avLst/>
          </a:prstGeom>
          <a:solidFill>
            <a:srgbClr val="EFF2F4"/>
          </a:solidFill>
          <a:ln w="12700">
            <a:solidFill>
              <a:srgbClr val="EFF2F4">
                <a:alpha val="0"/>
              </a:srgbClr>
            </a:solidFill>
            <a:prstDash val="solid"/>
          </a:ln>
        </p:spPr>
      </p:sp>
      <p:sp>
        <p:nvSpPr>
          <p:cNvPr id="21" name="Text 19"/>
          <p:cNvSpPr txBox="1"/>
          <p:nvPr/>
        </p:nvSpPr>
        <p:spPr>
          <a:xfrm>
            <a:off x="658368" y="4178808"/>
            <a:ext cx="5198303" cy="44805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520" b="1" dirty="0">
                <a:solidFill>
                  <a:srgbClr val="687782"/>
                </a:solidFill>
                <a:latin typeface="Arial" pitchFamily="34" charset="0"/>
                <a:ea typeface="Arial" pitchFamily="34" charset="-122"/>
                <a:cs typeface="Arial" pitchFamily="34" charset="-120"/>
              </a:rPr>
              <a:t>AIM functional identity is live.</a:t>
            </a:r>
            <a:endParaRPr lang="en-US" sz="1520" dirty="0"/>
          </a:p>
        </p:txBody>
      </p:sp>
      <p:sp>
        <p:nvSpPr>
          <p:cNvPr id="22" name="Shape 20"/>
          <p:cNvSpPr/>
          <p:nvPr/>
        </p:nvSpPr>
        <p:spPr>
          <a:xfrm>
            <a:off x="5984687" y="4087368"/>
            <a:ext cx="5676961" cy="630936"/>
          </a:xfrm>
          <a:prstGeom prst="rect">
            <a:avLst/>
          </a:prstGeom>
          <a:solidFill>
            <a:srgbClr val="EFF2F4"/>
          </a:solidFill>
          <a:ln w="12700">
            <a:solidFill>
              <a:srgbClr val="EFF2F4">
                <a:alpha val="0"/>
              </a:srgbClr>
            </a:solidFill>
            <a:prstDash val="solid"/>
          </a:ln>
        </p:spPr>
      </p:sp>
      <p:sp>
        <p:nvSpPr>
          <p:cNvPr id="23" name="Text 21"/>
          <p:cNvSpPr txBox="1"/>
          <p:nvPr/>
        </p:nvSpPr>
        <p:spPr>
          <a:xfrm>
            <a:off x="6112703" y="4178808"/>
            <a:ext cx="5420929" cy="44805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520" dirty="0">
                <a:solidFill>
                  <a:srgbClr val="17232C"/>
                </a:solidFill>
                <a:latin typeface="Arial" pitchFamily="34" charset="0"/>
                <a:ea typeface="Arial" pitchFamily="34" charset="-122"/>
                <a:cs typeface="Arial" pitchFamily="34" charset="-120"/>
              </a:rPr>
              <a:t>Part/market commercial scoring and remaining evidence.</a:t>
            </a:r>
            <a:endParaRPr lang="en-US" sz="1520" dirty="0"/>
          </a:p>
        </p:txBody>
      </p:sp>
      <p:sp>
        <p:nvSpPr>
          <p:cNvPr id="24" name="Shape 22"/>
          <p:cNvSpPr/>
          <p:nvPr/>
        </p:nvSpPr>
        <p:spPr>
          <a:xfrm>
            <a:off x="530352" y="4718304"/>
            <a:ext cx="5454335" cy="630936"/>
          </a:xfrm>
          <a:prstGeom prst="rect">
            <a:avLst/>
          </a:prstGeom>
          <a:solidFill>
            <a:srgbClr val="FFFFFF"/>
          </a:solidFill>
          <a:ln w="12700">
            <a:solidFill>
              <a:srgbClr val="FFFFFF">
                <a:alpha val="0"/>
              </a:srgbClr>
            </a:solidFill>
            <a:prstDash val="solid"/>
          </a:ln>
        </p:spPr>
      </p:sp>
      <p:sp>
        <p:nvSpPr>
          <p:cNvPr id="25" name="Text 23"/>
          <p:cNvSpPr txBox="1"/>
          <p:nvPr/>
        </p:nvSpPr>
        <p:spPr>
          <a:xfrm>
            <a:off x="658368" y="4809744"/>
            <a:ext cx="5198303" cy="44805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520" b="1" dirty="0">
                <a:solidFill>
                  <a:srgbClr val="687782"/>
                </a:solidFill>
                <a:latin typeface="Arial" pitchFamily="34" charset="0"/>
                <a:ea typeface="Arial" pitchFamily="34" charset="-122"/>
                <a:cs typeface="Arial" pitchFamily="34" charset="-120"/>
              </a:rPr>
              <a:t>Existing Class T prices remain unchanged.</a:t>
            </a:r>
            <a:endParaRPr lang="en-US" sz="1520" dirty="0"/>
          </a:p>
        </p:txBody>
      </p:sp>
      <p:sp>
        <p:nvSpPr>
          <p:cNvPr id="26" name="Shape 24"/>
          <p:cNvSpPr/>
          <p:nvPr/>
        </p:nvSpPr>
        <p:spPr>
          <a:xfrm>
            <a:off x="5984687" y="4718304"/>
            <a:ext cx="5676961" cy="630936"/>
          </a:xfrm>
          <a:prstGeom prst="rect">
            <a:avLst/>
          </a:prstGeom>
          <a:solidFill>
            <a:srgbClr val="FFFFFF"/>
          </a:solidFill>
          <a:ln w="12700">
            <a:solidFill>
              <a:srgbClr val="FFFFFF">
                <a:alpha val="0"/>
              </a:srgbClr>
            </a:solidFill>
            <a:prstDash val="solid"/>
          </a:ln>
        </p:spPr>
      </p:sp>
      <p:sp>
        <p:nvSpPr>
          <p:cNvPr id="27" name="Text 25"/>
          <p:cNvSpPr txBox="1"/>
          <p:nvPr/>
        </p:nvSpPr>
        <p:spPr>
          <a:xfrm>
            <a:off x="6112703" y="4809744"/>
            <a:ext cx="5420929" cy="44805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520" dirty="0">
                <a:solidFill>
                  <a:srgbClr val="17232C"/>
                </a:solidFill>
                <a:latin typeface="Arial" pitchFamily="34" charset="0"/>
                <a:ea typeface="Arial" pitchFamily="34" charset="-122"/>
                <a:cs typeface="Arial" pitchFamily="34" charset="-120"/>
              </a:rPr>
              <a:t>Deferred difference: 20% configured; 40% median in the issued Master.</a:t>
            </a:r>
            <a:endParaRPr lang="en-US" sz="1520" dirty="0"/>
          </a:p>
        </p:txBody>
      </p:sp>
      <p:sp>
        <p:nvSpPr>
          <p:cNvPr id="28" name="Shape 26"/>
          <p:cNvSpPr/>
          <p:nvPr/>
        </p:nvSpPr>
        <p:spPr>
          <a:xfrm>
            <a:off x="530352" y="5541264"/>
            <a:ext cx="11131296" cy="539496"/>
          </a:xfrm>
          <a:prstGeom prst="rect">
            <a:avLst/>
          </a:prstGeom>
          <a:solidFill>
            <a:srgbClr val="EFF2F4"/>
          </a:solidFill>
          <a:ln w="12700">
            <a:solidFill>
              <a:srgbClr val="EFF2F4">
                <a:alpha val="0"/>
              </a:srgbClr>
            </a:solidFill>
            <a:prstDash val="solid"/>
          </a:ln>
        </p:spPr>
      </p:sp>
      <p:sp>
        <p:nvSpPr>
          <p:cNvPr id="29" name="Text 27"/>
          <p:cNvSpPr txBox="1"/>
          <p:nvPr/>
        </p:nvSpPr>
        <p:spPr>
          <a:xfrm>
            <a:off x="658368" y="5687568"/>
            <a:ext cx="10875264" cy="24688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430" b="1" dirty="0">
                <a:solidFill>
                  <a:srgbClr val="17232C"/>
                </a:solidFill>
                <a:latin typeface="Arial" pitchFamily="34" charset="0"/>
                <a:ea typeface="Arial" pitchFamily="34" charset="-122"/>
                <a:cs typeface="Arial" pitchFamily="34" charset="-120"/>
              </a:rPr>
              <a:t>Source-specific cost check: confirm whether the announced currency treatment also applies to Thailand.</a:t>
            </a:r>
            <a:endParaRPr lang="en-US" sz="1430" dirty="0"/>
          </a:p>
        </p:txBody>
      </p:sp>
    </p:spTree>
  </p:cSld>
  <p:clrMapOvr>
    <a:masterClrMapping/>
  </p:clrMapOvr>
  <p:transition spd="fast" advClick="1">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30352" y="301752"/>
            <a:ext cx="950976"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2000" b="1" dirty="0">
                <a:solidFill>
                  <a:srgbClr val="ED0016"/>
                </a:solidFill>
                <a:latin typeface="Arial" pitchFamily="34" charset="0"/>
                <a:ea typeface="Arial" pitchFamily="34" charset="-122"/>
                <a:cs typeface="Arial" pitchFamily="34" charset="-120"/>
              </a:rPr>
              <a:t>ISUZU</a:t>
            </a:r>
            <a:endParaRPr lang="en-US" sz="2000" dirty="0"/>
          </a:p>
        </p:txBody>
      </p:sp>
      <p:sp>
        <p:nvSpPr>
          <p:cNvPr id="3" name="Text 1"/>
          <p:cNvSpPr txBox="1"/>
          <p:nvPr/>
        </p:nvSpPr>
        <p:spPr>
          <a:xfrm>
            <a:off x="1856232" y="347472"/>
            <a:ext cx="9418320" cy="16459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980" b="1" spc="145" kern="0" dirty="0">
                <a:solidFill>
                  <a:srgbClr val="687782"/>
                </a:solidFill>
                <a:latin typeface="Arial" pitchFamily="34" charset="0"/>
                <a:ea typeface="Arial" pitchFamily="34" charset="-122"/>
                <a:cs typeface="Arial" pitchFamily="34" charset="-120"/>
              </a:rPr>
              <a:t>APPENDIX E | AIM DEFINITIONS AND SCOPE</a:t>
            </a:r>
            <a:endParaRPr lang="en-US" sz="980" dirty="0"/>
          </a:p>
        </p:txBody>
      </p:sp>
      <p:sp>
        <p:nvSpPr>
          <p:cNvPr id="4" name="Text 2"/>
          <p:cNvSpPr txBox="1"/>
          <p:nvPr/>
        </p:nvSpPr>
        <p:spPr>
          <a:xfrm>
            <a:off x="530352" y="960120"/>
            <a:ext cx="11131296" cy="76809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3020" b="1" dirty="0">
                <a:solidFill>
                  <a:srgbClr val="17232C"/>
                </a:solidFill>
                <a:latin typeface="Arial" pitchFamily="34" charset="0"/>
                <a:ea typeface="Arial" pitchFamily="34" charset="-122"/>
                <a:cs typeface="Arial" pitchFamily="34" charset="-120"/>
              </a:rPr>
              <a:t>AIM: definitions, source roles and current scope.</a:t>
            </a:r>
            <a:endParaRPr lang="en-US" sz="3020" dirty="0"/>
          </a:p>
        </p:txBody>
      </p:sp>
      <p:sp>
        <p:nvSpPr>
          <p:cNvPr id="5" name="Shape 3"/>
          <p:cNvSpPr/>
          <p:nvPr/>
        </p:nvSpPr>
        <p:spPr>
          <a:xfrm>
            <a:off x="530352" y="6382512"/>
            <a:ext cx="11131296" cy="0"/>
          </a:xfrm>
          <a:prstGeom prst="line">
            <a:avLst/>
          </a:prstGeom>
          <a:solidFill>
            <a:srgbClr val="FFFFFF">
              <a:alpha val="0"/>
            </a:srgbClr>
          </a:solidFill>
          <a:ln w="8890">
            <a:solidFill>
              <a:srgbClr val="DCE3E8"/>
            </a:solidFill>
            <a:prstDash val="solid"/>
          </a:ln>
        </p:spPr>
      </p:sp>
      <p:sp>
        <p:nvSpPr>
          <p:cNvPr id="6" name="Text 4"/>
          <p:cNvSpPr txBox="1"/>
          <p:nvPr/>
        </p:nvSpPr>
        <p:spPr>
          <a:xfrm>
            <a:off x="530352" y="6483096"/>
            <a:ext cx="10216896" cy="16459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810" dirty="0">
                <a:solidFill>
                  <a:srgbClr val="687782"/>
                </a:solidFill>
                <a:latin typeface="Arial" pitchFamily="34" charset="0"/>
                <a:ea typeface="Arial" pitchFamily="34" charset="-122"/>
                <a:cs typeface="Arial" pitchFamily="34" charset="-120"/>
              </a:rPr>
              <a:t>Source: Pricing Master and management policy. Detailed basis in speaker notes.</a:t>
            </a:r>
            <a:endParaRPr lang="en-US" sz="810" dirty="0"/>
          </a:p>
        </p:txBody>
      </p:sp>
      <p:sp>
        <p:nvSpPr>
          <p:cNvPr id="7" name="Text 5"/>
          <p:cNvSpPr txBox="1"/>
          <p:nvPr/>
        </p:nvSpPr>
        <p:spPr>
          <a:xfrm>
            <a:off x="10856976" y="6469380"/>
            <a:ext cx="804672" cy="21031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r" indent="0" marL="0">
              <a:buNone/>
            </a:pPr>
            <a:r>
              <a:rPr lang="en-US" sz="910" dirty="0">
                <a:solidFill>
                  <a:srgbClr val="687782"/>
                </a:solidFill>
                <a:latin typeface="Arial" pitchFamily="34" charset="0"/>
                <a:ea typeface="Arial" pitchFamily="34" charset="-122"/>
                <a:cs typeface="Arial" pitchFamily="34" charset="-120"/>
              </a:rPr>
              <a:t>v1.4  |  23</a:t>
            </a:r>
            <a:endParaRPr lang="en-US" sz="910" dirty="0"/>
          </a:p>
        </p:txBody>
      </p:sp>
      <p:sp>
        <p:nvSpPr>
          <p:cNvPr id="8" name="Shape 6"/>
          <p:cNvSpPr/>
          <p:nvPr/>
        </p:nvSpPr>
        <p:spPr>
          <a:xfrm>
            <a:off x="530352" y="2212848"/>
            <a:ext cx="2560198" cy="438912"/>
          </a:xfrm>
          <a:prstGeom prst="rect">
            <a:avLst/>
          </a:prstGeom>
          <a:solidFill>
            <a:srgbClr val="17232C"/>
          </a:solidFill>
          <a:ln w="12700">
            <a:solidFill>
              <a:srgbClr val="17232C">
                <a:alpha val="0"/>
              </a:srgbClr>
            </a:solidFill>
            <a:prstDash val="solid"/>
          </a:ln>
        </p:spPr>
      </p:sp>
      <p:sp>
        <p:nvSpPr>
          <p:cNvPr id="9" name="Text 7"/>
          <p:cNvSpPr txBox="1"/>
          <p:nvPr/>
        </p:nvSpPr>
        <p:spPr>
          <a:xfrm>
            <a:off x="658368" y="2286000"/>
            <a:ext cx="2304166" cy="29260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180" b="1" dirty="0">
                <a:solidFill>
                  <a:srgbClr val="FFFFFF"/>
                </a:solidFill>
                <a:latin typeface="Arial" pitchFamily="34" charset="0"/>
                <a:ea typeface="Arial" pitchFamily="34" charset="-122"/>
                <a:cs typeface="Arial" pitchFamily="34" charset="-120"/>
              </a:rPr>
              <a:t>TOPIC</a:t>
            </a:r>
            <a:endParaRPr lang="en-US" sz="1180" dirty="0"/>
          </a:p>
        </p:txBody>
      </p:sp>
      <p:sp>
        <p:nvSpPr>
          <p:cNvPr id="10" name="Shape 8"/>
          <p:cNvSpPr/>
          <p:nvPr/>
        </p:nvSpPr>
        <p:spPr>
          <a:xfrm>
            <a:off x="3090550" y="2212848"/>
            <a:ext cx="8571098" cy="438912"/>
          </a:xfrm>
          <a:prstGeom prst="rect">
            <a:avLst/>
          </a:prstGeom>
          <a:solidFill>
            <a:srgbClr val="17232C"/>
          </a:solidFill>
          <a:ln w="12700">
            <a:solidFill>
              <a:srgbClr val="17232C">
                <a:alpha val="0"/>
              </a:srgbClr>
            </a:solidFill>
            <a:prstDash val="solid"/>
          </a:ln>
        </p:spPr>
      </p:sp>
      <p:sp>
        <p:nvSpPr>
          <p:cNvPr id="11" name="Text 9"/>
          <p:cNvSpPr txBox="1"/>
          <p:nvPr/>
        </p:nvSpPr>
        <p:spPr>
          <a:xfrm>
            <a:off x="3218566" y="2286000"/>
            <a:ext cx="8315066" cy="29260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180" b="1" dirty="0">
                <a:solidFill>
                  <a:srgbClr val="FFFFFF"/>
                </a:solidFill>
                <a:latin typeface="Arial" pitchFamily="34" charset="0"/>
                <a:ea typeface="Arial" pitchFamily="34" charset="-122"/>
                <a:cs typeface="Arial" pitchFamily="34" charset="-120"/>
              </a:rPr>
              <a:t>REFERENCE FOR QUESTIONS</a:t>
            </a:r>
            <a:endParaRPr lang="en-US" sz="1180" dirty="0"/>
          </a:p>
        </p:txBody>
      </p:sp>
      <p:sp>
        <p:nvSpPr>
          <p:cNvPr id="12" name="Shape 10"/>
          <p:cNvSpPr/>
          <p:nvPr/>
        </p:nvSpPr>
        <p:spPr>
          <a:xfrm>
            <a:off x="530352" y="2651760"/>
            <a:ext cx="2560198" cy="603504"/>
          </a:xfrm>
          <a:prstGeom prst="rect">
            <a:avLst/>
          </a:prstGeom>
          <a:solidFill>
            <a:srgbClr val="EFF2F4"/>
          </a:solidFill>
          <a:ln w="12700">
            <a:solidFill>
              <a:srgbClr val="EFF2F4">
                <a:alpha val="0"/>
              </a:srgbClr>
            </a:solidFill>
            <a:prstDash val="solid"/>
          </a:ln>
        </p:spPr>
      </p:sp>
      <p:sp>
        <p:nvSpPr>
          <p:cNvPr id="13" name="Text 11"/>
          <p:cNvSpPr txBox="1"/>
          <p:nvPr/>
        </p:nvSpPr>
        <p:spPr>
          <a:xfrm>
            <a:off x="658368" y="2743200"/>
            <a:ext cx="2304166" cy="42062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520" b="1" dirty="0">
                <a:solidFill>
                  <a:srgbClr val="687782"/>
                </a:solidFill>
                <a:latin typeface="Arial" pitchFamily="34" charset="0"/>
                <a:ea typeface="Arial" pitchFamily="34" charset="-122"/>
                <a:cs typeface="Arial" pitchFamily="34" charset="-120"/>
              </a:rPr>
              <a:t>Source fields</a:t>
            </a:r>
            <a:endParaRPr lang="en-US" sz="1520" dirty="0"/>
          </a:p>
        </p:txBody>
      </p:sp>
      <p:sp>
        <p:nvSpPr>
          <p:cNvPr id="14" name="Shape 12"/>
          <p:cNvSpPr/>
          <p:nvPr/>
        </p:nvSpPr>
        <p:spPr>
          <a:xfrm>
            <a:off x="3090550" y="2651760"/>
            <a:ext cx="8571098" cy="603504"/>
          </a:xfrm>
          <a:prstGeom prst="rect">
            <a:avLst/>
          </a:prstGeom>
          <a:solidFill>
            <a:srgbClr val="EFF2F4"/>
          </a:solidFill>
          <a:ln w="12700">
            <a:solidFill>
              <a:srgbClr val="EFF2F4">
                <a:alpha val="0"/>
              </a:srgbClr>
            </a:solidFill>
            <a:prstDash val="solid"/>
          </a:ln>
        </p:spPr>
      </p:sp>
      <p:sp>
        <p:nvSpPr>
          <p:cNvPr id="15" name="Text 13"/>
          <p:cNvSpPr txBox="1"/>
          <p:nvPr/>
        </p:nvSpPr>
        <p:spPr>
          <a:xfrm>
            <a:off x="3218566" y="2743200"/>
            <a:ext cx="8315066" cy="42062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520" dirty="0">
                <a:solidFill>
                  <a:srgbClr val="17232C"/>
                </a:solidFill>
                <a:latin typeface="Arial" pitchFamily="34" charset="0"/>
                <a:ea typeface="Arial" pitchFamily="34" charset="-122"/>
                <a:cs typeface="Arial" pitchFamily="34" charset="-120"/>
              </a:rPr>
              <a:t>Part number, description, price, customs code and catalogue figure. The fields do not all perform the same role.</a:t>
            </a:r>
            <a:endParaRPr lang="en-US" sz="1520" dirty="0"/>
          </a:p>
        </p:txBody>
      </p:sp>
      <p:sp>
        <p:nvSpPr>
          <p:cNvPr id="16" name="Shape 14"/>
          <p:cNvSpPr/>
          <p:nvPr/>
        </p:nvSpPr>
        <p:spPr>
          <a:xfrm>
            <a:off x="530352" y="3255264"/>
            <a:ext cx="2560198" cy="603504"/>
          </a:xfrm>
          <a:prstGeom prst="rect">
            <a:avLst/>
          </a:prstGeom>
          <a:solidFill>
            <a:srgbClr val="FFFFFF"/>
          </a:solidFill>
          <a:ln w="12700">
            <a:solidFill>
              <a:srgbClr val="FFFFFF">
                <a:alpha val="0"/>
              </a:srgbClr>
            </a:solidFill>
            <a:prstDash val="solid"/>
          </a:ln>
        </p:spPr>
      </p:sp>
      <p:sp>
        <p:nvSpPr>
          <p:cNvPr id="17" name="Text 15"/>
          <p:cNvSpPr txBox="1"/>
          <p:nvPr/>
        </p:nvSpPr>
        <p:spPr>
          <a:xfrm>
            <a:off x="658368" y="3346704"/>
            <a:ext cx="2304166" cy="42062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520" b="1" dirty="0">
                <a:solidFill>
                  <a:srgbClr val="687782"/>
                </a:solidFill>
                <a:latin typeface="Arial" pitchFamily="34" charset="0"/>
                <a:ea typeface="Arial" pitchFamily="34" charset="-122"/>
                <a:cs typeface="Arial" pitchFamily="34" charset="-120"/>
              </a:rPr>
              <a:t>Original hierarchy</a:t>
            </a:r>
            <a:endParaRPr lang="en-US" sz="1520" dirty="0"/>
          </a:p>
        </p:txBody>
      </p:sp>
      <p:sp>
        <p:nvSpPr>
          <p:cNvPr id="18" name="Shape 16"/>
          <p:cNvSpPr/>
          <p:nvPr/>
        </p:nvSpPr>
        <p:spPr>
          <a:xfrm>
            <a:off x="3090550" y="3255264"/>
            <a:ext cx="8571098" cy="603504"/>
          </a:xfrm>
          <a:prstGeom prst="rect">
            <a:avLst/>
          </a:prstGeom>
          <a:solidFill>
            <a:srgbClr val="FFFFFF"/>
          </a:solidFill>
          <a:ln w="12700">
            <a:solidFill>
              <a:srgbClr val="FFFFFF">
                <a:alpha val="0"/>
              </a:srgbClr>
            </a:solidFill>
            <a:prstDash val="solid"/>
          </a:ln>
        </p:spPr>
      </p:sp>
      <p:sp>
        <p:nvSpPr>
          <p:cNvPr id="19" name="Text 17"/>
          <p:cNvSpPr txBox="1"/>
          <p:nvPr/>
        </p:nvSpPr>
        <p:spPr>
          <a:xfrm>
            <a:off x="3218566" y="3346704"/>
            <a:ext cx="8315066" cy="42062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520" dirty="0">
                <a:solidFill>
                  <a:srgbClr val="17232C"/>
                </a:solidFill>
                <a:latin typeface="Arial" pitchFamily="34" charset="0"/>
                <a:ea typeface="Arial" pitchFamily="34" charset="-122"/>
                <a:cs typeface="Arial" pitchFamily="34" charset="-120"/>
              </a:rPr>
              <a:t>Commercial family &gt; System group &gt; Part type. Initial mapping was description-based.</a:t>
            </a:r>
            <a:endParaRPr lang="en-US" sz="1520" dirty="0"/>
          </a:p>
        </p:txBody>
      </p:sp>
      <p:sp>
        <p:nvSpPr>
          <p:cNvPr id="20" name="Shape 18"/>
          <p:cNvSpPr/>
          <p:nvPr/>
        </p:nvSpPr>
        <p:spPr>
          <a:xfrm>
            <a:off x="530352" y="3858768"/>
            <a:ext cx="2560198" cy="603504"/>
          </a:xfrm>
          <a:prstGeom prst="rect">
            <a:avLst/>
          </a:prstGeom>
          <a:solidFill>
            <a:srgbClr val="EFF2F4"/>
          </a:solidFill>
          <a:ln w="12700">
            <a:solidFill>
              <a:srgbClr val="EFF2F4">
                <a:alpha val="0"/>
              </a:srgbClr>
            </a:solidFill>
            <a:prstDash val="solid"/>
          </a:ln>
        </p:spPr>
      </p:sp>
      <p:sp>
        <p:nvSpPr>
          <p:cNvPr id="21" name="Text 19"/>
          <p:cNvSpPr txBox="1"/>
          <p:nvPr/>
        </p:nvSpPr>
        <p:spPr>
          <a:xfrm>
            <a:off x="658368" y="3950208"/>
            <a:ext cx="2304166" cy="42062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520" b="1" dirty="0">
                <a:solidFill>
                  <a:srgbClr val="687782"/>
                </a:solidFill>
                <a:latin typeface="Arial" pitchFamily="34" charset="0"/>
                <a:ea typeface="Arial" pitchFamily="34" charset="-122"/>
                <a:cs typeface="Arial" pitchFamily="34" charset="-120"/>
              </a:rPr>
              <a:t>Functional identity</a:t>
            </a:r>
            <a:endParaRPr lang="en-US" sz="1520" dirty="0"/>
          </a:p>
        </p:txBody>
      </p:sp>
      <p:sp>
        <p:nvSpPr>
          <p:cNvPr id="22" name="Shape 20"/>
          <p:cNvSpPr/>
          <p:nvPr/>
        </p:nvSpPr>
        <p:spPr>
          <a:xfrm>
            <a:off x="3090550" y="3858768"/>
            <a:ext cx="8571098" cy="603504"/>
          </a:xfrm>
          <a:prstGeom prst="rect">
            <a:avLst/>
          </a:prstGeom>
          <a:solidFill>
            <a:srgbClr val="EFF2F4"/>
          </a:solidFill>
          <a:ln w="12700">
            <a:solidFill>
              <a:srgbClr val="EFF2F4">
                <a:alpha val="0"/>
              </a:srgbClr>
            </a:solidFill>
            <a:prstDash val="solid"/>
          </a:ln>
        </p:spPr>
      </p:sp>
      <p:sp>
        <p:nvSpPr>
          <p:cNvPr id="23" name="Text 21"/>
          <p:cNvSpPr txBox="1"/>
          <p:nvPr/>
        </p:nvSpPr>
        <p:spPr>
          <a:xfrm>
            <a:off x="3218566" y="3950208"/>
            <a:ext cx="8315066" cy="42062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520" dirty="0">
                <a:solidFill>
                  <a:srgbClr val="17232C"/>
                </a:solidFill>
                <a:latin typeface="Arial" pitchFamily="34" charset="0"/>
                <a:ea typeface="Arial" pitchFamily="34" charset="-122"/>
                <a:cs typeface="Arial" pitchFamily="34" charset="-120"/>
              </a:rPr>
              <a:t>Three catalogue-anchored levels. Brakes &gt; Pads &amp; Shoes &gt; Brake Pad Kit is the recorded working example.</a:t>
            </a:r>
            <a:endParaRPr lang="en-US" sz="1520" dirty="0"/>
          </a:p>
        </p:txBody>
      </p:sp>
      <p:sp>
        <p:nvSpPr>
          <p:cNvPr id="24" name="Shape 22"/>
          <p:cNvSpPr/>
          <p:nvPr/>
        </p:nvSpPr>
        <p:spPr>
          <a:xfrm>
            <a:off x="530352" y="4462272"/>
            <a:ext cx="2560198" cy="603504"/>
          </a:xfrm>
          <a:prstGeom prst="rect">
            <a:avLst/>
          </a:prstGeom>
          <a:solidFill>
            <a:srgbClr val="FFFFFF"/>
          </a:solidFill>
          <a:ln w="12700">
            <a:solidFill>
              <a:srgbClr val="FFFFFF">
                <a:alpha val="0"/>
              </a:srgbClr>
            </a:solidFill>
            <a:prstDash val="solid"/>
          </a:ln>
        </p:spPr>
      </p:sp>
      <p:sp>
        <p:nvSpPr>
          <p:cNvPr id="25" name="Text 23"/>
          <p:cNvSpPr txBox="1"/>
          <p:nvPr/>
        </p:nvSpPr>
        <p:spPr>
          <a:xfrm>
            <a:off x="658368" y="4553712"/>
            <a:ext cx="2304166" cy="42062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520" b="1" dirty="0">
                <a:solidFill>
                  <a:srgbClr val="687782"/>
                </a:solidFill>
                <a:latin typeface="Arial" pitchFamily="34" charset="0"/>
                <a:ea typeface="Arial" pitchFamily="34" charset="-122"/>
                <a:cs typeface="Arial" pitchFamily="34" charset="-120"/>
              </a:rPr>
              <a:t>Commercial assessment</a:t>
            </a:r>
            <a:endParaRPr lang="en-US" sz="1520" dirty="0"/>
          </a:p>
        </p:txBody>
      </p:sp>
      <p:sp>
        <p:nvSpPr>
          <p:cNvPr id="26" name="Shape 24"/>
          <p:cNvSpPr/>
          <p:nvPr/>
        </p:nvSpPr>
        <p:spPr>
          <a:xfrm>
            <a:off x="3090550" y="4462272"/>
            <a:ext cx="8571098" cy="603504"/>
          </a:xfrm>
          <a:prstGeom prst="rect">
            <a:avLst/>
          </a:prstGeom>
          <a:solidFill>
            <a:srgbClr val="FFFFFF"/>
          </a:solidFill>
          <a:ln w="12700">
            <a:solidFill>
              <a:srgbClr val="FFFFFF">
                <a:alpha val="0"/>
              </a:srgbClr>
            </a:solidFill>
            <a:prstDash val="solid"/>
          </a:ln>
        </p:spPr>
      </p:sp>
      <p:sp>
        <p:nvSpPr>
          <p:cNvPr id="27" name="Text 25"/>
          <p:cNvSpPr txBox="1"/>
          <p:nvPr/>
        </p:nvSpPr>
        <p:spPr>
          <a:xfrm>
            <a:off x="3218566" y="4553712"/>
            <a:ext cx="8315066" cy="42062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520" dirty="0">
                <a:solidFill>
                  <a:srgbClr val="17232C"/>
                </a:solidFill>
                <a:latin typeface="Arial" pitchFamily="34" charset="0"/>
                <a:ea typeface="Arial" pitchFamily="34" charset="-122"/>
                <a:cs typeface="Arial" pitchFamily="34" charset="-120"/>
              </a:rPr>
              <a:t>Separate, per part and per market. The score is the next step in the Master, not a fourth identity level.</a:t>
            </a:r>
            <a:endParaRPr lang="en-US" sz="1520" dirty="0"/>
          </a:p>
        </p:txBody>
      </p:sp>
      <p:sp>
        <p:nvSpPr>
          <p:cNvPr id="28" name="Shape 26"/>
          <p:cNvSpPr/>
          <p:nvPr/>
        </p:nvSpPr>
        <p:spPr>
          <a:xfrm>
            <a:off x="530352" y="5065776"/>
            <a:ext cx="2560198" cy="603504"/>
          </a:xfrm>
          <a:prstGeom prst="rect">
            <a:avLst/>
          </a:prstGeom>
          <a:solidFill>
            <a:srgbClr val="EFF2F4"/>
          </a:solidFill>
          <a:ln w="12700">
            <a:solidFill>
              <a:srgbClr val="EFF2F4">
                <a:alpha val="0"/>
              </a:srgbClr>
            </a:solidFill>
            <a:prstDash val="solid"/>
          </a:ln>
        </p:spPr>
      </p:sp>
      <p:sp>
        <p:nvSpPr>
          <p:cNvPr id="29" name="Text 27"/>
          <p:cNvSpPr txBox="1"/>
          <p:nvPr/>
        </p:nvSpPr>
        <p:spPr>
          <a:xfrm>
            <a:off x="658368" y="5157216"/>
            <a:ext cx="2304166" cy="42062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520" b="1" dirty="0">
                <a:solidFill>
                  <a:srgbClr val="687782"/>
                </a:solidFill>
                <a:latin typeface="Arial" pitchFamily="34" charset="0"/>
                <a:ea typeface="Arial" pitchFamily="34" charset="-122"/>
                <a:cs typeface="Arial" pitchFamily="34" charset="-120"/>
              </a:rPr>
              <a:t>Checks and attributes</a:t>
            </a:r>
            <a:endParaRPr lang="en-US" sz="1520" dirty="0"/>
          </a:p>
        </p:txBody>
      </p:sp>
      <p:sp>
        <p:nvSpPr>
          <p:cNvPr id="30" name="Shape 28"/>
          <p:cNvSpPr/>
          <p:nvPr/>
        </p:nvSpPr>
        <p:spPr>
          <a:xfrm>
            <a:off x="3090550" y="5065776"/>
            <a:ext cx="8571098" cy="603504"/>
          </a:xfrm>
          <a:prstGeom prst="rect">
            <a:avLst/>
          </a:prstGeom>
          <a:solidFill>
            <a:srgbClr val="EFF2F4"/>
          </a:solidFill>
          <a:ln w="12700">
            <a:solidFill>
              <a:srgbClr val="EFF2F4">
                <a:alpha val="0"/>
              </a:srgbClr>
            </a:solidFill>
            <a:prstDash val="solid"/>
          </a:ln>
        </p:spPr>
      </p:sp>
      <p:sp>
        <p:nvSpPr>
          <p:cNvPr id="31" name="Text 29"/>
          <p:cNvSpPr txBox="1"/>
          <p:nvPr/>
        </p:nvSpPr>
        <p:spPr>
          <a:xfrm>
            <a:off x="3218566" y="5157216"/>
            <a:ext cx="8315066" cy="42062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520" dirty="0">
                <a:solidFill>
                  <a:srgbClr val="17232C"/>
                </a:solidFill>
                <a:latin typeface="Arial" pitchFamily="34" charset="0"/>
                <a:ea typeface="Arial" pitchFamily="34" charset="-122"/>
                <a:cs typeface="Arial" pitchFamily="34" charset="-120"/>
              </a:rPr>
              <a:t>Catalogue and customs checks support validation. EQ-Hit is not populated in the supplied Master; attributes are deferred.</a:t>
            </a:r>
            <a:endParaRPr lang="en-US" sz="1520" dirty="0"/>
          </a:p>
        </p:txBody>
      </p:sp>
      <p:sp>
        <p:nvSpPr>
          <p:cNvPr id="32" name="Text 30"/>
          <p:cNvSpPr txBox="1"/>
          <p:nvPr/>
        </p:nvSpPr>
        <p:spPr>
          <a:xfrm>
            <a:off x="530352" y="5907024"/>
            <a:ext cx="11131296" cy="22860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en-US" sz="1130" dirty="0">
                <a:solidFill>
                  <a:srgbClr val="687782"/>
                </a:solidFill>
                <a:latin typeface="Arial" pitchFamily="34" charset="0"/>
                <a:ea typeface="Arial" pitchFamily="34" charset="-122"/>
                <a:cs typeface="Arial" pitchFamily="34" charset="-120"/>
              </a:rPr>
              <a:t>Visual assets: user-provided truck photograph; Font Awesome Free icons (Fonticons, Inc., CC BY 4.0).</a:t>
            </a:r>
            <a:endParaRPr lang="en-US" sz="1130" dirty="0"/>
          </a:p>
        </p:txBody>
      </p:sp>
    </p:spTree>
  </p:cSld>
  <p:clrMapOvr>
    <a:masterClrMapping/>
  </p:clrMapOvr>
  <p:transition spd="fast" advClick="1">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Isuzu Motors Europe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ISZE Parts Pricing Policy | Version 1.4</dc:title>
  <dc:subject>Parts pricing policy: management information and approval</dc:subject>
  <dc:creator>Isuzu Motors Europe</dc:creator>
  <cp:lastModifiedBy>Isuzu Motors Europe</cp:lastModifiedBy>
  <cp:revision>1</cp:revision>
  <dcterms:created xsi:type="dcterms:W3CDTF">2026-09-20T06:41:12Z</dcterms:created>
  <dcterms:modified xsi:type="dcterms:W3CDTF">2026-09-20T06:41:12Z</dcterms:modified>
</cp:coreProperties>
</file>