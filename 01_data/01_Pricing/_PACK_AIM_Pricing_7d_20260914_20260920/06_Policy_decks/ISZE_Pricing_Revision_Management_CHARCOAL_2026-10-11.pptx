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FFFFFF"/>
              </a:solidFill>
              <a:ln>
                <a:noFill/>
              </a:ln>
            </c:spPr>
          </c:dPt>
          <c:dLbls>
            <c:dLbl>
              <c:idx val="0"/>
              <c:tx>
                <c:rich>
                  <a:bodyPr/>
                  <a:lstStyle/>
                  <a:p>
                    <a:r>
                      <a:rPr sz="1150" b="1">
                        <a:solidFill>
                          <a:srgbClr val="F2F2F2"/>
                        </a:solidFill>
                        <a:latin typeface="Aptos"/>
                      </a:rPr>
                      <a:t>6.3%</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6.2%</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7.0%</a:t>
                    </a:r>
                  </a:p>
                </c:rich>
              </c:tx>
              <c:dLblPos val="outEnd"/>
              <c:showLegendKey val="0"/>
              <c:showVal val="1"/>
              <c:showCatName val="0"/>
              <c:showSerName val="0"/>
              <c:showPercent val="0"/>
              <c:showBubbleSize val="0"/>
            </c:dLbl>
            <c:dLbl>
              <c:idx val="3"/>
              <c:tx>
                <c:rich>
                  <a:bodyPr/>
                  <a:lstStyle/>
                  <a:p>
                    <a:r>
                      <a:rPr sz="1150" b="1">
                        <a:solidFill>
                          <a:srgbClr val="F2F2F2"/>
                        </a:solidFill>
                        <a:latin typeface="Aptos"/>
                      </a:rPr>
                      <a:t>6.6%</a:t>
                    </a:r>
                  </a:p>
                </c:rich>
              </c:tx>
              <c:dLblPos val="outEnd"/>
              <c:showLegendKey val="0"/>
              <c:showVal val="1"/>
              <c:showCatName val="0"/>
              <c:showSerName val="0"/>
              <c:showPercent val="0"/>
              <c:showBubbleSize val="0"/>
            </c:dLbl>
            <c:dLbl>
              <c:idx val="4"/>
              <c:tx>
                <c:rich>
                  <a:bodyPr/>
                  <a:lstStyle/>
                  <a:p>
                    <a:r>
                      <a:rPr sz="1150" b="1">
                        <a:solidFill>
                          <a:srgbClr val="F2F2F2"/>
                        </a:solidFill>
                        <a:latin typeface="Aptos"/>
                      </a:rPr>
                      <a:t>5.5%</a:t>
                    </a:r>
                  </a:p>
                </c:rich>
              </c:tx>
              <c:dLblPos val="outEnd"/>
              <c:showLegendKey val="0"/>
              <c:showVal val="1"/>
              <c:showCatName val="0"/>
              <c:showSerName val="0"/>
              <c:showPercent val="0"/>
              <c:showBubbleSize val="0"/>
            </c:dLbl>
            <c:dLbl>
              <c:idx val="5"/>
              <c:tx>
                <c:rich>
                  <a:bodyPr/>
                  <a:lstStyle/>
                  <a:p>
                    <a:r>
                      <a:rPr sz="1150" b="1">
                        <a:solidFill>
                          <a:srgbClr val="F2F2F2"/>
                        </a:solidFill>
                        <a:latin typeface="Aptos"/>
                      </a:rPr>
                      <a:t>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Supplied from Thailand (IMIT)</c:v>
                </c:pt>
                <c:pt idx="1">
                  <c:v>Supplied from Japan (IML)</c:v>
                </c:pt>
                <c:pt idx="2">
                  <c:v>Body and collision parts</c:v>
                </c:pt>
                <c:pt idx="3">
                  <c:v>Repair parts</c:v>
                </c:pt>
                <c:pt idx="4">
                  <c:v>Service parts</c:v>
                </c:pt>
                <c:pt idx="5">
                  <c:v>All parts billed</c:v>
                </c:pt>
              </c:strCache>
            </c:strRef>
          </c:cat>
          <c:val>
            <c:numRef>
              <c:f>Sheet1!$B$2:$B$7</c:f>
              <c:numCache>
                <c:formatCode>General</c:formatCode>
                <c:ptCount val="6"/>
                <c:pt idx="0">
                  <c:v>6.3</c:v>
                </c:pt>
                <c:pt idx="1">
                  <c:v>6.2</c:v>
                </c:pt>
                <c:pt idx="2">
                  <c:v>7.0</c:v>
                </c:pt>
                <c:pt idx="3">
                  <c:v>6.6</c:v>
                </c:pt>
                <c:pt idx="4">
                  <c:v>5.5</c:v>
                </c:pt>
                <c:pt idx="5">
                  <c:v>6.0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150">
                <a:solidFill>
                  <a:srgbClr val="F2F2F2"/>
                </a:solidFill>
                <a:latin typeface="Aptos"/>
              </a:defRPr>
            </a:pPr>
          </a:p>
        </c:txPr>
        <c:crossAx val="-2113994440"/>
        <c:crosses val="autoZero"/>
        <c:auto val="1"/>
        <c:lblAlgn val="ctr"/>
        <c:lblOffset val="100"/>
        <c:noMultiLvlLbl val="0"/>
      </c:catAx>
      <c:valAx>
        <c:axId val="-2113994440"/>
        <c:scaling>
          <c:max val="8.5"/>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50">
          <a:solidFill>
            <a:srgbClr val="F2F2F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1050" b="1">
                        <a:solidFill>
                          <a:srgbClr val="F2F2F2"/>
                        </a:solidFill>
                        <a:latin typeface="Aptos"/>
                      </a:rPr>
                      <a:t>−€185k</a:t>
                    </a:r>
                  </a:p>
                </c:rich>
              </c:tx>
              <c:dLblPos val="inEnd"/>
              <c:showLegendKey val="0"/>
              <c:showVal val="1"/>
              <c:showCatName val="0"/>
              <c:showSerName val="0"/>
              <c:showPercent val="0"/>
              <c:showBubbleSize val="0"/>
            </c:dLbl>
            <c:dLbl>
              <c:idx val="2"/>
              <c:tx>
                <c:rich>
                  <a:bodyPr/>
                  <a:lstStyle/>
                  <a:p>
                    <a:r>
                      <a:rPr sz="1050" b="1">
                        <a:solidFill>
                          <a:srgbClr val="F2F2F2"/>
                        </a:solidFill>
                        <a:latin typeface="Aptos"/>
                      </a:rPr>
                      <a:t>−€109k</a:t>
                    </a:r>
                  </a:p>
                </c:rich>
              </c:tx>
              <c:dLblPos val="inEnd"/>
              <c:showLegendKey val="0"/>
              <c:showVal val="1"/>
              <c:showCatName val="0"/>
              <c:showSerName val="0"/>
              <c:showPercent val="0"/>
              <c:showBubbleSize val="0"/>
            </c:dLbl>
            <c:dLbl>
              <c:idx val="3"/>
              <c:tx>
                <c:rich>
                  <a:bodyPr/>
                  <a:lstStyle/>
                  <a:p>
                    <a:r>
                      <a:rPr sz="1050" b="1">
                        <a:solidFill>
                          <a:srgbClr val="F2F2F2"/>
                        </a:solidFill>
                        <a:latin typeface="Aptos"/>
                      </a:rPr>
                      <a:t>−€56k</a:t>
                    </a:r>
                  </a:p>
                </c:rich>
              </c:tx>
              <c:dLblPos val="inEnd"/>
              <c:showLegendKey val="0"/>
              <c:showVal val="1"/>
              <c:showCatName val="0"/>
              <c:showSerName val="0"/>
              <c:showPercent val="0"/>
              <c:showBubbleSize val="0"/>
            </c:dLbl>
            <c:dLbl>
              <c:idx val="4"/>
              <c:tx>
                <c:rich>
                  <a:bodyPr/>
                  <a:lstStyle/>
                  <a:p>
                    <a:r>
                      <a:rPr sz="1050" b="1">
                        <a:solidFill>
                          <a:srgbClr val="F2F2F2"/>
                        </a:solidFill>
                        <a:latin typeface="Aptos"/>
                      </a:rPr>
                      <a:t>+€21k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 on every part</c:v>
                </c:pt>
                <c:pt idx="1">
                  <c:v>Each part passes on 90.5% of its own increase</c:v>
                </c:pt>
                <c:pt idx="2">
                  <c:v>29 brake pad kits at today's price</c:v>
                </c:pt>
                <c:pt idx="3">
                  <c:v>Categories a distributor already loses at today's price</c:v>
                </c:pt>
                <c:pt idx="4">
                  <c:v>Small extra where UK web shops sell dearer</c:v>
                </c:pt>
                <c:pt idx="5">
                  <c:v>Result: +5.00% on parts billed</c:v>
                </c:pt>
              </c:strCache>
            </c:strRef>
          </c:cat>
          <c:val>
            <c:numRef>
              <c:f>Sheet1!$B$2:$B$7</c:f>
              <c:numCache>
                <c:formatCode>General</c:formatCode>
                <c:ptCount val="6"/>
                <c:pt idx="0">
                  <c:v>0.0</c:v>
                </c:pt>
                <c:pt idx="1">
                  <c:v>1773784.86</c:v>
                </c:pt>
                <c:pt idx="2">
                  <c:v>1664784.86</c:v>
                </c:pt>
                <c:pt idx="3">
                  <c:v>1608784.86</c:v>
                </c:pt>
                <c:pt idx="4">
                  <c:v>1608784.86</c:v>
                </c:pt>
                <c:pt idx="5">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7A7A7A"/>
              </a:solidFill>
              <a:ln>
                <a:noFill/>
              </a:ln>
            </c:spPr>
          </c:dPt>
          <c:dPt>
            <c:idx val="2"/>
            <c:spPr>
              <a:solidFill>
                <a:srgbClr val="7A7A7A"/>
              </a:solidFill>
              <a:ln>
                <a:noFill/>
              </a:ln>
            </c:spPr>
          </c:dPt>
          <c:dPt>
            <c:idx val="3"/>
            <c:spPr>
              <a:solidFill>
                <a:srgbClr val="7A7A7A"/>
              </a:solidFill>
              <a:ln>
                <a:noFill/>
              </a:ln>
            </c:spPr>
          </c:dPt>
          <c:dPt>
            <c:idx val="4"/>
            <c:spPr>
              <a:solidFill>
                <a:srgbClr val="31A354"/>
              </a:solidFill>
              <a:ln>
                <a:noFill/>
              </a:ln>
            </c:spPr>
          </c:dPt>
          <c:dPt>
            <c:idx val="5"/>
            <c:spPr>
              <a:solidFill>
                <a:srgbClr val="E30613"/>
              </a:solidFill>
              <a:ln>
                <a:noFill/>
              </a:ln>
            </c:spPr>
          </c:dPt>
          <c:dLbls>
            <c:dLbl>
              <c:idx val="0"/>
              <c:tx>
                <c:rich>
                  <a:bodyPr/>
                  <a:lstStyle/>
                  <a:p>
                    <a:r>
                      <a:rPr sz="1050" b="1">
                        <a:solidFill>
                          <a:srgbClr val="F2F2F2"/>
                        </a:solidFill>
                        <a:latin typeface="Aptos"/>
                      </a:rPr>
                      <a:t>€1.96M</a:t>
                    </a:r>
                  </a:p>
                </c:rich>
              </c:tx>
              <c:dLblPos val="inEnd"/>
              <c:showLegendKey val="0"/>
              <c:showVal val="1"/>
              <c:showCatName val="0"/>
              <c:showSerName val="0"/>
              <c:showPercent val="0"/>
              <c:showBubbleSize val="0"/>
            </c:dLbl>
            <c:dLbl>
              <c:idx val="5"/>
              <c:tx>
                <c:rich>
                  <a:bodyPr/>
                  <a:lstStyle/>
                  <a:p>
                    <a:r>
                      <a:rPr sz="105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 on every part</c:v>
                </c:pt>
                <c:pt idx="1">
                  <c:v>Each part passes on 90.5% of its own increase</c:v>
                </c:pt>
                <c:pt idx="2">
                  <c:v>29 brake pad kits at today's price</c:v>
                </c:pt>
                <c:pt idx="3">
                  <c:v>Categories a distributor already loses at today's price</c:v>
                </c:pt>
                <c:pt idx="4">
                  <c:v>Small extra where UK web shops sell dearer</c:v>
                </c:pt>
                <c:pt idx="5">
                  <c:v>Result: +5.00% on parts billed</c:v>
                </c:pt>
              </c:strCache>
            </c:strRef>
          </c:cat>
          <c:val>
            <c:numRef>
              <c:f>Sheet1!$C$2:$C$7</c:f>
              <c:numCache>
                <c:formatCode>General</c:formatCode>
                <c:ptCount val="6"/>
                <c:pt idx="0">
                  <c:v>1959055.64</c:v>
                </c:pt>
                <c:pt idx="1">
                  <c:v>185270.7799999998</c:v>
                </c:pt>
                <c:pt idx="2">
                  <c:v>109000.0</c:v>
                </c:pt>
                <c:pt idx="3">
                  <c:v>56000.0</c:v>
                </c:pt>
                <c:pt idx="4">
                  <c:v>21000.0</c:v>
                </c:pt>
                <c:pt idx="5">
                  <c:v>1629792.6315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23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F5A000"/>
              </a:solidFill>
              <a:ln>
                <a:noFill/>
              </a:ln>
            </c:spPr>
          </c:dPt>
          <c:dPt>
            <c:idx val="2"/>
            <c:invertIfNegative val="0"/>
            <c:spPr>
              <a:solidFill>
                <a:srgbClr val="B8B8B8"/>
              </a:solidFill>
              <a:ln>
                <a:noFill/>
              </a:ln>
            </c:spPr>
          </c:dPt>
          <c:dPt>
            <c:idx val="3"/>
            <c:invertIfNegative val="0"/>
            <c:spPr>
              <a:solidFill>
                <a:srgbClr val="F5A000"/>
              </a:solidFill>
              <a:ln>
                <a:noFill/>
              </a:ln>
            </c:spPr>
          </c:dPt>
          <c:dPt>
            <c:idx val="4"/>
            <c:invertIfNegative val="0"/>
            <c:spPr>
              <a:solidFill>
                <a:srgbClr val="B8B8B8"/>
              </a:solidFill>
              <a:ln>
                <a:noFill/>
              </a:ln>
            </c:spPr>
          </c:dPt>
          <c:dPt>
            <c:idx val="5"/>
            <c:invertIfNegative val="0"/>
            <c:spPr>
              <a:solidFill>
                <a:srgbClr val="F5A000"/>
              </a:solidFill>
              <a:ln>
                <a:noFill/>
              </a:ln>
            </c:spPr>
          </c:dPt>
          <c:dPt>
            <c:idx val="6"/>
            <c:invertIfNegative val="0"/>
            <c:spPr>
              <a:solidFill>
                <a:srgbClr val="B8B8B8"/>
              </a:solidFill>
              <a:ln>
                <a:noFill/>
              </a:ln>
            </c:spPr>
          </c:dPt>
          <c:dPt>
            <c:idx val="7"/>
            <c:invertIfNegative val="0"/>
            <c:spPr>
              <a:solidFill>
                <a:srgbClr val="B8B8B8"/>
              </a:solidFill>
              <a:ln>
                <a:noFill/>
              </a:ln>
            </c:spPr>
          </c:dPt>
          <c:dPt>
            <c:idx val="8"/>
            <c:invertIfNegative val="0"/>
            <c:spPr>
              <a:solidFill>
                <a:srgbClr val="B8B8B8"/>
              </a:solidFill>
              <a:ln>
                <a:noFill/>
              </a:ln>
            </c:spPr>
          </c:dPt>
          <c:dPt>
            <c:idx val="9"/>
            <c:invertIfNegative val="0"/>
            <c:spPr>
              <a:solidFill>
                <a:srgbClr val="B8B8B8"/>
              </a:solidFill>
              <a:ln>
                <a:noFill/>
              </a:ln>
            </c:spPr>
          </c:dPt>
          <c:dPt>
            <c:idx val="10"/>
            <c:invertIfNegative val="0"/>
            <c:spPr>
              <a:solidFill>
                <a:srgbClr val="E30613"/>
              </a:solidFill>
              <a:ln>
                <a:noFill/>
              </a:ln>
            </c:spPr>
          </c:dPt>
          <c:dLbls>
            <c:dLbl>
              <c:idx val="0"/>
              <c:tx>
                <c:rich>
                  <a:bodyPr/>
                  <a:lstStyle/>
                  <a:p>
                    <a:r>
                      <a:rPr sz="1050" b="1">
                        <a:solidFill>
                          <a:srgbClr val="F2F2F2"/>
                        </a:solidFill>
                        <a:latin typeface="Aptos"/>
                      </a:rPr>
                      <a:t>€3k</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€4k</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€5k</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€9k</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€15k</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€24k</a:t>
                    </a:r>
                  </a:p>
                </c:rich>
              </c:tx>
              <c:dLblPos val="outEnd"/>
              <c:showLegendKey val="0"/>
              <c:showVal val="1"/>
              <c:showCatName val="0"/>
              <c:showSerName val="0"/>
              <c:showPercent val="0"/>
              <c:showBubbleSize val="0"/>
            </c:dLbl>
            <c:dLbl>
              <c:idx val="7"/>
              <c:tx>
                <c:rich>
                  <a:bodyPr/>
                  <a:lstStyle/>
                  <a:p>
                    <a:r>
                      <a:rPr sz="1050" b="1">
                        <a:solidFill>
                          <a:srgbClr val="F2F2F2"/>
                        </a:solidFill>
                        <a:latin typeface="Aptos"/>
                      </a:rPr>
                      <a:t>€45k</a:t>
                    </a:r>
                  </a:p>
                </c:rich>
              </c:tx>
              <c:dLblPos val="outEnd"/>
              <c:showLegendKey val="0"/>
              <c:showVal val="1"/>
              <c:showCatName val="0"/>
              <c:showSerName val="0"/>
              <c:showPercent val="0"/>
              <c:showBubbleSize val="0"/>
            </c:dLbl>
            <c:dLbl>
              <c:idx val="8"/>
              <c:tx>
                <c:rich>
                  <a:bodyPr/>
                  <a:lstStyle/>
                  <a:p>
                    <a:r>
                      <a:rPr sz="1050" b="1">
                        <a:solidFill>
                          <a:srgbClr val="F2F2F2"/>
                        </a:solidFill>
                        <a:latin typeface="Aptos"/>
                      </a:rPr>
                      <a:t>€60k</a:t>
                    </a:r>
                  </a:p>
                </c:rich>
              </c:tx>
              <c:dLblPos val="outEnd"/>
              <c:showLegendKey val="0"/>
              <c:showVal val="1"/>
              <c:showCatName val="0"/>
              <c:showSerName val="0"/>
              <c:showPercent val="0"/>
              <c:showBubbleSize val="0"/>
            </c:dLbl>
            <c:dLbl>
              <c:idx val="9"/>
              <c:tx>
                <c:rich>
                  <a:bodyPr/>
                  <a:lstStyle/>
                  <a:p>
                    <a:r>
                      <a:rPr sz="1050" b="1">
                        <a:solidFill>
                          <a:srgbClr val="F2F2F2"/>
                        </a:solidFill>
                        <a:latin typeface="Aptos"/>
                      </a:rPr>
                      <a:t>€65k</a:t>
                    </a:r>
                  </a:p>
                </c:rich>
              </c:tx>
              <c:dLblPos val="outEnd"/>
              <c:showLegendKey val="0"/>
              <c:showVal val="1"/>
              <c:showCatName val="0"/>
              <c:showSerName val="0"/>
              <c:showPercent val="0"/>
              <c:showBubbleSize val="0"/>
            </c:dLbl>
            <c:dLbl>
              <c:idx val="10"/>
              <c:tx>
                <c:rich>
                  <a:bodyPr/>
                  <a:lstStyle/>
                  <a:p>
                    <a:r>
                      <a:rPr sz="1050" b="1">
                        <a:solidFill>
                          <a:srgbClr val="F2F2F2"/>
                        </a:solidFill>
                        <a:latin typeface="Aptos"/>
                      </a:rPr>
                      <a:t>€148k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Malta: service parts</c:v>
                </c:pt>
                <c:pt idx="1">
                  <c:v>Israel D-Max distributor: lighting</c:v>
                </c:pt>
                <c:pt idx="2">
                  <c:v>Hungary: service parts</c:v>
                </c:pt>
                <c:pt idx="3">
                  <c:v>Israel trucks distributor: lighting</c:v>
                </c:pt>
                <c:pt idx="4">
                  <c:v>Cyprus: service parts</c:v>
                </c:pt>
                <c:pt idx="5">
                  <c:v>Israel D-Max distributor: body and collision</c:v>
                </c:pt>
                <c:pt idx="6">
                  <c:v>Norway: service parts</c:v>
                </c:pt>
                <c:pt idx="7">
                  <c:v>Belgium: service parts</c:v>
                </c:pt>
                <c:pt idx="8">
                  <c:v>Germany: service parts</c:v>
                </c:pt>
                <c:pt idx="9">
                  <c:v>Israel D-Max distributor: service parts</c:v>
                </c:pt>
                <c:pt idx="10">
                  <c:v>Isuzu UK (D-Max): service parts</c:v>
                </c:pt>
              </c:strCache>
            </c:strRef>
          </c:cat>
          <c:val>
            <c:numRef>
              <c:f>Sheet1!$B$2:$B$12</c:f>
              <c:numCache>
                <c:formatCode>General</c:formatCode>
                <c:ptCount val="11"/>
                <c:pt idx="0">
                  <c:v>3449.23</c:v>
                </c:pt>
                <c:pt idx="1">
                  <c:v>4434.57</c:v>
                </c:pt>
                <c:pt idx="2">
                  <c:v>5325.23</c:v>
                </c:pt>
                <c:pt idx="3">
                  <c:v>8484.33</c:v>
                </c:pt>
                <c:pt idx="4">
                  <c:v>9069.94</c:v>
                </c:pt>
                <c:pt idx="5">
                  <c:v>15463.14</c:v>
                </c:pt>
                <c:pt idx="6">
                  <c:v>24492.41</c:v>
                </c:pt>
                <c:pt idx="7">
                  <c:v>45161.28</c:v>
                </c:pt>
                <c:pt idx="8">
                  <c:v>60063.19</c:v>
                </c:pt>
                <c:pt idx="9">
                  <c:v>65193.38</c:v>
                </c:pt>
                <c:pt idx="10">
                  <c:v>147777.73</c:v>
                </c:pt>
              </c:numCache>
            </c:numRef>
          </c:val>
        </c:ser>
        <c:gapWidth val="35"/>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8500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950" b="1">
                        <a:solidFill>
                          <a:srgbClr val="F2F2F2"/>
                        </a:solidFill>
                        <a:latin typeface="Aptos"/>
                      </a:rPr>
                      <a:t>−€389k</a:t>
                    </a:r>
                  </a:p>
                </c:rich>
              </c:tx>
              <c:dLblPos val="inEnd"/>
              <c:showLegendKey val="0"/>
              <c:showVal val="1"/>
              <c:showCatName val="0"/>
              <c:showSerName val="0"/>
              <c:showPercent val="0"/>
              <c:showBubbleSize val="0"/>
            </c:dLbl>
            <c:dLbl>
              <c:idx val="2"/>
              <c:tx>
                <c:rich>
                  <a:bodyPr/>
                  <a:lstStyle/>
                  <a:p>
                    <a:r>
                      <a:rPr sz="950" b="1">
                        <a:solidFill>
                          <a:srgbClr val="F2F2F2"/>
                        </a:solidFill>
                        <a:latin typeface="Aptos"/>
                      </a:rPr>
                      <a:t>−€8k</a:t>
                    </a:r>
                  </a:p>
                </c:rich>
              </c:tx>
              <c:dLblPos val="inEnd"/>
              <c:showLegendKey val="0"/>
              <c:showVal val="1"/>
              <c:showCatName val="0"/>
              <c:showSerName val="0"/>
              <c:showPercent val="0"/>
              <c:showBubbleSize val="0"/>
            </c:dLbl>
            <c:dLbl>
              <c:idx val="3"/>
              <c:tx>
                <c:rich>
                  <a:bodyPr/>
                  <a:lstStyle/>
                  <a:p>
                    <a:r>
                      <a:rPr sz="950" b="1">
                        <a:solidFill>
                          <a:srgbClr val="F2F2F2"/>
                        </a:solidFill>
                        <a:latin typeface="Aptos"/>
                      </a:rPr>
                      <a:t>+€397k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+5% following IML/IMIT, all markets</c:v>
                </c:pt>
                <c:pt idx="1">
                  <c:v>Kept at today's price</c:v>
                </c:pt>
                <c:pt idx="2">
                  <c:v>Ceiling: 5 parts</c:v>
                </c:pt>
                <c:pt idx="3">
                  <c:v>Recovered on repair and body</c:v>
                </c:pt>
                <c:pt idx="4">
                  <c:v>Result</c:v>
                </c:pt>
              </c:strCache>
            </c:strRef>
          </c:cat>
          <c:val>
            <c:numRef>
              <c:f>Sheet1!$B$2:$B$6</c:f>
              <c:numCache>
                <c:formatCode>General</c:formatCode>
                <c:ptCount val="5"/>
                <c:pt idx="0">
                  <c:v>0.0</c:v>
                </c:pt>
                <c:pt idx="1">
                  <c:v>1240878.222443334</c:v>
                </c:pt>
                <c:pt idx="2">
                  <c:v>1233224.4041634507</c:v>
                </c:pt>
                <c:pt idx="3">
                  <c:v>1233224.4041634507</c:v>
                </c:pt>
                <c:pt idx="4">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F5A000"/>
              </a:solidFill>
              <a:ln>
                <a:noFill/>
              </a:ln>
            </c:spPr>
          </c:dPt>
          <c:dPt>
            <c:idx val="2"/>
            <c:spPr>
              <a:solidFill>
                <a:srgbClr val="7A7A7A"/>
              </a:solidFill>
              <a:ln>
                <a:noFill/>
              </a:ln>
            </c:spPr>
          </c:dPt>
          <c:dPt>
            <c:idx val="3"/>
            <c:spPr>
              <a:solidFill>
                <a:srgbClr val="31A354"/>
              </a:solidFill>
              <a:ln>
                <a:noFill/>
              </a:ln>
            </c:spPr>
          </c:dPt>
          <c:dPt>
            <c:idx val="4"/>
            <c:spPr>
              <a:solidFill>
                <a:srgbClr val="E30613"/>
              </a:solidFill>
              <a:ln>
                <a:noFill/>
              </a:ln>
            </c:spPr>
          </c:dPt>
          <c:dLbls>
            <c:dLbl>
              <c:idx val="0"/>
              <c:tx>
                <c:rich>
                  <a:bodyPr/>
                  <a:lstStyle/>
                  <a:p>
                    <a:r>
                      <a:rPr sz="950" b="1">
                        <a:solidFill>
                          <a:srgbClr val="F2F2F2"/>
                        </a:solidFill>
                        <a:latin typeface="Aptos"/>
                      </a:rPr>
                      <a:t>€1.63M</a:t>
                    </a:r>
                  </a:p>
                </c:rich>
              </c:tx>
              <c:dLblPos val="inEnd"/>
              <c:showLegendKey val="0"/>
              <c:showVal val="1"/>
              <c:showCatName val="0"/>
              <c:showSerName val="0"/>
              <c:showPercent val="0"/>
              <c:showBubbleSize val="0"/>
            </c:dLbl>
            <c:dLbl>
              <c:idx val="4"/>
              <c:tx>
                <c:rich>
                  <a:bodyPr/>
                  <a:lstStyle/>
                  <a:p>
                    <a:r>
                      <a:rPr sz="95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+5% following IML/IMIT, all markets</c:v>
                </c:pt>
                <c:pt idx="1">
                  <c:v>Kept at today's price</c:v>
                </c:pt>
                <c:pt idx="2">
                  <c:v>Ceiling: 5 parts</c:v>
                </c:pt>
                <c:pt idx="3">
                  <c:v>Recovered on repair and body</c:v>
                </c:pt>
                <c:pt idx="4">
                  <c:v>Result</c:v>
                </c:pt>
              </c:strCache>
            </c:strRef>
          </c:cat>
          <c:val>
            <c:numRef>
              <c:f>Sheet1!$C$2:$C$6</c:f>
              <c:numCache>
                <c:formatCode>General</c:formatCode>
                <c:ptCount val="5"/>
                <c:pt idx="0">
                  <c:v>1629792.631499988</c:v>
                </c:pt>
                <c:pt idx="1">
                  <c:v>388914.4090566539</c:v>
                </c:pt>
                <c:pt idx="2">
                  <c:v>7653.818279883287</c:v>
                </c:pt>
                <c:pt idx="3">
                  <c:v>396568.2273365385</c:v>
                </c:pt>
                <c:pt idx="4">
                  <c:v>1629792.631499988</c:v>
                </c:pt>
              </c:numCache>
            </c:numRef>
          </c:val>
        </c:ser>
        <c:gapWidth val="30"/>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20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 spread over all remaining parts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Lbls>
            <c:dLbl>
              <c:idx val="0"/>
              <c:tx>
                <c:rich>
                  <a:bodyPr/>
                  <a:lstStyle/>
                  <a:p>
                    <a:r>
                      <a:rPr sz="950" b="1">
                        <a:solidFill>
                          <a:srgbClr val="F2F2F2"/>
                        </a:solidFill>
                        <a:latin typeface="Aptos"/>
                      </a:rPr>
                      <a:t>137</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168</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92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Sheet1!$B$2:$B$4</c:f>
              <c:numCache>
                <c:formatCode>General</c:formatCode>
                <c:ptCount val="3"/>
                <c:pt idx="0">
                  <c:v>137.023</c:v>
                </c:pt>
                <c:pt idx="1">
                  <c:v>167.961</c:v>
                </c:pt>
                <c:pt idx="2">
                  <c:v>91.583</c:v>
                </c:pt>
              </c:numCache>
            </c:numRef>
          </c:val>
        </c:ser>
        <c:ser>
          <c:idx val="1"/>
          <c:order val="1"/>
          <c:tx>
            <c:strRef>
              <c:f>Sheet1!$C$1</c:f>
              <c:strCache>
                <c:ptCount val="1"/>
                <c:pt idx="0">
                  <c:v>Decided: only repair and body, no alternative found</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Lbls>
            <c:dLbl>
              <c:idx val="0"/>
              <c:tx>
                <c:rich>
                  <a:bodyPr/>
                  <a:lstStyle/>
                  <a:p>
                    <a:r>
                      <a:rPr sz="950" b="1">
                        <a:solidFill>
                          <a:srgbClr val="F2F2F2"/>
                        </a:solidFill>
                        <a:latin typeface="Aptos"/>
                      </a:rPr>
                      <a:t>0</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253</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144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Sheet1!$C$2:$C$4</c:f>
              <c:numCache>
                <c:formatCode>General</c:formatCode>
                <c:ptCount val="3"/>
                <c:pt idx="0">
                  <c:v>0.0</c:v>
                </c:pt>
                <c:pt idx="1">
                  <c:v>252.97246763233244</c:v>
                </c:pt>
                <c:pt idx="2">
                  <c:v>143.59575970420664</c:v>
                </c:pt>
              </c:numCache>
            </c:numRef>
          </c:val>
        </c:ser>
        <c:ser>
          <c:idx val="2"/>
          <c:order val="2"/>
          <c:tx>
            <c:strRef>
              <c:f>Sheet1!$D$1</c:f>
              <c:strCache>
                <c:ptCount val="1"/>
                <c:pt idx="0">
                  <c:v>(c) weighted part by part on outside prices</c:v>
                </c:pt>
              </c:strCache>
            </c:strRef>
          </c:tx>
          <c:spPr>
            <a:solidFill>
              <a:srgbClr val="7A7A7A"/>
            </a:solidFill>
            <a:ln>
              <a:noFill/>
            </a:ln>
          </c:spPr>
          <c:invertIfNegative val="0"/>
          <c:dPt>
            <c:idx val="0"/>
            <c:invertIfNegative val="0"/>
            <c:spPr>
              <a:solidFill>
                <a:srgbClr val="7A7A7A"/>
              </a:solidFill>
              <a:ln>
                <a:noFill/>
              </a:ln>
            </c:spPr>
          </c:dPt>
          <c:dPt>
            <c:idx val="1"/>
            <c:invertIfNegative val="0"/>
            <c:spPr>
              <a:solidFill>
                <a:srgbClr val="7A7A7A"/>
              </a:solidFill>
              <a:ln>
                <a:noFill/>
              </a:ln>
            </c:spPr>
          </c:dPt>
          <c:dPt>
            <c:idx val="2"/>
            <c:invertIfNegative val="0"/>
            <c:spPr>
              <a:solidFill>
                <a:srgbClr val="7A7A7A"/>
              </a:solidFill>
              <a:ln>
                <a:noFill/>
              </a:ln>
            </c:spPr>
          </c:dPt>
          <c:dLbls>
            <c:dLbl>
              <c:idx val="0"/>
              <c:tx>
                <c:rich>
                  <a:bodyPr/>
                  <a:lstStyle/>
                  <a:p>
                    <a:r>
                      <a:rPr sz="950" b="1">
                        <a:solidFill>
                          <a:srgbClr val="F2F2F2"/>
                        </a:solidFill>
                        <a:latin typeface="Aptos"/>
                      </a:rPr>
                      <a:t>91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200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106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Sheet1!$D$2:$D$4</c:f>
              <c:numCache>
                <c:formatCode>General</c:formatCode>
                <c:ptCount val="3"/>
                <c:pt idx="0">
                  <c:v>90.683</c:v>
                </c:pt>
                <c:pt idx="1">
                  <c:v>199.856</c:v>
                </c:pt>
                <c:pt idx="2">
                  <c:v>106.029</c:v>
                </c:pt>
              </c:numCache>
            </c:numRef>
          </c:val>
        </c:ser>
        <c:gapWidth val="50"/>
        <c:overlap val="-8"/>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300.0"/>
        </c:scaling>
        <c:delete/>
        <c:axPos val="l"/>
        <c:majorTickMark val="out"/>
        <c:minorTickMark val="none"/>
        <c:tickLblPos val="nextTo"/>
        <c:crossAx val="-2068027336"/>
        <c:crosses val="autoZero"/>
      </c:valAx>
      <c:spPr>
        <a:noFill/>
        <a:ln>
          <a:noFill/>
        </a:ln>
      </c:spPr>
    </c:plotArea>
    <c:legend>
      <c:legendPos val="b"/>
      <c:overlay val="0"/>
      <c:txPr>
        <a:bodyPr/>
        <a:lstStyle/>
        <a:p>
          <a:pPr>
            <a:defRPr sz="950">
              <a:solidFill>
                <a:srgbClr val="BDBDBD"/>
              </a:solidFill>
              <a:latin typeface="Aptos"/>
            </a:defRPr>
          </a:pPr>
        </a:p>
      </c:txPr>
    </c:legend>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market decisions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Lbls>
            <c:dLbl>
              <c:idx val="0"/>
              <c:tx>
                <c:rich>
                  <a:bodyPr/>
                  <a:lstStyle/>
                  <a:p>
                    <a:r>
                      <a:rPr sz="1150" b="1">
                        <a:solidFill>
                          <a:srgbClr val="F2F2F2"/>
                        </a:solidFill>
                        <a:latin typeface="Aptos"/>
                      </a:rPr>
                      <a:t>4.2%</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6.0%</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6.5%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 parts (€19.2M billed)</c:v>
                </c:pt>
                <c:pt idx="1">
                  <c:v>Repair parts (€8.8M billed)</c:v>
                </c:pt>
                <c:pt idx="2">
                  <c:v>Body and collision parts (€4.6M billed)</c:v>
                </c:pt>
              </c:strCache>
            </c:strRef>
          </c:cat>
          <c:val>
            <c:numRef>
              <c:f>Sheet1!$B$2:$B$4</c:f>
              <c:numCache>
                <c:formatCode>General</c:formatCode>
                <c:ptCount val="3"/>
                <c:pt idx="0">
                  <c:v>4.167038317539598</c:v>
                </c:pt>
                <c:pt idx="1">
                  <c:v>6.046984879808391</c:v>
                </c:pt>
                <c:pt idx="2">
                  <c:v>6.452793151675633</c:v>
                </c:pt>
              </c:numCache>
            </c:numRef>
          </c:val>
        </c:ser>
        <c:ser>
          <c:idx val="1"/>
          <c:order val="1"/>
          <c:tx>
            <c:strRef>
              <c:f>Sheet1!$C$1</c:f>
              <c:strCache>
                <c:ptCount val="1"/>
                <c:pt idx="0">
                  <c:v>Decided</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Lbls>
            <c:dLbl>
              <c:idx val="0"/>
              <c:tx>
                <c:rich>
                  <a:bodyPr/>
                  <a:lstStyle/>
                  <a:p>
                    <a:r>
                      <a:rPr sz="1150" b="1">
                        <a:solidFill>
                          <a:srgbClr val="F2F2F2"/>
                        </a:solidFill>
                        <a:latin typeface="Aptos"/>
                      </a:rPr>
                      <a:t>2.3%</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8.7%</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9.2%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 parts (€19.2M billed)</c:v>
                </c:pt>
                <c:pt idx="1">
                  <c:v>Repair parts (€8.8M billed)</c:v>
                </c:pt>
                <c:pt idx="2">
                  <c:v>Body and collision parts (€4.6M billed)</c:v>
                </c:pt>
              </c:strCache>
            </c:strRef>
          </c:cat>
          <c:val>
            <c:numRef>
              <c:f>Sheet1!$C$2:$C$4</c:f>
              <c:numCache>
                <c:formatCode>General</c:formatCode>
                <c:ptCount val="3"/>
                <c:pt idx="0">
                  <c:v>2.271768531976899</c:v>
                </c:pt>
                <c:pt idx="1">
                  <c:v>8.736784757850034</c:v>
                </c:pt>
                <c:pt idx="2">
                  <c:v>9.174856148917481</c:v>
                </c:pt>
              </c:numCache>
            </c:numRef>
          </c:val>
        </c:ser>
        <c:gapWidth val="70"/>
        <c:overlap val="-1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150">
                <a:solidFill>
                  <a:srgbClr val="F2F2F2"/>
                </a:solidFill>
                <a:latin typeface="Aptos"/>
              </a:defRPr>
            </a:pPr>
          </a:p>
        </c:txPr>
        <c:crossAx val="-2113994440"/>
        <c:crosses val="autoZero"/>
        <c:auto val="1"/>
        <c:lblAlgn val="ctr"/>
        <c:lblOffset val="100"/>
        <c:noMultiLvlLbl val="0"/>
      </c:catAx>
      <c:valAx>
        <c:axId val="-2113994440"/>
        <c:scaling>
          <c:max val="11.0"/>
        </c:scaling>
        <c:delete/>
        <c:axPos val="l"/>
        <c:majorTickMark val="out"/>
        <c:minorTickMark val="none"/>
        <c:tickLblPos val="nextTo"/>
        <c:crossAx val="-2068027336"/>
        <c:crosses val="autoZero"/>
      </c:valAx>
      <c:spPr>
        <a:noFill/>
        <a:ln>
          <a:noFill/>
        </a:ln>
      </c:spPr>
    </c:plotArea>
    <c:legend>
      <c:legendPos val="b"/>
      <c:overlay val="0"/>
      <c:txPr>
        <a:bodyPr/>
        <a:lstStyle/>
        <a:p>
          <a:pPr>
            <a:defRPr sz="1150">
              <a:solidFill>
                <a:srgbClr val="BDBDBD"/>
              </a:solidFill>
              <a:latin typeface="Aptos"/>
            </a:defRPr>
          </a:pPr>
        </a:p>
      </c:txPr>
    </c:legend>
    <c:dispBlanksAs val="gap"/>
  </c:chart>
  <c:spPr>
    <a:noFill/>
    <a:ln>
      <a:noFill/>
    </a:ln>
  </c:spPr>
  <c:txPr>
    <a:bodyPr/>
    <a:lstStyle/>
    <a:p>
      <a:pPr>
        <a:defRPr sz="1150">
          <a:solidFill>
            <a:srgbClr val="F2F2F2"/>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market decisions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B8B8B8"/>
              </a:solidFill>
              <a:ln>
                <a:noFill/>
              </a:ln>
            </c:spPr>
          </c:dPt>
          <c:dPt>
            <c:idx val="6"/>
            <c:invertIfNegative val="0"/>
            <c:spPr>
              <a:solidFill>
                <a:srgbClr val="B8B8B8"/>
              </a:solidFill>
              <a:ln>
                <a:noFill/>
              </a:ln>
            </c:spPr>
          </c:dPt>
          <c:dPt>
            <c:idx val="7"/>
            <c:invertIfNegative val="0"/>
            <c:spPr>
              <a:solidFill>
                <a:srgbClr val="B8B8B8"/>
              </a:solidFill>
              <a:ln>
                <a:noFill/>
              </a:ln>
            </c:spPr>
          </c:dPt>
          <c:dLbls>
            <c:dLbl>
              <c:idx val="0"/>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4.7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4.9</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Sheet1!$B$2:$B$9</c:f>
              <c:numCache>
                <c:formatCode>General</c:formatCode>
                <c:ptCount val="8"/>
                <c:pt idx="0">
                  <c:v>5.054008940383984</c:v>
                </c:pt>
                <c:pt idx="1">
                  <c:v>5.050453774770116</c:v>
                </c:pt>
                <c:pt idx="2">
                  <c:v>4.728816605450658</c:v>
                </c:pt>
                <c:pt idx="3">
                  <c:v>4.852939512357281</c:v>
                </c:pt>
                <c:pt idx="4">
                  <c:v>5.083758494139914</c:v>
                </c:pt>
                <c:pt idx="5">
                  <c:v>5.4087940419059555</c:v>
                </c:pt>
                <c:pt idx="6">
                  <c:v>5.132273738140569</c:v>
                </c:pt>
                <c:pt idx="7">
                  <c:v>4.697924428580548</c:v>
                </c:pt>
              </c:numCache>
            </c:numRef>
          </c:val>
        </c:ser>
        <c:ser>
          <c:idx val="1"/>
          <c:order val="1"/>
          <c:tx>
            <c:strRef>
              <c:f>Sheet1!$C$1</c:f>
              <c:strCache>
                <c:ptCount val="1"/>
                <c:pt idx="0">
                  <c:v>As decided: Isuzu UK carries the extra</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Pt>
            <c:idx val="3"/>
            <c:invertIfNegative val="0"/>
            <c:spPr>
              <a:solidFill>
                <a:srgbClr val="E30613"/>
              </a:solidFill>
              <a:ln>
                <a:noFill/>
              </a:ln>
            </c:spPr>
          </c:dPt>
          <c:dPt>
            <c:idx val="4"/>
            <c:invertIfNegative val="0"/>
            <c:spPr>
              <a:solidFill>
                <a:srgbClr val="E30613"/>
              </a:solidFill>
              <a:ln>
                <a:noFill/>
              </a:ln>
            </c:spPr>
          </c:dPt>
          <c:dPt>
            <c:idx val="5"/>
            <c:invertIfNegative val="0"/>
            <c:spPr>
              <a:solidFill>
                <a:srgbClr val="E30613"/>
              </a:solidFill>
              <a:ln>
                <a:noFill/>
              </a:ln>
            </c:spPr>
          </c:dPt>
          <c:dPt>
            <c:idx val="6"/>
            <c:invertIfNegative val="0"/>
            <c:spPr>
              <a:solidFill>
                <a:srgbClr val="E30613"/>
              </a:solidFill>
              <a:ln>
                <a:noFill/>
              </a:ln>
            </c:spPr>
          </c:dPt>
          <c:dPt>
            <c:idx val="7"/>
            <c:invertIfNegative val="0"/>
            <c:spPr>
              <a:solidFill>
                <a:srgbClr val="E30613"/>
              </a:solidFill>
              <a:ln>
                <a:noFill/>
              </a:ln>
            </c:spPr>
          </c:dPt>
          <c:dLbls>
            <c:dLbl>
              <c:idx val="0"/>
              <c:tx>
                <c:rich>
                  <a:bodyPr/>
                  <a:lstStyle/>
                  <a:p>
                    <a:r>
                      <a:rPr sz="950" b="1">
                        <a:solidFill>
                          <a:srgbClr val="F2F2F2"/>
                        </a:solidFill>
                        <a:latin typeface="Aptos"/>
                      </a:rPr>
                      <a:t>4.1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5.8</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5.5</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4.0</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2.3</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6.3</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Sheet1!$C$2:$C$9</c:f>
              <c:numCache>
                <c:formatCode>General</c:formatCode>
                <c:ptCount val="8"/>
                <c:pt idx="0">
                  <c:v>4.1340702904601505</c:v>
                </c:pt>
                <c:pt idx="1">
                  <c:v>5.788678980261084</c:v>
                </c:pt>
                <c:pt idx="2">
                  <c:v>5.486746246121631</c:v>
                </c:pt>
                <c:pt idx="3">
                  <c:v>3.999882214631993</c:v>
                </c:pt>
                <c:pt idx="4">
                  <c:v>2.2785001026538456</c:v>
                </c:pt>
                <c:pt idx="5">
                  <c:v>5.3855279607473685</c:v>
                </c:pt>
                <c:pt idx="6">
                  <c:v>6.2980816042864065</c:v>
                </c:pt>
                <c:pt idx="7">
                  <c:v>4.644552877626962</c:v>
                </c:pt>
              </c:numCache>
            </c:numRef>
          </c:val>
        </c:ser>
        <c:ser>
          <c:idx val="2"/>
          <c:order val="2"/>
          <c:tx>
            <c:strRef>
              <c:f>Sheet1!$D$1</c:f>
              <c:strCache>
                <c:ptCount val="1"/>
                <c:pt idx="0">
                  <c:v>Isuzu UK (D-Max) exempted</c:v>
                </c:pt>
              </c:strCache>
            </c:strRef>
          </c:tx>
          <c:spPr>
            <a:solidFill>
              <a:srgbClr val="31A354"/>
            </a:solidFill>
            <a:ln>
              <a:noFill/>
            </a:ln>
          </c:spPr>
          <c:invertIfNegative val="0"/>
          <c:dPt>
            <c:idx val="0"/>
            <c:invertIfNegative val="0"/>
            <c:spPr>
              <a:solidFill>
                <a:srgbClr val="31A354"/>
              </a:solidFill>
              <a:ln>
                <a:noFill/>
              </a:ln>
            </c:spPr>
          </c:dPt>
          <c:dPt>
            <c:idx val="1"/>
            <c:invertIfNegative val="0"/>
            <c:spPr>
              <a:solidFill>
                <a:srgbClr val="31A354"/>
              </a:solidFill>
              <a:ln>
                <a:noFill/>
              </a:ln>
            </c:spPr>
          </c:dPt>
          <c:dPt>
            <c:idx val="2"/>
            <c:invertIfNegative val="0"/>
            <c:spPr>
              <a:solidFill>
                <a:srgbClr val="31A354"/>
              </a:solidFill>
              <a:ln>
                <a:noFill/>
              </a:ln>
            </c:spPr>
          </c:dPt>
          <c:dPt>
            <c:idx val="3"/>
            <c:invertIfNegative val="0"/>
            <c:spPr>
              <a:solidFill>
                <a:srgbClr val="31A354"/>
              </a:solidFill>
              <a:ln>
                <a:noFill/>
              </a:ln>
            </c:spPr>
          </c:dPt>
          <c:dPt>
            <c:idx val="4"/>
            <c:invertIfNegative val="0"/>
            <c:spPr>
              <a:solidFill>
                <a:srgbClr val="31A354"/>
              </a:solidFill>
              <a:ln>
                <a:noFill/>
              </a:ln>
            </c:spPr>
          </c:dPt>
          <c:dPt>
            <c:idx val="5"/>
            <c:invertIfNegative val="0"/>
            <c:spPr>
              <a:solidFill>
                <a:srgbClr val="31A354"/>
              </a:solidFill>
              <a:ln>
                <a:noFill/>
              </a:ln>
            </c:spPr>
          </c:dPt>
          <c:dPt>
            <c:idx val="6"/>
            <c:invertIfNegative val="0"/>
            <c:spPr>
              <a:solidFill>
                <a:srgbClr val="31A354"/>
              </a:solidFill>
              <a:ln>
                <a:noFill/>
              </a:ln>
            </c:spPr>
          </c:dPt>
          <c:dPt>
            <c:idx val="7"/>
            <c:invertIfNegative val="0"/>
            <c:spPr>
              <a:solidFill>
                <a:srgbClr val="31A354"/>
              </a:solidFill>
              <a:ln>
                <a:noFill/>
              </a:ln>
            </c:spPr>
          </c:dPt>
          <c:dLbls>
            <c:dLbl>
              <c:idx val="0"/>
              <c:tx>
                <c:rich>
                  <a:bodyPr/>
                  <a:lstStyle/>
                  <a:p>
                    <a:r>
                      <a:rPr sz="950" b="1">
                        <a:solidFill>
                          <a:srgbClr val="F2F2F2"/>
                        </a:solidFill>
                        <a:latin typeface="Aptos"/>
                      </a:rPr>
                      <a:t>2.7</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6.0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5.8</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4.4</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2.5</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5.9</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6.6</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5.1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Sheet1!$D$2:$D$9</c:f>
              <c:numCache>
                <c:formatCode>General</c:formatCode>
                <c:ptCount val="8"/>
                <c:pt idx="0">
                  <c:v>2.6721852932276002</c:v>
                </c:pt>
                <c:pt idx="1">
                  <c:v>6.023180053792692</c:v>
                </c:pt>
                <c:pt idx="2">
                  <c:v>5.798135050096797</c:v>
                </c:pt>
                <c:pt idx="3">
                  <c:v>4.416706341571337</c:v>
                </c:pt>
                <c:pt idx="4">
                  <c:v>2.4864545907786253</c:v>
                </c:pt>
                <c:pt idx="5">
                  <c:v>5.944638608665405</c:v>
                </c:pt>
                <c:pt idx="6">
                  <c:v>6.649163351493784</c:v>
                </c:pt>
                <c:pt idx="7">
                  <c:v>5.1447761767593425</c:v>
                </c:pt>
              </c:numCache>
            </c:numRef>
          </c:val>
        </c:ser>
        <c:gapWidth val="45"/>
        <c:overlap val="-5"/>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9.0"/>
        </c:scaling>
        <c:delete/>
        <c:axPos val="l"/>
        <c:majorTickMark val="out"/>
        <c:minorTickMark val="none"/>
        <c:tickLblPos val="nextTo"/>
        <c:crossAx val="-2068027336"/>
        <c:crosses val="autoZero"/>
      </c:valAx>
      <c:spPr>
        <a:noFill/>
        <a:ln>
          <a:noFill/>
        </a:ln>
      </c:spPr>
    </c:plotArea>
    <c:legend>
      <c:legendPos val="b"/>
      <c:overlay val="0"/>
      <c:txPr>
        <a:bodyPr/>
        <a:lstStyle/>
        <a:p>
          <a:pPr>
            <a:defRPr sz="1000">
              <a:solidFill>
                <a:srgbClr val="BDBDBD"/>
              </a:solidFill>
              <a:latin typeface="Aptos"/>
            </a:defRPr>
          </a:pPr>
        </a:p>
      </c:txPr>
    </c:legend>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E30613"/>
              </a:solidFill>
              <a:ln>
                <a:noFill/>
              </a:ln>
            </c:spPr>
          </c:dPt>
          <c:dPt>
            <c:idx val="1"/>
            <c:invertIfNegative val="0"/>
            <c:spPr>
              <a:solidFill>
                <a:srgbClr val="B8B8B8"/>
              </a:solidFill>
              <a:ln>
                <a:noFill/>
              </a:ln>
            </c:spPr>
          </c:dPt>
          <c:dPt>
            <c:idx val="2"/>
            <c:invertIfNegative val="0"/>
            <c:spPr>
              <a:solidFill>
                <a:srgbClr val="E30613"/>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55C271"/>
              </a:solidFill>
              <a:ln>
                <a:noFill/>
              </a:ln>
            </c:spPr>
          </c:dPt>
          <c:dPt>
            <c:idx val="6"/>
            <c:invertIfNegative val="0"/>
            <c:spPr>
              <a:solidFill>
                <a:srgbClr val="55C271"/>
              </a:solidFill>
              <a:ln>
                <a:noFill/>
              </a:ln>
            </c:spPr>
          </c:dPt>
          <c:dLbls>
            <c:dLbl>
              <c:idx val="0"/>
              <c:tx>
                <c:rich>
                  <a:bodyPr/>
                  <a:lstStyle/>
                  <a:p>
                    <a:r>
                      <a:rPr sz="1050" b="1">
                        <a:solidFill>
                          <a:srgbClr val="F2F2F2"/>
                        </a:solidFill>
                        <a:latin typeface="Aptos"/>
                      </a:rPr>
                      <a:t>15.4%</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21.0%</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24.5%</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50.4%</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73.7%</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97.7%</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100.0%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Competitor part number, confirmed or likely</c:v>
                </c:pt>
                <c:pt idx="1">
                  <c:v>Aftermarket shop price</c:v>
                </c:pt>
                <c:pt idx="2">
                  <c:v>Any competitor evidence</c:v>
                </c:pt>
                <c:pt idx="3">
                  <c:v>Genuine Isuzu sold outside our network</c:v>
                </c:pt>
                <c:pt idx="4">
                  <c:v>Dealer response to the April 2026 rise</c:v>
                </c:pt>
                <c:pt idx="5">
                  <c:v>Vehicle line (D-Max or truck)</c:v>
                </c:pt>
                <c:pt idx="6">
                  <c:v>Order lines and order type</c:v>
                </c:pt>
              </c:strCache>
            </c:strRef>
          </c:cat>
          <c:val>
            <c:numRef>
              <c:f>Sheet1!$B$2:$B$8</c:f>
              <c:numCache>
                <c:formatCode>General</c:formatCode>
                <c:ptCount val="7"/>
                <c:pt idx="0">
                  <c:v>15.4</c:v>
                </c:pt>
                <c:pt idx="1">
                  <c:v>21.0</c:v>
                </c:pt>
                <c:pt idx="2">
                  <c:v>24.5</c:v>
                </c:pt>
                <c:pt idx="3">
                  <c:v>50.4</c:v>
                </c:pt>
                <c:pt idx="4">
                  <c:v>73.7</c:v>
                </c:pt>
                <c:pt idx="5">
                  <c:v>97.7</c:v>
                </c:pt>
                <c:pt idx="6">
                  <c:v>100.0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18.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pricing policy paper of 2 October 2026 (replaces the papers of 17 and 19 September and the earlier management decks) and the +5% workbook with the market layer. Two changes decided on 11 October are on page 13; the euro figures elsewhere are those of the paper.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IML/IMIT increase 6.0% weighted by parts billed (6.01%; 5.96% on IML's own basis, quantity times yen base price). Our list: +5.00% = €1,629,793 on €32,595,853 (workbook Summary, reproduced). Kept at today's price €388,914 (workbook, 7,833 part and market lines). Recovery €396,568, 3.73 points on top of own increase, 8,446 part numbers (the paper says 8,447: it also counts one part kept at today's price).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 weighted by parts billed (6.01%); on IML's own basis (quantity times yen base price) 5.96%. Service parts 5.5%, repair 6.6%, body and collision 7.0% (paper section 2, not recomputed). The previous revision, September 2025, was about 3.2% weighted by quantity billed and fed the April 2026 list. Purchase terms and exchange rate: supplier notice of 22 December 2025 and the corporate rate notifications. The exchange rate moves the euro price and the euro gross profit; it never moves the margin percentage.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IML/IMIT increase on every part: €1,959,056 (6.0% of parts billed). 90.5% of each part's own increase (scaling 0.9054) = €1,773,785. Pad kits -€109k, categories where the distributor sells under 45% of what its vehicles need -€56k, small extra where UK web shops sell dearer +€21k; result €1,629,793. Median part +6.4% (workbook 6.35%), 90th percentile 7.3%, largest single increase 193% (99 parts above 15%, reviewed one by one). Class margin falls 0.5 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Decided = management decision taken. Suggested, not decided = recommended, awaiting a decision. Euro effects are the effect of a price change on the volume billed in the last twelve months, before any change in what dealers buy. Ukraine takes the normal increase (€1.02M billed, average +5.8%) and Israel truck body panels take the normal increase (€13,795 of increase kept): both decided 2 October. Open point: the Israel D-Max distributor leasing share (page 14).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given up €388,914. Twenty-one markets were read one by one on what each buys, how its fleet moves, how much of its service work we win (service share), what it pays against list and what dealers and distributors say. Service parts at Isuzu UK (D-Max) alone are the largest single item. The Israel D-Max lighting decision (€4,435) is included. Armenia and Kazakhstan are left out of the market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share = service parts a market's distributor bought, against what its fleet should need at the service intervals; network 28% in 2025 (paper section 5, not recomputed). Average increase after decisions includes the lines kept at today's price at 0%, which is why those markets sit below +5%. The paper's fleet 2026 forecast column is not shown here: for two markets (Ireland, Germany) it mixes two fleet bases.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at today's price -€388,914; ceiling cut -€7,654 (5 parts that would rise more than 5 points above their own IML/IMIT increase; the cut is recovered as well); recovery +€396,568: repair €252,972, body €143,596, service nil. Extra 3.73 points on 8,446 parts. No aftermarket alternative found = no confirmed or likely competitor number, no aftermarket price observed, no cheaper Best Value alternative, not in the competitive-parts family, and not a category the distributor is measured to lose. Mostly this means none was found, not that none exists (page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market decisions = each part's own increase (the +5% before holds and recovery). Decided = after the holds and the recovery. Service parts 4.17% to 2.27%, repair 6.05% to 8.74%, body and collision 6.45% to 9.17% (workbook, billed-weighted). The typical-part figures and the D-Max and truck split are from paper section 6. Service = parts used in scheduled maintenance; body = the Accident and body family; repair = everything else, including lighting.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Dealer response = percentage change in dealer purchases for +1% on our price within the same part family, measured on the April 2026 list change. Isuzu UK (D-Max) -1.08 (standard error 0.46, 95% interval ±0.90). Pooled over Isuzu Truck UK, Isuzu UK (D-Max), Ireland and Portugal: -0.16 (standard error 0.23), statistically indistinguishable from no reaction; it is used only for volume scenarios. Before the market decisions the €1.63M becomes about €1.35M if the pooled reaction applies, and €0.22M in a pessimistic case (a stress test, not a forecast). With the exemption Isuzu UK (D-Max) averages 2.7% instead of 4.1%.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 outside price without VAT divided by our reference dealer price; below 1.0 the outside seller is cheaper. The reference dealer price is on a provisional basis (set 2 October 2026) and the September papers used a different one, so ratios are not comparable with September. 182 aftermarket parts (€6.0M billed) sit below 0.8; only 46 parts (€0.45M) have a rival dearer than us. 71% of parts (46% of parts billed) pass the 'no aftermarket alternative found' test. Body parts look almost entirely without alternative, but non-genuine body parts have not been searched: a price check on pattern parts for the top 50 body parts is a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Israel: a vehicle is declared a total loss at 60% of pre-accident value; the insurer may settle as a constructive total loss from 50-55% (two policy readings differ). Verified for vehicles up to 3.5 tonnes (the D-Max). Panels: back orders 4 to 16 weeks, median 13; open panel lines averaged 22 a week in weeks 2-13, 29 in weeks 14-26 and 19 in weeks 27-40. Part of the euro drop is a single F-Series grille from a 2025 stock build. On the panels bought in both periods units rose 9.5% and euro fell 5.3%. Limits: lost jobs are not visible in our data; only the distributor can supply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Held euro by parts category, from the workbook's 7,833 held part and market lines: filters €26,030, brake discs and drums €51,875, intake, exhaust and emission €92,749, out of €388,914. Letting filters follow returns €26k to the list, so the recovery the extra has to deliver falls by about that amount; spread over the same €10.6M of billed parts the extra moves from 3.73 to about 3.5 points. This is an estimate until the new workbook solves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in this revision: the Israel D-Max distributor leasing share (leased double cabs must use genuine parts in the first two years and run the highest mileage of the pickup markets) and the suggested Isuzu UK (D-Max) exemption. Discounts and surcharges are valued on calendar-2025 order lines at the 2025 list; Armenia and Kazakhstan left out. New N-Series: 826 part numbers on the provisional new-parts list, 135 ever billed (€0.25M), 14 in this year's base (€660).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cover_bar"/>
          <p:cNvSpPr/>
          <p:nvPr/>
        </p:nvSpPr>
        <p:spPr>
          <a:xfrm>
            <a:off x="0" y="0"/>
            <a:ext cx="91440" cy="68580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_kicker"/>
          <p:cNvSpPr txBox="1"/>
          <p:nvPr/>
        </p:nvSpPr>
        <p:spPr>
          <a:xfrm>
            <a:off x="411480" y="292608"/>
            <a:ext cx="7315200" cy="182880"/>
          </a:xfrm>
          <a:prstGeom prst="rect">
            <a:avLst/>
          </a:prstGeom>
          <a:noFill/>
        </p:spPr>
        <p:txBody>
          <a:bodyPr wrap="square" anchor="t" lIns="0" rIns="0" tIns="0" bIns="0"/>
          <a:lstStyle/>
          <a:p>
            <a:pPr algn="l"/>
            <a:r>
              <a:rPr sz="800" b="1" i="0">
                <a:solidFill>
                  <a:srgbClr val="F2F2F2"/>
                </a:solidFill>
                <a:latin typeface="Aptos"/>
              </a:rPr>
              <a:t>ISZE  ·  VEHICLE PARTS &amp; ACCESSORIES  ·  PARTS PRICING</a:t>
            </a:r>
          </a:p>
        </p:txBody>
      </p:sp>
      <p:sp>
        <p:nvSpPr>
          <p:cNvPr id="4" name="cover_title"/>
          <p:cNvSpPr txBox="1"/>
          <p:nvPr/>
        </p:nvSpPr>
        <p:spPr>
          <a:xfrm>
            <a:off x="411480" y="1737360"/>
            <a:ext cx="10424160" cy="1737360"/>
          </a:xfrm>
          <a:prstGeom prst="rect">
            <a:avLst/>
          </a:prstGeom>
          <a:noFill/>
        </p:spPr>
        <p:txBody>
          <a:bodyPr wrap="square" anchor="t" lIns="0" rIns="0" tIns="0" bIns="0"/>
          <a:lstStyle/>
          <a:p>
            <a:pPr algn="l">
              <a:lnSpc>
                <a:spcPct val="95000"/>
              </a:lnSpc>
            </a:pPr>
            <a:r>
              <a:rPr sz="3600" b="1" i="0">
                <a:solidFill>
                  <a:srgbClr val="F2F2F2"/>
                </a:solidFill>
                <a:latin typeface="Aptos"/>
              </a:rPr>
              <a:t>Parts price revision:</a:t>
            </a:r>
          </a:p>
          <a:p>
            <a:pPr algn="l">
              <a:lnSpc>
                <a:spcPct val="95000"/>
              </a:lnSpc>
              <a:spcBef>
                <a:spcPts val="600"/>
              </a:spcBef>
            </a:pPr>
            <a:r>
              <a:rPr sz="3600" b="1" i="0">
                <a:solidFill>
                  <a:srgbClr val="F2F2F2"/>
                </a:solidFill>
                <a:latin typeface="Aptos"/>
              </a:rPr>
              <a:t>+5% on our price list</a:t>
            </a:r>
          </a:p>
        </p:txBody>
      </p:sp>
      <p:sp>
        <p:nvSpPr>
          <p:cNvPr id="5" name="cover_sub"/>
          <p:cNvSpPr txBox="1"/>
          <p:nvPr/>
        </p:nvSpPr>
        <p:spPr>
          <a:xfrm>
            <a:off x="411480" y="3840480"/>
            <a:ext cx="9875520" cy="822960"/>
          </a:xfrm>
          <a:prstGeom prst="rect">
            <a:avLst/>
          </a:prstGeom>
          <a:noFill/>
        </p:spPr>
        <p:txBody>
          <a:bodyPr wrap="square" anchor="t" lIns="0" rIns="0" tIns="0" bIns="0"/>
          <a:lstStyle/>
          <a:p>
            <a:pPr algn="l">
              <a:lnSpc>
                <a:spcPct val="105000"/>
              </a:lnSpc>
            </a:pPr>
            <a:r>
              <a:rPr sz="1500" b="0" i="0">
                <a:solidFill>
                  <a:srgbClr val="BDBDBD"/>
                </a:solidFill>
                <a:latin typeface="Aptos"/>
              </a:rPr>
              <a:t>IML and IMIT raise their prices to us by 6.0% on average. This presentation shows what we decided, why, and what each decision is worth.</a:t>
            </a:r>
          </a:p>
        </p:txBody>
      </p:sp>
      <p:sp>
        <p:nvSpPr>
          <p:cNvPr id="6" name="cover_small"/>
          <p:cNvSpPr txBox="1"/>
          <p:nvPr/>
        </p:nvSpPr>
        <p:spPr>
          <a:xfrm>
            <a:off x="411480" y="4892040"/>
            <a:ext cx="9875520" cy="457200"/>
          </a:xfrm>
          <a:prstGeom prst="rect">
            <a:avLst/>
          </a:prstGeom>
          <a:noFill/>
        </p:spPr>
        <p:txBody>
          <a:bodyPr wrap="square" anchor="t" lIns="0" rIns="0" tIns="0" bIns="0"/>
          <a:lstStyle/>
          <a:p>
            <a:pPr algn="l"/>
            <a:r>
              <a:rPr sz="1050" b="0" i="0">
                <a:solidFill>
                  <a:srgbClr val="BDBDBD"/>
                </a:solidFill>
                <a:latin typeface="Aptos"/>
              </a:rPr>
              <a:t>October 2026  ·  Draft for review  ·  Decisions recorded up to 2 October 2026; changes since on page 13</a:t>
            </a:r>
          </a:p>
        </p:txBody>
      </p:sp>
      <p:sp>
        <p:nvSpPr>
          <p:cNvPr id="7" name="cover_tag"/>
          <p:cNvSpPr txBox="1"/>
          <p:nvPr/>
        </p:nvSpPr>
        <p:spPr>
          <a:xfrm>
            <a:off x="411480" y="5349240"/>
            <a:ext cx="9875520" cy="274320"/>
          </a:xfrm>
          <a:prstGeom prst="rect">
            <a:avLst/>
          </a:prstGeom>
          <a:noFill/>
        </p:spPr>
        <p:txBody>
          <a:bodyPr wrap="square" anchor="t" lIns="0" rIns="0" tIns="0" bIns="0"/>
          <a:lstStyle/>
          <a:p>
            <a:pPr algn="l"/>
            <a:r>
              <a:rPr sz="1000" b="0" i="0">
                <a:solidFill>
                  <a:srgbClr val="8C8C8C"/>
                </a:solidFill>
                <a:latin typeface="Aptos"/>
              </a:rPr>
              <a:t>Status: a proposal on paper. Nothing in this presentation changes a price, the price list or a distributor condition.</a:t>
            </a:r>
          </a:p>
        </p:txBody>
      </p:sp>
      <p:pic>
        <p:nvPicPr>
          <p:cNvPr id="8" name="isuzu_logo" descr="isuzu_logo.png"/>
          <p:cNvPicPr>
            <a:picLocks noChangeAspect="1"/>
          </p:cNvPicPr>
          <p:nvPr/>
        </p:nvPicPr>
        <p:blipFill>
          <a:blip r:embed="rId2"/>
          <a:stretch>
            <a:fillRect/>
          </a:stretch>
        </p:blipFill>
        <p:spPr>
          <a:xfrm>
            <a:off x="411480" y="6035040"/>
            <a:ext cx="1892807" cy="3297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SUMMARY</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IML and IMIT raise their prices by 6.0%. Our price list rises by +5.0%, with exceptions where a rise would cost us business</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Weighted by what we billed July 2025 – June 2026: €32.6M of parts billed, 15,273 part numbers.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2</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Each part follows its own IML/IMIT increase, so parts IML and IMIT raised more go up more.</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Where a rise would cost us business (brake pads, service parts in eight markets, body and lighting in Israel) the price stays where it is today.</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New: prices can now be set per parts category (filters, brake pads, body panels, lighting). Every exception here was made that way.</a:t>
            </a:r>
          </a:p>
        </p:txBody>
      </p:sp>
      <p:sp>
        <p:nvSpPr>
          <p:cNvPr id="17" name="kpi0_bg"/>
          <p:cNvSpPr/>
          <p:nvPr/>
        </p:nvSpPr>
        <p:spPr>
          <a:xfrm>
            <a:off x="228600" y="1828800"/>
            <a:ext cx="2066543" cy="269748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kpi0_k"/>
          <p:cNvSpPr txBox="1"/>
          <p:nvPr/>
        </p:nvSpPr>
        <p:spPr>
          <a:xfrm>
            <a:off x="411480" y="1965960"/>
            <a:ext cx="1700784" cy="201168"/>
          </a:xfrm>
          <a:prstGeom prst="rect">
            <a:avLst/>
          </a:prstGeom>
          <a:noFill/>
        </p:spPr>
        <p:txBody>
          <a:bodyPr wrap="square" anchor="t" lIns="0" rIns="0" tIns="0" bIns="0"/>
          <a:lstStyle/>
          <a:p>
            <a:pPr algn="l"/>
            <a:r>
              <a:rPr sz="850" b="1" i="0">
                <a:solidFill>
                  <a:srgbClr val="E30613"/>
                </a:solidFill>
                <a:latin typeface="Aptos"/>
              </a:rPr>
              <a:t>IML/IMIT INCREASE TO US</a:t>
            </a:r>
          </a:p>
        </p:txBody>
      </p:sp>
      <p:sp>
        <p:nvSpPr>
          <p:cNvPr id="19" name="kpi0_v"/>
          <p:cNvSpPr txBox="1"/>
          <p:nvPr/>
        </p:nvSpPr>
        <p:spPr>
          <a:xfrm>
            <a:off x="411480" y="2240280"/>
            <a:ext cx="1700784" cy="502920"/>
          </a:xfrm>
          <a:prstGeom prst="rect">
            <a:avLst/>
          </a:prstGeom>
          <a:noFill/>
        </p:spPr>
        <p:txBody>
          <a:bodyPr wrap="square" anchor="t" lIns="0" rIns="0" tIns="0" bIns="0"/>
          <a:lstStyle/>
          <a:p>
            <a:pPr algn="l"/>
            <a:r>
              <a:rPr sz="2700" b="1" i="0">
                <a:solidFill>
                  <a:srgbClr val="F2F2F2"/>
                </a:solidFill>
                <a:latin typeface="Aptos"/>
              </a:rPr>
              <a:t>6.0%</a:t>
            </a:r>
          </a:p>
        </p:txBody>
      </p:sp>
      <p:sp>
        <p:nvSpPr>
          <p:cNvPr id="20" name="kpi0_b"/>
          <p:cNvSpPr txBox="1"/>
          <p:nvPr/>
        </p:nvSpPr>
        <p:spPr>
          <a:xfrm>
            <a:off x="411480" y="2816352"/>
            <a:ext cx="1700784" cy="1600200"/>
          </a:xfrm>
          <a:prstGeom prst="rect">
            <a:avLst/>
          </a:prstGeom>
          <a:noFill/>
        </p:spPr>
        <p:txBody>
          <a:bodyPr wrap="square" anchor="t" lIns="0" rIns="0" tIns="0" bIns="0"/>
          <a:lstStyle/>
          <a:p>
            <a:pPr algn="l"/>
            <a:r>
              <a:rPr sz="1200" b="0" i="0">
                <a:solidFill>
                  <a:srgbClr val="BDBDBD"/>
                </a:solidFill>
                <a:latin typeface="Aptos"/>
              </a:rPr>
              <a:t>average, weighted by parts billed (service 5.5%, repair 6.6%, body and collision 7.0%)</a:t>
            </a:r>
          </a:p>
        </p:txBody>
      </p:sp>
      <p:sp>
        <p:nvSpPr>
          <p:cNvPr id="21" name="kpi1_bg"/>
          <p:cNvSpPr/>
          <p:nvPr/>
        </p:nvSpPr>
        <p:spPr>
          <a:xfrm>
            <a:off x="2404872" y="1828800"/>
            <a:ext cx="2066543" cy="269748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kpi1_k"/>
          <p:cNvSpPr txBox="1"/>
          <p:nvPr/>
        </p:nvSpPr>
        <p:spPr>
          <a:xfrm>
            <a:off x="2587752" y="1965960"/>
            <a:ext cx="1700784" cy="201168"/>
          </a:xfrm>
          <a:prstGeom prst="rect">
            <a:avLst/>
          </a:prstGeom>
          <a:noFill/>
        </p:spPr>
        <p:txBody>
          <a:bodyPr wrap="square" anchor="t" lIns="0" rIns="0" tIns="0" bIns="0"/>
          <a:lstStyle/>
          <a:p>
            <a:pPr algn="l"/>
            <a:r>
              <a:rPr sz="850" b="1" i="0">
                <a:solidFill>
                  <a:srgbClr val="E30613"/>
                </a:solidFill>
                <a:latin typeface="Aptos"/>
              </a:rPr>
              <a:t>OUR PRICE LIST</a:t>
            </a:r>
          </a:p>
        </p:txBody>
      </p:sp>
      <p:sp>
        <p:nvSpPr>
          <p:cNvPr id="23" name="kpi1_v"/>
          <p:cNvSpPr txBox="1"/>
          <p:nvPr/>
        </p:nvSpPr>
        <p:spPr>
          <a:xfrm>
            <a:off x="2587752" y="2240280"/>
            <a:ext cx="1700784" cy="502920"/>
          </a:xfrm>
          <a:prstGeom prst="rect">
            <a:avLst/>
          </a:prstGeom>
          <a:noFill/>
        </p:spPr>
        <p:txBody>
          <a:bodyPr wrap="square" anchor="t" lIns="0" rIns="0" tIns="0" bIns="0"/>
          <a:lstStyle/>
          <a:p>
            <a:pPr algn="l"/>
            <a:r>
              <a:rPr sz="2700" b="1" i="0">
                <a:solidFill>
                  <a:srgbClr val="F2F2F2"/>
                </a:solidFill>
                <a:latin typeface="Aptos"/>
              </a:rPr>
              <a:t>+5.0%</a:t>
            </a:r>
          </a:p>
        </p:txBody>
      </p:sp>
      <p:sp>
        <p:nvSpPr>
          <p:cNvPr id="24" name="kpi1_b"/>
          <p:cNvSpPr txBox="1"/>
          <p:nvPr/>
        </p:nvSpPr>
        <p:spPr>
          <a:xfrm>
            <a:off x="2587752" y="2816352"/>
            <a:ext cx="1700784" cy="1600200"/>
          </a:xfrm>
          <a:prstGeom prst="rect">
            <a:avLst/>
          </a:prstGeom>
          <a:noFill/>
        </p:spPr>
        <p:txBody>
          <a:bodyPr wrap="square" anchor="t" lIns="0" rIns="0" tIns="0" bIns="0"/>
          <a:lstStyle/>
          <a:p>
            <a:pPr algn="l"/>
            <a:r>
              <a:rPr sz="1200" b="0" i="0">
                <a:solidFill>
                  <a:srgbClr val="BDBDBD"/>
                </a:solidFill>
                <a:latin typeface="Aptos"/>
              </a:rPr>
              <a:t>€1.63M a year on €32.6M of parts billed</a:t>
            </a:r>
          </a:p>
        </p:txBody>
      </p:sp>
      <p:sp>
        <p:nvSpPr>
          <p:cNvPr id="25" name="kpi2_bg"/>
          <p:cNvSpPr/>
          <p:nvPr/>
        </p:nvSpPr>
        <p:spPr>
          <a:xfrm>
            <a:off x="4581144" y="1828800"/>
            <a:ext cx="2066543" cy="269748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kpi2_k"/>
          <p:cNvSpPr txBox="1"/>
          <p:nvPr/>
        </p:nvSpPr>
        <p:spPr>
          <a:xfrm>
            <a:off x="4764024" y="1965960"/>
            <a:ext cx="1700784" cy="201168"/>
          </a:xfrm>
          <a:prstGeom prst="rect">
            <a:avLst/>
          </a:prstGeom>
          <a:noFill/>
        </p:spPr>
        <p:txBody>
          <a:bodyPr wrap="square" anchor="t" lIns="0" rIns="0" tIns="0" bIns="0"/>
          <a:lstStyle/>
          <a:p>
            <a:pPr algn="l"/>
            <a:r>
              <a:rPr sz="850" b="1" i="0">
                <a:solidFill>
                  <a:srgbClr val="E30613"/>
                </a:solidFill>
                <a:latin typeface="Aptos"/>
              </a:rPr>
              <a:t>KEPT AT TODAY'S PRICE</a:t>
            </a:r>
          </a:p>
        </p:txBody>
      </p:sp>
      <p:sp>
        <p:nvSpPr>
          <p:cNvPr id="27" name="kpi2_v"/>
          <p:cNvSpPr txBox="1"/>
          <p:nvPr/>
        </p:nvSpPr>
        <p:spPr>
          <a:xfrm>
            <a:off x="4764024" y="2240280"/>
            <a:ext cx="1700784" cy="502920"/>
          </a:xfrm>
          <a:prstGeom prst="rect">
            <a:avLst/>
          </a:prstGeom>
          <a:noFill/>
        </p:spPr>
        <p:txBody>
          <a:bodyPr wrap="square" anchor="t" lIns="0" rIns="0" tIns="0" bIns="0"/>
          <a:lstStyle/>
          <a:p>
            <a:pPr algn="l"/>
            <a:r>
              <a:rPr sz="2700" b="1" i="0">
                <a:solidFill>
                  <a:srgbClr val="F5A000"/>
                </a:solidFill>
                <a:latin typeface="Aptos"/>
              </a:rPr>
              <a:t>€389k</a:t>
            </a:r>
          </a:p>
        </p:txBody>
      </p:sp>
      <p:sp>
        <p:nvSpPr>
          <p:cNvPr id="28" name="kpi2_b"/>
          <p:cNvSpPr txBox="1"/>
          <p:nvPr/>
        </p:nvSpPr>
        <p:spPr>
          <a:xfrm>
            <a:off x="4764024" y="2816352"/>
            <a:ext cx="1700784" cy="1600200"/>
          </a:xfrm>
          <a:prstGeom prst="rect">
            <a:avLst/>
          </a:prstGeom>
          <a:noFill/>
        </p:spPr>
        <p:txBody>
          <a:bodyPr wrap="square" anchor="t" lIns="0" rIns="0" tIns="0" bIns="0"/>
          <a:lstStyle/>
          <a:p>
            <a:pPr algn="l"/>
            <a:r>
              <a:rPr sz="1200" b="0" i="0">
                <a:solidFill>
                  <a:srgbClr val="BDBDBD"/>
                </a:solidFill>
                <a:latin typeface="Aptos"/>
              </a:rPr>
              <a:t>service parts in eight markets; body and lighting in Israel</a:t>
            </a:r>
          </a:p>
        </p:txBody>
      </p:sp>
      <p:sp>
        <p:nvSpPr>
          <p:cNvPr id="29" name="kpi3_bg"/>
          <p:cNvSpPr/>
          <p:nvPr/>
        </p:nvSpPr>
        <p:spPr>
          <a:xfrm>
            <a:off x="6757416" y="1828800"/>
            <a:ext cx="2066543" cy="269748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kpi3_k"/>
          <p:cNvSpPr txBox="1"/>
          <p:nvPr/>
        </p:nvSpPr>
        <p:spPr>
          <a:xfrm>
            <a:off x="6940296" y="1965960"/>
            <a:ext cx="1700784" cy="201168"/>
          </a:xfrm>
          <a:prstGeom prst="rect">
            <a:avLst/>
          </a:prstGeom>
          <a:noFill/>
        </p:spPr>
        <p:txBody>
          <a:bodyPr wrap="square" anchor="t" lIns="0" rIns="0" tIns="0" bIns="0"/>
          <a:lstStyle/>
          <a:p>
            <a:pPr algn="l"/>
            <a:r>
              <a:rPr sz="850" b="1" i="0">
                <a:solidFill>
                  <a:srgbClr val="E30613"/>
                </a:solidFill>
                <a:latin typeface="Aptos"/>
              </a:rPr>
              <a:t>RECOVERED ELSEWHERE</a:t>
            </a:r>
          </a:p>
        </p:txBody>
      </p:sp>
      <p:sp>
        <p:nvSpPr>
          <p:cNvPr id="31" name="kpi3_v"/>
          <p:cNvSpPr txBox="1"/>
          <p:nvPr/>
        </p:nvSpPr>
        <p:spPr>
          <a:xfrm>
            <a:off x="6940296" y="2240280"/>
            <a:ext cx="1700784" cy="502920"/>
          </a:xfrm>
          <a:prstGeom prst="rect">
            <a:avLst/>
          </a:prstGeom>
          <a:noFill/>
        </p:spPr>
        <p:txBody>
          <a:bodyPr wrap="square" anchor="t" lIns="0" rIns="0" tIns="0" bIns="0"/>
          <a:lstStyle/>
          <a:p>
            <a:pPr algn="l"/>
            <a:r>
              <a:rPr sz="2700" b="1" i="0">
                <a:solidFill>
                  <a:srgbClr val="E30613"/>
                </a:solidFill>
                <a:latin typeface="Aptos"/>
              </a:rPr>
              <a:t>+3.7 pts</a:t>
            </a:r>
          </a:p>
        </p:txBody>
      </p:sp>
      <p:sp>
        <p:nvSpPr>
          <p:cNvPr id="32" name="kpi3_b"/>
          <p:cNvSpPr txBox="1"/>
          <p:nvPr/>
        </p:nvSpPr>
        <p:spPr>
          <a:xfrm>
            <a:off x="6940296" y="2816352"/>
            <a:ext cx="1700784" cy="1600200"/>
          </a:xfrm>
          <a:prstGeom prst="rect">
            <a:avLst/>
          </a:prstGeom>
          <a:noFill/>
        </p:spPr>
        <p:txBody>
          <a:bodyPr wrap="square" anchor="t" lIns="0" rIns="0" tIns="0" bIns="0"/>
          <a:lstStyle/>
          <a:p>
            <a:pPr algn="l"/>
            <a:r>
              <a:rPr sz="1200" b="0" i="0">
                <a:solidFill>
                  <a:srgbClr val="BDBDBD"/>
                </a:solidFill>
                <a:latin typeface="Aptos"/>
              </a:rPr>
              <a:t>on 8,446 repair and body parts with no aftermarket alternative found</a:t>
            </a:r>
          </a:p>
        </p:txBody>
      </p:sp>
      <p:sp>
        <p:nvSpPr>
          <p:cNvPr id="33" name="band_bg"/>
          <p:cNvSpPr/>
          <p:nvPr/>
        </p:nvSpPr>
        <p:spPr>
          <a:xfrm>
            <a:off x="228600" y="4754880"/>
            <a:ext cx="8595360" cy="15087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nd"/>
          <p:cNvSpPr txBox="1"/>
          <p:nvPr/>
        </p:nvSpPr>
        <p:spPr>
          <a:xfrm>
            <a:off x="457200" y="4754880"/>
            <a:ext cx="8138160" cy="1508760"/>
          </a:xfrm>
          <a:prstGeom prst="rect">
            <a:avLst/>
          </a:prstGeom>
          <a:noFill/>
        </p:spPr>
        <p:txBody>
          <a:bodyPr wrap="square" anchor="ctr" lIns="0" rIns="0" tIns="0" bIns="0"/>
          <a:lstStyle/>
          <a:p>
            <a:pPr algn="l"/>
            <a:r>
              <a:rPr sz="1250" b="1" i="0">
                <a:solidFill>
                  <a:srgbClr val="F2F2F2"/>
                </a:solidFill>
                <a:latin typeface="Aptos"/>
              </a:rPr>
              <a:t>In short. </a:t>
            </a:r>
            <a:r>
              <a:rPr sz="1250" b="0" i="0">
                <a:solidFill>
                  <a:srgbClr val="F2F2F2"/>
                </a:solidFill>
                <a:latin typeface="Aptos"/>
              </a:rPr>
              <a:t>IML and IMIT raise their prices to us; this presentation sets how our price list follows. The list rises by 5% on average, worth €1.63M a year. Where a price rise would cost us business the price stays, and what that gives up (€389k) is recovered elsewhere on the list, so the total stays at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WHAT IML AND IMIT CHANGED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IML and IMIT raised their prices to us by 6.0% in September 2026, about twice the 3.2% of a year earlier</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to ISZE, September 2026 against September 2025, in yen, weighted by parts billed.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IML and IMIT base prices per part (Sept 2025, Sept 2026), SAP parts billing July 2025 – June 2026; paper section 2. Japan and Thailand shares re-checked in the +5% workbook (6.19% and 6.34%).</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3</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Our price is built from IML's or IMIT's yen base price, the exchange rate, our purchase discount and a class margin set by IML. Nothing about competition enters that formula.</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Since 5 January 2026 the purchase discount on Japan-sourced parts fell from 38.0% to 32.7%. The weaker yen largely offsets it.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Our margin falls about 0.5 points, because our list rises less than our cost.</a:t>
            </a:r>
          </a:p>
        </p:txBody>
      </p:sp>
      <p:graphicFrame>
        <p:nvGraphicFramePr>
          <p:cNvPr id="17" name="chart_factory"/>
          <p:cNvGraphicFramePr>
            <a:graphicFrameLocks noGrp="1"/>
          </p:cNvGraphicFramePr>
          <p:nvPr/>
        </p:nvGraphicFramePr>
        <p:xfrm>
          <a:off x="228600" y="1828800"/>
          <a:ext cx="5394960" cy="3291840"/>
        </p:xfrm>
        <a:graphic>
          <a:graphicData uri="http://schemas.openxmlformats.org/drawingml/2006/chart">
            <c:chart xmlns:c="http://schemas.openxmlformats.org/drawingml/2006/chart" r:id="rId2"/>
          </a:graphicData>
        </a:graphic>
      </p:graphicFrame>
      <p:sp>
        <p:nvSpPr>
          <p:cNvPr id="18" name="kpi_v"/>
          <p:cNvSpPr txBox="1"/>
          <p:nvPr/>
        </p:nvSpPr>
        <p:spPr>
          <a:xfrm>
            <a:off x="5897880" y="1920240"/>
            <a:ext cx="2834640" cy="457200"/>
          </a:xfrm>
          <a:prstGeom prst="rect">
            <a:avLst/>
          </a:prstGeom>
          <a:noFill/>
        </p:spPr>
        <p:txBody>
          <a:bodyPr wrap="square" anchor="t" lIns="0" rIns="0" tIns="0" bIns="0"/>
          <a:lstStyle/>
          <a:p>
            <a:pPr algn="l"/>
            <a:r>
              <a:rPr sz="3000" b="1" i="0">
                <a:solidFill>
                  <a:srgbClr val="F2F2F2"/>
                </a:solidFill>
                <a:latin typeface="Aptos"/>
              </a:rPr>
              <a:t>3.2%</a:t>
            </a:r>
          </a:p>
        </p:txBody>
      </p:sp>
      <p:sp>
        <p:nvSpPr>
          <p:cNvPr id="19" name="kpi_l"/>
          <p:cNvSpPr txBox="1"/>
          <p:nvPr/>
        </p:nvSpPr>
        <p:spPr>
          <a:xfrm>
            <a:off x="5897880" y="2423160"/>
            <a:ext cx="2834640" cy="548639"/>
          </a:xfrm>
          <a:prstGeom prst="rect">
            <a:avLst/>
          </a:prstGeom>
          <a:noFill/>
        </p:spPr>
        <p:txBody>
          <a:bodyPr wrap="square" anchor="t" lIns="0" rIns="0" tIns="0" bIns="0"/>
          <a:lstStyle/>
          <a:p>
            <a:pPr algn="l"/>
            <a:r>
              <a:rPr sz="1000" b="0" i="0">
                <a:solidFill>
                  <a:srgbClr val="BDBDBD"/>
                </a:solidFill>
                <a:latin typeface="Aptos"/>
              </a:rPr>
              <a:t>the previous revision, September 2025 (weighted by quantity billed)</a:t>
            </a:r>
          </a:p>
        </p:txBody>
      </p:sp>
      <p:sp>
        <p:nvSpPr>
          <p:cNvPr id="20" name="kpi_v"/>
          <p:cNvSpPr txBox="1"/>
          <p:nvPr/>
        </p:nvSpPr>
        <p:spPr>
          <a:xfrm>
            <a:off x="5897880" y="3246120"/>
            <a:ext cx="2834640" cy="457200"/>
          </a:xfrm>
          <a:prstGeom prst="rect">
            <a:avLst/>
          </a:prstGeom>
          <a:noFill/>
        </p:spPr>
        <p:txBody>
          <a:bodyPr wrap="square" anchor="t" lIns="0" rIns="0" tIns="0" bIns="0"/>
          <a:lstStyle/>
          <a:p>
            <a:pPr algn="l"/>
            <a:r>
              <a:rPr sz="3000" b="1" i="0">
                <a:solidFill>
                  <a:srgbClr val="F2F2F2"/>
                </a:solidFill>
                <a:latin typeface="Aptos"/>
              </a:rPr>
              <a:t>5.96%</a:t>
            </a:r>
          </a:p>
        </p:txBody>
      </p:sp>
      <p:sp>
        <p:nvSpPr>
          <p:cNvPr id="21" name="kpi_l"/>
          <p:cNvSpPr txBox="1"/>
          <p:nvPr/>
        </p:nvSpPr>
        <p:spPr>
          <a:xfrm>
            <a:off x="5897880" y="3749039"/>
            <a:ext cx="2834640" cy="548639"/>
          </a:xfrm>
          <a:prstGeom prst="rect">
            <a:avLst/>
          </a:prstGeom>
          <a:noFill/>
        </p:spPr>
        <p:txBody>
          <a:bodyPr wrap="square" anchor="t" lIns="0" rIns="0" tIns="0" bIns="0"/>
          <a:lstStyle/>
          <a:p>
            <a:pPr algn="l"/>
            <a:r>
              <a:rPr sz="1000" b="0" i="0">
                <a:solidFill>
                  <a:srgbClr val="BDBDBD"/>
                </a:solidFill>
                <a:latin typeface="Aptos"/>
              </a:rPr>
              <a:t>the same revision on IML's own basis: quantity times yen base price</a:t>
            </a:r>
          </a:p>
        </p:txBody>
      </p:sp>
      <p:sp>
        <p:nvSpPr>
          <p:cNvPr id="22"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Parts billed: </a:t>
            </a:r>
            <a:r>
              <a:rPr sz="1150" b="0" i="0">
                <a:solidFill>
                  <a:srgbClr val="F2F2F2"/>
                </a:solidFill>
                <a:latin typeface="Aptos"/>
              </a:rPr>
              <a:t>service €19.2M, repair €8.8M, body and collision €4.6M. From Japan €15.9M, from Thailand €15.1M. 82 part numbers (€1.6M) carry no source of supply and average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FROM 6.0% TO +5%</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Every part passes on 90.5% of its own increase, and the total lands on exactly +5.00%</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Increase on what we billed July 2025 – June 2026, € million a year.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Pad kits, lost categories and web-shop extra from paper section 2; totals re-checked in the workbook.</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4</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The same 90.5% applies to every part, so parts IML and IMIT raised more go up more and parts with no increase stay flat (180 part numbers).</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29 pad kits and the categories a distributor already loses stay at today's price. A small extra applies where UK web shops sell the same part dearer than us.</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A typical part rises 6.4%; 9 in 10 rise 7.3% or less. 207 parts (€3.32M billed) stay at today's price.</a:t>
            </a:r>
          </a:p>
        </p:txBody>
      </p:sp>
      <p:graphicFrame>
        <p:nvGraphicFramePr>
          <p:cNvPr id="17" name="chart_waterfall1"/>
          <p:cNvGraphicFramePr>
            <a:graphicFrameLocks noGrp="1"/>
          </p:cNvGraphicFramePr>
          <p:nvPr/>
        </p:nvGraphicFramePr>
        <p:xfrm>
          <a:off x="228600" y="1828800"/>
          <a:ext cx="8595360" cy="3657600"/>
        </p:xfrm>
        <a:graphic>
          <a:graphicData uri="http://schemas.openxmlformats.org/drawingml/2006/chart">
            <c:chart xmlns:c="http://schemas.openxmlformats.org/drawingml/2006/chart" r:id="rId2"/>
          </a:graphicData>
        </a:graphic>
      </p:graphicFrame>
      <p:sp>
        <p:nvSpPr>
          <p:cNvPr id="18" name="band_bg"/>
          <p:cNvSpPr/>
          <p:nvPr/>
        </p:nvSpPr>
        <p:spPr>
          <a:xfrm>
            <a:off x="228600" y="5669280"/>
            <a:ext cx="8595360" cy="5943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669280"/>
            <a:ext cx="8138160" cy="594360"/>
          </a:xfrm>
          <a:prstGeom prst="rect">
            <a:avLst/>
          </a:prstGeom>
          <a:noFill/>
        </p:spPr>
        <p:txBody>
          <a:bodyPr wrap="square" anchor="ctr" lIns="0" rIns="0" tIns="0" bIns="0"/>
          <a:lstStyle/>
          <a:p>
            <a:pPr algn="l"/>
            <a:r>
              <a:rPr sz="1200" b="0" i="0">
                <a:solidFill>
                  <a:srgbClr val="F2F2F2"/>
                </a:solidFill>
                <a:latin typeface="Aptos"/>
              </a:rPr>
              <a:t>Passing on the full 6.0% would raise our list by €1.96M. </a:t>
            </a:r>
            <a:r>
              <a:rPr sz="1200" b="1" i="0">
                <a:solidFill>
                  <a:srgbClr val="F2F2F2"/>
                </a:solidFill>
                <a:latin typeface="Aptos"/>
              </a:rPr>
              <a:t>The +5.00% is €1,629,793 on €32,595,853 of parts billed.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THE DECISIONS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What each decision does, why, and what it is worth</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Status as recorded up to 2 October 2026. Euro effects are a year of volume, before any change in what dealers buy.</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5</a:t>
            </a:r>
          </a:p>
        </p:txBody>
      </p:sp>
      <p:graphicFrame>
        <p:nvGraphicFramePr>
          <p:cNvPr id="9" name="table_decisions"/>
          <p:cNvGraphicFramePr>
            <a:graphicFrameLocks noGrp="1"/>
          </p:cNvGraphicFramePr>
          <p:nvPr/>
        </p:nvGraphicFramePr>
        <p:xfrm>
          <a:off x="228600" y="1783080"/>
          <a:ext cx="11731750" cy="4370832"/>
        </p:xfrm>
        <a:graphic>
          <a:graphicData uri="http://schemas.openxmlformats.org/drawingml/2006/table">
            <a:tbl>
              <a:tblPr>
                <a:tableStyleId>{2D5ABB26-0587-4C30-8999-92F81FD0307C}</a:tableStyleId>
              </a:tblPr>
              <a:tblGrid>
                <a:gridCol w="867327"/>
                <a:gridCol w="4290991"/>
                <a:gridCol w="3743204"/>
                <a:gridCol w="2830228"/>
              </a:tblGrid>
              <a:tr h="347472">
                <a:tc>
                  <a:txBody>
                    <a:bodyPr wrap="square"/>
                    <a:lstStyle/>
                    <a:p>
                      <a:pPr algn="l"/>
                      <a:r>
                        <a:rPr sz="850" b="1">
                          <a:solidFill>
                            <a:srgbClr val="BDBDBD"/>
                          </a:solidFill>
                          <a:latin typeface="Aptos"/>
                        </a:rPr>
                        <a:t>Status</a:t>
                      </a:r>
                    </a:p>
                  </a:txBody>
                  <a:tcPr marL="91440" marR="91440" marT="27432" marB="27432" anchor="ctr">
                    <a:solidFill>
                      <a:srgbClr val="3A3A3A"/>
                    </a:solidFill>
                  </a:tcPr>
                </a:tc>
                <a:tc>
                  <a:txBody>
                    <a:bodyPr wrap="square"/>
                    <a:lstStyle/>
                    <a:p>
                      <a:pPr algn="l"/>
                      <a:r>
                        <a:rPr sz="850" b="1">
                          <a:solidFill>
                            <a:srgbClr val="BDBDBD"/>
                          </a:solidFill>
                          <a:latin typeface="Aptos"/>
                        </a:rPr>
                        <a:t>What it does</a:t>
                      </a:r>
                    </a:p>
                  </a:txBody>
                  <a:tcPr marL="91440" marR="91440" marT="27432" marB="27432" anchor="ctr">
                    <a:solidFill>
                      <a:srgbClr val="3A3A3A"/>
                    </a:solidFill>
                  </a:tcPr>
                </a:tc>
                <a:tc>
                  <a:txBody>
                    <a:bodyPr wrap="square"/>
                    <a:lstStyle/>
                    <a:p>
                      <a:pPr algn="l"/>
                      <a:r>
                        <a:rPr sz="850" b="1">
                          <a:solidFill>
                            <a:srgbClr val="BDBDBD"/>
                          </a:solidFill>
                          <a:latin typeface="Aptos"/>
                        </a:rPr>
                        <a:t>Why</a:t>
                      </a:r>
                    </a:p>
                  </a:txBody>
                  <a:tcPr marL="91440" marR="91440" marT="27432" marB="27432" anchor="ctr">
                    <a:solidFill>
                      <a:srgbClr val="3A3A3A"/>
                    </a:solidFill>
                  </a:tcPr>
                </a:tc>
                <a:tc>
                  <a:txBody>
                    <a:bodyPr wrap="square"/>
                    <a:lstStyle/>
                    <a:p>
                      <a:pPr algn="l"/>
                      <a:r>
                        <a:rPr sz="850" b="1">
                          <a:solidFill>
                            <a:srgbClr val="BDBDBD"/>
                          </a:solidFill>
                          <a:latin typeface="Aptos"/>
                        </a:rPr>
                        <a:t>Effect in euro a year</a:t>
                      </a:r>
                    </a:p>
                  </a:txBody>
                  <a:tcPr marL="91440" marR="91440" marT="27432" marB="27432" anchor="ctr">
                    <a:solidFill>
                      <a:srgbClr val="3A3A3A"/>
                    </a:solidFill>
                  </a:tcPr>
                </a:tc>
              </a:tr>
              <a:tr h="804672">
                <a:tc>
                  <a:txBody>
                    <a:bodyPr wrap="square"/>
                    <a:lstStyle/>
                    <a:p>
                      <a:pPr algn="l"/>
                      <a:r>
                        <a:rPr sz="1000" b="1">
                          <a:solidFill>
                            <a:srgbClr val="55C271"/>
                          </a:solidFill>
                          <a:latin typeface="Aptos"/>
                        </a:rPr>
                        <a:t>Decided</a:t>
                      </a:r>
                    </a:p>
                  </a:txBody>
                  <a:tcPr marL="91440" marR="91440" marT="27432" marB="27432" anchor="ctr">
                    <a:solidFill>
                      <a:srgbClr val="303030"/>
                    </a:solidFill>
                  </a:tcPr>
                </a:tc>
                <a:tc>
                  <a:txBody>
                    <a:bodyPr wrap="square"/>
                    <a:lstStyle/>
                    <a:p>
                      <a:pPr algn="l"/>
                      <a:r>
                        <a:rPr sz="1000" b="0">
                          <a:solidFill>
                            <a:srgbClr val="F2F2F2"/>
                          </a:solidFill>
                          <a:latin typeface="Aptos"/>
                        </a:rPr>
                        <a:t>Prices rise 5% on average. Each part follows its own IML/IMIT increase, scaled so that every part passes on 90.5% of it and the total is exactly +5%. 180 part numbers (6.5% of parts billed) have no increase and stay flat.</a:t>
                      </a:r>
                    </a:p>
                  </a:txBody>
                  <a:tcPr marL="91440" marR="91440" marT="27432" marB="27432" anchor="ctr">
                    <a:solidFill>
                      <a:srgbClr val="303030"/>
                    </a:solidFill>
                  </a:tcPr>
                </a:tc>
                <a:tc>
                  <a:txBody>
                    <a:bodyPr wrap="square"/>
                    <a:lstStyle/>
                    <a:p>
                      <a:pPr algn="l"/>
                      <a:r>
                        <a:rPr sz="1000" b="0">
                          <a:solidFill>
                            <a:srgbClr val="F2F2F2"/>
                          </a:solidFill>
                          <a:latin typeface="Aptos"/>
                        </a:rPr>
                        <a:t>IML and IMIT raise their prices to us by 6.0% on average. Following each part's own cost keeps every price tied to its cost. +5% is the target for this revision.</a:t>
                      </a:r>
                    </a:p>
                  </a:txBody>
                  <a:tcPr marL="91440" marR="91440" marT="27432" marB="27432" anchor="ctr">
                    <a:solidFill>
                      <a:srgbClr val="303030"/>
                    </a:solidFill>
                  </a:tcPr>
                </a:tc>
                <a:tc>
                  <a:txBody>
                    <a:bodyPr wrap="square"/>
                    <a:lstStyle/>
                    <a:p>
                      <a:pPr algn="l"/>
                      <a:r>
                        <a:rPr sz="1000" b="0">
                          <a:solidFill>
                            <a:srgbClr val="F2F2F2"/>
                          </a:solidFill>
                          <a:latin typeface="Aptos"/>
                        </a:rPr>
                        <a:t>+€1.63M on €32.6M of parts billed. Passing on the full 6.0% would be €1.96M.</a:t>
                      </a:r>
                    </a:p>
                  </a:txBody>
                  <a:tcPr marL="91440" marR="91440" marT="27432" marB="27432" anchor="ctr">
                    <a:solidFill>
                      <a:srgbClr val="303030"/>
                    </a:solidFill>
                  </a:tcPr>
                </a:tc>
              </a:tr>
              <a:tr h="804672">
                <a:tc>
                  <a:txBody>
                    <a:bodyPr wrap="square"/>
                    <a:lstStyle/>
                    <a:p>
                      <a:pPr algn="l"/>
                      <a:r>
                        <a:rPr sz="1000" b="1">
                          <a:solidFill>
                            <a:srgbClr val="55C271"/>
                          </a:solidFill>
                          <a:latin typeface="Aptos"/>
                        </a:rPr>
                        <a:t>Decided</a:t>
                      </a:r>
                    </a:p>
                  </a:txBody>
                  <a:tcPr marL="91440" marR="91440" marT="27432" marB="27432" anchor="ctr">
                    <a:solidFill>
                      <a:srgbClr val="2B2B2B"/>
                    </a:solidFill>
                  </a:tcPr>
                </a:tc>
                <a:tc>
                  <a:txBody>
                    <a:bodyPr wrap="square"/>
                    <a:lstStyle/>
                    <a:p>
                      <a:pPr algn="l"/>
                      <a:r>
                        <a:rPr sz="1000" b="0">
                          <a:solidFill>
                            <a:srgbClr val="F2F2F2"/>
                          </a:solidFill>
                          <a:latin typeface="Aptos"/>
                        </a:rPr>
                        <a:t>The 29 brake pad kits stay at today's price (€1.18M billed).</a:t>
                      </a:r>
                    </a:p>
                  </a:txBody>
                  <a:tcPr marL="91440" marR="91440" marT="27432" marB="27432" anchor="ctr">
                    <a:solidFill>
                      <a:srgbClr val="2B2B2B"/>
                    </a:solidFill>
                  </a:tcPr>
                </a:tc>
                <a:tc>
                  <a:txBody>
                    <a:bodyPr wrap="square"/>
                    <a:lstStyle/>
                    <a:p>
                      <a:pPr algn="l"/>
                      <a:r>
                        <a:rPr sz="1000" b="0">
                          <a:solidFill>
                            <a:srgbClr val="F2F2F2"/>
                          </a:solidFill>
                          <a:latin typeface="Aptos"/>
                        </a:rPr>
                        <a:t>Brake pads compete directly with aftermarket brands. The main front pad kit would otherwise have risen 17%.</a:t>
                      </a:r>
                    </a:p>
                  </a:txBody>
                  <a:tcPr marL="91440" marR="91440" marT="27432" marB="27432" anchor="ctr">
                    <a:solidFill>
                      <a:srgbClr val="2B2B2B"/>
                    </a:solidFill>
                  </a:tcPr>
                </a:tc>
                <a:tc>
                  <a:txBody>
                    <a:bodyPr wrap="square"/>
                    <a:lstStyle/>
                    <a:p>
                      <a:pPr algn="l"/>
                      <a:r>
                        <a:rPr sz="1000" b="0">
                          <a:solidFill>
                            <a:srgbClr val="F2F2F2"/>
                          </a:solidFill>
                          <a:latin typeface="Aptos"/>
                        </a:rPr>
                        <a:t>€109k of increase not taken, absorbed within the +5%.</a:t>
                      </a:r>
                    </a:p>
                  </a:txBody>
                  <a:tcPr marL="91440" marR="91440" marT="27432" marB="27432" anchor="ctr">
                    <a:solidFill>
                      <a:srgbClr val="2B2B2B"/>
                    </a:solidFill>
                  </a:tcPr>
                </a:tc>
              </a:tr>
              <a:tr h="804672">
                <a:tc>
                  <a:txBody>
                    <a:bodyPr wrap="square"/>
                    <a:lstStyle/>
                    <a:p>
                      <a:pPr algn="l"/>
                      <a:r>
                        <a:rPr sz="1000" b="1">
                          <a:solidFill>
                            <a:srgbClr val="55C271"/>
                          </a:solidFill>
                          <a:latin typeface="Aptos"/>
                        </a:rPr>
                        <a:t>Decided</a:t>
                      </a:r>
                    </a:p>
                  </a:txBody>
                  <a:tcPr marL="91440" marR="91440" marT="27432" marB="27432" anchor="ctr">
                    <a:solidFill>
                      <a:srgbClr val="303030"/>
                    </a:solidFill>
                  </a:tcPr>
                </a:tc>
                <a:tc>
                  <a:txBody>
                    <a:bodyPr wrap="square"/>
                    <a:lstStyle/>
                    <a:p>
                      <a:pPr algn="l"/>
                      <a:r>
                        <a:rPr sz="1000" b="0">
                          <a:solidFill>
                            <a:srgbClr val="F2F2F2"/>
                          </a:solidFill>
                          <a:latin typeface="Aptos"/>
                        </a:rPr>
                        <a:t>Service parts stay at today's price in eight markets: Isuzu UK (D-Max), Israel D-Max distributor, Germany, Belgium, Norway, Cyprus, Hungary, Malta. In Israel, body, collision and lighting parts also stay (D-Max distributor), and lighting (trucks distributor).</a:t>
                      </a:r>
                    </a:p>
                  </a:txBody>
                  <a:tcPr marL="91440" marR="91440" marT="27432" marB="27432" anchor="ctr">
                    <a:solidFill>
                      <a:srgbClr val="303030"/>
                    </a:solidFill>
                  </a:tcPr>
                </a:tc>
                <a:tc>
                  <a:txBody>
                    <a:bodyPr wrap="square"/>
                    <a:lstStyle/>
                    <a:p>
                      <a:pPr algn="l"/>
                      <a:r>
                        <a:rPr sz="1000" b="0">
                          <a:solidFill>
                            <a:srgbClr val="F2F2F2"/>
                          </a:solidFill>
                          <a:latin typeface="Aptos"/>
                        </a:rPr>
                        <a:t>Ageing fleets, a small service share and documented price complaints. Isuzu UK: dealers measurably bought less after the April 2026 rise. Israel: the insurance total-loss rule.</a:t>
                      </a:r>
                    </a:p>
                  </a:txBody>
                  <a:tcPr marL="91440" marR="91440" marT="27432" marB="27432" anchor="ctr">
                    <a:solidFill>
                      <a:srgbClr val="303030"/>
                    </a:solidFill>
                  </a:tcPr>
                </a:tc>
                <a:tc>
                  <a:txBody>
                    <a:bodyPr wrap="square"/>
                    <a:lstStyle/>
                    <a:p>
                      <a:pPr algn="l"/>
                      <a:r>
                        <a:rPr sz="1000" b="0">
                          <a:solidFill>
                            <a:srgbClr val="F2F2F2"/>
                          </a:solidFill>
                          <a:latin typeface="Aptos"/>
                        </a:rPr>
                        <a:t>Gives up €388,914, 24% of the +5%.</a:t>
                      </a:r>
                    </a:p>
                  </a:txBody>
                  <a:tcPr marL="91440" marR="91440" marT="27432" marB="27432" anchor="ctr">
                    <a:solidFill>
                      <a:srgbClr val="303030"/>
                    </a:solidFill>
                  </a:tcPr>
                </a:tc>
              </a:tr>
              <a:tr h="804672">
                <a:tc>
                  <a:txBody>
                    <a:bodyPr wrap="square"/>
                    <a:lstStyle/>
                    <a:p>
                      <a:pPr algn="l"/>
                      <a:r>
                        <a:rPr sz="1000" b="1">
                          <a:solidFill>
                            <a:srgbClr val="55C271"/>
                          </a:solidFill>
                          <a:latin typeface="Aptos"/>
                        </a:rPr>
                        <a:t>Decided</a:t>
                      </a:r>
                    </a:p>
                  </a:txBody>
                  <a:tcPr marL="91440" marR="91440" marT="27432" marB="27432" anchor="ctr">
                    <a:solidFill>
                      <a:srgbClr val="2B2B2B"/>
                    </a:solidFill>
                  </a:tcPr>
                </a:tc>
                <a:tc>
                  <a:txBody>
                    <a:bodyPr wrap="square"/>
                    <a:lstStyle/>
                    <a:p>
                      <a:pPr algn="l"/>
                      <a:r>
                        <a:rPr sz="1000" b="0">
                          <a:solidFill>
                            <a:srgbClr val="F2F2F2"/>
                          </a:solidFill>
                          <a:latin typeface="Aptos"/>
                        </a:rPr>
                        <a:t>The €389k is recovered on repair and body parts with no aftermarket alternative found: about +3.7 points on top of their own increase, on 8,446 parts. Service parts get nothing extra.</a:t>
                      </a:r>
                    </a:p>
                  </a:txBody>
                  <a:tcPr marL="91440" marR="91440" marT="27432" marB="27432" anchor="ctr">
                    <a:solidFill>
                      <a:srgbClr val="2B2B2B"/>
                    </a:solidFill>
                  </a:tcPr>
                </a:tc>
                <a:tc>
                  <a:txBody>
                    <a:bodyPr wrap="square"/>
                    <a:lstStyle/>
                    <a:p>
                      <a:pPr algn="l"/>
                      <a:r>
                        <a:rPr sz="1000" b="0">
                          <a:solidFill>
                            <a:srgbClr val="F2F2F2"/>
                          </a:solidFill>
                          <a:latin typeface="Aptos"/>
                        </a:rPr>
                        <a:t>Service parts are where the alternatives, the complaints and the market decisions are. Outside price data is too thin to weight part by part.</a:t>
                      </a:r>
                    </a:p>
                  </a:txBody>
                  <a:tcPr marL="91440" marR="91440" marT="27432" marB="27432" anchor="ctr">
                    <a:solidFill>
                      <a:srgbClr val="2B2B2B"/>
                    </a:solidFill>
                  </a:tcPr>
                </a:tc>
                <a:tc>
                  <a:txBody>
                    <a:bodyPr wrap="square"/>
                    <a:lstStyle/>
                    <a:p>
                      <a:pPr algn="l"/>
                      <a:r>
                        <a:rPr sz="1000" b="0">
                          <a:solidFill>
                            <a:srgbClr val="F2F2F2"/>
                          </a:solidFill>
                          <a:latin typeface="Aptos"/>
                        </a:rPr>
                        <a:t>+€397k: repair €253k, body €144k, service nil. The total stays +5.00%.</a:t>
                      </a:r>
                    </a:p>
                  </a:txBody>
                  <a:tcPr marL="91440" marR="91440" marT="27432" marB="27432" anchor="ctr">
                    <a:solidFill>
                      <a:srgbClr val="2B2B2B"/>
                    </a:solidFill>
                  </a:tcPr>
                </a:tc>
              </a:tr>
              <a:tr h="804672">
                <a:tc>
                  <a:txBody>
                    <a:bodyPr wrap="square"/>
                    <a:lstStyle/>
                    <a:p>
                      <a:pPr algn="l"/>
                      <a:r>
                        <a:rPr sz="1000" b="1">
                          <a:solidFill>
                            <a:srgbClr val="F5A000"/>
                          </a:solidFill>
                          <a:latin typeface="Aptos"/>
                        </a:rPr>
                        <a:t>Suggested</a:t>
                      </a:r>
                    </a:p>
                  </a:txBody>
                  <a:tcPr marL="91440" marR="91440" marT="27432" marB="27432" anchor="ctr">
                    <a:solidFill>
                      <a:srgbClr val="303030"/>
                    </a:solidFill>
                  </a:tcPr>
                </a:tc>
                <a:tc>
                  <a:txBody>
                    <a:bodyPr wrap="square"/>
                    <a:lstStyle/>
                    <a:p>
                      <a:pPr algn="l"/>
                      <a:r>
                        <a:rPr sz="1000" b="0">
                          <a:solidFill>
                            <a:srgbClr val="F2F2F2"/>
                          </a:solidFill>
                          <a:latin typeface="Aptos"/>
                        </a:rPr>
                        <a:t>Exempt Isuzu UK (D-Max) from that extra. Its repair and body parts keep their own IML/IMIT-based increase.</a:t>
                      </a:r>
                    </a:p>
                  </a:txBody>
                  <a:tcPr marL="91440" marR="91440" marT="27432" marB="27432" anchor="ctr">
                    <a:solidFill>
                      <a:srgbClr val="303030"/>
                    </a:solidFill>
                  </a:tcPr>
                </a:tc>
                <a:tc>
                  <a:txBody>
                    <a:bodyPr wrap="square"/>
                    <a:lstStyle/>
                    <a:p>
                      <a:pPr algn="l"/>
                      <a:r>
                        <a:rPr sz="1000" b="0">
                          <a:solidFill>
                            <a:srgbClr val="F2F2F2"/>
                          </a:solidFill>
                          <a:latin typeface="Aptos"/>
                        </a:rPr>
                        <a:t>The only market where dealers measurably bought less after the April 2026 change.</a:t>
                      </a:r>
                    </a:p>
                  </a:txBody>
                  <a:tcPr marL="91440" marR="91440" marT="27432" marB="27432" anchor="ctr">
                    <a:solidFill>
                      <a:srgbClr val="303030"/>
                    </a:solidFill>
                  </a:tcPr>
                </a:tc>
                <a:tc>
                  <a:txBody>
                    <a:bodyPr wrap="square"/>
                    <a:lstStyle/>
                    <a:p>
                      <a:pPr algn="l"/>
                      <a:r>
                        <a:rPr sz="1000" b="0">
                          <a:solidFill>
                            <a:srgbClr val="F2F2F2"/>
                          </a:solidFill>
                          <a:latin typeface="Aptos"/>
                        </a:rPr>
                        <a:t>€91k moves to the other markets, which carry +4.8 points instead of +3.7. Total unchanged.</a:t>
                      </a:r>
                    </a:p>
                  </a:txBody>
                  <a:tcPr marL="91440" marR="91440" marT="27432" marB="27432" anchor="ctr">
                    <a:solidFill>
                      <a:srgbClr val="30303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PRICES STAY</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Keeping prices at today's level gives up €389k of the +5%, mostly on service parts in four markets</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Increase not taken, € a year, by market and part group. Amber: the Israel insurance rule.</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Euro per market and line re-checked in the workbook (7,833 part and market lines).</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6</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stay at today's price when vehicles we do not count buy in the market, or dealers measurably reacted, or the fleet is flat or shrinking while our service share is below the network's 28%.</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Repair parts follow IML/IMIT in every market. Israel adds body, collision and lighting because of the insurance total-loss rule (page 12).</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The list stays one price per part. A category kept at today's price in one market is a distributor condition on that category.</a:t>
            </a:r>
          </a:p>
        </p:txBody>
      </p:sp>
      <p:graphicFrame>
        <p:nvGraphicFramePr>
          <p:cNvPr id="17" name="chart_held"/>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MARKET BY MARKET</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In eight markets service parts stay at today's price; in the other markets they follow IML/IMIT</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The thirteen markets where something is held, or that are among the largest. Parts billed July 2025 – June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Service share: paper section 5. * Ireland: more than the counted fleet should need; not a real share.</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7</a:t>
            </a:r>
          </a:p>
        </p:txBody>
      </p:sp>
      <p:graphicFrame>
        <p:nvGraphicFramePr>
          <p:cNvPr id="9" name="table_markets"/>
          <p:cNvGraphicFramePr>
            <a:graphicFrameLocks noGrp="1"/>
          </p:cNvGraphicFramePr>
          <p:nvPr/>
        </p:nvGraphicFramePr>
        <p:xfrm>
          <a:off x="228600" y="1783080"/>
          <a:ext cx="11731748" cy="4023360"/>
        </p:xfrm>
        <a:graphic>
          <a:graphicData uri="http://schemas.openxmlformats.org/drawingml/2006/table">
            <a:tbl>
              <a:tblPr>
                <a:tableStyleId>{2D5ABB26-0587-4C30-8999-92F81FD0307C}</a:tableStyleId>
              </a:tblPr>
              <a:tblGrid>
                <a:gridCol w="2319585"/>
                <a:gridCol w="1159792"/>
                <a:gridCol w="1293615"/>
                <a:gridCol w="1605867"/>
                <a:gridCol w="2498015"/>
                <a:gridCol w="1249007"/>
                <a:gridCol w="1605867"/>
              </a:tblGrid>
              <a:tr h="457200">
                <a:tc>
                  <a:txBody>
                    <a:bodyPr wrap="square"/>
                    <a:lstStyle/>
                    <a:p>
                      <a:pPr algn="l"/>
                      <a:r>
                        <a:rPr sz="850" b="1">
                          <a:solidFill>
                            <a:srgbClr val="BDBDBD"/>
                          </a:solidFill>
                          <a:latin typeface="Aptos"/>
                        </a:rPr>
                        <a:t>Market</a:t>
                      </a:r>
                    </a:p>
                  </a:txBody>
                  <a:tcPr marL="91440" marR="91440" marT="27432" marB="27432" anchor="ctr">
                    <a:solidFill>
                      <a:srgbClr val="3A3A3A"/>
                    </a:solidFill>
                  </a:tcPr>
                </a:tc>
                <a:tc>
                  <a:txBody>
                    <a:bodyPr wrap="square"/>
                    <a:lstStyle/>
                    <a:p>
                      <a:pPr algn="r"/>
                      <a:r>
                        <a:rPr sz="850" b="1">
                          <a:solidFill>
                            <a:srgbClr val="BDBDBD"/>
                          </a:solidFill>
                          <a:latin typeface="Aptos"/>
                        </a:rPr>
                        <a:t>Parts billed</a:t>
                      </a:r>
                    </a:p>
                  </a:txBody>
                  <a:tcPr marL="91440" marR="91440" marT="27432" marB="27432" anchor="ctr">
                    <a:solidFill>
                      <a:srgbClr val="3A3A3A"/>
                    </a:solidFill>
                  </a:tcPr>
                </a:tc>
                <a:tc>
                  <a:txBody>
                    <a:bodyPr wrap="square"/>
                    <a:lstStyle/>
                    <a:p>
                      <a:pPr algn="r"/>
                      <a:r>
                        <a:rPr sz="850" b="1">
                          <a:solidFill>
                            <a:srgbClr val="BDBDBD"/>
                          </a:solidFill>
                          <a:latin typeface="Aptos"/>
                        </a:rPr>
                        <a:t>Service share 2025</a:t>
                      </a:r>
                    </a:p>
                  </a:txBody>
                  <a:tcPr marL="91440" marR="91440" marT="27432" marB="27432" anchor="ctr">
                    <a:solidFill>
                      <a:srgbClr val="3A3A3A"/>
                    </a:solidFill>
                  </a:tcPr>
                </a:tc>
                <a:tc>
                  <a:txBody>
                    <a:bodyPr wrap="square"/>
                    <a:lstStyle/>
                    <a:p>
                      <a:pPr algn="l"/>
                      <a:r>
                        <a:rPr sz="850" b="1">
                          <a:solidFill>
                            <a:srgbClr val="BDBDBD"/>
                          </a:solidFill>
                          <a:latin typeface="Aptos"/>
                        </a:rPr>
                        <a:t>Service parts</a:t>
                      </a:r>
                    </a:p>
                  </a:txBody>
                  <a:tcPr marL="91440" marR="91440" marT="27432" marB="27432" anchor="ctr">
                    <a:solidFill>
                      <a:srgbClr val="3A3A3A"/>
                    </a:solidFill>
                  </a:tcPr>
                </a:tc>
                <a:tc>
                  <a:txBody>
                    <a:bodyPr wrap="square"/>
                    <a:lstStyle/>
                    <a:p>
                      <a:pPr algn="l"/>
                      <a:r>
                        <a:rPr sz="850" b="1">
                          <a:solidFill>
                            <a:srgbClr val="BDBDBD"/>
                          </a:solidFill>
                          <a:latin typeface="Aptos"/>
                        </a:rPr>
                        <a:t>Body and lighting</a:t>
                      </a:r>
                    </a:p>
                  </a:txBody>
                  <a:tcPr marL="91440" marR="91440" marT="27432" marB="27432" anchor="ctr">
                    <a:solidFill>
                      <a:srgbClr val="3A3A3A"/>
                    </a:solidFill>
                  </a:tcPr>
                </a:tc>
                <a:tc>
                  <a:txBody>
                    <a:bodyPr wrap="square"/>
                    <a:lstStyle/>
                    <a:p>
                      <a:pPr algn="r"/>
                      <a:r>
                        <a:rPr sz="850" b="1">
                          <a:solidFill>
                            <a:srgbClr val="BDBDBD"/>
                          </a:solidFill>
                          <a:latin typeface="Aptos"/>
                        </a:rPr>
                        <a:t>Increase given up</a:t>
                      </a:r>
                    </a:p>
                  </a:txBody>
                  <a:tcPr marL="91440" marR="91440" marT="27432" marB="27432" anchor="ctr">
                    <a:solidFill>
                      <a:srgbClr val="3A3A3A"/>
                    </a:solidFill>
                  </a:tcPr>
                </a:tc>
                <a:tc>
                  <a:txBody>
                    <a:bodyPr wrap="square"/>
                    <a:lstStyle/>
                    <a:p>
                      <a:pPr algn="r"/>
                      <a:r>
                        <a:rPr sz="850" b="1">
                          <a:solidFill>
                            <a:srgbClr val="BDBDBD"/>
                          </a:solidFill>
                          <a:latin typeface="Aptos"/>
                        </a:rPr>
                        <a:t>Average increase after decisions</a:t>
                      </a:r>
                    </a:p>
                  </a:txBody>
                  <a:tcPr marL="91440" marR="91440" marT="27432" marB="27432" anchor="ctr">
                    <a:solidFill>
                      <a:srgbClr val="3A3A3A"/>
                    </a:solidFill>
                  </a:tcPr>
                </a:tc>
              </a:tr>
              <a:tr h="274320">
                <a:tc>
                  <a:txBody>
                    <a:bodyPr wrap="square"/>
                    <a:lstStyle/>
                    <a:p>
                      <a:pPr algn="l"/>
                      <a:r>
                        <a:rPr sz="1050" b="1">
                          <a:solidFill>
                            <a:srgbClr val="F2F2F2"/>
                          </a:solidFill>
                          <a:latin typeface="Aptos"/>
                        </a:rPr>
                        <a:t>Isuzu Truck UK</a:t>
                      </a:r>
                    </a:p>
                  </a:txBody>
                  <a:tcPr marL="91440" marR="91440" marT="27432" marB="27432" anchor="ctr">
                    <a:solidFill>
                      <a:srgbClr val="303030"/>
                    </a:solidFill>
                  </a:tcPr>
                </a:tc>
                <a:tc>
                  <a:txBody>
                    <a:bodyPr wrap="square"/>
                    <a:lstStyle/>
                    <a:p>
                      <a:pPr algn="r"/>
                      <a:r>
                        <a:rPr sz="1050" b="0">
                          <a:solidFill>
                            <a:srgbClr val="F2F2F2"/>
                          </a:solidFill>
                          <a:latin typeface="Aptos"/>
                        </a:rPr>
                        <a:t>€6.25M</a:t>
                      </a:r>
                    </a:p>
                  </a:txBody>
                  <a:tcPr marL="91440" marR="91440" marT="27432" marB="27432" anchor="ctr">
                    <a:solidFill>
                      <a:srgbClr val="303030"/>
                    </a:solidFill>
                  </a:tcPr>
                </a:tc>
                <a:tc>
                  <a:txBody>
                    <a:bodyPr wrap="square"/>
                    <a:lstStyle/>
                    <a:p>
                      <a:pPr algn="r"/>
                      <a:r>
                        <a:rPr sz="1050" b="0">
                          <a:solidFill>
                            <a:srgbClr val="F2F2F2"/>
                          </a:solidFill>
                          <a:latin typeface="Aptos"/>
                        </a:rPr>
                        <a:t>51%</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r"/>
                      <a:r>
                        <a:rPr sz="1050" b="0">
                          <a:solidFill>
                            <a:srgbClr val="F2F2F2"/>
                          </a:solidFill>
                          <a:latin typeface="Aptos"/>
                        </a:rPr>
                        <a:t>–</a:t>
                      </a:r>
                    </a:p>
                  </a:txBody>
                  <a:tcPr marL="91440" marR="91440" marT="27432" marB="27432" anchor="ctr">
                    <a:solidFill>
                      <a:srgbClr val="303030"/>
                    </a:solidFill>
                  </a:tcPr>
                </a:tc>
                <a:tc>
                  <a:txBody>
                    <a:bodyPr wrap="square"/>
                    <a:lstStyle/>
                    <a:p>
                      <a:pPr algn="r"/>
                      <a:r>
                        <a:rPr sz="1050" b="0">
                          <a:solidFill>
                            <a:srgbClr val="F2F2F2"/>
                          </a:solidFill>
                          <a:latin typeface="Aptos"/>
                        </a:rPr>
                        <a:t>5.8%</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Isuzu UK (D-Max)</a:t>
                      </a:r>
                    </a:p>
                  </a:txBody>
                  <a:tcPr marL="91440" marR="91440" marT="27432" marB="27432" anchor="ctr">
                    <a:solidFill>
                      <a:srgbClr val="2B2B2B"/>
                    </a:solidFill>
                  </a:tcPr>
                </a:tc>
                <a:tc>
                  <a:txBody>
                    <a:bodyPr wrap="square"/>
                    <a:lstStyle/>
                    <a:p>
                      <a:pPr algn="r"/>
                      <a:r>
                        <a:rPr sz="1050" b="0">
                          <a:solidFill>
                            <a:srgbClr val="F2F2F2"/>
                          </a:solidFill>
                          <a:latin typeface="Aptos"/>
                        </a:rPr>
                        <a:t>€6.23M</a:t>
                      </a:r>
                    </a:p>
                  </a:txBody>
                  <a:tcPr marL="91440" marR="91440" marT="27432" marB="27432" anchor="ctr">
                    <a:solidFill>
                      <a:srgbClr val="2B2B2B"/>
                    </a:solidFill>
                  </a:tcPr>
                </a:tc>
                <a:tc>
                  <a:txBody>
                    <a:bodyPr wrap="square"/>
                    <a:lstStyle/>
                    <a:p>
                      <a:pPr algn="r"/>
                      <a:r>
                        <a:rPr sz="1050" b="0">
                          <a:solidFill>
                            <a:srgbClr val="F2F2F2"/>
                          </a:solidFill>
                          <a:latin typeface="Aptos"/>
                        </a:rPr>
                        <a:t>17%</a:t>
                      </a:r>
                    </a:p>
                  </a:txBody>
                  <a:tcPr marL="91440" marR="91440" marT="27432" marB="27432" anchor="ctr">
                    <a:solidFill>
                      <a:srgbClr val="2B2B2B"/>
                    </a:solidFill>
                  </a:tcPr>
                </a:tc>
                <a:tc>
                  <a:txBody>
                    <a:bodyPr wrap="square"/>
                    <a:lstStyle/>
                    <a:p>
                      <a:pPr algn="l"/>
                      <a:r>
                        <a:rPr sz="1050" b="0">
                          <a:solidFill>
                            <a:srgbClr val="F5A000"/>
                          </a:solidFill>
                          <a:latin typeface="Aptos"/>
                        </a:rPr>
                        <a:t>Today's price</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€148k</a:t>
                      </a:r>
                    </a:p>
                  </a:txBody>
                  <a:tcPr marL="91440" marR="91440" marT="27432" marB="27432" anchor="ctr">
                    <a:solidFill>
                      <a:srgbClr val="2B2B2B"/>
                    </a:solidFill>
                  </a:tcPr>
                </a:tc>
                <a:tc>
                  <a:txBody>
                    <a:bodyPr wrap="square"/>
                    <a:lstStyle/>
                    <a:p>
                      <a:pPr algn="r"/>
                      <a:r>
                        <a:rPr sz="1050" b="0">
                          <a:solidFill>
                            <a:srgbClr val="F2F2F2"/>
                          </a:solidFill>
                          <a:latin typeface="Aptos"/>
                        </a:rPr>
                        <a:t>4.1%</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Israel trucks distributor</a:t>
                      </a:r>
                    </a:p>
                  </a:txBody>
                  <a:tcPr marL="91440" marR="91440" marT="27432" marB="27432" anchor="ctr">
                    <a:solidFill>
                      <a:srgbClr val="303030"/>
                    </a:solidFill>
                  </a:tcPr>
                </a:tc>
                <a:tc>
                  <a:txBody>
                    <a:bodyPr wrap="square"/>
                    <a:lstStyle/>
                    <a:p>
                      <a:pPr algn="r"/>
                      <a:r>
                        <a:rPr sz="1050" b="0">
                          <a:solidFill>
                            <a:srgbClr val="F2F2F2"/>
                          </a:solidFill>
                          <a:latin typeface="Aptos"/>
                        </a:rPr>
                        <a:t>€3.40M</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l"/>
                      <a:r>
                        <a:rPr sz="1050" b="0">
                          <a:solidFill>
                            <a:srgbClr val="F5A000"/>
                          </a:solidFill>
                          <a:latin typeface="Aptos"/>
                        </a:rPr>
                        <a:t>Lighting at today's price</a:t>
                      </a:r>
                    </a:p>
                  </a:txBody>
                  <a:tcPr marL="91440" marR="91440" marT="27432" marB="27432" anchor="ctr">
                    <a:solidFill>
                      <a:srgbClr val="303030"/>
                    </a:solidFill>
                  </a:tcPr>
                </a:tc>
                <a:tc>
                  <a:txBody>
                    <a:bodyPr wrap="square"/>
                    <a:lstStyle/>
                    <a:p>
                      <a:pPr algn="r"/>
                      <a:r>
                        <a:rPr sz="1050" b="0">
                          <a:solidFill>
                            <a:srgbClr val="F2F2F2"/>
                          </a:solidFill>
                          <a:latin typeface="Aptos"/>
                        </a:rPr>
                        <a:t>€8k</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Germany</a:t>
                      </a:r>
                    </a:p>
                  </a:txBody>
                  <a:tcPr marL="91440" marR="91440" marT="27432" marB="27432" anchor="ctr">
                    <a:solidFill>
                      <a:srgbClr val="2B2B2B"/>
                    </a:solidFill>
                  </a:tcPr>
                </a:tc>
                <a:tc>
                  <a:txBody>
                    <a:bodyPr wrap="square"/>
                    <a:lstStyle/>
                    <a:p>
                      <a:pPr algn="r"/>
                      <a:r>
                        <a:rPr sz="1050" b="0">
                          <a:solidFill>
                            <a:srgbClr val="F2F2F2"/>
                          </a:solidFill>
                          <a:latin typeface="Aptos"/>
                        </a:rPr>
                        <a:t>€2.68M</a:t>
                      </a:r>
                    </a:p>
                  </a:txBody>
                  <a:tcPr marL="91440" marR="91440" marT="27432" marB="27432" anchor="ctr">
                    <a:solidFill>
                      <a:srgbClr val="2B2B2B"/>
                    </a:solidFill>
                  </a:tcPr>
                </a:tc>
                <a:tc>
                  <a:txBody>
                    <a:bodyPr wrap="square"/>
                    <a:lstStyle/>
                    <a:p>
                      <a:pPr algn="r"/>
                      <a:r>
                        <a:rPr sz="1050" b="0">
                          <a:solidFill>
                            <a:srgbClr val="F2F2F2"/>
                          </a:solidFill>
                          <a:latin typeface="Aptos"/>
                        </a:rPr>
                        <a:t>14%</a:t>
                      </a:r>
                    </a:p>
                  </a:txBody>
                  <a:tcPr marL="91440" marR="91440" marT="27432" marB="27432" anchor="ctr">
                    <a:solidFill>
                      <a:srgbClr val="2B2B2B"/>
                    </a:solidFill>
                  </a:tcPr>
                </a:tc>
                <a:tc>
                  <a:txBody>
                    <a:bodyPr wrap="square"/>
                    <a:lstStyle/>
                    <a:p>
                      <a:pPr algn="l"/>
                      <a:r>
                        <a:rPr sz="1050" b="0">
                          <a:solidFill>
                            <a:srgbClr val="F5A000"/>
                          </a:solidFill>
                          <a:latin typeface="Aptos"/>
                        </a:rPr>
                        <a:t>Today's price</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€60k</a:t>
                      </a:r>
                    </a:p>
                  </a:txBody>
                  <a:tcPr marL="91440" marR="91440" marT="27432" marB="27432" anchor="ctr">
                    <a:solidFill>
                      <a:srgbClr val="2B2B2B"/>
                    </a:solidFill>
                  </a:tcPr>
                </a:tc>
                <a:tc>
                  <a:txBody>
                    <a:bodyPr wrap="square"/>
                    <a:lstStyle/>
                    <a:p>
                      <a:pPr algn="r"/>
                      <a:r>
                        <a:rPr sz="1050" b="0">
                          <a:solidFill>
                            <a:srgbClr val="F2F2F2"/>
                          </a:solidFill>
                          <a:latin typeface="Aptos"/>
                        </a:rPr>
                        <a:t>4.0%</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Israel D-Max distributor</a:t>
                      </a:r>
                    </a:p>
                  </a:txBody>
                  <a:tcPr marL="91440" marR="91440" marT="27432" marB="27432" anchor="ctr">
                    <a:solidFill>
                      <a:srgbClr val="303030"/>
                    </a:solidFill>
                  </a:tcPr>
                </a:tc>
                <a:tc>
                  <a:txBody>
                    <a:bodyPr wrap="square"/>
                    <a:lstStyle/>
                    <a:p>
                      <a:pPr algn="r"/>
                      <a:r>
                        <a:rPr sz="1050" b="0">
                          <a:solidFill>
                            <a:srgbClr val="F2F2F2"/>
                          </a:solidFill>
                          <a:latin typeface="Aptos"/>
                        </a:rPr>
                        <a:t>€2.43M</a:t>
                      </a:r>
                    </a:p>
                  </a:txBody>
                  <a:tcPr marL="91440" marR="91440" marT="27432" marB="27432" anchor="ctr">
                    <a:solidFill>
                      <a:srgbClr val="303030"/>
                    </a:solidFill>
                  </a:tcPr>
                </a:tc>
                <a:tc>
                  <a:txBody>
                    <a:bodyPr wrap="square"/>
                    <a:lstStyle/>
                    <a:p>
                      <a:pPr algn="r"/>
                      <a:r>
                        <a:rPr sz="1050" b="0">
                          <a:solidFill>
                            <a:srgbClr val="F2F2F2"/>
                          </a:solidFill>
                          <a:latin typeface="Aptos"/>
                        </a:rPr>
                        <a:t>21%</a:t>
                      </a:r>
                    </a:p>
                  </a:txBody>
                  <a:tcPr marL="91440" marR="91440" marT="27432" marB="27432" anchor="ctr">
                    <a:solidFill>
                      <a:srgbClr val="303030"/>
                    </a:solidFill>
                  </a:tcPr>
                </a:tc>
                <a:tc>
                  <a:txBody>
                    <a:bodyPr wrap="square"/>
                    <a:lstStyle/>
                    <a:p>
                      <a:pPr algn="l"/>
                      <a:r>
                        <a:rPr sz="1050" b="0">
                          <a:solidFill>
                            <a:srgbClr val="F5A000"/>
                          </a:solidFill>
                          <a:latin typeface="Aptos"/>
                        </a:rPr>
                        <a:t>Today's price</a:t>
                      </a:r>
                    </a:p>
                  </a:txBody>
                  <a:tcPr marL="91440" marR="91440" marT="27432" marB="27432" anchor="ctr">
                    <a:solidFill>
                      <a:srgbClr val="303030"/>
                    </a:solidFill>
                  </a:tcPr>
                </a:tc>
                <a:tc>
                  <a:txBody>
                    <a:bodyPr wrap="square"/>
                    <a:lstStyle/>
                    <a:p>
                      <a:pPr algn="l"/>
                      <a:r>
                        <a:rPr sz="1050" b="0">
                          <a:solidFill>
                            <a:srgbClr val="F5A000"/>
                          </a:solidFill>
                          <a:latin typeface="Aptos"/>
                        </a:rPr>
                        <a:t>Body, collision, lighting at today's price</a:t>
                      </a:r>
                    </a:p>
                  </a:txBody>
                  <a:tcPr marL="91440" marR="91440" marT="27432" marB="27432" anchor="ctr">
                    <a:solidFill>
                      <a:srgbClr val="303030"/>
                    </a:solidFill>
                  </a:tcPr>
                </a:tc>
                <a:tc>
                  <a:txBody>
                    <a:bodyPr wrap="square"/>
                    <a:lstStyle/>
                    <a:p>
                      <a:pPr algn="r"/>
                      <a:r>
                        <a:rPr sz="1050" b="0">
                          <a:solidFill>
                            <a:srgbClr val="F2F2F2"/>
                          </a:solidFill>
                          <a:latin typeface="Aptos"/>
                        </a:rPr>
                        <a:t>€85k</a:t>
                      </a:r>
                    </a:p>
                  </a:txBody>
                  <a:tcPr marL="91440" marR="91440" marT="27432" marB="27432" anchor="ctr">
                    <a:solidFill>
                      <a:srgbClr val="303030"/>
                    </a:solidFill>
                  </a:tcPr>
                </a:tc>
                <a:tc>
                  <a:txBody>
                    <a:bodyPr wrap="square"/>
                    <a:lstStyle/>
                    <a:p>
                      <a:pPr algn="r"/>
                      <a:r>
                        <a:rPr sz="1050" b="0">
                          <a:solidFill>
                            <a:srgbClr val="F2F2F2"/>
                          </a:solidFill>
                          <a:latin typeface="Aptos"/>
                        </a:rPr>
                        <a:t>2.3%</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Belgium</a:t>
                      </a:r>
                    </a:p>
                  </a:txBody>
                  <a:tcPr marL="91440" marR="91440" marT="27432" marB="27432" anchor="ctr">
                    <a:solidFill>
                      <a:srgbClr val="2B2B2B"/>
                    </a:solidFill>
                  </a:tcPr>
                </a:tc>
                <a:tc>
                  <a:txBody>
                    <a:bodyPr wrap="square"/>
                    <a:lstStyle/>
                    <a:p>
                      <a:pPr algn="r"/>
                      <a:r>
                        <a:rPr sz="1050" b="0">
                          <a:solidFill>
                            <a:srgbClr val="F2F2F2"/>
                          </a:solidFill>
                          <a:latin typeface="Aptos"/>
                        </a:rPr>
                        <a:t>€2.40M</a:t>
                      </a:r>
                    </a:p>
                  </a:txBody>
                  <a:tcPr marL="91440" marR="91440" marT="27432" marB="27432" anchor="ctr">
                    <a:solidFill>
                      <a:srgbClr val="2B2B2B"/>
                    </a:solidFill>
                  </a:tcPr>
                </a:tc>
                <a:tc>
                  <a:txBody>
                    <a:bodyPr wrap="square"/>
                    <a:lstStyle/>
                    <a:p>
                      <a:pPr algn="r"/>
                      <a:r>
                        <a:rPr sz="1050" b="0">
                          <a:solidFill>
                            <a:srgbClr val="F2F2F2"/>
                          </a:solidFill>
                          <a:latin typeface="Aptos"/>
                        </a:rPr>
                        <a:t>26%</a:t>
                      </a:r>
                    </a:p>
                  </a:txBody>
                  <a:tcPr marL="91440" marR="91440" marT="27432" marB="27432" anchor="ctr">
                    <a:solidFill>
                      <a:srgbClr val="2B2B2B"/>
                    </a:solidFill>
                  </a:tcPr>
                </a:tc>
                <a:tc>
                  <a:txBody>
                    <a:bodyPr wrap="square"/>
                    <a:lstStyle/>
                    <a:p>
                      <a:pPr algn="l"/>
                      <a:r>
                        <a:rPr sz="1050" b="0">
                          <a:solidFill>
                            <a:srgbClr val="F5A000"/>
                          </a:solidFill>
                          <a:latin typeface="Aptos"/>
                        </a:rPr>
                        <a:t>Today's price</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€45k</a:t>
                      </a:r>
                    </a:p>
                  </a:txBody>
                  <a:tcPr marL="91440" marR="91440" marT="27432" marB="27432" anchor="ctr">
                    <a:solidFill>
                      <a:srgbClr val="2B2B2B"/>
                    </a:solidFill>
                  </a:tcPr>
                </a:tc>
                <a:tc>
                  <a:txBody>
                    <a:bodyPr wrap="square"/>
                    <a:lstStyle/>
                    <a:p>
                      <a:pPr algn="r"/>
                      <a:r>
                        <a:rPr sz="1050" b="0">
                          <a:solidFill>
                            <a:srgbClr val="F2F2F2"/>
                          </a:solidFill>
                          <a:latin typeface="Aptos"/>
                        </a:rPr>
                        <a:t>5.4%</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Portugal</a:t>
                      </a:r>
                    </a:p>
                  </a:txBody>
                  <a:tcPr marL="91440" marR="91440" marT="27432" marB="27432" anchor="ctr">
                    <a:solidFill>
                      <a:srgbClr val="303030"/>
                    </a:solidFill>
                  </a:tcPr>
                </a:tc>
                <a:tc>
                  <a:txBody>
                    <a:bodyPr wrap="square"/>
                    <a:lstStyle/>
                    <a:p>
                      <a:pPr algn="r"/>
                      <a:r>
                        <a:rPr sz="1050" b="0">
                          <a:solidFill>
                            <a:srgbClr val="F2F2F2"/>
                          </a:solidFill>
                          <a:latin typeface="Aptos"/>
                        </a:rPr>
                        <a:t>€1.81M</a:t>
                      </a:r>
                    </a:p>
                  </a:txBody>
                  <a:tcPr marL="91440" marR="91440" marT="27432" marB="27432" anchor="ctr">
                    <a:solidFill>
                      <a:srgbClr val="303030"/>
                    </a:solidFill>
                  </a:tcPr>
                </a:tc>
                <a:tc>
                  <a:txBody>
                    <a:bodyPr wrap="square"/>
                    <a:lstStyle/>
                    <a:p>
                      <a:pPr algn="r"/>
                      <a:r>
                        <a:rPr sz="1050" b="0">
                          <a:solidFill>
                            <a:srgbClr val="F2F2F2"/>
                          </a:solidFill>
                          <a:latin typeface="Aptos"/>
                        </a:rPr>
                        <a:t>30%</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r"/>
                      <a:r>
                        <a:rPr sz="1050" b="0">
                          <a:solidFill>
                            <a:srgbClr val="F2F2F2"/>
                          </a:solidFill>
                          <a:latin typeface="Aptos"/>
                        </a:rPr>
                        <a:t>–</a:t>
                      </a:r>
                    </a:p>
                  </a:txBody>
                  <a:tcPr marL="91440" marR="91440" marT="27432" marB="27432" anchor="ctr">
                    <a:solidFill>
                      <a:srgbClr val="303030"/>
                    </a:solidFill>
                  </a:tcPr>
                </a:tc>
                <a:tc>
                  <a:txBody>
                    <a:bodyPr wrap="square"/>
                    <a:lstStyle/>
                    <a:p>
                      <a:pPr algn="r"/>
                      <a:r>
                        <a:rPr sz="1050" b="0">
                          <a:solidFill>
                            <a:srgbClr val="F2F2F2"/>
                          </a:solidFill>
                          <a:latin typeface="Aptos"/>
                        </a:rPr>
                        <a:t>6.3%</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Norway</a:t>
                      </a:r>
                    </a:p>
                  </a:txBody>
                  <a:tcPr marL="91440" marR="91440" marT="27432" marB="27432" anchor="ctr">
                    <a:solidFill>
                      <a:srgbClr val="2B2B2B"/>
                    </a:solidFill>
                  </a:tcPr>
                </a:tc>
                <a:tc>
                  <a:txBody>
                    <a:bodyPr wrap="square"/>
                    <a:lstStyle/>
                    <a:p>
                      <a:pPr algn="r"/>
                      <a:r>
                        <a:rPr sz="1050" b="0">
                          <a:solidFill>
                            <a:srgbClr val="F2F2F2"/>
                          </a:solidFill>
                          <a:latin typeface="Aptos"/>
                        </a:rPr>
                        <a:t>€1.42M</a:t>
                      </a:r>
                    </a:p>
                  </a:txBody>
                  <a:tcPr marL="91440" marR="91440" marT="27432" marB="27432" anchor="ctr">
                    <a:solidFill>
                      <a:srgbClr val="2B2B2B"/>
                    </a:solidFill>
                  </a:tcPr>
                </a:tc>
                <a:tc>
                  <a:txBody>
                    <a:bodyPr wrap="square"/>
                    <a:lstStyle/>
                    <a:p>
                      <a:pPr algn="r"/>
                      <a:r>
                        <a:rPr sz="1050" b="0">
                          <a:solidFill>
                            <a:srgbClr val="F2F2F2"/>
                          </a:solidFill>
                          <a:latin typeface="Aptos"/>
                        </a:rPr>
                        <a:t>27%</a:t>
                      </a:r>
                    </a:p>
                  </a:txBody>
                  <a:tcPr marL="91440" marR="91440" marT="27432" marB="27432" anchor="ctr">
                    <a:solidFill>
                      <a:srgbClr val="2B2B2B"/>
                    </a:solidFill>
                  </a:tcPr>
                </a:tc>
                <a:tc>
                  <a:txBody>
                    <a:bodyPr wrap="square"/>
                    <a:lstStyle/>
                    <a:p>
                      <a:pPr algn="l"/>
                      <a:r>
                        <a:rPr sz="1050" b="0">
                          <a:solidFill>
                            <a:srgbClr val="F5A000"/>
                          </a:solidFill>
                          <a:latin typeface="Aptos"/>
                        </a:rPr>
                        <a:t>Today's price</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€24k</a:t>
                      </a:r>
                    </a:p>
                  </a:txBody>
                  <a:tcPr marL="91440" marR="91440" marT="27432" marB="27432" anchor="ctr">
                    <a:solidFill>
                      <a:srgbClr val="2B2B2B"/>
                    </a:solidFill>
                  </a:tcPr>
                </a:tc>
                <a:tc>
                  <a:txBody>
                    <a:bodyPr wrap="square"/>
                    <a:lstStyle/>
                    <a:p>
                      <a:pPr algn="r"/>
                      <a:r>
                        <a:rPr sz="1050" b="0">
                          <a:solidFill>
                            <a:srgbClr val="F2F2F2"/>
                          </a:solidFill>
                          <a:latin typeface="Aptos"/>
                        </a:rPr>
                        <a:t>4.6%</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Sweden</a:t>
                      </a:r>
                    </a:p>
                  </a:txBody>
                  <a:tcPr marL="91440" marR="91440" marT="27432" marB="27432" anchor="ctr">
                    <a:solidFill>
                      <a:srgbClr val="303030"/>
                    </a:solidFill>
                  </a:tcPr>
                </a:tc>
                <a:tc>
                  <a:txBody>
                    <a:bodyPr wrap="square"/>
                    <a:lstStyle/>
                    <a:p>
                      <a:pPr algn="r"/>
                      <a:r>
                        <a:rPr sz="1050" b="0">
                          <a:solidFill>
                            <a:srgbClr val="F2F2F2"/>
                          </a:solidFill>
                          <a:latin typeface="Aptos"/>
                        </a:rPr>
                        <a:t>€1.28M</a:t>
                      </a:r>
                    </a:p>
                  </a:txBody>
                  <a:tcPr marL="91440" marR="91440" marT="27432" marB="27432" anchor="ctr">
                    <a:solidFill>
                      <a:srgbClr val="303030"/>
                    </a:solidFill>
                  </a:tcPr>
                </a:tc>
                <a:tc>
                  <a:txBody>
                    <a:bodyPr wrap="square"/>
                    <a:lstStyle/>
                    <a:p>
                      <a:pPr algn="r"/>
                      <a:r>
                        <a:rPr sz="1050" b="0">
                          <a:solidFill>
                            <a:srgbClr val="F2F2F2"/>
                          </a:solidFill>
                          <a:latin typeface="Aptos"/>
                        </a:rPr>
                        <a:t>24%</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r"/>
                      <a:r>
                        <a:rPr sz="1050" b="0">
                          <a:solidFill>
                            <a:srgbClr val="F2F2F2"/>
                          </a:solidFill>
                          <a:latin typeface="Aptos"/>
                        </a:rPr>
                        <a:t>–</a:t>
                      </a:r>
                    </a:p>
                  </a:txBody>
                  <a:tcPr marL="91440" marR="91440" marT="27432" marB="27432" anchor="ctr">
                    <a:solidFill>
                      <a:srgbClr val="303030"/>
                    </a:solidFill>
                  </a:tcPr>
                </a:tc>
                <a:tc>
                  <a:txBody>
                    <a:bodyPr wrap="square"/>
                    <a:lstStyle/>
                    <a:p>
                      <a:pPr algn="r"/>
                      <a:r>
                        <a:rPr sz="1050" b="0">
                          <a:solidFill>
                            <a:srgbClr val="F2F2F2"/>
                          </a:solidFill>
                          <a:latin typeface="Aptos"/>
                        </a:rPr>
                        <a:t>7.1%</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Ireland</a:t>
                      </a:r>
                    </a:p>
                  </a:txBody>
                  <a:tcPr marL="91440" marR="91440" marT="27432" marB="27432" anchor="ctr">
                    <a:solidFill>
                      <a:srgbClr val="2B2B2B"/>
                    </a:solidFill>
                  </a:tcPr>
                </a:tc>
                <a:tc>
                  <a:txBody>
                    <a:bodyPr wrap="square"/>
                    <a:lstStyle/>
                    <a:p>
                      <a:pPr algn="r"/>
                      <a:r>
                        <a:rPr sz="1050" b="0">
                          <a:solidFill>
                            <a:srgbClr val="F2F2F2"/>
                          </a:solidFill>
                          <a:latin typeface="Aptos"/>
                        </a:rPr>
                        <a:t>€1.08M</a:t>
                      </a:r>
                    </a:p>
                  </a:txBody>
                  <a:tcPr marL="91440" marR="91440" marT="27432" marB="27432" anchor="ctr">
                    <a:solidFill>
                      <a:srgbClr val="2B2B2B"/>
                    </a:solidFill>
                  </a:tcPr>
                </a:tc>
                <a:tc>
                  <a:txBody>
                    <a:bodyPr wrap="square"/>
                    <a:lstStyle/>
                    <a:p>
                      <a:pPr algn="r"/>
                      <a:r>
                        <a:rPr sz="1050" b="0">
                          <a:solidFill>
                            <a:srgbClr val="F2F2F2"/>
                          </a:solidFill>
                          <a:latin typeface="Aptos"/>
                        </a:rPr>
                        <a:t>100%*</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a:t>
                      </a:r>
                    </a:p>
                  </a:txBody>
                  <a:tcPr marL="91440" marR="91440" marT="27432" marB="27432" anchor="ctr">
                    <a:solidFill>
                      <a:srgbClr val="2B2B2B"/>
                    </a:solidFill>
                  </a:tcPr>
                </a:tc>
                <a:tc>
                  <a:txBody>
                    <a:bodyPr wrap="square"/>
                    <a:lstStyle/>
                    <a:p>
                      <a:pPr algn="r"/>
                      <a:r>
                        <a:rPr sz="1050" b="0">
                          <a:solidFill>
                            <a:srgbClr val="F2F2F2"/>
                          </a:solidFill>
                          <a:latin typeface="Aptos"/>
                        </a:rPr>
                        <a:t>6.3%</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Cyprus</a:t>
                      </a:r>
                    </a:p>
                  </a:txBody>
                  <a:tcPr marL="91440" marR="91440" marT="27432" marB="27432" anchor="ctr">
                    <a:solidFill>
                      <a:srgbClr val="303030"/>
                    </a:solidFill>
                  </a:tcPr>
                </a:tc>
                <a:tc>
                  <a:txBody>
                    <a:bodyPr wrap="square"/>
                    <a:lstStyle/>
                    <a:p>
                      <a:pPr algn="r"/>
                      <a:r>
                        <a:rPr sz="1050" b="0">
                          <a:solidFill>
                            <a:srgbClr val="F2F2F2"/>
                          </a:solidFill>
                          <a:latin typeface="Aptos"/>
                        </a:rPr>
                        <a:t>€0.41M</a:t>
                      </a:r>
                    </a:p>
                  </a:txBody>
                  <a:tcPr marL="91440" marR="91440" marT="27432" marB="27432" anchor="ctr">
                    <a:solidFill>
                      <a:srgbClr val="303030"/>
                    </a:solidFill>
                  </a:tcPr>
                </a:tc>
                <a:tc>
                  <a:txBody>
                    <a:bodyPr wrap="square"/>
                    <a:lstStyle/>
                    <a:p>
                      <a:pPr algn="r"/>
                      <a:r>
                        <a:rPr sz="1050" b="0">
                          <a:solidFill>
                            <a:srgbClr val="F2F2F2"/>
                          </a:solidFill>
                          <a:latin typeface="Aptos"/>
                        </a:rPr>
                        <a:t>50%</a:t>
                      </a:r>
                    </a:p>
                  </a:txBody>
                  <a:tcPr marL="91440" marR="91440" marT="27432" marB="27432" anchor="ctr">
                    <a:solidFill>
                      <a:srgbClr val="303030"/>
                    </a:solidFill>
                  </a:tcPr>
                </a:tc>
                <a:tc>
                  <a:txBody>
                    <a:bodyPr wrap="square"/>
                    <a:lstStyle/>
                    <a:p>
                      <a:pPr algn="l"/>
                      <a:r>
                        <a:rPr sz="1050" b="0">
                          <a:solidFill>
                            <a:srgbClr val="F5A000"/>
                          </a:solidFill>
                          <a:latin typeface="Aptos"/>
                        </a:rPr>
                        <a:t>Today's price</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r"/>
                      <a:r>
                        <a:rPr sz="1050" b="0">
                          <a:solidFill>
                            <a:srgbClr val="F2F2F2"/>
                          </a:solidFill>
                          <a:latin typeface="Aptos"/>
                        </a:rPr>
                        <a:t>€9k</a:t>
                      </a:r>
                    </a:p>
                  </a:txBody>
                  <a:tcPr marL="91440" marR="91440" marT="27432" marB="27432" anchor="ctr">
                    <a:solidFill>
                      <a:srgbClr val="303030"/>
                    </a:solidFill>
                  </a:tcPr>
                </a:tc>
                <a:tc>
                  <a:txBody>
                    <a:bodyPr wrap="square"/>
                    <a:lstStyle/>
                    <a:p>
                      <a:pPr algn="r"/>
                      <a:r>
                        <a:rPr sz="1050" b="0">
                          <a:solidFill>
                            <a:srgbClr val="F2F2F2"/>
                          </a:solidFill>
                          <a:latin typeface="Aptos"/>
                        </a:rPr>
                        <a:t>4.2%</a:t>
                      </a:r>
                    </a:p>
                  </a:txBody>
                  <a:tcPr marL="91440" marR="91440" marT="27432" marB="27432" anchor="ctr">
                    <a:solidFill>
                      <a:srgbClr val="303030"/>
                    </a:solidFill>
                  </a:tcPr>
                </a:tc>
              </a:tr>
              <a:tr h="274320">
                <a:tc>
                  <a:txBody>
                    <a:bodyPr wrap="square"/>
                    <a:lstStyle/>
                    <a:p>
                      <a:pPr algn="l"/>
                      <a:r>
                        <a:rPr sz="1050" b="1">
                          <a:solidFill>
                            <a:srgbClr val="F2F2F2"/>
                          </a:solidFill>
                          <a:latin typeface="Aptos"/>
                        </a:rPr>
                        <a:t>Hungary</a:t>
                      </a:r>
                    </a:p>
                  </a:txBody>
                  <a:tcPr marL="91440" marR="91440" marT="27432" marB="27432" anchor="ctr">
                    <a:solidFill>
                      <a:srgbClr val="2B2B2B"/>
                    </a:solidFill>
                  </a:tcPr>
                </a:tc>
                <a:tc>
                  <a:txBody>
                    <a:bodyPr wrap="square"/>
                    <a:lstStyle/>
                    <a:p>
                      <a:pPr algn="r"/>
                      <a:r>
                        <a:rPr sz="1050" b="0">
                          <a:solidFill>
                            <a:srgbClr val="F2F2F2"/>
                          </a:solidFill>
                          <a:latin typeface="Aptos"/>
                        </a:rPr>
                        <a:t>€0.33M</a:t>
                      </a:r>
                    </a:p>
                  </a:txBody>
                  <a:tcPr marL="91440" marR="91440" marT="27432" marB="27432" anchor="ctr">
                    <a:solidFill>
                      <a:srgbClr val="2B2B2B"/>
                    </a:solidFill>
                  </a:tcPr>
                </a:tc>
                <a:tc>
                  <a:txBody>
                    <a:bodyPr wrap="square"/>
                    <a:lstStyle/>
                    <a:p>
                      <a:pPr algn="r"/>
                      <a:r>
                        <a:rPr sz="1050" b="0">
                          <a:solidFill>
                            <a:srgbClr val="F2F2F2"/>
                          </a:solidFill>
                          <a:latin typeface="Aptos"/>
                        </a:rPr>
                        <a:t>19%</a:t>
                      </a:r>
                    </a:p>
                  </a:txBody>
                  <a:tcPr marL="91440" marR="91440" marT="27432" marB="27432" anchor="ctr">
                    <a:solidFill>
                      <a:srgbClr val="2B2B2B"/>
                    </a:solidFill>
                  </a:tcPr>
                </a:tc>
                <a:tc>
                  <a:txBody>
                    <a:bodyPr wrap="square"/>
                    <a:lstStyle/>
                    <a:p>
                      <a:pPr algn="l"/>
                      <a:r>
                        <a:rPr sz="1050" b="0">
                          <a:solidFill>
                            <a:srgbClr val="F5A000"/>
                          </a:solidFill>
                          <a:latin typeface="Aptos"/>
                        </a:rPr>
                        <a:t>Today's price</a:t>
                      </a:r>
                    </a:p>
                  </a:txBody>
                  <a:tcPr marL="91440" marR="91440" marT="27432" marB="27432" anchor="ctr">
                    <a:solidFill>
                      <a:srgbClr val="2B2B2B"/>
                    </a:solidFill>
                  </a:tcPr>
                </a:tc>
                <a:tc>
                  <a:txBody>
                    <a:bodyPr wrap="square"/>
                    <a:lstStyle/>
                    <a:p>
                      <a:pPr algn="l"/>
                      <a:r>
                        <a:rPr sz="1050" b="0">
                          <a:solidFill>
                            <a:srgbClr val="F2F2F2"/>
                          </a:solidFill>
                          <a:latin typeface="Aptos"/>
                        </a:rPr>
                        <a:t>Follows IML/IMIT</a:t>
                      </a:r>
                    </a:p>
                  </a:txBody>
                  <a:tcPr marL="91440" marR="91440" marT="27432" marB="27432" anchor="ctr">
                    <a:solidFill>
                      <a:srgbClr val="2B2B2B"/>
                    </a:solidFill>
                  </a:tcPr>
                </a:tc>
                <a:tc>
                  <a:txBody>
                    <a:bodyPr wrap="square"/>
                    <a:lstStyle/>
                    <a:p>
                      <a:pPr algn="r"/>
                      <a:r>
                        <a:rPr sz="1050" b="0">
                          <a:solidFill>
                            <a:srgbClr val="F2F2F2"/>
                          </a:solidFill>
                          <a:latin typeface="Aptos"/>
                        </a:rPr>
                        <a:t>€5k</a:t>
                      </a:r>
                    </a:p>
                  </a:txBody>
                  <a:tcPr marL="91440" marR="91440" marT="27432" marB="27432" anchor="ctr">
                    <a:solidFill>
                      <a:srgbClr val="2B2B2B"/>
                    </a:solidFill>
                  </a:tcPr>
                </a:tc>
                <a:tc>
                  <a:txBody>
                    <a:bodyPr wrap="square"/>
                    <a:lstStyle/>
                    <a:p>
                      <a:pPr algn="r"/>
                      <a:r>
                        <a:rPr sz="1050" b="0">
                          <a:solidFill>
                            <a:srgbClr val="F2F2F2"/>
                          </a:solidFill>
                          <a:latin typeface="Aptos"/>
                        </a:rPr>
                        <a:t>4.1%</a:t>
                      </a:r>
                    </a:p>
                  </a:txBody>
                  <a:tcPr marL="91440" marR="91440" marT="27432" marB="27432" anchor="ctr">
                    <a:solidFill>
                      <a:srgbClr val="2B2B2B"/>
                    </a:solidFill>
                  </a:tcPr>
                </a:tc>
              </a:tr>
              <a:tr h="274320">
                <a:tc>
                  <a:txBody>
                    <a:bodyPr wrap="square"/>
                    <a:lstStyle/>
                    <a:p>
                      <a:pPr algn="l"/>
                      <a:r>
                        <a:rPr sz="1050" b="1">
                          <a:solidFill>
                            <a:srgbClr val="F2F2F2"/>
                          </a:solidFill>
                          <a:latin typeface="Aptos"/>
                        </a:rPr>
                        <a:t>Malta</a:t>
                      </a:r>
                    </a:p>
                  </a:txBody>
                  <a:tcPr marL="91440" marR="91440" marT="27432" marB="27432" anchor="ctr">
                    <a:solidFill>
                      <a:srgbClr val="303030"/>
                    </a:solidFill>
                  </a:tcPr>
                </a:tc>
                <a:tc>
                  <a:txBody>
                    <a:bodyPr wrap="square"/>
                    <a:lstStyle/>
                    <a:p>
                      <a:pPr algn="r"/>
                      <a:r>
                        <a:rPr sz="1050" b="0">
                          <a:solidFill>
                            <a:srgbClr val="F2F2F2"/>
                          </a:solidFill>
                          <a:latin typeface="Aptos"/>
                        </a:rPr>
                        <a:t>€0.20M</a:t>
                      </a:r>
                    </a:p>
                  </a:txBody>
                  <a:tcPr marL="91440" marR="91440" marT="27432" marB="27432" anchor="ctr">
                    <a:solidFill>
                      <a:srgbClr val="303030"/>
                    </a:solidFill>
                  </a:tcPr>
                </a:tc>
                <a:tc>
                  <a:txBody>
                    <a:bodyPr wrap="square"/>
                    <a:lstStyle/>
                    <a:p>
                      <a:pPr algn="r"/>
                      <a:r>
                        <a:rPr sz="1050" b="0">
                          <a:solidFill>
                            <a:srgbClr val="F2F2F2"/>
                          </a:solidFill>
                          <a:latin typeface="Aptos"/>
                        </a:rPr>
                        <a:t>33%</a:t>
                      </a:r>
                    </a:p>
                  </a:txBody>
                  <a:tcPr marL="91440" marR="91440" marT="27432" marB="27432" anchor="ctr">
                    <a:solidFill>
                      <a:srgbClr val="303030"/>
                    </a:solidFill>
                  </a:tcPr>
                </a:tc>
                <a:tc>
                  <a:txBody>
                    <a:bodyPr wrap="square"/>
                    <a:lstStyle/>
                    <a:p>
                      <a:pPr algn="l"/>
                      <a:r>
                        <a:rPr sz="1050" b="0">
                          <a:solidFill>
                            <a:srgbClr val="F5A000"/>
                          </a:solidFill>
                          <a:latin typeface="Aptos"/>
                        </a:rPr>
                        <a:t>Today's price</a:t>
                      </a:r>
                    </a:p>
                  </a:txBody>
                  <a:tcPr marL="91440" marR="91440" marT="27432" marB="27432" anchor="ctr">
                    <a:solidFill>
                      <a:srgbClr val="303030"/>
                    </a:solidFill>
                  </a:tcPr>
                </a:tc>
                <a:tc>
                  <a:txBody>
                    <a:bodyPr wrap="square"/>
                    <a:lstStyle/>
                    <a:p>
                      <a:pPr algn="l"/>
                      <a:r>
                        <a:rPr sz="1050" b="0">
                          <a:solidFill>
                            <a:srgbClr val="F2F2F2"/>
                          </a:solidFill>
                          <a:latin typeface="Aptos"/>
                        </a:rPr>
                        <a:t>Follows IML/IMIT</a:t>
                      </a:r>
                    </a:p>
                  </a:txBody>
                  <a:tcPr marL="91440" marR="91440" marT="27432" marB="27432" anchor="ctr">
                    <a:solidFill>
                      <a:srgbClr val="303030"/>
                    </a:solidFill>
                  </a:tcPr>
                </a:tc>
                <a:tc>
                  <a:txBody>
                    <a:bodyPr wrap="square"/>
                    <a:lstStyle/>
                    <a:p>
                      <a:pPr algn="r"/>
                      <a:r>
                        <a:rPr sz="1050" b="0">
                          <a:solidFill>
                            <a:srgbClr val="F2F2F2"/>
                          </a:solidFill>
                          <a:latin typeface="Aptos"/>
                        </a:rPr>
                        <a:t>€3k</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r>
            </a:tbl>
          </a:graphicData>
        </a:graphic>
      </p:graphicFrame>
      <p:sp>
        <p:nvSpPr>
          <p:cNvPr id="10" name="band_bg"/>
          <p:cNvSpPr/>
          <p:nvPr/>
        </p:nvSpPr>
        <p:spPr>
          <a:xfrm>
            <a:off x="228600" y="5989320"/>
            <a:ext cx="11731752" cy="475488"/>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nd"/>
          <p:cNvSpPr txBox="1"/>
          <p:nvPr/>
        </p:nvSpPr>
        <p:spPr>
          <a:xfrm>
            <a:off x="457200" y="5989320"/>
            <a:ext cx="11274552" cy="475488"/>
          </a:xfrm>
          <a:prstGeom prst="rect">
            <a:avLst/>
          </a:prstGeom>
          <a:noFill/>
        </p:spPr>
        <p:txBody>
          <a:bodyPr wrap="square" anchor="ctr" lIns="0" rIns="0" tIns="0" bIns="0"/>
          <a:lstStyle/>
          <a:p>
            <a:pPr algn="l"/>
            <a:r>
              <a:rPr sz="1050" b="1" i="0">
                <a:solidFill>
                  <a:srgbClr val="F2F2F2"/>
                </a:solidFill>
                <a:latin typeface="Aptos"/>
              </a:rPr>
              <a:t>Not shown: </a:t>
            </a:r>
            <a:r>
              <a:rPr sz="1050" b="0" i="0">
                <a:solidFill>
                  <a:srgbClr val="F2F2F2"/>
                </a:solidFill>
                <a:latin typeface="Aptos"/>
              </a:rPr>
              <a:t>Ukraine, Greece, Finland, Romania, Denmark, Iceland and Palestine follow IML/IMIT (+5.3% to +7.3% after decisions). Armenia and Kazakhstan are left out of the market decisions and take their own increase only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THE €389K IS RECOVERED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The €389k is recovered on repair and body parts with no aftermarket alternative found</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Three ways were compared. All three land on exactly €1,629,793. The decided way is the middle one.</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Decided way re-checked in the workbook; ways (a) and (c) from paper section 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8</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have alternatives: filters, pads, discs and clutches are sold by aftermarket brands. The decided way puts nothing extra on them; way (a) would put €137k back.</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Outside price data is too thin to weight part by part: an aftermarket price exists for 21% of parts billed. Way (c) is a choice of weights, not a measurement.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Way (a) pushes hardest on the parts IML and IMIT raised most: 56 parts reach the ceiling of their own increase plus 5 points, against 5 under the decided way.</a:t>
            </a:r>
          </a:p>
        </p:txBody>
      </p:sp>
      <p:sp>
        <p:nvSpPr>
          <p:cNvPr id="17" name="TextBox 16"/>
          <p:cNvSpPr txBox="1"/>
          <p:nvPr/>
        </p:nvSpPr>
        <p:spPr>
          <a:xfrm>
            <a:off x="228600" y="1810512"/>
            <a:ext cx="4206240" cy="274320"/>
          </a:xfrm>
          <a:prstGeom prst="rect">
            <a:avLst/>
          </a:prstGeom>
          <a:noFill/>
        </p:spPr>
        <p:txBody>
          <a:bodyPr wrap="square" anchor="t" lIns="0" rIns="0" tIns="0" bIns="0"/>
          <a:lstStyle/>
          <a:p>
            <a:pPr algn="l"/>
            <a:r>
              <a:rPr sz="1100" b="1" i="0">
                <a:solidFill>
                  <a:srgbClr val="F2F2F2"/>
                </a:solidFill>
                <a:latin typeface="Aptos"/>
              </a:rPr>
              <a:t>The total stays +5.00%, € million</a:t>
            </a:r>
          </a:p>
        </p:txBody>
      </p:sp>
      <p:graphicFrame>
        <p:nvGraphicFramePr>
          <p:cNvPr id="18" name="chart_waterfall2"/>
          <p:cNvGraphicFramePr>
            <a:graphicFrameLocks noGrp="1"/>
          </p:cNvGraphicFramePr>
          <p:nvPr/>
        </p:nvGraphicFramePr>
        <p:xfrm>
          <a:off x="228600" y="2103120"/>
          <a:ext cx="4160520" cy="4160520"/>
        </p:xfrm>
        <a:graphic>
          <a:graphicData uri="http://schemas.openxmlformats.org/drawingml/2006/chart">
            <c:chart xmlns:c="http://schemas.openxmlformats.org/drawingml/2006/chart" r:id="rId2"/>
          </a:graphicData>
        </a:graphic>
      </p:graphicFrame>
      <p:sp>
        <p:nvSpPr>
          <p:cNvPr id="19" name="TextBox 18"/>
          <p:cNvSpPr txBox="1"/>
          <p:nvPr/>
        </p:nvSpPr>
        <p:spPr>
          <a:xfrm>
            <a:off x="4617720" y="1810512"/>
            <a:ext cx="4206240" cy="274320"/>
          </a:xfrm>
          <a:prstGeom prst="rect">
            <a:avLst/>
          </a:prstGeom>
          <a:noFill/>
        </p:spPr>
        <p:txBody>
          <a:bodyPr wrap="square" anchor="t" lIns="0" rIns="0" tIns="0" bIns="0"/>
          <a:lstStyle/>
          <a:p>
            <a:pPr algn="l"/>
            <a:r>
              <a:rPr sz="1100" b="1" i="0">
                <a:solidFill>
                  <a:srgbClr val="F2F2F2"/>
                </a:solidFill>
                <a:latin typeface="Aptos"/>
              </a:rPr>
              <a:t>Extra by part group under each way, € thousand</a:t>
            </a:r>
          </a:p>
        </p:txBody>
      </p:sp>
      <p:graphicFrame>
        <p:nvGraphicFramePr>
          <p:cNvPr id="20" name="chart_ways"/>
          <p:cNvGraphicFramePr>
            <a:graphicFrameLocks noGrp="1"/>
          </p:cNvGraphicFramePr>
          <p:nvPr/>
        </p:nvGraphicFramePr>
        <p:xfrm>
          <a:off x="4617720" y="2103120"/>
          <a:ext cx="4206240" cy="416052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WHAT IT DOES TO EACH PART GROUP</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Service parts rise 2.3% on average, repair parts 8.7% and body and collision parts 9.2%</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over all lines, including those kept at today's price. Parts billed July 2025 – June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Averages recomputed from the workbook's line-by-line sheet.</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9</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fall from 4.2% to 2.3% because they carry the market decisions and nothing extra.</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A typical repair or body part with no aftermarket alternative found rises about 10.1% instead of about 6.3%.</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Market decisions sit mostly on D-Max markets: D-Max parts average 4.8% and truck parts 5.8% (before the decisions 5.1% and 5.2%).</a:t>
            </a:r>
          </a:p>
        </p:txBody>
      </p:sp>
      <p:graphicFrame>
        <p:nvGraphicFramePr>
          <p:cNvPr id="17" name="chart_groups"/>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OPEN DECISION</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Isuzu UK (D-Max) bought measurably less after the April 2026 rise. Should it carry the extra?</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by market, %: before the market decisions, as decided, and with Isuzu UK (D-Max) exempted.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Paper sections 4 and 7: dealer response from sales-to-dealer files, April–July 2025 against 2026; averages recomputed from the +5% workbook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10</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Isuzu UK (D−Max) dealers bought less after the April 2026 rise: −1.08 (±0.90). For every 1% a part rose more than similar parts, they bought about 1% fewer. Dealer units fell 6.5% against the same months of 2025.</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extra puts €91k on its repair and body parts. Exempting it moves that to the other markets, which then carry +4.8 points instead of +3.7. The total stays €1,629,793.</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Decision: exempt Isuzu UK (D-Max) from the recovery extra, or not. Suggested, not decided.</a:t>
            </a:r>
          </a:p>
        </p:txBody>
      </p:sp>
      <p:graphicFrame>
        <p:nvGraphicFramePr>
          <p:cNvPr id="17" name="chart_exempt"/>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OUTSIDE PRICE EVIDENCE</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Outside prices cover too few parts to set prices part by part. They mostly say where to hold</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Share of parts billed with each kind of evidence. Aftermarket brands are mostly cheaper than us, outside genuine parts dearer.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Paper section 8: price observations as of 2 October 2026 (aftermarket web shops, brand recommended retail prices, genuine parts sold outside the network; VAT removed, median per part).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11</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“No aftermarket alternative found” mostly means none was found, not that none exists. Only 294 parts have any competitor evidence at all.</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Where we do have aftermarket prices they sit at a median 0.56 times our reference dealer price (weighted by parts billed 0.44). The data mostly names parts to keep at today's price, not parts to raise.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We do not have distributor or dealer resale prices. The reference dealer price is a construction on a provisional basis.</a:t>
            </a:r>
          </a:p>
        </p:txBody>
      </p:sp>
      <p:graphicFrame>
        <p:nvGraphicFramePr>
          <p:cNvPr id="17" name="chart_evidence"/>
          <p:cNvGraphicFramePr>
            <a:graphicFrameLocks noGrp="1"/>
          </p:cNvGraphicFramePr>
          <p:nvPr/>
        </p:nvGraphicFramePr>
        <p:xfrm>
          <a:off x="228600" y="2011680"/>
          <a:ext cx="5669280" cy="3657600"/>
        </p:xfrm>
        <a:graphic>
          <a:graphicData uri="http://schemas.openxmlformats.org/drawingml/2006/chart">
            <c:chart xmlns:c="http://schemas.openxmlformats.org/drawingml/2006/chart" r:id="rId2"/>
          </a:graphicData>
        </a:graphic>
      </p:graphicFrame>
      <p:sp>
        <p:nvSpPr>
          <p:cNvPr id="18" name="kpi_v"/>
          <p:cNvSpPr txBox="1"/>
          <p:nvPr/>
        </p:nvSpPr>
        <p:spPr>
          <a:xfrm>
            <a:off x="6172200" y="2103120"/>
            <a:ext cx="2651760" cy="457200"/>
          </a:xfrm>
          <a:prstGeom prst="rect">
            <a:avLst/>
          </a:prstGeom>
          <a:noFill/>
        </p:spPr>
        <p:txBody>
          <a:bodyPr wrap="square" anchor="t" lIns="0" rIns="0" tIns="0" bIns="0"/>
          <a:lstStyle/>
          <a:p>
            <a:pPr algn="l"/>
            <a:r>
              <a:rPr sz="2800" b="1" i="0">
                <a:solidFill>
                  <a:srgbClr val="F2F2F2"/>
                </a:solidFill>
                <a:latin typeface="Aptos"/>
              </a:rPr>
              <a:t>0.56×</a:t>
            </a:r>
          </a:p>
        </p:txBody>
      </p:sp>
      <p:sp>
        <p:nvSpPr>
          <p:cNvPr id="19" name="kpi_l"/>
          <p:cNvSpPr txBox="1"/>
          <p:nvPr/>
        </p:nvSpPr>
        <p:spPr>
          <a:xfrm>
            <a:off x="6172200" y="2606039"/>
            <a:ext cx="2651760" cy="548639"/>
          </a:xfrm>
          <a:prstGeom prst="rect">
            <a:avLst/>
          </a:prstGeom>
          <a:noFill/>
        </p:spPr>
        <p:txBody>
          <a:bodyPr wrap="square" anchor="t" lIns="0" rIns="0" tIns="0" bIns="0"/>
          <a:lstStyle/>
          <a:p>
            <a:pPr algn="l"/>
            <a:r>
              <a:rPr sz="1000" b="0" i="0">
                <a:solidFill>
                  <a:srgbClr val="BDBDBD"/>
                </a:solidFill>
                <a:latin typeface="Aptos"/>
              </a:rPr>
              <a:t>aftermarket shop price against our reference dealer price, median of 266 parts</a:t>
            </a:r>
          </a:p>
        </p:txBody>
      </p:sp>
      <p:sp>
        <p:nvSpPr>
          <p:cNvPr id="20" name="kpi_v"/>
          <p:cNvSpPr txBox="1"/>
          <p:nvPr/>
        </p:nvSpPr>
        <p:spPr>
          <a:xfrm>
            <a:off x="6172200" y="3611880"/>
            <a:ext cx="2651760" cy="457200"/>
          </a:xfrm>
          <a:prstGeom prst="rect">
            <a:avLst/>
          </a:prstGeom>
          <a:noFill/>
        </p:spPr>
        <p:txBody>
          <a:bodyPr wrap="square" anchor="t" lIns="0" rIns="0" tIns="0" bIns="0"/>
          <a:lstStyle/>
          <a:p>
            <a:pPr algn="l"/>
            <a:r>
              <a:rPr sz="2800" b="1" i="0">
                <a:solidFill>
                  <a:srgbClr val="F2F2F2"/>
                </a:solidFill>
                <a:latin typeface="Aptos"/>
              </a:rPr>
              <a:t>1.17×</a:t>
            </a:r>
          </a:p>
        </p:txBody>
      </p:sp>
      <p:sp>
        <p:nvSpPr>
          <p:cNvPr id="21" name="kpi_l"/>
          <p:cNvSpPr txBox="1"/>
          <p:nvPr/>
        </p:nvSpPr>
        <p:spPr>
          <a:xfrm>
            <a:off x="6172200" y="4114800"/>
            <a:ext cx="2651760" cy="548639"/>
          </a:xfrm>
          <a:prstGeom prst="rect">
            <a:avLst/>
          </a:prstGeom>
          <a:noFill/>
        </p:spPr>
        <p:txBody>
          <a:bodyPr wrap="square" anchor="t" lIns="0" rIns="0" tIns="0" bIns="0"/>
          <a:lstStyle/>
          <a:p>
            <a:pPr algn="l"/>
            <a:r>
              <a:rPr sz="1000" b="0" i="0">
                <a:solidFill>
                  <a:srgbClr val="BDBDBD"/>
                </a:solidFill>
                <a:latin typeface="Aptos"/>
              </a:rPr>
              <a:t>genuine Isuzu parts sold outside our network, median of 1,167 parts; 1,093 rest on one exporter</a:t>
            </a:r>
          </a:p>
        </p:txBody>
      </p:sp>
      <p:sp>
        <p:nvSpPr>
          <p:cNvPr id="22" name="TextBox 21"/>
          <p:cNvSpPr txBox="1"/>
          <p:nvPr/>
        </p:nvSpPr>
        <p:spPr>
          <a:xfrm>
            <a:off x="228600" y="5760720"/>
            <a:ext cx="8595360" cy="457200"/>
          </a:xfrm>
          <a:prstGeom prst="rect">
            <a:avLst/>
          </a:prstGeom>
          <a:noFill/>
        </p:spPr>
        <p:txBody>
          <a:bodyPr wrap="square" anchor="t" lIns="0" rIns="0" tIns="0" bIns="0"/>
          <a:lstStyle/>
          <a:p>
            <a:pPr algn="l"/>
            <a:r>
              <a:rPr sz="1000" b="0" i="0">
                <a:solidFill>
                  <a:srgbClr val="BDBDBD"/>
                </a:solidFill>
                <a:latin typeface="Aptos"/>
              </a:rPr>
              <a:t>Green: sound. Grey: partial. Red: too thin to prove that no alternative exists.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ISRAEL</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Israel: one decision for an insurance rule, one for delivery times</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Decided 2 October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Paper sections 9 and 10: Israeli motor policy wordings for vehicles up to 3.5 tonnes; distributor correspondence and back-order lists, weeks 2–40 of 2026; SAP parts billing.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12</a:t>
            </a:r>
          </a:p>
        </p:txBody>
      </p:sp>
      <p:sp>
        <p:nvSpPr>
          <p:cNvPr id="9" name="isr_L_bg"/>
          <p:cNvSpPr/>
          <p:nvPr/>
        </p:nvSpPr>
        <p:spPr>
          <a:xfrm>
            <a:off x="228600" y="1810512"/>
            <a:ext cx="5760720"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5303520" cy="201168"/>
          </a:xfrm>
          <a:prstGeom prst="rect">
            <a:avLst/>
          </a:prstGeom>
          <a:noFill/>
        </p:spPr>
        <p:txBody>
          <a:bodyPr wrap="square" anchor="t" lIns="0" rIns="0" tIns="0" bIns="0"/>
          <a:lstStyle/>
          <a:p>
            <a:pPr algn="l"/>
            <a:r>
              <a:rPr sz="850" b="1" i="0">
                <a:solidFill>
                  <a:srgbClr val="E30613"/>
                </a:solidFill>
                <a:latin typeface="Aptos"/>
              </a:rPr>
              <a:t>BODY, COLLISION AND LIGHTING: INSURANCE TOTAL-LOSS RULE</a:t>
            </a:r>
          </a:p>
        </p:txBody>
      </p:sp>
      <p:sp>
        <p:nvSpPr>
          <p:cNvPr id="11" name="TextBox 10"/>
          <p:cNvSpPr txBox="1"/>
          <p:nvPr/>
        </p:nvSpPr>
        <p:spPr>
          <a:xfrm>
            <a:off x="457200" y="2240280"/>
            <a:ext cx="5303520" cy="594360"/>
          </a:xfrm>
          <a:prstGeom prst="rect">
            <a:avLst/>
          </a:prstGeom>
          <a:noFill/>
        </p:spPr>
        <p:txBody>
          <a:bodyPr wrap="square" anchor="t" lIns="0" rIns="0" tIns="0" bIns="0"/>
          <a:lstStyle/>
          <a:p>
            <a:pPr algn="l"/>
            <a:r>
              <a:rPr sz="3800" b="1" i="0">
                <a:solidFill>
                  <a:srgbClr val="F5A000"/>
                </a:solidFill>
                <a:latin typeface="Aptos"/>
              </a:rPr>
              <a:t>60%</a:t>
            </a:r>
          </a:p>
        </p:txBody>
      </p:sp>
      <p:sp>
        <p:nvSpPr>
          <p:cNvPr id="12" name="TextBox 11"/>
          <p:cNvSpPr txBox="1"/>
          <p:nvPr/>
        </p:nvSpPr>
        <p:spPr>
          <a:xfrm>
            <a:off x="457200" y="2971800"/>
            <a:ext cx="5303520" cy="502920"/>
          </a:xfrm>
          <a:prstGeom prst="rect">
            <a:avLst/>
          </a:prstGeom>
          <a:noFill/>
        </p:spPr>
        <p:txBody>
          <a:bodyPr wrap="square" anchor="t" lIns="0" rIns="0" tIns="0" bIns="0"/>
          <a:lstStyle/>
          <a:p>
            <a:pPr algn="l"/>
            <a:r>
              <a:rPr sz="1150" b="1" i="0">
                <a:solidFill>
                  <a:srgbClr val="F2F2F2"/>
                </a:solidFill>
                <a:latin typeface="Aptos"/>
              </a:rPr>
              <a:t>of pre-accident value is the total-loss limit in Israel; insurers may settle as a total loss from 50 to 55%. The repair estimate is built from our parts list prices.</a:t>
            </a:r>
          </a:p>
        </p:txBody>
      </p:sp>
      <p:sp>
        <p:nvSpPr>
          <p:cNvPr id="13" name="TextBox 12"/>
          <p:cNvSpPr txBox="1"/>
          <p:nvPr/>
        </p:nvSpPr>
        <p:spPr>
          <a:xfrm>
            <a:off x="457200" y="3749039"/>
            <a:ext cx="5303520" cy="1737360"/>
          </a:xfrm>
          <a:prstGeom prst="rect">
            <a:avLst/>
          </a:prstGeom>
          <a:noFill/>
        </p:spPr>
        <p:txBody>
          <a:bodyPr wrap="square" anchor="t" lIns="0" rIns="0" tIns="0" bIns="0"/>
          <a:lstStyle/>
          <a:p>
            <a:pPr algn="l"/>
            <a:r>
              <a:rPr sz="1100" b="0" i="0">
                <a:solidFill>
                  <a:srgbClr val="BDBDBD"/>
                </a:solidFill>
                <a:latin typeface="Aptos"/>
              </a:rPr>
              <a:t>A high parts line can push a repairable vehicle over that limit, and we lose the whole repair. So the Israel D-Max distributor keeps body, collision and lighting at today's price (€20k of increase given up), and the Israel trucks distributor keeps lighting (€8k).</a:t>
            </a:r>
          </a:p>
          <a:p>
            <a:pPr algn="l">
              <a:spcBef>
                <a:spcPts val="800"/>
              </a:spcBef>
            </a:pPr>
            <a:r>
              <a:rPr sz="1100" b="0" i="0">
                <a:solidFill>
                  <a:srgbClr val="BDBDBD"/>
                </a:solidFill>
                <a:latin typeface="Aptos"/>
              </a:rPr>
              <a:t>The limits were verified in the policy for vehicles up to 3.5 tonnes. For heavier vehicles the clause was not found, so the trucks distributor's exposure is unverified.</a:t>
            </a:r>
          </a:p>
        </p:txBody>
      </p:sp>
      <p:sp>
        <p:nvSpPr>
          <p:cNvPr id="14" name="isr_R_bg"/>
          <p:cNvSpPr/>
          <p:nvPr/>
        </p:nvSpPr>
        <p:spPr>
          <a:xfrm>
            <a:off x="6172200" y="1810512"/>
            <a:ext cx="5788152"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38528"/>
            <a:ext cx="5303520" cy="201168"/>
          </a:xfrm>
          <a:prstGeom prst="rect">
            <a:avLst/>
          </a:prstGeom>
          <a:noFill/>
        </p:spPr>
        <p:txBody>
          <a:bodyPr wrap="square" anchor="t" lIns="0" rIns="0" tIns="0" bIns="0"/>
          <a:lstStyle/>
          <a:p>
            <a:pPr algn="l"/>
            <a:r>
              <a:rPr sz="850" b="1" i="0">
                <a:solidFill>
                  <a:srgbClr val="E30613"/>
                </a:solidFill>
                <a:latin typeface="Aptos"/>
              </a:rPr>
              <a:t>TRUCK BODY PANELS: DELIVERY TIMES, NOT PRICE</a:t>
            </a:r>
          </a:p>
        </p:txBody>
      </p:sp>
      <p:sp>
        <p:nvSpPr>
          <p:cNvPr id="16" name="TextBox 15"/>
          <p:cNvSpPr txBox="1"/>
          <p:nvPr/>
        </p:nvSpPr>
        <p:spPr>
          <a:xfrm>
            <a:off x="6400800" y="2240280"/>
            <a:ext cx="5303520" cy="594360"/>
          </a:xfrm>
          <a:prstGeom prst="rect">
            <a:avLst/>
          </a:prstGeom>
          <a:noFill/>
        </p:spPr>
        <p:txBody>
          <a:bodyPr wrap="square" anchor="t" lIns="0" rIns="0" tIns="0" bIns="0"/>
          <a:lstStyle/>
          <a:p>
            <a:pPr algn="l"/>
            <a:r>
              <a:rPr sz="3800" b="1" i="0">
                <a:solidFill>
                  <a:srgbClr val="F5A000"/>
                </a:solidFill>
                <a:latin typeface="Aptos"/>
              </a:rPr>
              <a:t>−18.0%</a:t>
            </a:r>
          </a:p>
        </p:txBody>
      </p:sp>
      <p:sp>
        <p:nvSpPr>
          <p:cNvPr id="17" name="TextBox 16"/>
          <p:cNvSpPr txBox="1"/>
          <p:nvPr/>
        </p:nvSpPr>
        <p:spPr>
          <a:xfrm>
            <a:off x="6400800" y="2971800"/>
            <a:ext cx="5303520" cy="502920"/>
          </a:xfrm>
          <a:prstGeom prst="rect">
            <a:avLst/>
          </a:prstGeom>
          <a:noFill/>
        </p:spPr>
        <p:txBody>
          <a:bodyPr wrap="square" anchor="t" lIns="0" rIns="0" tIns="0" bIns="0"/>
          <a:lstStyle/>
          <a:p>
            <a:pPr algn="l"/>
            <a:r>
              <a:rPr sz="1150" b="1" i="0">
                <a:solidFill>
                  <a:srgbClr val="F2F2F2"/>
                </a:solidFill>
                <a:latin typeface="Aptos"/>
              </a:rPr>
              <a:t>panel billing January–August 2026 against 2025 (€165k to €136k), while units rose.</a:t>
            </a:r>
          </a:p>
        </p:txBody>
      </p:sp>
      <p:sp>
        <p:nvSpPr>
          <p:cNvPr id="18" name="TextBox 17"/>
          <p:cNvSpPr txBox="1"/>
          <p:nvPr/>
        </p:nvSpPr>
        <p:spPr>
          <a:xfrm>
            <a:off x="6400800" y="3749039"/>
            <a:ext cx="5303520" cy="1737360"/>
          </a:xfrm>
          <a:prstGeom prst="rect">
            <a:avLst/>
          </a:prstGeom>
          <a:noFill/>
        </p:spPr>
        <p:txBody>
          <a:bodyPr wrap="square" anchor="t" lIns="0" rIns="0" tIns="0" bIns="0"/>
          <a:lstStyle/>
          <a:p>
            <a:pPr algn="l"/>
            <a:r>
              <a:rPr sz="1100" b="0" i="0">
                <a:solidFill>
                  <a:srgbClr val="BDBDBD"/>
                </a:solidFill>
                <a:latin typeface="Aptos"/>
              </a:rPr>
              <a:t>The Israel trucks distributor loses panel sales mainly to back orders of 4 to 16 weeks (median 13), not to price. Its panels take the normal increase (€13,795 of increase kept).</a:t>
            </a:r>
          </a:p>
          <a:p>
            <a:pPr algn="l">
              <a:spcBef>
                <a:spcPts val="800"/>
              </a:spcBef>
            </a:pPr>
            <a:r>
              <a:rPr sz="1100" b="0" i="0">
                <a:solidFill>
                  <a:srgbClr val="BDBDBD"/>
                </a:solidFill>
                <a:latin typeface="Aptos"/>
              </a:rPr>
              <a:t>The answer is availability: agree a stocking plan for new N-Series (P700) panels against the distributor's forecast.</a:t>
            </a:r>
          </a:p>
        </p:txBody>
      </p:sp>
      <p:sp>
        <p:nvSpPr>
          <p:cNvPr id="19" name="band_bg"/>
          <p:cNvSpPr/>
          <p:nvPr/>
        </p:nvSpPr>
        <p:spPr>
          <a:xfrm>
            <a:off x="228600" y="5760720"/>
            <a:ext cx="11731752" cy="502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nd"/>
          <p:cNvSpPr txBox="1"/>
          <p:nvPr/>
        </p:nvSpPr>
        <p:spPr>
          <a:xfrm>
            <a:off x="457200" y="5760720"/>
            <a:ext cx="11274552" cy="502920"/>
          </a:xfrm>
          <a:prstGeom prst="rect">
            <a:avLst/>
          </a:prstGeom>
          <a:noFill/>
        </p:spPr>
        <p:txBody>
          <a:bodyPr wrap="square" anchor="ctr" lIns="0" rIns="0" tIns="0" bIns="0"/>
          <a:lstStyle/>
          <a:p>
            <a:pPr algn="l"/>
            <a:r>
              <a:rPr sz="1200" b="0" i="0">
                <a:solidFill>
                  <a:srgbClr val="F2F2F2"/>
                </a:solidFill>
                <a:latin typeface="Aptos"/>
              </a:rPr>
              <a:t>In both cases the decision follows the evidence on why we lose sales: </a:t>
            </a:r>
            <a:r>
              <a:rPr sz="1200" b="1" i="0">
                <a:solidFill>
                  <a:srgbClr val="F2F2F2"/>
                </a:solidFill>
                <a:latin typeface="Aptos"/>
              </a:rPr>
              <a:t>an insurer's limit in one, delivery in the other.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CHANGES SINCE THE PAPER</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Since the paper: filters follow the factory increase, and one hold is still open</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The euro figures in this presentation are those of the paper. A new workbook will recalculate them with these changes.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Paper of 2 October 2026; decisions of 11 October 2026; held euro per parts category recomputed from the workbook's line-by-line sheet (7,833 part and market lines, €388,914).</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13</a:t>
            </a:r>
          </a:p>
        </p:txBody>
      </p:sp>
      <p:graphicFrame>
        <p:nvGraphicFramePr>
          <p:cNvPr id="9" name="table_changes"/>
          <p:cNvGraphicFramePr>
            <a:graphicFrameLocks noGrp="1"/>
          </p:cNvGraphicFramePr>
          <p:nvPr/>
        </p:nvGraphicFramePr>
        <p:xfrm>
          <a:off x="228600" y="1920240"/>
          <a:ext cx="11731750" cy="3108960"/>
        </p:xfrm>
        <a:graphic>
          <a:graphicData uri="http://schemas.openxmlformats.org/drawingml/2006/table">
            <a:tbl>
              <a:tblPr>
                <a:tableStyleId>{2D5ABB26-0587-4C30-8999-92F81FD0307C}</a:tableStyleId>
              </a:tblPr>
              <a:tblGrid>
                <a:gridCol w="2108049"/>
                <a:gridCol w="3482863"/>
                <a:gridCol w="2932938"/>
                <a:gridCol w="3207900"/>
              </a:tblGrid>
              <a:tr h="365760">
                <a:tc>
                  <a:txBody>
                    <a:bodyPr wrap="square"/>
                    <a:lstStyle/>
                    <a:p>
                      <a:pPr algn="l"/>
                      <a:r>
                        <a:rPr sz="850" b="1">
                          <a:solidFill>
                            <a:srgbClr val="BDBDBD"/>
                          </a:solidFill>
                          <a:latin typeface="Aptos"/>
                        </a:rPr>
                        <a:t>Item</a:t>
                      </a:r>
                    </a:p>
                  </a:txBody>
                  <a:tcPr marL="91440" marR="91440" marT="27432" marB="27432" anchor="ctr">
                    <a:solidFill>
                      <a:srgbClr val="3A3A3A"/>
                    </a:solidFill>
                  </a:tcPr>
                </a:tc>
                <a:tc>
                  <a:txBody>
                    <a:bodyPr wrap="square"/>
                    <a:lstStyle/>
                    <a:p>
                      <a:pPr algn="l"/>
                      <a:r>
                        <a:rPr sz="850" b="1">
                          <a:solidFill>
                            <a:srgbClr val="BDBDBD"/>
                          </a:solidFill>
                          <a:latin typeface="Aptos"/>
                        </a:rPr>
                        <a:t>In the paper of 2 October</a:t>
                      </a:r>
                    </a:p>
                  </a:txBody>
                  <a:tcPr marL="91440" marR="91440" marT="27432" marB="27432" anchor="ctr">
                    <a:solidFill>
                      <a:srgbClr val="3A3A3A"/>
                    </a:solidFill>
                  </a:tcPr>
                </a:tc>
                <a:tc>
                  <a:txBody>
                    <a:bodyPr wrap="square"/>
                    <a:lstStyle/>
                    <a:p>
                      <a:pPr algn="l"/>
                      <a:r>
                        <a:rPr sz="850" b="1">
                          <a:solidFill>
                            <a:srgbClr val="BDBDBD"/>
                          </a:solidFill>
                          <a:latin typeface="Aptos"/>
                        </a:rPr>
                        <a:t>Now</a:t>
                      </a:r>
                    </a:p>
                  </a:txBody>
                  <a:tcPr marL="91440" marR="91440" marT="27432" marB="27432" anchor="ctr">
                    <a:solidFill>
                      <a:srgbClr val="3A3A3A"/>
                    </a:solidFill>
                  </a:tcPr>
                </a:tc>
                <a:tc>
                  <a:txBody>
                    <a:bodyPr wrap="square"/>
                    <a:lstStyle/>
                    <a:p>
                      <a:pPr algn="l"/>
                      <a:r>
                        <a:rPr sz="850" b="1">
                          <a:solidFill>
                            <a:srgbClr val="BDBDBD"/>
                          </a:solidFill>
                          <a:latin typeface="Aptos"/>
                        </a:rPr>
                        <a:t>Euro</a:t>
                      </a:r>
                    </a:p>
                  </a:txBody>
                  <a:tcPr marL="91440" marR="91440" marT="27432" marB="27432" anchor="ctr">
                    <a:solidFill>
                      <a:srgbClr val="3A3A3A"/>
                    </a:solidFill>
                  </a:tcPr>
                </a:tc>
              </a:tr>
              <a:tr h="914400">
                <a:tc>
                  <a:txBody>
                    <a:bodyPr wrap="square"/>
                    <a:lstStyle/>
                    <a:p>
                      <a:pPr algn="l"/>
                      <a:r>
                        <a:rPr sz="1100" b="1">
                          <a:solidFill>
                            <a:srgbClr val="F2F2F2"/>
                          </a:solidFill>
                          <a:latin typeface="Aptos"/>
                        </a:rPr>
                        <a:t>Filters</a:t>
                      </a:r>
                    </a:p>
                  </a:txBody>
                  <a:tcPr marL="91440" marR="91440" marT="27432" marB="27432" anchor="ctr">
                    <a:solidFill>
                      <a:srgbClr val="303030"/>
                    </a:solidFill>
                  </a:tcPr>
                </a:tc>
                <a:tc>
                  <a:txBody>
                    <a:bodyPr wrap="square"/>
                    <a:lstStyle/>
                    <a:p>
                      <a:pPr algn="l"/>
                      <a:r>
                        <a:rPr sz="1100" b="0">
                          <a:solidFill>
                            <a:srgbClr val="F2F2F2"/>
                          </a:solidFill>
                          <a:latin typeface="Aptos"/>
                        </a:rPr>
                        <a:t>Held at today's price in the eight markets, as service parts</a:t>
                      </a:r>
                    </a:p>
                  </a:txBody>
                  <a:tcPr marL="91440" marR="91440" marT="27432" marB="27432" anchor="ctr">
                    <a:solidFill>
                      <a:srgbClr val="303030"/>
                    </a:solidFill>
                  </a:tcPr>
                </a:tc>
                <a:tc>
                  <a:txBody>
                    <a:bodyPr wrap="square"/>
                    <a:lstStyle/>
                    <a:p>
                      <a:pPr algn="l"/>
                      <a:r>
                        <a:rPr sz="1100" b="0">
                          <a:solidFill>
                            <a:srgbClr val="55C271"/>
                          </a:solidFill>
                          <a:latin typeface="Aptos"/>
                        </a:rPr>
                        <a:t>Follow the factory increase. Decided 11 October.</a:t>
                      </a:r>
                    </a:p>
                  </a:txBody>
                  <a:tcPr marL="91440" marR="91440" marT="27432" marB="27432" anchor="ctr">
                    <a:solidFill>
                      <a:srgbClr val="303030"/>
                    </a:solidFill>
                  </a:tcPr>
                </a:tc>
                <a:tc>
                  <a:txBody>
                    <a:bodyPr wrap="square"/>
                    <a:lstStyle/>
                    <a:p>
                      <a:pPr algn="l"/>
                      <a:r>
                        <a:rPr sz="1100" b="0">
                          <a:solidFill>
                            <a:srgbClr val="F2F2F2"/>
                          </a:solidFill>
                          <a:latin typeface="Aptos"/>
                        </a:rPr>
                        <a:t>€26k of the €389k returns to the list. The extra falls from about 3.7 to about 3.5 points (estimate).</a:t>
                      </a:r>
                    </a:p>
                  </a:txBody>
                  <a:tcPr marL="91440" marR="91440" marT="27432" marB="27432" anchor="ctr">
                    <a:solidFill>
                      <a:srgbClr val="303030"/>
                    </a:solidFill>
                  </a:tcPr>
                </a:tc>
              </a:tr>
              <a:tr h="914400">
                <a:tc>
                  <a:txBody>
                    <a:bodyPr wrap="square"/>
                    <a:lstStyle/>
                    <a:p>
                      <a:pPr algn="l"/>
                      <a:r>
                        <a:rPr sz="1100" b="1">
                          <a:solidFill>
                            <a:srgbClr val="F2F2F2"/>
                          </a:solidFill>
                          <a:latin typeface="Aptos"/>
                        </a:rPr>
                        <a:t>Brake discs and drums</a:t>
                      </a:r>
                    </a:p>
                  </a:txBody>
                  <a:tcPr marL="91440" marR="91440" marT="27432" marB="27432" anchor="ctr">
                    <a:solidFill>
                      <a:srgbClr val="2B2B2B"/>
                    </a:solidFill>
                  </a:tcPr>
                </a:tc>
                <a:tc>
                  <a:txBody>
                    <a:bodyPr wrap="square"/>
                    <a:lstStyle/>
                    <a:p>
                      <a:pPr algn="l"/>
                      <a:r>
                        <a:rPr sz="1100" b="0">
                          <a:solidFill>
                            <a:srgbClr val="F2F2F2"/>
                          </a:solidFill>
                          <a:latin typeface="Aptos"/>
                        </a:rPr>
                        <a:t>Held at today's price in the eight markets, as service parts</a:t>
                      </a:r>
                    </a:p>
                  </a:txBody>
                  <a:tcPr marL="91440" marR="91440" marT="27432" marB="27432" anchor="ctr">
                    <a:solidFill>
                      <a:srgbClr val="2B2B2B"/>
                    </a:solidFill>
                  </a:tcPr>
                </a:tc>
                <a:tc>
                  <a:txBody>
                    <a:bodyPr wrap="square"/>
                    <a:lstStyle/>
                    <a:p>
                      <a:pPr algn="l"/>
                      <a:r>
                        <a:rPr sz="1100" b="0">
                          <a:solidFill>
                            <a:srgbClr val="55C271"/>
                          </a:solidFill>
                          <a:latin typeface="Aptos"/>
                        </a:rPr>
                        <a:t>Stay at today's price, the same logic as the pad kits. Decided 11 October.</a:t>
                      </a:r>
                    </a:p>
                  </a:txBody>
                  <a:tcPr marL="91440" marR="91440" marT="27432" marB="27432" anchor="ctr">
                    <a:solidFill>
                      <a:srgbClr val="2B2B2B"/>
                    </a:solidFill>
                  </a:tcPr>
                </a:tc>
                <a:tc>
                  <a:txBody>
                    <a:bodyPr wrap="square"/>
                    <a:lstStyle/>
                    <a:p>
                      <a:pPr algn="l"/>
                      <a:r>
                        <a:rPr sz="1100" b="0">
                          <a:solidFill>
                            <a:srgbClr val="F2F2F2"/>
                          </a:solidFill>
                          <a:latin typeface="Aptos"/>
                        </a:rPr>
                        <a:t>€52k, already inside the €389k.</a:t>
                      </a:r>
                    </a:p>
                  </a:txBody>
                  <a:tcPr marL="91440" marR="91440" marT="27432" marB="27432" anchor="ctr">
                    <a:solidFill>
                      <a:srgbClr val="2B2B2B"/>
                    </a:solidFill>
                  </a:tcPr>
                </a:tc>
              </a:tr>
              <a:tr h="914400">
                <a:tc>
                  <a:txBody>
                    <a:bodyPr wrap="square"/>
                    <a:lstStyle/>
                    <a:p>
                      <a:pPr algn="l"/>
                      <a:r>
                        <a:rPr sz="1100" b="1">
                          <a:solidFill>
                            <a:srgbClr val="F2F2F2"/>
                          </a:solidFill>
                          <a:latin typeface="Aptos"/>
                        </a:rPr>
                        <a:t>Intake, exhaust and emission parts</a:t>
                      </a:r>
                    </a:p>
                  </a:txBody>
                  <a:tcPr marL="91440" marR="91440" marT="27432" marB="27432" anchor="ctr">
                    <a:solidFill>
                      <a:srgbClr val="303030"/>
                    </a:solidFill>
                  </a:tcPr>
                </a:tc>
                <a:tc>
                  <a:txBody>
                    <a:bodyPr wrap="square"/>
                    <a:lstStyle/>
                    <a:p>
                      <a:pPr algn="l"/>
                      <a:r>
                        <a:rPr sz="1100" b="0">
                          <a:solidFill>
                            <a:srgbClr val="F2F2F2"/>
                          </a:solidFill>
                          <a:latin typeface="Aptos"/>
                        </a:rPr>
                        <a:t>Held at today's price in the eight markets (particulate filter assemblies, turbochargers, EGR valves, exhaust pipes)</a:t>
                      </a:r>
                    </a:p>
                  </a:txBody>
                  <a:tcPr marL="91440" marR="91440" marT="27432" marB="27432" anchor="ctr">
                    <a:solidFill>
                      <a:srgbClr val="303030"/>
                    </a:solidFill>
                  </a:tcPr>
                </a:tc>
                <a:tc>
                  <a:txBody>
                    <a:bodyPr wrap="square"/>
                    <a:lstStyle/>
                    <a:p>
                      <a:pPr algn="l"/>
                      <a:r>
                        <a:rPr sz="1100" b="0">
                          <a:solidFill>
                            <a:srgbClr val="F5A000"/>
                          </a:solidFill>
                          <a:latin typeface="Aptos"/>
                        </a:rPr>
                        <a:t>Open. The paper's position stands until this is decided.</a:t>
                      </a:r>
                    </a:p>
                  </a:txBody>
                  <a:tcPr marL="91440" marR="91440" marT="27432" marB="27432" anchor="ctr">
                    <a:solidFill>
                      <a:srgbClr val="303030"/>
                    </a:solidFill>
                  </a:tcPr>
                </a:tc>
                <a:tc>
                  <a:txBody>
                    <a:bodyPr wrap="square"/>
                    <a:lstStyle/>
                    <a:p>
                      <a:pPr algn="l"/>
                      <a:r>
                        <a:rPr sz="1100" b="0">
                          <a:solidFill>
                            <a:srgbClr val="F2F2F2"/>
                          </a:solidFill>
                          <a:latin typeface="Aptos"/>
                        </a:rPr>
                        <a:t>€93k, inside the €389k.</a:t>
                      </a:r>
                    </a:p>
                  </a:txBody>
                  <a:tcPr marL="91440" marR="91440" marT="27432" marB="27432" anchor="ctr">
                    <a:solidFill>
                      <a:srgbClr val="303030"/>
                    </a:solidFill>
                  </a:tcPr>
                </a:tc>
              </a:tr>
            </a:tbl>
          </a:graphicData>
        </a:graphic>
      </p:graphicFrame>
      <p:sp>
        <p:nvSpPr>
          <p:cNvPr id="10" name="band_bg"/>
          <p:cNvSpPr/>
          <p:nvPr/>
        </p:nvSpPr>
        <p:spPr>
          <a:xfrm>
            <a:off x="228600" y="5394960"/>
            <a:ext cx="11731752" cy="7315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nd"/>
          <p:cNvSpPr txBox="1"/>
          <p:nvPr/>
        </p:nvSpPr>
        <p:spPr>
          <a:xfrm>
            <a:off x="457200" y="5394960"/>
            <a:ext cx="11274552" cy="731520"/>
          </a:xfrm>
          <a:prstGeom prst="rect">
            <a:avLst/>
          </a:prstGeom>
          <a:noFill/>
        </p:spPr>
        <p:txBody>
          <a:bodyPr wrap="square" anchor="ctr" lIns="0" rIns="0" tIns="0" bIns="0"/>
          <a:lstStyle/>
          <a:p>
            <a:pPr algn="l"/>
            <a:r>
              <a:rPr sz="1200" b="1" i="0">
                <a:solidFill>
                  <a:srgbClr val="F2F2F2"/>
                </a:solidFill>
                <a:latin typeface="Aptos"/>
              </a:rPr>
              <a:t>What does not change: </a:t>
            </a:r>
            <a:r>
              <a:rPr sz="1200" b="0" i="0">
                <a:solidFill>
                  <a:srgbClr val="F2F2F2"/>
                </a:solidFill>
                <a:latin typeface="Aptos"/>
              </a:rPr>
              <a:t>the +5.00% target, the 29 pad kits at today's price, the Israel decisions and the recovery on repair and body parts with no alternative found.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OPEN POINTS AND NEXT ACTIONS</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Three decisions are still open</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Two items sit outside this revision. Status up to 2 October 2026; the exhaust point is from 11 October.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Pricing policy paper, 2 October 2026; +5% workbook with the market layer (4 October 2026), reproduced on 11 October. Terms outside the list: calendar 2025 order lines at the 2025 list (paper section 11).</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14</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NEXT ACTIONS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941831"/>
          </a:xfrm>
          <a:prstGeom prst="rect">
            <a:avLst/>
          </a:prstGeom>
          <a:noFill/>
        </p:spPr>
        <p:txBody>
          <a:bodyPr wrap="square" anchor="t" lIns="0" rIns="0" tIns="0" bIns="0"/>
          <a:lstStyle/>
          <a:p>
            <a:pPr algn="l"/>
            <a:r>
              <a:rPr sz="1150" b="0" i="0">
                <a:solidFill>
                  <a:srgbClr val="F2F2F2"/>
                </a:solidFill>
                <a:latin typeface="Aptos"/>
              </a:rPr>
              <a:t>Decide the Isuzu UK (D-Max) exemption.</a:t>
            </a:r>
          </a:p>
        </p:txBody>
      </p:sp>
      <p:sp>
        <p:nvSpPr>
          <p:cNvPr id="13" name="panel_dot1"/>
          <p:cNvSpPr/>
          <p:nvPr/>
        </p:nvSpPr>
        <p:spPr>
          <a:xfrm>
            <a:off x="9272015" y="314553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081527"/>
            <a:ext cx="2258568" cy="941831"/>
          </a:xfrm>
          <a:prstGeom prst="rect">
            <a:avLst/>
          </a:prstGeom>
          <a:noFill/>
        </p:spPr>
        <p:txBody>
          <a:bodyPr wrap="square" anchor="t" lIns="0" rIns="0" tIns="0" bIns="0"/>
          <a:lstStyle/>
          <a:p>
            <a:pPr algn="l"/>
            <a:r>
              <a:rPr sz="1150" b="0" i="0">
                <a:solidFill>
                  <a:srgbClr val="F2F2F2"/>
                </a:solidFill>
                <a:latin typeface="Aptos"/>
              </a:rPr>
              <a:t>Set up the market decisions and the recovery as distributor conditions per parts category (not built yet). Agree the N-Series panel stocking plan.</a:t>
            </a:r>
          </a:p>
        </p:txBody>
      </p:sp>
      <p:sp>
        <p:nvSpPr>
          <p:cNvPr id="15" name="panel_dot2"/>
          <p:cNvSpPr/>
          <p:nvPr/>
        </p:nvSpPr>
        <p:spPr>
          <a:xfrm>
            <a:off x="9272015" y="419709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133087"/>
            <a:ext cx="2258568" cy="941831"/>
          </a:xfrm>
          <a:prstGeom prst="rect">
            <a:avLst/>
          </a:prstGeom>
          <a:noFill/>
        </p:spPr>
        <p:txBody>
          <a:bodyPr wrap="square" anchor="t" lIns="0" rIns="0" tIns="0" bIns="0"/>
          <a:lstStyle/>
          <a:p>
            <a:pPr algn="l"/>
            <a:r>
              <a:rPr sz="1150" b="0" i="0">
                <a:solidFill>
                  <a:srgbClr val="F2F2F2"/>
                </a:solidFill>
                <a:latin typeface="Aptos"/>
              </a:rPr>
              <a:t>Before the body share of the recovery is fixed: price check on non-genuine body parts (top 50), and confirm the reference dealer price basis.</a:t>
            </a:r>
          </a:p>
        </p:txBody>
      </p:sp>
      <p:sp>
        <p:nvSpPr>
          <p:cNvPr id="17" name="panel_dot3"/>
          <p:cNvSpPr/>
          <p:nvPr/>
        </p:nvSpPr>
        <p:spPr>
          <a:xfrm>
            <a:off x="9272015" y="524865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nel_t3"/>
          <p:cNvSpPr txBox="1"/>
          <p:nvPr/>
        </p:nvSpPr>
        <p:spPr>
          <a:xfrm>
            <a:off x="9491472" y="5184648"/>
            <a:ext cx="2258568" cy="941831"/>
          </a:xfrm>
          <a:prstGeom prst="rect">
            <a:avLst/>
          </a:prstGeom>
          <a:noFill/>
        </p:spPr>
        <p:txBody>
          <a:bodyPr wrap="square" anchor="t" lIns="0" rIns="0" tIns="0" bIns="0"/>
          <a:lstStyle/>
          <a:p>
            <a:pPr algn="l"/>
            <a:r>
              <a:rPr sz="1150" b="0" i="0">
                <a:solidFill>
                  <a:srgbClr val="F2F2F2"/>
                </a:solidFill>
                <a:latin typeface="Aptos"/>
              </a:rPr>
              <a:t>Take discounts and surcharges into the distributor negotiations as a separate item. Prepare first prices for the new N-Series parts.</a:t>
            </a:r>
          </a:p>
        </p:txBody>
      </p:sp>
      <p:graphicFrame>
        <p:nvGraphicFramePr>
          <p:cNvPr id="19" name="table_open"/>
          <p:cNvGraphicFramePr>
            <a:graphicFrameLocks noGrp="1"/>
          </p:cNvGraphicFramePr>
          <p:nvPr/>
        </p:nvGraphicFramePr>
        <p:xfrm>
          <a:off x="228600" y="1783080"/>
          <a:ext cx="8595358" cy="4370832"/>
        </p:xfrm>
        <a:graphic>
          <a:graphicData uri="http://schemas.openxmlformats.org/drawingml/2006/table">
            <a:tbl>
              <a:tblPr>
                <a:tableStyleId>{2D5ABB26-0587-4C30-8999-92F81FD0307C}</a:tableStyleId>
              </a:tblPr>
              <a:tblGrid>
                <a:gridCol w="2038075"/>
                <a:gridCol w="1151955"/>
                <a:gridCol w="3101418"/>
                <a:gridCol w="2303910"/>
              </a:tblGrid>
              <a:tr h="347472">
                <a:tc>
                  <a:txBody>
                    <a:bodyPr wrap="square"/>
                    <a:lstStyle/>
                    <a:p>
                      <a:pPr algn="l"/>
                      <a:r>
                        <a:rPr sz="850" b="1">
                          <a:solidFill>
                            <a:srgbClr val="BDBDBD"/>
                          </a:solidFill>
                          <a:latin typeface="Aptos"/>
                        </a:rPr>
                        <a:t>Point</a:t>
                      </a:r>
                    </a:p>
                  </a:txBody>
                  <a:tcPr marL="91440" marR="91440" marT="27432" marB="27432" anchor="ctr">
                    <a:solidFill>
                      <a:srgbClr val="3A3A3A"/>
                    </a:solidFill>
                  </a:tcPr>
                </a:tc>
                <a:tc>
                  <a:txBody>
                    <a:bodyPr wrap="square"/>
                    <a:lstStyle/>
                    <a:p>
                      <a:pPr algn="l"/>
                      <a:r>
                        <a:rPr sz="850" b="1">
                          <a:solidFill>
                            <a:srgbClr val="BDBDBD"/>
                          </a:solidFill>
                          <a:latin typeface="Aptos"/>
                        </a:rPr>
                        <a:t>Status</a:t>
                      </a:r>
                    </a:p>
                  </a:txBody>
                  <a:tcPr marL="91440" marR="91440" marT="27432" marB="27432" anchor="ctr">
                    <a:solidFill>
                      <a:srgbClr val="3A3A3A"/>
                    </a:solidFill>
                  </a:tcPr>
                </a:tc>
                <a:tc>
                  <a:txBody>
                    <a:bodyPr wrap="square"/>
                    <a:lstStyle/>
                    <a:p>
                      <a:pPr algn="l"/>
                      <a:r>
                        <a:rPr sz="850" b="1">
                          <a:solidFill>
                            <a:srgbClr val="BDBDBD"/>
                          </a:solidFill>
                          <a:latin typeface="Aptos"/>
                        </a:rPr>
                        <a:t>What is open</a:t>
                      </a:r>
                    </a:p>
                  </a:txBody>
                  <a:tcPr marL="91440" marR="91440" marT="27432" marB="27432" anchor="ctr">
                    <a:solidFill>
                      <a:srgbClr val="3A3A3A"/>
                    </a:solidFill>
                  </a:tcPr>
                </a:tc>
                <a:tc>
                  <a:txBody>
                    <a:bodyPr wrap="square"/>
                    <a:lstStyle/>
                    <a:p>
                      <a:pPr algn="l"/>
                      <a:r>
                        <a:rPr sz="850" b="1">
                          <a:solidFill>
                            <a:srgbClr val="BDBDBD"/>
                          </a:solidFill>
                          <a:latin typeface="Aptos"/>
                        </a:rPr>
                        <a:t>At stake</a:t>
                      </a:r>
                    </a:p>
                  </a:txBody>
                  <a:tcPr marL="91440" marR="91440" marT="27432" marB="27432" anchor="ctr">
                    <a:solidFill>
                      <a:srgbClr val="3A3A3A"/>
                    </a:solidFill>
                  </a:tcPr>
                </a:tc>
              </a:tr>
              <a:tr h="804672">
                <a:tc>
                  <a:txBody>
                    <a:bodyPr wrap="square"/>
                    <a:lstStyle/>
                    <a:p>
                      <a:pPr algn="l"/>
                      <a:r>
                        <a:rPr sz="950" b="1">
                          <a:solidFill>
                            <a:srgbClr val="F2F2F2"/>
                          </a:solidFill>
                          <a:latin typeface="Aptos"/>
                        </a:rPr>
                        <a:t>Isuzu UK (D-Max) exemption</a:t>
                      </a:r>
                    </a:p>
                  </a:txBody>
                  <a:tcPr marL="91440" marR="91440" marT="27432" marB="27432" anchor="ctr">
                    <a:solidFill>
                      <a:srgbClr val="303030"/>
                    </a:solidFill>
                  </a:tcPr>
                </a:tc>
                <a:tc>
                  <a:txBody>
                    <a:bodyPr wrap="square"/>
                    <a:lstStyle/>
                    <a:p>
                      <a:pPr algn="l"/>
                      <a:r>
                        <a:rPr sz="950" b="0">
                          <a:solidFill>
                            <a:srgbClr val="F5A000"/>
                          </a:solidFill>
                          <a:latin typeface="Aptos"/>
                        </a:rPr>
                        <a:t>Suggested</a:t>
                      </a:r>
                    </a:p>
                  </a:txBody>
                  <a:tcPr marL="91440" marR="91440" marT="27432" marB="27432" anchor="ctr">
                    <a:solidFill>
                      <a:srgbClr val="303030"/>
                    </a:solidFill>
                  </a:tcPr>
                </a:tc>
                <a:tc>
                  <a:txBody>
                    <a:bodyPr wrap="square"/>
                    <a:lstStyle/>
                    <a:p>
                      <a:pPr algn="l"/>
                      <a:r>
                        <a:rPr sz="950" b="0">
                          <a:solidFill>
                            <a:srgbClr val="F2F2F2"/>
                          </a:solidFill>
                          <a:latin typeface="Aptos"/>
                        </a:rPr>
                        <a:t>Its repair and body parts keep their own increase, without a share of the recovery.</a:t>
                      </a:r>
                    </a:p>
                  </a:txBody>
                  <a:tcPr marL="91440" marR="91440" marT="27432" marB="27432" anchor="ctr">
                    <a:solidFill>
                      <a:srgbClr val="303030"/>
                    </a:solidFill>
                  </a:tcPr>
                </a:tc>
                <a:tc>
                  <a:txBody>
                    <a:bodyPr wrap="square"/>
                    <a:lstStyle/>
                    <a:p>
                      <a:pPr algn="l"/>
                      <a:r>
                        <a:rPr sz="950" b="0">
                          <a:solidFill>
                            <a:srgbClr val="F2F2F2"/>
                          </a:solidFill>
                          <a:latin typeface="Aptos"/>
                        </a:rPr>
                        <a:t>€91k moves between markets.</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Israel D-Max distributor: leasing share</a:t>
                      </a:r>
                    </a:p>
                  </a:txBody>
                  <a:tcPr marL="91440" marR="91440" marT="27432" marB="27432" anchor="ctr">
                    <a:solidFill>
                      <a:srgbClr val="2B2B2B"/>
                    </a:solidFill>
                  </a:tcPr>
                </a:tc>
                <a:tc>
                  <a:txBody>
                    <a:bodyPr wrap="square"/>
                    <a:lstStyle/>
                    <a:p>
                      <a:pPr algn="l"/>
                      <a:r>
                        <a:rPr sz="950" b="0">
                          <a:solidFill>
                            <a:srgbClr val="E30613"/>
                          </a:solidFill>
                          <a:latin typeface="Aptos"/>
                        </a:rPr>
                        <a:t>Open</a:t>
                      </a:r>
                    </a:p>
                  </a:txBody>
                  <a:tcPr marL="91440" marR="91440" marT="27432" marB="27432" anchor="ctr">
                    <a:solidFill>
                      <a:srgbClr val="2B2B2B"/>
                    </a:solidFill>
                  </a:tcPr>
                </a:tc>
                <a:tc>
                  <a:txBody>
                    <a:bodyPr wrap="square"/>
                    <a:lstStyle/>
                    <a:p>
                      <a:pPr algn="l"/>
                      <a:r>
                        <a:rPr sz="950" b="0">
                          <a:solidFill>
                            <a:srgbClr val="F2F2F2"/>
                          </a:solidFill>
                          <a:latin typeface="Aptos"/>
                        </a:rPr>
                        <a:t>If leasing fleets are most of its volume, its service parts could take the normal increase. The share is not being requested now.</a:t>
                      </a:r>
                    </a:p>
                  </a:txBody>
                  <a:tcPr marL="91440" marR="91440" marT="27432" marB="27432" anchor="ctr">
                    <a:solidFill>
                      <a:srgbClr val="2B2B2B"/>
                    </a:solidFill>
                  </a:tcPr>
                </a:tc>
                <a:tc>
                  <a:txBody>
                    <a:bodyPr wrap="square"/>
                    <a:lstStyle/>
                    <a:p>
                      <a:pPr algn="l"/>
                      <a:r>
                        <a:rPr sz="950" b="0">
                          <a:solidFill>
                            <a:srgbClr val="F2F2F2"/>
                          </a:solidFill>
                          <a:latin typeface="Aptos"/>
                        </a:rPr>
                        <a:t>€65k of increase, on €1.48M of service parts billed.</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Intake, exhaust and emission hold</a:t>
                      </a:r>
                    </a:p>
                  </a:txBody>
                  <a:tcPr marL="91440" marR="91440" marT="27432" marB="27432" anchor="ctr">
                    <a:solidFill>
                      <a:srgbClr val="303030"/>
                    </a:solidFill>
                  </a:tcPr>
                </a:tc>
                <a:tc>
                  <a:txBody>
                    <a:bodyPr wrap="square"/>
                    <a:lstStyle/>
                    <a:p>
                      <a:pPr algn="l"/>
                      <a:r>
                        <a:rPr sz="950" b="0">
                          <a:solidFill>
                            <a:srgbClr val="E30613"/>
                          </a:solidFill>
                          <a:latin typeface="Aptos"/>
                        </a:rPr>
                        <a:t>Open</a:t>
                      </a:r>
                    </a:p>
                  </a:txBody>
                  <a:tcPr marL="91440" marR="91440" marT="27432" marB="27432" anchor="ctr">
                    <a:solidFill>
                      <a:srgbClr val="303030"/>
                    </a:solidFill>
                  </a:tcPr>
                </a:tc>
                <a:tc>
                  <a:txBody>
                    <a:bodyPr wrap="square"/>
                    <a:lstStyle/>
                    <a:p>
                      <a:pPr algn="l"/>
                      <a:r>
                        <a:rPr sz="950" b="0">
                          <a:solidFill>
                            <a:srgbClr val="F2F2F2"/>
                          </a:solidFill>
                          <a:latin typeface="Aptos"/>
                        </a:rPr>
                        <a:t>Whether these parts stay at today's price (page 13).</a:t>
                      </a:r>
                    </a:p>
                  </a:txBody>
                  <a:tcPr marL="91440" marR="91440" marT="27432" marB="27432" anchor="ctr">
                    <a:solidFill>
                      <a:srgbClr val="303030"/>
                    </a:solidFill>
                  </a:tcPr>
                </a:tc>
                <a:tc>
                  <a:txBody>
                    <a:bodyPr wrap="square"/>
                    <a:lstStyle/>
                    <a:p>
                      <a:pPr algn="l"/>
                      <a:r>
                        <a:rPr sz="950" b="0">
                          <a:solidFill>
                            <a:srgbClr val="F2F2F2"/>
                          </a:solidFill>
                          <a:latin typeface="Aptos"/>
                        </a:rPr>
                        <a:t>€93k</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Discounts and surcharges outside the list</a:t>
                      </a:r>
                    </a:p>
                  </a:txBody>
                  <a:tcPr marL="91440" marR="91440" marT="27432" marB="27432" anchor="ctr">
                    <a:solidFill>
                      <a:srgbClr val="2B2B2B"/>
                    </a:solidFill>
                  </a:tcPr>
                </a:tc>
                <a:tc>
                  <a:txBody>
                    <a:bodyPr wrap="square"/>
                    <a:lstStyle/>
                    <a:p>
                      <a:pPr algn="l"/>
                      <a:r>
                        <a:rPr sz="950" b="0">
                          <a:solidFill>
                            <a:srgbClr val="BDBDBD"/>
                          </a:solidFill>
                          <a:latin typeface="Aptos"/>
                        </a:rPr>
                        <a:t>Negotiation topic</a:t>
                      </a:r>
                    </a:p>
                  </a:txBody>
                  <a:tcPr marL="91440" marR="91440" marT="27432" marB="27432" anchor="ctr">
                    <a:solidFill>
                      <a:srgbClr val="2B2B2B"/>
                    </a:solidFill>
                  </a:tcPr>
                </a:tc>
                <a:tc>
                  <a:txBody>
                    <a:bodyPr wrap="square"/>
                    <a:lstStyle/>
                    <a:p>
                      <a:pPr algn="l"/>
                      <a:r>
                        <a:rPr sz="950" b="0">
                          <a:solidFill>
                            <a:srgbClr val="F2F2F2"/>
                          </a:solidFill>
                          <a:latin typeface="Aptos"/>
                        </a:rPr>
                        <a:t>Stock-order discount, distributors paying below list, surcharge on urgent orders. A commercial term per distributor, not part of the +5%.</a:t>
                      </a:r>
                    </a:p>
                  </a:txBody>
                  <a:tcPr marL="91440" marR="91440" marT="27432" marB="27432" anchor="ctr">
                    <a:solidFill>
                      <a:srgbClr val="2B2B2B"/>
                    </a:solidFill>
                  </a:tcPr>
                </a:tc>
                <a:tc>
                  <a:txBody>
                    <a:bodyPr wrap="square"/>
                    <a:lstStyle/>
                    <a:p>
                      <a:pPr algn="l"/>
                      <a:r>
                        <a:rPr sz="950" b="0">
                          <a:solidFill>
                            <a:srgbClr val="F2F2F2"/>
                          </a:solidFill>
                          <a:latin typeface="Aptos"/>
                        </a:rPr>
                        <a:t>Halving each market's gap to list on stock orders €452k; 1 point less stock-order discount €213k; urgent surcharge +1 point €46k.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New N-Series (P700) first prices</a:t>
                      </a:r>
                    </a:p>
                  </a:txBody>
                  <a:tcPr marL="91440" marR="91440" marT="27432" marB="27432" anchor="ctr">
                    <a:solidFill>
                      <a:srgbClr val="303030"/>
                    </a:solidFill>
                  </a:tcPr>
                </a:tc>
                <a:tc>
                  <a:txBody>
                    <a:bodyPr wrap="square"/>
                    <a:lstStyle/>
                    <a:p>
                      <a:pPr algn="l"/>
                      <a:r>
                        <a:rPr sz="950" b="0">
                          <a:solidFill>
                            <a:srgbClr val="BDBDBD"/>
                          </a:solidFill>
                          <a:latin typeface="Aptos"/>
                        </a:rPr>
                        <a:t>Next price list</a:t>
                      </a:r>
                    </a:p>
                  </a:txBody>
                  <a:tcPr marL="91440" marR="91440" marT="27432" marB="27432" anchor="ctr">
                    <a:solidFill>
                      <a:srgbClr val="303030"/>
                    </a:solidFill>
                  </a:tcPr>
                </a:tc>
                <a:tc>
                  <a:txBody>
                    <a:bodyPr wrap="square"/>
                    <a:lstStyle/>
                    <a:p>
                      <a:pPr algn="l"/>
                      <a:r>
                        <a:rPr sz="950" b="0">
                          <a:solidFill>
                            <a:srgbClr val="F2F2F2"/>
                          </a:solidFill>
                          <a:latin typeface="Aptos"/>
                        </a:rPr>
                        <a:t>826 part numbers hardly billed yet (14 parts, €660 in this year's base). They need a well-set first price, not an increase.</a:t>
                      </a:r>
                    </a:p>
                  </a:txBody>
                  <a:tcPr marL="91440" marR="91440" marT="27432" marB="27432" anchor="ctr">
                    <a:solidFill>
                      <a:srgbClr val="303030"/>
                    </a:solidFill>
                  </a:tcPr>
                </a:tc>
                <a:tc>
                  <a:txBody>
                    <a:bodyPr wrap="square"/>
                    <a:lstStyle/>
                    <a:p>
                      <a:pPr algn="l"/>
                      <a:r>
                        <a:rPr sz="950" b="0">
                          <a:solidFill>
                            <a:srgbClr val="F2F2F2"/>
                          </a:solidFill>
                          <a:latin typeface="Aptos"/>
                        </a:rPr>
                        <a:t>None this year.</a:t>
                      </a:r>
                    </a:p>
                  </a:txBody>
                  <a:tcPr marL="91440" marR="91440" marT="27432" marB="27432" anchor="ctr">
                    <a:solidFill>
                      <a:srgbClr val="30303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