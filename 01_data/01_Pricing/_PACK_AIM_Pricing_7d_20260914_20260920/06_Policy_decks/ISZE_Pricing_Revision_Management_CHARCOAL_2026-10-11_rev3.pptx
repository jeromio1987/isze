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FFFFFF"/>
              </a:solidFill>
              <a:ln>
                <a:noFill/>
              </a:ln>
            </c:spPr>
          </c:dPt>
          <c:dLbls>
            <c:dLbl>
              <c:idx val="0"/>
              <c:tx>
                <c:rich>
                  <a:bodyPr/>
                  <a:lstStyle/>
                  <a:p>
                    <a:r>
                      <a:rPr sz="1150" b="1">
                        <a:solidFill>
                          <a:srgbClr val="F2F2F2"/>
                        </a:solidFill>
                        <a:latin typeface="Aptos"/>
                      </a:rPr>
                      <a:t>6.3%</a:t>
                    </a:r>
                  </a:p>
                </c:rich>
              </c:tx>
              <c:dLblPos val="outEnd"/>
              <c:showLegendKey val="0"/>
              <c:showVal val="1"/>
              <c:showCatName val="0"/>
              <c:showSerName val="0"/>
              <c:showPercent val="0"/>
              <c:showBubbleSize val="0"/>
            </c:dLbl>
            <c:dLbl>
              <c:idx val="1"/>
              <c:tx>
                <c:rich>
                  <a:bodyPr/>
                  <a:lstStyle/>
                  <a:p>
                    <a:r>
                      <a:rPr sz="1150" b="1">
                        <a:solidFill>
                          <a:srgbClr val="F2F2F2"/>
                        </a:solidFill>
                        <a:latin typeface="Aptos"/>
                      </a:rPr>
                      <a:t>6.2%</a:t>
                    </a:r>
                  </a:p>
                </c:rich>
              </c:tx>
              <c:dLblPos val="outEnd"/>
              <c:showLegendKey val="0"/>
              <c:showVal val="1"/>
              <c:showCatName val="0"/>
              <c:showSerName val="0"/>
              <c:showPercent val="0"/>
              <c:showBubbleSize val="0"/>
            </c:dLbl>
            <c:dLbl>
              <c:idx val="2"/>
              <c:tx>
                <c:rich>
                  <a:bodyPr/>
                  <a:lstStyle/>
                  <a:p>
                    <a:r>
                      <a:rPr sz="1150" b="1">
                        <a:solidFill>
                          <a:srgbClr val="F2F2F2"/>
                        </a:solidFill>
                        <a:latin typeface="Aptos"/>
                      </a:rPr>
                      <a:t>7.0%</a:t>
                    </a:r>
                  </a:p>
                </c:rich>
              </c:tx>
              <c:dLblPos val="outEnd"/>
              <c:showLegendKey val="0"/>
              <c:showVal val="1"/>
              <c:showCatName val="0"/>
              <c:showSerName val="0"/>
              <c:showPercent val="0"/>
              <c:showBubbleSize val="0"/>
            </c:dLbl>
            <c:dLbl>
              <c:idx val="3"/>
              <c:tx>
                <c:rich>
                  <a:bodyPr/>
                  <a:lstStyle/>
                  <a:p>
                    <a:r>
                      <a:rPr sz="1150" b="1">
                        <a:solidFill>
                          <a:srgbClr val="F2F2F2"/>
                        </a:solidFill>
                        <a:latin typeface="Aptos"/>
                      </a:rPr>
                      <a:t>6.6%</a:t>
                    </a:r>
                  </a:p>
                </c:rich>
              </c:tx>
              <c:dLblPos val="outEnd"/>
              <c:showLegendKey val="0"/>
              <c:showVal val="1"/>
              <c:showCatName val="0"/>
              <c:showSerName val="0"/>
              <c:showPercent val="0"/>
              <c:showBubbleSize val="0"/>
            </c:dLbl>
            <c:dLbl>
              <c:idx val="4"/>
              <c:tx>
                <c:rich>
                  <a:bodyPr/>
                  <a:lstStyle/>
                  <a:p>
                    <a:r>
                      <a:rPr sz="1150" b="1">
                        <a:solidFill>
                          <a:srgbClr val="F2F2F2"/>
                        </a:solidFill>
                        <a:latin typeface="Aptos"/>
                      </a:rPr>
                      <a:t>5.5%</a:t>
                    </a:r>
                  </a:p>
                </c:rich>
              </c:tx>
              <c:dLblPos val="outEnd"/>
              <c:showLegendKey val="0"/>
              <c:showVal val="1"/>
              <c:showCatName val="0"/>
              <c:showSerName val="0"/>
              <c:showPercent val="0"/>
              <c:showBubbleSize val="0"/>
            </c:dLbl>
            <c:dLbl>
              <c:idx val="5"/>
              <c:tx>
                <c:rich>
                  <a:bodyPr/>
                  <a:lstStyle/>
                  <a:p>
                    <a:r>
                      <a:rPr sz="1150" b="1">
                        <a:solidFill>
                          <a:srgbClr val="F2F2F2"/>
                        </a:solidFill>
                        <a:latin typeface="Aptos"/>
                      </a:rPr>
                      <a:t>6.0%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Supplied from Thailand (IMIT)</c:v>
                </c:pt>
                <c:pt idx="1">
                  <c:v>Supplied from Japan (IML)</c:v>
                </c:pt>
                <c:pt idx="2">
                  <c:v>Body and collision parts</c:v>
                </c:pt>
                <c:pt idx="3">
                  <c:v>Repair parts</c:v>
                </c:pt>
                <c:pt idx="4">
                  <c:v>Service parts</c:v>
                </c:pt>
                <c:pt idx="5">
                  <c:v>All parts billed</c:v>
                </c:pt>
              </c:strCache>
            </c:strRef>
          </c:cat>
          <c:val>
            <c:numRef>
              <c:f>Sheet1!$B$2:$B$7</c:f>
              <c:numCache>
                <c:formatCode>General</c:formatCode>
                <c:ptCount val="6"/>
                <c:pt idx="0">
                  <c:v>6.3</c:v>
                </c:pt>
                <c:pt idx="1">
                  <c:v>6.2</c:v>
                </c:pt>
                <c:pt idx="2">
                  <c:v>7.0</c:v>
                </c:pt>
                <c:pt idx="3">
                  <c:v>6.6</c:v>
                </c:pt>
                <c:pt idx="4">
                  <c:v>5.5</c:v>
                </c:pt>
                <c:pt idx="5">
                  <c:v>6.0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150">
                <a:solidFill>
                  <a:srgbClr val="F2F2F2"/>
                </a:solidFill>
                <a:latin typeface="Aptos"/>
              </a:defRPr>
            </a:pPr>
          </a:p>
        </c:txPr>
        <c:crossAx val="-2113994440"/>
        <c:crosses val="autoZero"/>
        <c:auto val="1"/>
        <c:lblAlgn val="ctr"/>
        <c:lblOffset val="100"/>
        <c:noMultiLvlLbl val="0"/>
      </c:catAx>
      <c:valAx>
        <c:axId val="-2113994440"/>
        <c:scaling>
          <c:max val="8.5"/>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50">
          <a:solidFill>
            <a:srgbClr val="F2F2F2"/>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1000" b="1">
                        <a:solidFill>
                          <a:srgbClr val="F2F2F2"/>
                        </a:solidFill>
                        <a:latin typeface="Aptos"/>
                      </a:rPr>
                      <a:t>−€185k</a:t>
                    </a:r>
                  </a:p>
                </c:rich>
              </c:tx>
              <c:dLblPos val="inEnd"/>
              <c:showLegendKey val="0"/>
              <c:showVal val="1"/>
              <c:showCatName val="0"/>
              <c:showSerName val="0"/>
              <c:showPercent val="0"/>
              <c:showBubbleSize val="0"/>
            </c:dLbl>
            <c:dLbl>
              <c:idx val="2"/>
              <c:tx>
                <c:rich>
                  <a:bodyPr/>
                  <a:lstStyle/>
                  <a:p>
                    <a:r>
                      <a:rPr sz="1000" b="1">
                        <a:solidFill>
                          <a:srgbClr val="F2F2F2"/>
                        </a:solidFill>
                        <a:latin typeface="Aptos"/>
                      </a:rPr>
                      <a:t>−€109k</a:t>
                    </a:r>
                  </a:p>
                </c:rich>
              </c:tx>
              <c:dLblPos val="inEnd"/>
              <c:showLegendKey val="0"/>
              <c:showVal val="1"/>
              <c:showCatName val="0"/>
              <c:showSerName val="0"/>
              <c:showPercent val="0"/>
              <c:showBubbleSize val="0"/>
            </c:dLbl>
            <c:dLbl>
              <c:idx val="3"/>
              <c:tx>
                <c:rich>
                  <a:bodyPr/>
                  <a:lstStyle/>
                  <a:p>
                    <a:r>
                      <a:rPr sz="1000" b="1">
                        <a:solidFill>
                          <a:srgbClr val="F2F2F2"/>
                        </a:solidFill>
                        <a:latin typeface="Aptos"/>
                      </a:rPr>
                      <a:t>−€56k</a:t>
                    </a:r>
                  </a:p>
                </c:rich>
              </c:tx>
              <c:dLblPos val="inEnd"/>
              <c:showLegendKey val="0"/>
              <c:showVal val="1"/>
              <c:showCatName val="0"/>
              <c:showSerName val="0"/>
              <c:showPercent val="0"/>
              <c:showBubbleSize val="0"/>
            </c:dLbl>
            <c:dLbl>
              <c:idx val="4"/>
              <c:tx>
                <c:rich>
                  <a:bodyPr/>
                  <a:lstStyle/>
                  <a:p>
                    <a:r>
                      <a:rPr sz="1000" b="1">
                        <a:solidFill>
                          <a:srgbClr val="F2F2F2"/>
                        </a:solidFill>
                        <a:latin typeface="Aptos"/>
                      </a:rPr>
                      <a:t>+€21k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c:v>
                </c:pt>
                <c:pt idx="1">
                  <c:v>Pass on 90.5% of each part's increase</c:v>
                </c:pt>
                <c:pt idx="2">
                  <c:v>Pad kits stay</c:v>
                </c:pt>
                <c:pt idx="3">
                  <c:v>Lost categories stay</c:v>
                </c:pt>
                <c:pt idx="4">
                  <c:v>Web-shop extra</c:v>
                </c:pt>
                <c:pt idx="5">
                  <c:v>Proposed: +5.00%</c:v>
                </c:pt>
              </c:strCache>
            </c:strRef>
          </c:cat>
          <c:val>
            <c:numRef>
              <c:f>Sheet1!$B$2:$B$7</c:f>
              <c:numCache>
                <c:formatCode>General</c:formatCode>
                <c:ptCount val="6"/>
                <c:pt idx="0">
                  <c:v>0.0</c:v>
                </c:pt>
                <c:pt idx="1">
                  <c:v>1773784.86</c:v>
                </c:pt>
                <c:pt idx="2">
                  <c:v>1664784.86</c:v>
                </c:pt>
                <c:pt idx="3">
                  <c:v>1608784.86</c:v>
                </c:pt>
                <c:pt idx="4">
                  <c:v>1608784.86</c:v>
                </c:pt>
                <c:pt idx="5">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7A7A7A"/>
              </a:solidFill>
              <a:ln>
                <a:noFill/>
              </a:ln>
            </c:spPr>
          </c:dPt>
          <c:dPt>
            <c:idx val="2"/>
            <c:spPr>
              <a:solidFill>
                <a:srgbClr val="7A7A7A"/>
              </a:solidFill>
              <a:ln>
                <a:noFill/>
              </a:ln>
            </c:spPr>
          </c:dPt>
          <c:dPt>
            <c:idx val="3"/>
            <c:spPr>
              <a:solidFill>
                <a:srgbClr val="7A7A7A"/>
              </a:solidFill>
              <a:ln>
                <a:noFill/>
              </a:ln>
            </c:spPr>
          </c:dPt>
          <c:dPt>
            <c:idx val="4"/>
            <c:spPr>
              <a:solidFill>
                <a:srgbClr val="31A354"/>
              </a:solidFill>
              <a:ln>
                <a:noFill/>
              </a:ln>
            </c:spPr>
          </c:dPt>
          <c:dPt>
            <c:idx val="5"/>
            <c:spPr>
              <a:solidFill>
                <a:srgbClr val="E30613"/>
              </a:solidFill>
              <a:ln>
                <a:noFill/>
              </a:ln>
            </c:spPr>
          </c:dPt>
          <c:dLbls>
            <c:dLbl>
              <c:idx val="0"/>
              <c:tx>
                <c:rich>
                  <a:bodyPr/>
                  <a:lstStyle/>
                  <a:p>
                    <a:r>
                      <a:rPr sz="1000" b="1">
                        <a:solidFill>
                          <a:srgbClr val="F2F2F2"/>
                        </a:solidFill>
                        <a:latin typeface="Aptos"/>
                      </a:rPr>
                      <a:t>€1.96M</a:t>
                    </a:r>
                  </a:p>
                </c:rich>
              </c:tx>
              <c:dLblPos val="inEnd"/>
              <c:showLegendKey val="0"/>
              <c:showVal val="1"/>
              <c:showCatName val="0"/>
              <c:showSerName val="0"/>
              <c:showPercent val="0"/>
              <c:showBubbleSize val="0"/>
            </c:dLbl>
            <c:dLbl>
              <c:idx val="5"/>
              <c:tx>
                <c:rich>
                  <a:bodyPr/>
                  <a:lstStyle/>
                  <a:p>
                    <a:r>
                      <a:rPr sz="100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c:v>
                </c:pt>
                <c:pt idx="1">
                  <c:v>Pass on 90.5% of each part's increase</c:v>
                </c:pt>
                <c:pt idx="2">
                  <c:v>Pad kits stay</c:v>
                </c:pt>
                <c:pt idx="3">
                  <c:v>Lost categories stay</c:v>
                </c:pt>
                <c:pt idx="4">
                  <c:v>Web-shop extra</c:v>
                </c:pt>
                <c:pt idx="5">
                  <c:v>Proposed: +5.00%</c:v>
                </c:pt>
              </c:strCache>
            </c:strRef>
          </c:cat>
          <c:val>
            <c:numRef>
              <c:f>Sheet1!$C$2:$C$7</c:f>
              <c:numCache>
                <c:formatCode>General</c:formatCode>
                <c:ptCount val="6"/>
                <c:pt idx="0">
                  <c:v>1959055.64</c:v>
                </c:pt>
                <c:pt idx="1">
                  <c:v>185270.7799999998</c:v>
                </c:pt>
                <c:pt idx="2">
                  <c:v>109000.0</c:v>
                </c:pt>
                <c:pt idx="3">
                  <c:v>56000.0</c:v>
                </c:pt>
                <c:pt idx="4">
                  <c:v>21000.0</c:v>
                </c:pt>
                <c:pt idx="5">
                  <c:v>1629792.6315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23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F5A000"/>
              </a:solidFill>
              <a:ln>
                <a:noFill/>
              </a:ln>
            </c:spPr>
          </c:dPt>
          <c:dPt>
            <c:idx val="2"/>
            <c:invertIfNegative val="0"/>
            <c:spPr>
              <a:solidFill>
                <a:srgbClr val="B8B8B8"/>
              </a:solidFill>
              <a:ln>
                <a:noFill/>
              </a:ln>
            </c:spPr>
          </c:dPt>
          <c:dPt>
            <c:idx val="3"/>
            <c:invertIfNegative val="0"/>
            <c:spPr>
              <a:solidFill>
                <a:srgbClr val="F5A000"/>
              </a:solidFill>
              <a:ln>
                <a:noFill/>
              </a:ln>
            </c:spPr>
          </c:dPt>
          <c:dPt>
            <c:idx val="4"/>
            <c:invertIfNegative val="0"/>
            <c:spPr>
              <a:solidFill>
                <a:srgbClr val="B8B8B8"/>
              </a:solidFill>
              <a:ln>
                <a:noFill/>
              </a:ln>
            </c:spPr>
          </c:dPt>
          <c:dPt>
            <c:idx val="5"/>
            <c:invertIfNegative val="0"/>
            <c:spPr>
              <a:solidFill>
                <a:srgbClr val="F5A000"/>
              </a:solidFill>
              <a:ln>
                <a:noFill/>
              </a:ln>
            </c:spPr>
          </c:dPt>
          <c:dPt>
            <c:idx val="6"/>
            <c:invertIfNegative val="0"/>
            <c:spPr>
              <a:solidFill>
                <a:srgbClr val="B8B8B8"/>
              </a:solidFill>
              <a:ln>
                <a:noFill/>
              </a:ln>
            </c:spPr>
          </c:dPt>
          <c:dPt>
            <c:idx val="7"/>
            <c:invertIfNegative val="0"/>
            <c:spPr>
              <a:solidFill>
                <a:srgbClr val="B8B8B8"/>
              </a:solidFill>
              <a:ln>
                <a:noFill/>
              </a:ln>
            </c:spPr>
          </c:dPt>
          <c:dPt>
            <c:idx val="8"/>
            <c:invertIfNegative val="0"/>
            <c:spPr>
              <a:solidFill>
                <a:srgbClr val="B8B8B8"/>
              </a:solidFill>
              <a:ln>
                <a:noFill/>
              </a:ln>
            </c:spPr>
          </c:dPt>
          <c:dPt>
            <c:idx val="9"/>
            <c:invertIfNegative val="0"/>
            <c:spPr>
              <a:solidFill>
                <a:srgbClr val="B8B8B8"/>
              </a:solidFill>
              <a:ln>
                <a:noFill/>
              </a:ln>
            </c:spPr>
          </c:dPt>
          <c:dPt>
            <c:idx val="10"/>
            <c:invertIfNegative val="0"/>
            <c:spPr>
              <a:solidFill>
                <a:srgbClr val="E30613"/>
              </a:solidFill>
              <a:ln>
                <a:noFill/>
              </a:ln>
            </c:spPr>
          </c:dPt>
          <c:dLbls>
            <c:dLbl>
              <c:idx val="0"/>
              <c:tx>
                <c:rich>
                  <a:bodyPr/>
                  <a:lstStyle/>
                  <a:p>
                    <a:r>
                      <a:rPr sz="1050" b="1">
                        <a:solidFill>
                          <a:srgbClr val="F2F2F2"/>
                        </a:solidFill>
                        <a:latin typeface="Aptos"/>
                      </a:rPr>
                      <a:t>€3k</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€4k</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€5k</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€15k</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€22k</a:t>
                    </a:r>
                  </a:p>
                </c:rich>
              </c:tx>
              <c:dLblPos val="outEnd"/>
              <c:showLegendKey val="0"/>
              <c:showVal val="1"/>
              <c:showCatName val="0"/>
              <c:showSerName val="0"/>
              <c:showPercent val="0"/>
              <c:showBubbleSize val="0"/>
            </c:dLbl>
            <c:dLbl>
              <c:idx val="7"/>
              <c:tx>
                <c:rich>
                  <a:bodyPr/>
                  <a:lstStyle/>
                  <a:p>
                    <a:r>
                      <a:rPr sz="1050" b="1">
                        <a:solidFill>
                          <a:srgbClr val="F2F2F2"/>
                        </a:solidFill>
                        <a:latin typeface="Aptos"/>
                      </a:rPr>
                      <a:t>€42k</a:t>
                    </a:r>
                  </a:p>
                </c:rich>
              </c:tx>
              <c:dLblPos val="outEnd"/>
              <c:showLegendKey val="0"/>
              <c:showVal val="1"/>
              <c:showCatName val="0"/>
              <c:showSerName val="0"/>
              <c:showPercent val="0"/>
              <c:showBubbleSize val="0"/>
            </c:dLbl>
            <c:dLbl>
              <c:idx val="8"/>
              <c:tx>
                <c:rich>
                  <a:bodyPr/>
                  <a:lstStyle/>
                  <a:p>
                    <a:r>
                      <a:rPr sz="1050" b="1">
                        <a:solidFill>
                          <a:srgbClr val="F2F2F2"/>
                        </a:solidFill>
                        <a:latin typeface="Aptos"/>
                      </a:rPr>
                      <a:t>€57k</a:t>
                    </a:r>
                  </a:p>
                </c:rich>
              </c:tx>
              <c:dLblPos val="outEnd"/>
              <c:showLegendKey val="0"/>
              <c:showVal val="1"/>
              <c:showCatName val="0"/>
              <c:showSerName val="0"/>
              <c:showPercent val="0"/>
              <c:showBubbleSize val="0"/>
            </c:dLbl>
            <c:dLbl>
              <c:idx val="9"/>
              <c:tx>
                <c:rich>
                  <a:bodyPr/>
                  <a:lstStyle/>
                  <a:p>
                    <a:r>
                      <a:rPr sz="1050" b="1">
                        <a:solidFill>
                          <a:srgbClr val="F2F2F2"/>
                        </a:solidFill>
                        <a:latin typeface="Aptos"/>
                      </a:rPr>
                      <a:t>€60k</a:t>
                    </a:r>
                  </a:p>
                </c:rich>
              </c:tx>
              <c:dLblPos val="outEnd"/>
              <c:showLegendKey val="0"/>
              <c:showVal val="1"/>
              <c:showCatName val="0"/>
              <c:showSerName val="0"/>
              <c:showPercent val="0"/>
              <c:showBubbleSize val="0"/>
            </c:dLbl>
            <c:dLbl>
              <c:idx val="10"/>
              <c:tx>
                <c:rich>
                  <a:bodyPr/>
                  <a:lstStyle/>
                  <a:p>
                    <a:r>
                      <a:rPr sz="1050" b="1">
                        <a:solidFill>
                          <a:srgbClr val="F2F2F2"/>
                        </a:solidFill>
                        <a:latin typeface="Aptos"/>
                      </a:rPr>
                      <a:t>€139k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Malta: service parts</c:v>
                </c:pt>
                <c:pt idx="1">
                  <c:v>Israel D-Max distributor: lighting</c:v>
                </c:pt>
                <c:pt idx="2">
                  <c:v>Hungary: service parts</c:v>
                </c:pt>
                <c:pt idx="3">
                  <c:v>Israel trucks distributor: lighting</c:v>
                </c:pt>
                <c:pt idx="4">
                  <c:v>Cyprus: service parts</c:v>
                </c:pt>
                <c:pt idx="5">
                  <c:v>Israel D-Max distributor: body and collision</c:v>
                </c:pt>
                <c:pt idx="6">
                  <c:v>Norway: service parts</c:v>
                </c:pt>
                <c:pt idx="7">
                  <c:v>Belgium: service parts</c:v>
                </c:pt>
                <c:pt idx="8">
                  <c:v>Germany: service parts</c:v>
                </c:pt>
                <c:pt idx="9">
                  <c:v>Israel D-Max distributor: service parts</c:v>
                </c:pt>
                <c:pt idx="10">
                  <c:v>Isuzu UK (D-Max): service parts</c:v>
                </c:pt>
              </c:strCache>
            </c:strRef>
          </c:cat>
          <c:val>
            <c:numRef>
              <c:f>Sheet1!$B$2:$B$12</c:f>
              <c:numCache>
                <c:formatCode>General</c:formatCode>
                <c:ptCount val="11"/>
                <c:pt idx="0">
                  <c:v>3165.01</c:v>
                </c:pt>
                <c:pt idx="1">
                  <c:v>4434.57</c:v>
                </c:pt>
                <c:pt idx="2">
                  <c:v>4565.25</c:v>
                </c:pt>
                <c:pt idx="3">
                  <c:v>8484.33</c:v>
                </c:pt>
                <c:pt idx="4">
                  <c:v>7866.88</c:v>
                </c:pt>
                <c:pt idx="5">
                  <c:v>15463.14</c:v>
                </c:pt>
                <c:pt idx="6">
                  <c:v>21579.57</c:v>
                </c:pt>
                <c:pt idx="7">
                  <c:v>41799.47</c:v>
                </c:pt>
                <c:pt idx="8">
                  <c:v>56790.41</c:v>
                </c:pt>
                <c:pt idx="9">
                  <c:v>60092.35</c:v>
                </c:pt>
                <c:pt idx="10">
                  <c:v>138643.11</c:v>
                </c:pt>
              </c:numCache>
            </c:numRef>
          </c:val>
        </c:ser>
        <c:gapWidth val="35"/>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8500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950" b="1">
                        <a:solidFill>
                          <a:srgbClr val="F2F2F2"/>
                        </a:solidFill>
                        <a:latin typeface="Aptos"/>
                      </a:rPr>
                      <a:t>−€363k</a:t>
                    </a:r>
                  </a:p>
                </c:rich>
              </c:tx>
              <c:dLblPos val="inEnd"/>
              <c:showLegendKey val="0"/>
              <c:showVal val="1"/>
              <c:showCatName val="0"/>
              <c:showSerName val="0"/>
              <c:showPercent val="0"/>
              <c:showBubbleSize val="0"/>
            </c:dLbl>
            <c:dLbl>
              <c:idx val="2"/>
              <c:tx>
                <c:rich>
                  <a:bodyPr/>
                  <a:lstStyle/>
                  <a:p>
                    <a:r>
                      <a:rPr sz="950" b="1">
                        <a:solidFill>
                          <a:srgbClr val="F2F2F2"/>
                        </a:solidFill>
                        <a:latin typeface="Aptos"/>
                      </a:rPr>
                      <a:t>−€8k</a:t>
                    </a:r>
                  </a:p>
                </c:rich>
              </c:tx>
              <c:dLblPos val="inEnd"/>
              <c:showLegendKey val="0"/>
              <c:showVal val="1"/>
              <c:showCatName val="0"/>
              <c:showSerName val="0"/>
              <c:showPercent val="0"/>
              <c:showBubbleSize val="0"/>
            </c:dLbl>
            <c:dLbl>
              <c:idx val="3"/>
              <c:tx>
                <c:rich>
                  <a:bodyPr/>
                  <a:lstStyle/>
                  <a:p>
                    <a:r>
                      <a:rPr sz="950" b="1">
                        <a:solidFill>
                          <a:srgbClr val="F2F2F2"/>
                        </a:solidFill>
                        <a:latin typeface="Aptos"/>
                      </a:rPr>
                      <a:t>+€371k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Proposed list increase (+5.00%)</c:v>
                </c:pt>
                <c:pt idx="1">
                  <c:v>Kept at today's price</c:v>
                </c:pt>
                <c:pt idx="2">
                  <c:v>Ceiling: 5 parts</c:v>
                </c:pt>
                <c:pt idx="3">
                  <c:v>Put back on repair and body</c:v>
                </c:pt>
                <c:pt idx="4">
                  <c:v>Result: still +5.00%</c:v>
                </c:pt>
              </c:strCache>
            </c:strRef>
          </c:cat>
          <c:val>
            <c:numRef>
              <c:f>Sheet1!$B$2:$B$6</c:f>
              <c:numCache>
                <c:formatCode>General</c:formatCode>
                <c:ptCount val="5"/>
                <c:pt idx="0">
                  <c:v>0.0</c:v>
                </c:pt>
                <c:pt idx="1">
                  <c:v>1266908.5561463903</c:v>
                </c:pt>
                <c:pt idx="2">
                  <c:v>1259254.737866507</c:v>
                </c:pt>
                <c:pt idx="3">
                  <c:v>1259254.737866507</c:v>
                </c:pt>
                <c:pt idx="4">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F5A000"/>
              </a:solidFill>
              <a:ln>
                <a:noFill/>
              </a:ln>
            </c:spPr>
          </c:dPt>
          <c:dPt>
            <c:idx val="2"/>
            <c:spPr>
              <a:solidFill>
                <a:srgbClr val="7A7A7A"/>
              </a:solidFill>
              <a:ln>
                <a:noFill/>
              </a:ln>
            </c:spPr>
          </c:dPt>
          <c:dPt>
            <c:idx val="3"/>
            <c:spPr>
              <a:solidFill>
                <a:srgbClr val="31A354"/>
              </a:solidFill>
              <a:ln>
                <a:noFill/>
              </a:ln>
            </c:spPr>
          </c:dPt>
          <c:dPt>
            <c:idx val="4"/>
            <c:spPr>
              <a:solidFill>
                <a:srgbClr val="E30613"/>
              </a:solidFill>
              <a:ln>
                <a:noFill/>
              </a:ln>
            </c:spPr>
          </c:dPt>
          <c:dLbls>
            <c:dLbl>
              <c:idx val="0"/>
              <c:tx>
                <c:rich>
                  <a:bodyPr/>
                  <a:lstStyle/>
                  <a:p>
                    <a:r>
                      <a:rPr sz="950" b="1">
                        <a:solidFill>
                          <a:srgbClr val="F2F2F2"/>
                        </a:solidFill>
                        <a:latin typeface="Aptos"/>
                      </a:rPr>
                      <a:t>€1.63M</a:t>
                    </a:r>
                  </a:p>
                </c:rich>
              </c:tx>
              <c:dLblPos val="inEnd"/>
              <c:showLegendKey val="0"/>
              <c:showVal val="1"/>
              <c:showCatName val="0"/>
              <c:showSerName val="0"/>
              <c:showPercent val="0"/>
              <c:showBubbleSize val="0"/>
            </c:dLbl>
            <c:dLbl>
              <c:idx val="4"/>
              <c:tx>
                <c:rich>
                  <a:bodyPr/>
                  <a:lstStyle/>
                  <a:p>
                    <a:r>
                      <a:rPr sz="95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Proposed list increase (+5.00%)</c:v>
                </c:pt>
                <c:pt idx="1">
                  <c:v>Kept at today's price</c:v>
                </c:pt>
                <c:pt idx="2">
                  <c:v>Ceiling: 5 parts</c:v>
                </c:pt>
                <c:pt idx="3">
                  <c:v>Put back on repair and body</c:v>
                </c:pt>
                <c:pt idx="4">
                  <c:v>Result: still +5.00%</c:v>
                </c:pt>
              </c:strCache>
            </c:strRef>
          </c:cat>
          <c:val>
            <c:numRef>
              <c:f>Sheet1!$C$2:$C$6</c:f>
              <c:numCache>
                <c:formatCode>General</c:formatCode>
                <c:ptCount val="5"/>
                <c:pt idx="0">
                  <c:v>1629792.631499988</c:v>
                </c:pt>
                <c:pt idx="1">
                  <c:v>362884.07535359776</c:v>
                </c:pt>
                <c:pt idx="2">
                  <c:v>7653.818279883287</c:v>
                </c:pt>
                <c:pt idx="3">
                  <c:v>370537.8936334896</c:v>
                </c:pt>
                <c:pt idx="4">
                  <c:v>1629792.631499988</c:v>
                </c:pt>
              </c:numCache>
            </c:numRef>
          </c:val>
        </c:ser>
        <c:gapWidth val="30"/>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20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Spread over every remaining part</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Lbls>
            <c:dLbl>
              <c:idx val="0"/>
              <c:tx>
                <c:rich>
                  <a:bodyPr/>
                  <a:lstStyle/>
                  <a:p>
                    <a:r>
                      <a:rPr sz="950" b="1">
                        <a:solidFill>
                          <a:srgbClr val="F2F2F2"/>
                        </a:solidFill>
                        <a:latin typeface="Aptos"/>
                      </a:rPr>
                      <a:t>137</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168</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92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Sheet1!$B$2:$B$4</c:f>
              <c:numCache>
                <c:formatCode>General</c:formatCode>
                <c:ptCount val="3"/>
                <c:pt idx="0">
                  <c:v>137.023</c:v>
                </c:pt>
                <c:pt idx="1">
                  <c:v>167.961</c:v>
                </c:pt>
                <c:pt idx="2">
                  <c:v>91.583</c:v>
                </c:pt>
              </c:numCache>
            </c:numRef>
          </c:val>
        </c:ser>
        <c:ser>
          <c:idx val="1"/>
          <c:order val="1"/>
          <c:tx>
            <c:strRef>
              <c:f>Sheet1!$C$1</c:f>
              <c:strCache>
                <c:ptCount val="1"/>
                <c:pt idx="0">
                  <c:v>Proposed: only repair and body, no rival found</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Lbls>
            <c:dLbl>
              <c:idx val="0"/>
              <c:tx>
                <c:rich>
                  <a:bodyPr/>
                  <a:lstStyle/>
                  <a:p>
                    <a:r>
                      <a:rPr sz="950" b="1">
                        <a:solidFill>
                          <a:srgbClr val="F2F2F2"/>
                        </a:solidFill>
                        <a:latin typeface="Aptos"/>
                      </a:rPr>
                      <a:t>0</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236</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134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Sheet1!$C$2:$C$4</c:f>
              <c:numCache>
                <c:formatCode>General</c:formatCode>
                <c:ptCount val="3"/>
                <c:pt idx="0">
                  <c:v>0.0</c:v>
                </c:pt>
                <c:pt idx="1">
                  <c:v>236.36761304178742</c:v>
                </c:pt>
                <c:pt idx="2">
                  <c:v>134.17028059170286</c:v>
                </c:pt>
              </c:numCache>
            </c:numRef>
          </c:val>
        </c:ser>
        <c:ser>
          <c:idx val="2"/>
          <c:order val="2"/>
          <c:tx>
            <c:strRef>
              <c:f>Sheet1!$D$1</c:f>
              <c:strCache>
                <c:ptCount val="1"/>
                <c:pt idx="0">
                  <c:v>Weighted by outside shop prices</c:v>
                </c:pt>
              </c:strCache>
            </c:strRef>
          </c:tx>
          <c:spPr>
            <a:solidFill>
              <a:srgbClr val="7A7A7A"/>
            </a:solidFill>
            <a:ln>
              <a:noFill/>
            </a:ln>
          </c:spPr>
          <c:invertIfNegative val="0"/>
          <c:dPt>
            <c:idx val="0"/>
            <c:invertIfNegative val="0"/>
            <c:spPr>
              <a:solidFill>
                <a:srgbClr val="7A7A7A"/>
              </a:solidFill>
              <a:ln>
                <a:noFill/>
              </a:ln>
            </c:spPr>
          </c:dPt>
          <c:dPt>
            <c:idx val="1"/>
            <c:invertIfNegative val="0"/>
            <c:spPr>
              <a:solidFill>
                <a:srgbClr val="7A7A7A"/>
              </a:solidFill>
              <a:ln>
                <a:noFill/>
              </a:ln>
            </c:spPr>
          </c:dPt>
          <c:dPt>
            <c:idx val="2"/>
            <c:invertIfNegative val="0"/>
            <c:spPr>
              <a:solidFill>
                <a:srgbClr val="7A7A7A"/>
              </a:solidFill>
              <a:ln>
                <a:noFill/>
              </a:ln>
            </c:spPr>
          </c:dPt>
          <c:dLbls>
            <c:dLbl>
              <c:idx val="0"/>
              <c:tx>
                <c:rich>
                  <a:bodyPr/>
                  <a:lstStyle/>
                  <a:p>
                    <a:r>
                      <a:rPr sz="950" b="1">
                        <a:solidFill>
                          <a:srgbClr val="F2F2F2"/>
                        </a:solidFill>
                        <a:latin typeface="Aptos"/>
                      </a:rPr>
                      <a:t>91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200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106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Sheet1!$D$2:$D$4</c:f>
              <c:numCache>
                <c:formatCode>General</c:formatCode>
                <c:ptCount val="3"/>
                <c:pt idx="0">
                  <c:v>90.683</c:v>
                </c:pt>
                <c:pt idx="1">
                  <c:v>199.856</c:v>
                </c:pt>
                <c:pt idx="2">
                  <c:v>106.029</c:v>
                </c:pt>
              </c:numCache>
            </c:numRef>
          </c:val>
        </c:ser>
        <c:gapWidth val="50"/>
        <c:overlap val="-8"/>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300.0"/>
        </c:scaling>
        <c:delete/>
        <c:axPos val="l"/>
        <c:majorTickMark val="out"/>
        <c:minorTickMark val="none"/>
        <c:tickLblPos val="nextTo"/>
        <c:crossAx val="-2068027336"/>
        <c:crosses val="autoZero"/>
      </c:valAx>
      <c:spPr>
        <a:noFill/>
        <a:ln>
          <a:noFill/>
        </a:ln>
      </c:spPr>
    </c:plotArea>
    <c:legend>
      <c:legendPos val="b"/>
      <c:overlay val="0"/>
      <c:txPr>
        <a:bodyPr/>
        <a:lstStyle/>
        <a:p>
          <a:pPr>
            <a:defRPr sz="950">
              <a:solidFill>
                <a:srgbClr val="BDBDBD"/>
              </a:solidFill>
              <a:latin typeface="Aptos"/>
            </a:defRPr>
          </a:pPr>
        </a:p>
      </c:txPr>
    </c:legend>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the holds</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B8B8B8"/>
              </a:solidFill>
              <a:ln>
                <a:noFill/>
              </a:ln>
            </c:spPr>
          </c:dPt>
          <c:dPt>
            <c:idx val="6"/>
            <c:invertIfNegative val="0"/>
            <c:spPr>
              <a:solidFill>
                <a:srgbClr val="B8B8B8"/>
              </a:solidFill>
              <a:ln>
                <a:noFill/>
              </a:ln>
            </c:spPr>
          </c:dPt>
          <c:dPt>
            <c:idx val="7"/>
            <c:invertIfNegative val="0"/>
            <c:spPr>
              <a:solidFill>
                <a:srgbClr val="B8B8B8"/>
              </a:solidFill>
              <a:ln>
                <a:noFill/>
              </a:ln>
            </c:spPr>
          </c:dPt>
          <c:dLbls>
            <c:dLbl>
              <c:idx val="0"/>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4.7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4.9</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Sheet1!$B$2:$B$9</c:f>
              <c:numCache>
                <c:formatCode>General</c:formatCode>
                <c:ptCount val="8"/>
                <c:pt idx="0">
                  <c:v>5.054008940383984</c:v>
                </c:pt>
                <c:pt idx="1">
                  <c:v>5.050453774770116</c:v>
                </c:pt>
                <c:pt idx="2">
                  <c:v>4.728816605450658</c:v>
                </c:pt>
                <c:pt idx="3">
                  <c:v>4.852939512357281</c:v>
                </c:pt>
                <c:pt idx="4">
                  <c:v>5.083758494139914</c:v>
                </c:pt>
                <c:pt idx="5">
                  <c:v>5.4087940419059555</c:v>
                </c:pt>
                <c:pt idx="6">
                  <c:v>5.132273738140569</c:v>
                </c:pt>
                <c:pt idx="7">
                  <c:v>4.697924428580548</c:v>
                </c:pt>
              </c:numCache>
            </c:numRef>
          </c:val>
        </c:ser>
        <c:ser>
          <c:idx val="1"/>
          <c:order val="1"/>
          <c:tx>
            <c:strRef>
              <c:f>Sheet1!$C$1</c:f>
              <c:strCache>
                <c:ptCount val="1"/>
                <c:pt idx="0">
                  <c:v>Proposal now (UK pickup carries extra)</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Pt>
            <c:idx val="3"/>
            <c:invertIfNegative val="0"/>
            <c:spPr>
              <a:solidFill>
                <a:srgbClr val="E30613"/>
              </a:solidFill>
              <a:ln>
                <a:noFill/>
              </a:ln>
            </c:spPr>
          </c:dPt>
          <c:dPt>
            <c:idx val="4"/>
            <c:invertIfNegative val="0"/>
            <c:spPr>
              <a:solidFill>
                <a:srgbClr val="E30613"/>
              </a:solidFill>
              <a:ln>
                <a:noFill/>
              </a:ln>
            </c:spPr>
          </c:dPt>
          <c:dPt>
            <c:idx val="5"/>
            <c:invertIfNegative val="0"/>
            <c:spPr>
              <a:solidFill>
                <a:srgbClr val="E30613"/>
              </a:solidFill>
              <a:ln>
                <a:noFill/>
              </a:ln>
            </c:spPr>
          </c:dPt>
          <c:dPt>
            <c:idx val="6"/>
            <c:invertIfNegative val="0"/>
            <c:spPr>
              <a:solidFill>
                <a:srgbClr val="E30613"/>
              </a:solidFill>
              <a:ln>
                <a:noFill/>
              </a:ln>
            </c:spPr>
          </c:dPt>
          <c:dPt>
            <c:idx val="7"/>
            <c:invertIfNegative val="0"/>
            <c:spPr>
              <a:solidFill>
                <a:srgbClr val="E30613"/>
              </a:solidFill>
              <a:ln>
                <a:noFill/>
              </a:ln>
            </c:spPr>
          </c:dPt>
          <c:dLbls>
            <c:dLbl>
              <c:idx val="0"/>
              <c:tx>
                <c:rich>
                  <a:bodyPr/>
                  <a:lstStyle/>
                  <a:p>
                    <a:r>
                      <a:rPr sz="950" b="1">
                        <a:solidFill>
                          <a:srgbClr val="F2F2F2"/>
                        </a:solidFill>
                        <a:latin typeface="Aptos"/>
                      </a:rPr>
                      <a:t>4.2</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5.7</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4.0</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2.4</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6.2</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Sheet1!$C$2:$C$9</c:f>
              <c:numCache>
                <c:formatCode>General</c:formatCode>
                <c:ptCount val="8"/>
                <c:pt idx="0">
                  <c:v>4.184753815706695</c:v>
                </c:pt>
                <c:pt idx="1">
                  <c:v>5.737040693754648</c:v>
                </c:pt>
                <c:pt idx="2">
                  <c:v>5.41817690427425</c:v>
                </c:pt>
                <c:pt idx="3">
                  <c:v>4.030251315211588</c:v>
                </c:pt>
                <c:pt idx="4">
                  <c:v>2.4426990250547593</c:v>
                </c:pt>
                <c:pt idx="5">
                  <c:v>5.40253354353783</c:v>
                </c:pt>
                <c:pt idx="6">
                  <c:v>6.2207716816645355</c:v>
                </c:pt>
                <c:pt idx="7">
                  <c:v>4.73915137849458</c:v>
                </c:pt>
              </c:numCache>
            </c:numRef>
          </c:val>
        </c:ser>
        <c:ser>
          <c:idx val="2"/>
          <c:order val="2"/>
          <c:tx>
            <c:strRef>
              <c:f>Sheet1!$D$1</c:f>
              <c:strCache>
                <c:ptCount val="1"/>
                <c:pt idx="0">
                  <c:v>If UK pickup is left out of the extra</c:v>
                </c:pt>
              </c:strCache>
            </c:strRef>
          </c:tx>
          <c:spPr>
            <a:solidFill>
              <a:srgbClr val="31A354"/>
            </a:solidFill>
            <a:ln>
              <a:noFill/>
            </a:ln>
          </c:spPr>
          <c:invertIfNegative val="0"/>
          <c:dPt>
            <c:idx val="0"/>
            <c:invertIfNegative val="0"/>
            <c:spPr>
              <a:solidFill>
                <a:srgbClr val="31A354"/>
              </a:solidFill>
              <a:ln>
                <a:noFill/>
              </a:ln>
            </c:spPr>
          </c:dPt>
          <c:dPt>
            <c:idx val="1"/>
            <c:invertIfNegative val="0"/>
            <c:spPr>
              <a:solidFill>
                <a:srgbClr val="31A354"/>
              </a:solidFill>
              <a:ln>
                <a:noFill/>
              </a:ln>
            </c:spPr>
          </c:dPt>
          <c:dPt>
            <c:idx val="2"/>
            <c:invertIfNegative val="0"/>
            <c:spPr>
              <a:solidFill>
                <a:srgbClr val="31A354"/>
              </a:solidFill>
              <a:ln>
                <a:noFill/>
              </a:ln>
            </c:spPr>
          </c:dPt>
          <c:dPt>
            <c:idx val="3"/>
            <c:invertIfNegative val="0"/>
            <c:spPr>
              <a:solidFill>
                <a:srgbClr val="31A354"/>
              </a:solidFill>
              <a:ln>
                <a:noFill/>
              </a:ln>
            </c:spPr>
          </c:dPt>
          <c:dPt>
            <c:idx val="4"/>
            <c:invertIfNegative val="0"/>
            <c:spPr>
              <a:solidFill>
                <a:srgbClr val="31A354"/>
              </a:solidFill>
              <a:ln>
                <a:noFill/>
              </a:ln>
            </c:spPr>
          </c:dPt>
          <c:dPt>
            <c:idx val="5"/>
            <c:invertIfNegative val="0"/>
            <c:spPr>
              <a:solidFill>
                <a:srgbClr val="31A354"/>
              </a:solidFill>
              <a:ln>
                <a:noFill/>
              </a:ln>
            </c:spPr>
          </c:dPt>
          <c:dPt>
            <c:idx val="6"/>
            <c:invertIfNegative val="0"/>
            <c:spPr>
              <a:solidFill>
                <a:srgbClr val="31A354"/>
              </a:solidFill>
              <a:ln>
                <a:noFill/>
              </a:ln>
            </c:spPr>
          </c:dPt>
          <c:dPt>
            <c:idx val="7"/>
            <c:invertIfNegative val="0"/>
            <c:spPr>
              <a:solidFill>
                <a:srgbClr val="31A354"/>
              </a:solidFill>
              <a:ln>
                <a:noFill/>
              </a:ln>
            </c:spPr>
          </c:dPt>
          <c:dLbls>
            <c:dLbl>
              <c:idx val="0"/>
              <c:tx>
                <c:rich>
                  <a:bodyPr/>
                  <a:lstStyle/>
                  <a:p>
                    <a:r>
                      <a:rPr sz="950" b="1">
                        <a:solidFill>
                          <a:srgbClr val="F2F2F2"/>
                        </a:solidFill>
                        <a:latin typeface="Aptos"/>
                      </a:rPr>
                      <a:t>2.8</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6.0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4.4</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2.6</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5.9</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6.5</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5.2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Sheet1!$D$2:$D$9</c:f>
              <c:numCache>
                <c:formatCode>General</c:formatCode>
                <c:ptCount val="8"/>
                <c:pt idx="0">
                  <c:v>2.8188254576860765</c:v>
                </c:pt>
                <c:pt idx="1">
                  <c:v>5.956149356152503</c:v>
                </c:pt>
                <c:pt idx="2">
                  <c:v>5.709126464961315</c:v>
                </c:pt>
                <c:pt idx="3">
                  <c:v>4.419715531871232</c:v>
                </c:pt>
                <c:pt idx="4">
                  <c:v>2.6370035928183233</c:v>
                </c:pt>
                <c:pt idx="5">
                  <c:v>5.924944739157394</c:v>
                </c:pt>
                <c:pt idx="6">
                  <c:v>6.5488087813008455</c:v>
                </c:pt>
                <c:pt idx="7">
                  <c:v>5.2065405308020845</c:v>
                </c:pt>
              </c:numCache>
            </c:numRef>
          </c:val>
        </c:ser>
        <c:gapWidth val="45"/>
        <c:overlap val="-5"/>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9.0"/>
        </c:scaling>
        <c:delete/>
        <c:axPos val="l"/>
        <c:majorTickMark val="out"/>
        <c:minorTickMark val="none"/>
        <c:tickLblPos val="nextTo"/>
        <c:crossAx val="-2068027336"/>
        <c:crosses val="autoZero"/>
      </c:valAx>
      <c:spPr>
        <a:noFill/>
        <a:ln>
          <a:noFill/>
        </a:ln>
      </c:spPr>
    </c:plotArea>
    <c:legend>
      <c:legendPos val="b"/>
      <c:overlay val="0"/>
      <c:txPr>
        <a:bodyPr/>
        <a:lstStyle/>
        <a:p>
          <a:pPr>
            <a:defRPr sz="1000">
              <a:solidFill>
                <a:srgbClr val="BDBDBD"/>
              </a:solidFill>
              <a:latin typeface="Aptos"/>
            </a:defRPr>
          </a:pPr>
        </a:p>
      </c:txPr>
    </c:legend>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E30613"/>
              </a:solidFill>
              <a:ln>
                <a:noFill/>
              </a:ln>
            </c:spPr>
          </c:dPt>
          <c:dPt>
            <c:idx val="1"/>
            <c:invertIfNegative val="0"/>
            <c:spPr>
              <a:solidFill>
                <a:srgbClr val="B8B8B8"/>
              </a:solidFill>
              <a:ln>
                <a:noFill/>
              </a:ln>
            </c:spPr>
          </c:dPt>
          <c:dPt>
            <c:idx val="2"/>
            <c:invertIfNegative val="0"/>
            <c:spPr>
              <a:solidFill>
                <a:srgbClr val="E30613"/>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55C271"/>
              </a:solidFill>
              <a:ln>
                <a:noFill/>
              </a:ln>
            </c:spPr>
          </c:dPt>
          <c:dPt>
            <c:idx val="6"/>
            <c:invertIfNegative val="0"/>
            <c:spPr>
              <a:solidFill>
                <a:srgbClr val="55C271"/>
              </a:solidFill>
              <a:ln>
                <a:noFill/>
              </a:ln>
            </c:spPr>
          </c:dPt>
          <c:dLbls>
            <c:dLbl>
              <c:idx val="0"/>
              <c:tx>
                <c:rich>
                  <a:bodyPr/>
                  <a:lstStyle/>
                  <a:p>
                    <a:r>
                      <a:rPr sz="1050" b="1">
                        <a:solidFill>
                          <a:srgbClr val="F2F2F2"/>
                        </a:solidFill>
                        <a:latin typeface="Aptos"/>
                      </a:rPr>
                      <a:t>15.4%</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21.0%</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24.5%</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50.4%</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73.7%</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97.7%</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100.0%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Competitor part number, confirmed or likely</c:v>
                </c:pt>
                <c:pt idx="1">
                  <c:v>Aftermarket shop price</c:v>
                </c:pt>
                <c:pt idx="2">
                  <c:v>Any competitor evidence</c:v>
                </c:pt>
                <c:pt idx="3">
                  <c:v>Genuine Isuzu sold outside our network</c:v>
                </c:pt>
                <c:pt idx="4">
                  <c:v>Dealer response to the April 2026 rise</c:v>
                </c:pt>
                <c:pt idx="5">
                  <c:v>Vehicle line (D-Max or truck)</c:v>
                </c:pt>
                <c:pt idx="6">
                  <c:v>Order lines and order type</c:v>
                </c:pt>
              </c:strCache>
            </c:strRef>
          </c:cat>
          <c:val>
            <c:numRef>
              <c:f>Sheet1!$B$2:$B$8</c:f>
              <c:numCache>
                <c:formatCode>General</c:formatCode>
                <c:ptCount val="7"/>
                <c:pt idx="0">
                  <c:v>15.4</c:v>
                </c:pt>
                <c:pt idx="1">
                  <c:v>21.0</c:v>
                </c:pt>
                <c:pt idx="2">
                  <c:v>24.5</c:v>
                </c:pt>
                <c:pt idx="3">
                  <c:v>50.4</c:v>
                </c:pt>
                <c:pt idx="4">
                  <c:v>73.7</c:v>
                </c:pt>
                <c:pt idx="5">
                  <c:v>97.7</c:v>
                </c:pt>
                <c:pt idx="6">
                  <c:v>100.0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18.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pricing analysis of 2 October 2026 and the +5% workbook with the market layer, version of 11 October 2026 (filters follow the factory increase). Everything here is a proposal for management; page 12 sets out the position on three part categories that sit inside the held service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IML/IMIT increase 6.0% weighted by parts billed (6.01%; 5.96% on IML's own basis, quantity times yen base price); by group service 5.5%, repair 6.6%, body and collision 7.0% (as in the pricing analysis of 2 October 2026). Proposed increase = average over all lines of the group, including lines kept at today's price, billed-weighted, from the workbook line-by-line sheet: service 2.41%, repair 8.55%, body 8.97%. Total +5.00% = €1,629,793 on €32,595,853. Kept at today's price €362,884; recovery €370,538, 8,446 part numbers (the analysis says 8,447: it also counts one part kept at today's price). The three groups add to the €32.6M.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 scheduled-service parts (BVP cross-reference service categories and the master service flag); body = family Accident and Body; repair = the rest, including lighting. Checked on 4 October against the approved release 2026-10-02: 0 of 15,273 parts change between groups. Product group euro are from the parts category release of 7 October 2026 joined to the +5% workbook (each part counted once, in its group). If the parts-categories presentation is shown first, this slide is a reminder; if not, this is the only place the grouping is explained.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 weighted by parts billed (6.01%); on IML's own basis (quantity times yen base price) 5.96%. Service parts 5.5%, repair 6.6%, body and collision 7.0% (as in the pricing analysis of 2 October 2026). The previous revision, September 2025, was about 3.2% weighted by quantity billed and fed the April 2026 list. Purchase terms and exchange rate: supplier notice of 22 December 2025 and the corporate rate notifications. The exchange rate moves the euro price and the euro gross profit; it never moves the margin percentage.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IML/IMIT increase on every part: €1,959,056 (6.0% of parts billed). 90.5% of each part's own increase (scaling 0.9054) = €1,773,785. Pad kits -€109k, categories where the distributor sells under 45% of what its vehicles need -€56k, small extra where UK web shops sell dearer +€21k; result €1,629,793. Median part +6.4% (workbook 6.35%), 90th percentile 7.3%, largest single increase 193% (99 parts above 15%, reviewed one by one). Class margin falls 0.5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view of where the list rises and by how much (it replaces the earlier market table and part-group page). Each cell is the billed-weighted average increase of that group in that market after the proposed exceptions (holds and recovery). Amber service cells = service parts kept at today's price in that market (eight markets), except filters, which follow the factory increase, so those cells are above zero. In the Israel D-Max distributor row the repair and body figures are lower because lighting, body and collision parts are kept at today's price. 'Seven other markets' = Ukraine, Greece, Finland, Romania, Denmark, Iceland, Palestine. Armenia and Kazakhstan are left out of the market decisions and take their own increase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given up €362,884. Twenty-one markets were read one by one on what each buys, how its fleet moves, how much of its service work we win (service share), what it pays against list and what dealers and distributors say. Service parts at Isuzu UK (D-Max) alone are the largest single item. The Israel D-Max lighting proposal (€4,435) is included. Brake complaint register from July–August 2026 reviews: Isuzu UK pickup (6 Aug), Isuzu Truck UK (18 Aug), Israel D-Max (12 Aug), Germany (5 Aug), Belgium (12 Aug), Portugal (29 Jul), Hungary (11 Aug), Iceland (25 Aug). The written register names these eight; it does not record how many distributors were asked. Armenia and Kazakhstan are left out of the market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at today's price -€362,884; ceiling cut -€7,654 (5 parts that would rise more than 5 points above their own IML/IMIT increase; the cut is recovered as well); recovery +€370,538: repair €236,368, body €134,170, service nil. Extra 3.48 points on 8,446 parts. No aftermarket rival found = no confirmed or likely competitor number, no aftermarket price observed, no cheaper Best Value alternative, not in the competitive-parts family, and not a category the distributor is measured to lose. Mostly this means none was found, not that none exists (page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to dealer response = percentage change in dealer purchases for +1% on our price within the same part family, measured on the April 2026 list change (price sensitivity / elasticity — the plain sentence is enough for the slide). Isuzu UK (D-Max) -1.08 (standard error 0.46, 95% interval ±0.90). Pooled over Isuzu Truck UK, Isuzu UK (D-Max), Ireland and Portugal: -0.16 (standard error 0.23), statistically indistinguishable from no reaction; used only for volume scenarios. Before the market holds the €1.63M becomes about €1.35M if the pooled reaction applies, and €0.22M in a pessimistic case (a stress test, not a forecast). With the exemption Isuzu UK (D-Max) averages 2.8% instead of 4.2%.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distributors are always shown separately. A vehicle is declared a total loss at 60% of pre-accident value; the insurer may settle as a constructive total loss from 50-55% (two policy readings differ). Verified for vehicles up to 3.5 tonnes (the D-Max). The D-Max distributor also keeps service parts at today's price (€60k), with the leasing share still open (page 13). Panels: back orders 4 to 16 weeks, median 13; open panel lines averaged 22 a week in weeks 2-13, 29 in weeks 14-26 and 19 in weeks 27-40. Part of the euro drop is a single F-Series grille from a 2025 stock build. On the panels bought in both periods units rose 9.5% and euro fell 5.3%. Limits: lost jobs are not visible in our data; only the distributor can supply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 outside price without VAT divided by the dealer price we build from our list; below 1.0 the outside seller is cheaper. That built dealer price is provisional (set 2 October 2026); September papers used a different one, so ratios are not comparable with September. 182 aftermarket parts (€6.0M billed) sit below 0.8; only 46 parts (€0.45M) have a rival dearer than us. 71% of parts (46% of parts billed) pass the 'no aftermarket rival found' test. Body parts look almost entirely without a rival, but non-genuine body parts have not been searched: a price check on pattern parts for the top 50 body parts is a next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of each hold from the workbook's table 'What each hold is worth': filters €26,030 (now released), brake discs and drums €52,339, intake, exhaust and emission €92,749. All holds if filters were held as well: €388,914; now €362,884. With filters released the extra falls from 3.73 to 3.48 points and the recovery from €396,568 to €370,538; the total stays €1,629,793 (+5.00%). The filter and brake-disc positions were settled on 11 October; to management they are proposals. Pad-kit rationale: the pricing analysis of 2 October, section 4; summer brake complaints as on page 7. The comparison of three recovery options on page 8 for the two options not proposed is as calculated on 2 October, with filters held.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in this revision: the Israel D-Max distributor leasing share (leased double cabs must use genuine parts in the first two years and run the highest mileage of the pickup markets), the Isuzu UK (D-Max) exemption and the intake, exhaust and emission position. Discounts and surcharges are valued on calendar-2025 order lines at the 2025 list; Armenia and Kazakhstan left out. New N-Series: 826 part numbers on the provisional new-parts list, 135 ever billed (€0.25M), 14 in this year's base (€660).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cover_bar"/>
          <p:cNvSpPr/>
          <p:nvPr/>
        </p:nvSpPr>
        <p:spPr>
          <a:xfrm>
            <a:off x="0" y="0"/>
            <a:ext cx="91440" cy="68580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_kicker"/>
          <p:cNvSpPr txBox="1"/>
          <p:nvPr/>
        </p:nvSpPr>
        <p:spPr>
          <a:xfrm>
            <a:off x="411480" y="292608"/>
            <a:ext cx="7315200" cy="182880"/>
          </a:xfrm>
          <a:prstGeom prst="rect">
            <a:avLst/>
          </a:prstGeom>
          <a:noFill/>
        </p:spPr>
        <p:txBody>
          <a:bodyPr wrap="square" anchor="t" lIns="0" rIns="0" tIns="0" bIns="0"/>
          <a:lstStyle/>
          <a:p>
            <a:pPr algn="l"/>
            <a:r>
              <a:rPr sz="800" b="1" i="0">
                <a:solidFill>
                  <a:srgbClr val="F2F2F2"/>
                </a:solidFill>
                <a:latin typeface="Aptos"/>
              </a:rPr>
              <a:t>ISZE  ·  VEHICLE PARTS &amp; ACCESSORIES  ·  PARTS PRICING</a:t>
            </a:r>
          </a:p>
        </p:txBody>
      </p:sp>
      <p:sp>
        <p:nvSpPr>
          <p:cNvPr id="4" name="cover_title"/>
          <p:cNvSpPr txBox="1"/>
          <p:nvPr/>
        </p:nvSpPr>
        <p:spPr>
          <a:xfrm>
            <a:off x="411480" y="1737360"/>
            <a:ext cx="10424160" cy="1737360"/>
          </a:xfrm>
          <a:prstGeom prst="rect">
            <a:avLst/>
          </a:prstGeom>
          <a:noFill/>
        </p:spPr>
        <p:txBody>
          <a:bodyPr wrap="square" anchor="t" lIns="0" rIns="0" tIns="0" bIns="0"/>
          <a:lstStyle/>
          <a:p>
            <a:pPr algn="l">
              <a:lnSpc>
                <a:spcPct val="95000"/>
              </a:lnSpc>
            </a:pPr>
            <a:r>
              <a:rPr sz="3600" b="1" i="0">
                <a:solidFill>
                  <a:srgbClr val="F2F2F2"/>
                </a:solidFill>
                <a:latin typeface="Aptos"/>
              </a:rPr>
              <a:t>Parts price revision</a:t>
            </a:r>
          </a:p>
        </p:txBody>
      </p:sp>
      <p:sp>
        <p:nvSpPr>
          <p:cNvPr id="5" name="cover_sub"/>
          <p:cNvSpPr txBox="1"/>
          <p:nvPr/>
        </p:nvSpPr>
        <p:spPr>
          <a:xfrm>
            <a:off x="411480" y="3840480"/>
            <a:ext cx="9875520" cy="822960"/>
          </a:xfrm>
          <a:prstGeom prst="rect">
            <a:avLst/>
          </a:prstGeom>
          <a:noFill/>
        </p:spPr>
        <p:txBody>
          <a:bodyPr wrap="square" anchor="t" lIns="0" rIns="0" tIns="0" bIns="0"/>
          <a:lstStyle/>
          <a:p>
            <a:pPr algn="l">
              <a:lnSpc>
                <a:spcPct val="105000"/>
              </a:lnSpc>
            </a:pPr>
            <a:r>
              <a:rPr sz="1500" b="0" i="0">
                <a:solidFill>
                  <a:srgbClr val="BDBDBD"/>
                </a:solidFill>
                <a:latin typeface="Aptos"/>
              </a:rPr>
              <a:t>How our price list follows the increase from IML and IMIT, and the exceptions we propose.</a:t>
            </a:r>
          </a:p>
        </p:txBody>
      </p:sp>
      <p:sp>
        <p:nvSpPr>
          <p:cNvPr id="6" name="cover_small"/>
          <p:cNvSpPr txBox="1"/>
          <p:nvPr/>
        </p:nvSpPr>
        <p:spPr>
          <a:xfrm>
            <a:off x="411480" y="4892040"/>
            <a:ext cx="9875520" cy="457200"/>
          </a:xfrm>
          <a:prstGeom prst="rect">
            <a:avLst/>
          </a:prstGeom>
          <a:noFill/>
        </p:spPr>
        <p:txBody>
          <a:bodyPr wrap="square" anchor="t" lIns="0" rIns="0" tIns="0" bIns="0"/>
          <a:lstStyle/>
          <a:p>
            <a:pPr algn="l"/>
            <a:r>
              <a:rPr sz="1050" b="0" i="0">
                <a:solidFill>
                  <a:srgbClr val="BDBDBD"/>
                </a:solidFill>
                <a:latin typeface="Aptos"/>
              </a:rPr>
              <a:t>October 2026  ·  Draft for review</a:t>
            </a:r>
          </a:p>
        </p:txBody>
      </p:sp>
      <p:sp>
        <p:nvSpPr>
          <p:cNvPr id="7" name="cover_tag"/>
          <p:cNvSpPr txBox="1"/>
          <p:nvPr/>
        </p:nvSpPr>
        <p:spPr>
          <a:xfrm>
            <a:off x="411480" y="5349240"/>
            <a:ext cx="9875520" cy="320040"/>
          </a:xfrm>
          <a:prstGeom prst="rect">
            <a:avLst/>
          </a:prstGeom>
          <a:noFill/>
        </p:spPr>
        <p:txBody>
          <a:bodyPr wrap="square" anchor="t" lIns="0" rIns="0" tIns="0" bIns="0"/>
          <a:lstStyle/>
          <a:p>
            <a:pPr algn="l"/>
            <a:r>
              <a:rPr sz="1100" b="0" i="0">
                <a:solidFill>
                  <a:srgbClr val="BDBDBD"/>
                </a:solidFill>
                <a:latin typeface="Aptos"/>
              </a:rPr>
              <a:t>Status: a proposal. Nothing in this presentation changes a price, the price list or a distributor condition.</a:t>
            </a:r>
          </a:p>
        </p:txBody>
      </p:sp>
      <p:pic>
        <p:nvPicPr>
          <p:cNvPr id="8" name="isuzu_logo" descr="isuzu_logo.png"/>
          <p:cNvPicPr>
            <a:picLocks noChangeAspect="1"/>
          </p:cNvPicPr>
          <p:nvPr/>
        </p:nvPicPr>
        <p:blipFill>
          <a:blip r:embed="rId2"/>
          <a:stretch>
            <a:fillRect/>
          </a:stretch>
        </p:blipFill>
        <p:spPr>
          <a:xfrm>
            <a:off x="411480" y="6035040"/>
            <a:ext cx="1892807" cy="32971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THE PROPOSAL</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Proposal: our price list follows the IML and IMIT increase, at +5.0% on average</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Weighted by what we billed July 2025 – June 2026: €32.6M of parts billed, 15,273 part numbers.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2</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WE PROPOSE</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Each part follows its own IML/IMIT increase, scaled so that the total is +5.0%.</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Prices stay at today's level where a rise would cost us business: brake pad kits (dealers already say brakes are too dear), service parts in eight markets, and body and lighting parts at the Israel D-Max distributor.</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The market holds give up €363k. They come on top of the pad kits and a few lost categories (page 5). The holds are recovered on repair and body parts for which we found no aftermarket alternative, so the total stays at +5.0%.</a:t>
            </a:r>
          </a:p>
        </p:txBody>
      </p:sp>
      <p:graphicFrame>
        <p:nvGraphicFramePr>
          <p:cNvPr id="17" name="table_proposal"/>
          <p:cNvGraphicFramePr>
            <a:graphicFrameLocks noGrp="1"/>
          </p:cNvGraphicFramePr>
          <p:nvPr/>
        </p:nvGraphicFramePr>
        <p:xfrm>
          <a:off x="228600" y="1828800"/>
          <a:ext cx="8595359" cy="3355848"/>
        </p:xfrm>
        <a:graphic>
          <a:graphicData uri="http://schemas.openxmlformats.org/drawingml/2006/table">
            <a:tbl>
              <a:tblPr>
                <a:tableStyleId>{2D5ABB26-0587-4C30-8999-92F81FD0307C}</a:tableStyleId>
              </a:tblPr>
              <a:tblGrid>
                <a:gridCol w="1790700"/>
                <a:gridCol w="3491865"/>
                <a:gridCol w="850582"/>
                <a:gridCol w="1163955"/>
                <a:gridCol w="1298257"/>
              </a:tblGrid>
              <a:tr h="502920">
                <a:tc>
                  <a:txBody>
                    <a:bodyPr wrap="square"/>
                    <a:lstStyle/>
                    <a:p>
                      <a:pPr algn="l"/>
                      <a:r>
                        <a:rPr sz="850" b="1">
                          <a:solidFill>
                            <a:srgbClr val="BDBDBD"/>
                          </a:solidFill>
                          <a:latin typeface="Aptos"/>
                        </a:rPr>
                        <a:t>Part group</a:t>
                      </a:r>
                    </a:p>
                  </a:txBody>
                  <a:tcPr marL="91440" marR="91440" marT="27432" marB="27432" anchor="ctr">
                    <a:solidFill>
                      <a:srgbClr val="3A3A3A"/>
                    </a:solidFill>
                  </a:tcPr>
                </a:tc>
                <a:tc>
                  <a:txBody>
                    <a:bodyPr wrap="square"/>
                    <a:lstStyle/>
                    <a:p>
                      <a:pPr algn="l"/>
                      <a:r>
                        <a:rPr sz="850" b="1">
                          <a:solidFill>
                            <a:srgbClr val="BDBDBD"/>
                          </a:solidFill>
                          <a:latin typeface="Aptos"/>
                        </a:rPr>
                        <a:t>What it covers</a:t>
                      </a:r>
                    </a:p>
                  </a:txBody>
                  <a:tcPr marL="91440" marR="91440" marT="27432" marB="27432" anchor="ctr">
                    <a:solidFill>
                      <a:srgbClr val="3A3A3A"/>
                    </a:solidFill>
                  </a:tcPr>
                </a:tc>
                <a:tc>
                  <a:txBody>
                    <a:bodyPr wrap="square"/>
                    <a:lstStyle/>
                    <a:p>
                      <a:pPr algn="r"/>
                      <a:r>
                        <a:rPr sz="850" b="1">
                          <a:solidFill>
                            <a:srgbClr val="BDBDBD"/>
                          </a:solidFill>
                          <a:latin typeface="Aptos"/>
                        </a:rPr>
                        <a:t>Billed</a:t>
                      </a:r>
                    </a:p>
                  </a:txBody>
                  <a:tcPr marL="91440" marR="91440" marT="27432" marB="27432" anchor="ctr">
                    <a:solidFill>
                      <a:srgbClr val="3A3A3A"/>
                    </a:solidFill>
                  </a:tcPr>
                </a:tc>
                <a:tc>
                  <a:txBody>
                    <a:bodyPr wrap="square"/>
                    <a:lstStyle/>
                    <a:p>
                      <a:pPr algn="r"/>
                      <a:r>
                        <a:rPr sz="850" b="1">
                          <a:solidFill>
                            <a:srgbClr val="BDBDBD"/>
                          </a:solidFill>
                          <a:latin typeface="Aptos"/>
                        </a:rPr>
                        <a:t>IML/IMIT increase to us</a:t>
                      </a:r>
                    </a:p>
                  </a:txBody>
                  <a:tcPr marL="91440" marR="91440" marT="27432" marB="27432" anchor="ctr">
                    <a:solidFill>
                      <a:srgbClr val="3A3A3A"/>
                    </a:solidFill>
                  </a:tcPr>
                </a:tc>
                <a:tc>
                  <a:txBody>
                    <a:bodyPr wrap="square"/>
                    <a:lstStyle/>
                    <a:p>
                      <a:pPr algn="r"/>
                      <a:r>
                        <a:rPr sz="850" b="1">
                          <a:solidFill>
                            <a:srgbClr val="BDBDBD"/>
                          </a:solidFill>
                          <a:latin typeface="Aptos"/>
                        </a:rPr>
                        <a:t>Proposed increase on our list</a:t>
                      </a:r>
                    </a:p>
                  </a:txBody>
                  <a:tcPr marL="91440" marR="91440" marT="27432" marB="27432" anchor="ctr">
                    <a:solidFill>
                      <a:srgbClr val="3A3A3A"/>
                    </a:solidFill>
                  </a:tcPr>
                </a:tc>
              </a:tr>
              <a:tr h="713232">
                <a:tc>
                  <a:txBody>
                    <a:bodyPr wrap="square"/>
                    <a:lstStyle/>
                    <a:p>
                      <a:pPr algn="l"/>
                      <a:r>
                        <a:rPr sz="1050" b="1">
                          <a:solidFill>
                            <a:srgbClr val="F2F2F2"/>
                          </a:solidFill>
                          <a:latin typeface="Aptos"/>
                        </a:rPr>
                        <a:t>Service parts</a:t>
                      </a:r>
                    </a:p>
                  </a:txBody>
                  <a:tcPr marL="91440" marR="91440" marT="27432" marB="27432" anchor="ctr">
                    <a:solidFill>
                      <a:srgbClr val="303030"/>
                    </a:solidFill>
                  </a:tcPr>
                </a:tc>
                <a:tc>
                  <a:txBody>
                    <a:bodyPr wrap="square"/>
                    <a:lstStyle/>
                    <a:p>
                      <a:pPr algn="l"/>
                      <a:r>
                        <a:rPr sz="1050" b="0">
                          <a:solidFill>
                            <a:srgbClr val="F2F2F2"/>
                          </a:solidFill>
                          <a:latin typeface="Aptos"/>
                        </a:rPr>
                        <a:t>What a workshop buys for servicing and wear: brakes, filters, clutch, steering, fuel system</a:t>
                      </a:r>
                    </a:p>
                  </a:txBody>
                  <a:tcPr marL="91440" marR="91440" marT="27432" marB="27432" anchor="ctr">
                    <a:solidFill>
                      <a:srgbClr val="303030"/>
                    </a:solidFill>
                  </a:tcPr>
                </a:tc>
                <a:tc>
                  <a:txBody>
                    <a:bodyPr wrap="square"/>
                    <a:lstStyle/>
                    <a:p>
                      <a:pPr algn="r"/>
                      <a:r>
                        <a:rPr sz="1050" b="0">
                          <a:solidFill>
                            <a:srgbClr val="F2F2F2"/>
                          </a:solidFill>
                          <a:latin typeface="Aptos"/>
                        </a:rPr>
                        <a:t>€19.2M</a:t>
                      </a:r>
                    </a:p>
                  </a:txBody>
                  <a:tcPr marL="91440" marR="91440" marT="27432" marB="27432" anchor="ctr">
                    <a:solidFill>
                      <a:srgbClr val="303030"/>
                    </a:solidFill>
                  </a:tcPr>
                </a:tc>
                <a:tc>
                  <a:txBody>
                    <a:bodyPr wrap="square"/>
                    <a:lstStyle/>
                    <a:p>
                      <a:pPr algn="r"/>
                      <a:r>
                        <a:rPr sz="1050" b="0">
                          <a:solidFill>
                            <a:srgbClr val="F2F2F2"/>
                          </a:solidFill>
                          <a:latin typeface="Aptos"/>
                        </a:rPr>
                        <a:t>5.5%</a:t>
                      </a:r>
                    </a:p>
                  </a:txBody>
                  <a:tcPr marL="91440" marR="91440" marT="27432" marB="27432" anchor="ctr">
                    <a:solidFill>
                      <a:srgbClr val="303030"/>
                    </a:solidFill>
                  </a:tcPr>
                </a:tc>
                <a:tc>
                  <a:txBody>
                    <a:bodyPr wrap="square"/>
                    <a:lstStyle/>
                    <a:p>
                      <a:pPr algn="r"/>
                      <a:r>
                        <a:rPr sz="1050" b="0">
                          <a:solidFill>
                            <a:srgbClr val="F2F2F2"/>
                          </a:solidFill>
                          <a:latin typeface="Aptos"/>
                        </a:rPr>
                        <a:t>2.4%</a:t>
                      </a:r>
                    </a:p>
                  </a:txBody>
                  <a:tcPr marL="91440" marR="91440" marT="27432" marB="27432" anchor="ctr">
                    <a:solidFill>
                      <a:srgbClr val="303030"/>
                    </a:solidFill>
                  </a:tcPr>
                </a:tc>
              </a:tr>
              <a:tr h="713232">
                <a:tc>
                  <a:txBody>
                    <a:bodyPr wrap="square"/>
                    <a:lstStyle/>
                    <a:p>
                      <a:pPr algn="l"/>
                      <a:r>
                        <a:rPr sz="1050" b="1">
                          <a:solidFill>
                            <a:srgbClr val="F2F2F2"/>
                          </a:solidFill>
                          <a:latin typeface="Aptos"/>
                        </a:rPr>
                        <a:t>Repair parts</a:t>
                      </a:r>
                    </a:p>
                  </a:txBody>
                  <a:tcPr marL="91440" marR="91440" marT="27432" marB="27432" anchor="ctr">
                    <a:solidFill>
                      <a:srgbClr val="2B2B2B"/>
                    </a:solidFill>
                  </a:tcPr>
                </a:tc>
                <a:tc>
                  <a:txBody>
                    <a:bodyPr wrap="square"/>
                    <a:lstStyle/>
                    <a:p>
                      <a:pPr algn="l"/>
                      <a:r>
                        <a:rPr sz="1050" b="0">
                          <a:solidFill>
                            <a:srgbClr val="F2F2F2"/>
                          </a:solidFill>
                          <a:latin typeface="Aptos"/>
                        </a:rPr>
                        <a:t>What is bought after damage or failure: electrical, lighting, intake and exhaust, cabin, engine</a:t>
                      </a:r>
                    </a:p>
                  </a:txBody>
                  <a:tcPr marL="91440" marR="91440" marT="27432" marB="27432" anchor="ctr">
                    <a:solidFill>
                      <a:srgbClr val="2B2B2B"/>
                    </a:solidFill>
                  </a:tcPr>
                </a:tc>
                <a:tc>
                  <a:txBody>
                    <a:bodyPr wrap="square"/>
                    <a:lstStyle/>
                    <a:p>
                      <a:pPr algn="r"/>
                      <a:r>
                        <a:rPr sz="1050" b="0">
                          <a:solidFill>
                            <a:srgbClr val="F2F2F2"/>
                          </a:solidFill>
                          <a:latin typeface="Aptos"/>
                        </a:rPr>
                        <a:t>€8.8M</a:t>
                      </a:r>
                    </a:p>
                  </a:txBody>
                  <a:tcPr marL="91440" marR="91440" marT="27432" marB="27432" anchor="ctr">
                    <a:solidFill>
                      <a:srgbClr val="2B2B2B"/>
                    </a:solidFill>
                  </a:tcPr>
                </a:tc>
                <a:tc>
                  <a:txBody>
                    <a:bodyPr wrap="square"/>
                    <a:lstStyle/>
                    <a:p>
                      <a:pPr algn="r"/>
                      <a:r>
                        <a:rPr sz="1050" b="0">
                          <a:solidFill>
                            <a:srgbClr val="F2F2F2"/>
                          </a:solidFill>
                          <a:latin typeface="Aptos"/>
                        </a:rPr>
                        <a:t>6.6%</a:t>
                      </a:r>
                    </a:p>
                  </a:txBody>
                  <a:tcPr marL="91440" marR="91440" marT="27432" marB="27432" anchor="ctr">
                    <a:solidFill>
                      <a:srgbClr val="2B2B2B"/>
                    </a:solidFill>
                  </a:tcPr>
                </a:tc>
                <a:tc>
                  <a:txBody>
                    <a:bodyPr wrap="square"/>
                    <a:lstStyle/>
                    <a:p>
                      <a:pPr algn="r"/>
                      <a:r>
                        <a:rPr sz="1050" b="0">
                          <a:solidFill>
                            <a:srgbClr val="F2F2F2"/>
                          </a:solidFill>
                          <a:latin typeface="Aptos"/>
                        </a:rPr>
                        <a:t>8.5%</a:t>
                      </a:r>
                    </a:p>
                  </a:txBody>
                  <a:tcPr marL="91440" marR="91440" marT="27432" marB="27432" anchor="ctr">
                    <a:solidFill>
                      <a:srgbClr val="2B2B2B"/>
                    </a:solidFill>
                  </a:tcPr>
                </a:tc>
              </a:tr>
              <a:tr h="713232">
                <a:tc>
                  <a:txBody>
                    <a:bodyPr wrap="square"/>
                    <a:lstStyle/>
                    <a:p>
                      <a:pPr algn="l"/>
                      <a:r>
                        <a:rPr sz="1050" b="1">
                          <a:solidFill>
                            <a:srgbClr val="F2F2F2"/>
                          </a:solidFill>
                          <a:latin typeface="Aptos"/>
                        </a:rPr>
                        <a:t>Body and collision parts</a:t>
                      </a:r>
                    </a:p>
                  </a:txBody>
                  <a:tcPr marL="91440" marR="91440" marT="27432" marB="27432" anchor="ctr">
                    <a:solidFill>
                      <a:srgbClr val="303030"/>
                    </a:solidFill>
                  </a:tcPr>
                </a:tc>
                <a:tc>
                  <a:txBody>
                    <a:bodyPr wrap="square"/>
                    <a:lstStyle/>
                    <a:p>
                      <a:pPr algn="l"/>
                      <a:r>
                        <a:rPr sz="1050" b="0">
                          <a:solidFill>
                            <a:srgbClr val="F2F2F2"/>
                          </a:solidFill>
                          <a:latin typeface="Aptos"/>
                        </a:rPr>
                        <a:t>What is replaced after a collision: panels, bumpers, glass, mirrors</a:t>
                      </a:r>
                    </a:p>
                  </a:txBody>
                  <a:tcPr marL="91440" marR="91440" marT="27432" marB="27432" anchor="ctr">
                    <a:solidFill>
                      <a:srgbClr val="303030"/>
                    </a:solidFill>
                  </a:tcPr>
                </a:tc>
                <a:tc>
                  <a:txBody>
                    <a:bodyPr wrap="square"/>
                    <a:lstStyle/>
                    <a:p>
                      <a:pPr algn="r"/>
                      <a:r>
                        <a:rPr sz="1050" b="0">
                          <a:solidFill>
                            <a:srgbClr val="F2F2F2"/>
                          </a:solidFill>
                          <a:latin typeface="Aptos"/>
                        </a:rPr>
                        <a:t>€4.6M</a:t>
                      </a:r>
                    </a:p>
                  </a:txBody>
                  <a:tcPr marL="91440" marR="91440" marT="27432" marB="27432" anchor="ctr">
                    <a:solidFill>
                      <a:srgbClr val="303030"/>
                    </a:solidFill>
                  </a:tcPr>
                </a:tc>
                <a:tc>
                  <a:txBody>
                    <a:bodyPr wrap="square"/>
                    <a:lstStyle/>
                    <a:p>
                      <a:pPr algn="r"/>
                      <a:r>
                        <a:rPr sz="1050" b="0">
                          <a:solidFill>
                            <a:srgbClr val="F2F2F2"/>
                          </a:solidFill>
                          <a:latin typeface="Aptos"/>
                        </a:rPr>
                        <a:t>7.0%</a:t>
                      </a:r>
                    </a:p>
                  </a:txBody>
                  <a:tcPr marL="91440" marR="91440" marT="27432" marB="27432" anchor="ctr">
                    <a:solidFill>
                      <a:srgbClr val="303030"/>
                    </a:solidFill>
                  </a:tcPr>
                </a:tc>
                <a:tc>
                  <a:txBody>
                    <a:bodyPr wrap="square"/>
                    <a:lstStyle/>
                    <a:p>
                      <a:pPr algn="r"/>
                      <a:r>
                        <a:rPr sz="1050" b="0">
                          <a:solidFill>
                            <a:srgbClr val="F2F2F2"/>
                          </a:solidFill>
                          <a:latin typeface="Aptos"/>
                        </a:rPr>
                        <a:t>9.0%</a:t>
                      </a:r>
                    </a:p>
                  </a:txBody>
                  <a:tcPr marL="91440" marR="91440" marT="27432" marB="27432" anchor="ctr">
                    <a:solidFill>
                      <a:srgbClr val="303030"/>
                    </a:solidFill>
                  </a:tcPr>
                </a:tc>
              </a:tr>
              <a:tr h="713232">
                <a:tc>
                  <a:txBody>
                    <a:bodyPr wrap="square"/>
                    <a:lstStyle/>
                    <a:p>
                      <a:pPr algn="l"/>
                      <a:r>
                        <a:rPr sz="1050" b="1">
                          <a:solidFill>
                            <a:srgbClr val="F2F2F2"/>
                          </a:solidFill>
                          <a:latin typeface="Aptos"/>
                        </a:rPr>
                        <a:t>All parts</a:t>
                      </a:r>
                    </a:p>
                  </a:txBody>
                  <a:tcPr marL="91440" marR="91440" marT="27432" marB="27432" anchor="ctr">
                    <a:solidFill>
                      <a:srgbClr val="2B2B2B"/>
                    </a:solidFill>
                  </a:tcPr>
                </a:tc>
                <a:tc>
                  <a:txBody>
                    <a:bodyPr wrap="square"/>
                    <a:lstStyle/>
                    <a:p>
                      <a:pPr algn="l"/>
                      <a:r>
                        <a:rPr sz="1050" b="0">
                          <a:solidFill>
                            <a:srgbClr val="F2F2F2"/>
                          </a:solidFill>
                          <a:latin typeface="Aptos"/>
                        </a:rPr>
                        <a:t/>
                      </a:r>
                    </a:p>
                  </a:txBody>
                  <a:tcPr marL="91440" marR="91440" marT="27432" marB="27432" anchor="ctr">
                    <a:solidFill>
                      <a:srgbClr val="2B2B2B"/>
                    </a:solidFill>
                  </a:tcPr>
                </a:tc>
                <a:tc>
                  <a:txBody>
                    <a:bodyPr wrap="square"/>
                    <a:lstStyle/>
                    <a:p>
                      <a:pPr algn="r"/>
                      <a:r>
                        <a:rPr sz="1050" b="0">
                          <a:solidFill>
                            <a:srgbClr val="F2F2F2"/>
                          </a:solidFill>
                          <a:latin typeface="Aptos"/>
                        </a:rPr>
                        <a:t>€32.6M</a:t>
                      </a:r>
                    </a:p>
                  </a:txBody>
                  <a:tcPr marL="91440" marR="91440" marT="27432" marB="27432" anchor="ctr">
                    <a:solidFill>
                      <a:srgbClr val="2B2B2B"/>
                    </a:solidFill>
                  </a:tcPr>
                </a:tc>
                <a:tc>
                  <a:txBody>
                    <a:bodyPr wrap="square"/>
                    <a:lstStyle/>
                    <a:p>
                      <a:pPr algn="r"/>
                      <a:r>
                        <a:rPr sz="1050" b="0">
                          <a:solidFill>
                            <a:srgbClr val="F2F2F2"/>
                          </a:solidFill>
                          <a:latin typeface="Aptos"/>
                        </a:rPr>
                        <a:t>6.0%</a:t>
                      </a:r>
                    </a:p>
                  </a:txBody>
                  <a:tcPr marL="91440" marR="91440" marT="27432" marB="27432" anchor="ctr">
                    <a:solidFill>
                      <a:srgbClr val="2B2B2B"/>
                    </a:solidFill>
                  </a:tcPr>
                </a:tc>
                <a:tc>
                  <a:txBody>
                    <a:bodyPr wrap="square"/>
                    <a:lstStyle/>
                    <a:p>
                      <a:pPr algn="r"/>
                      <a:r>
                        <a:rPr sz="1050" b="0">
                          <a:solidFill>
                            <a:srgbClr val="F2F2F2"/>
                          </a:solidFill>
                          <a:latin typeface="Aptos"/>
                        </a:rPr>
                        <a:t>5.0%</a:t>
                      </a:r>
                    </a:p>
                  </a:txBody>
                  <a:tcPr marL="91440" marR="91440" marT="27432" marB="27432" anchor="ctr">
                    <a:solidFill>
                      <a:srgbClr val="2B2B2B"/>
                    </a:solidFill>
                  </a:tcPr>
                </a:tc>
              </a:tr>
            </a:tbl>
          </a:graphicData>
        </a:graphic>
      </p:graphicFrame>
      <p:sp>
        <p:nvSpPr>
          <p:cNvPr id="18"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In euro: </a:t>
            </a:r>
            <a:r>
              <a:rPr sz="1150" b="0" i="0">
                <a:solidFill>
                  <a:srgbClr val="F2F2F2"/>
                </a:solidFill>
                <a:latin typeface="Aptos"/>
              </a:rPr>
              <a:t>passing on the full 6.0% would raise our list by €1.96M a year. We propose €1.63M, which is +5.0%. Service parts rise least because the price exceptions sit on them; repair and body parts carry the recovery.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WE GROUP PARTS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Every part sits in one of three groups, and the groups price differently</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Used throughout this presentation. Parts billed July 2025 – June 2026.</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Part groups from our new parts categories (release of 7 October 2026, presented separately) and the scheduled-service categories. Euro: +5% workbook with the market layer.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3</a:t>
            </a:r>
          </a:p>
        </p:txBody>
      </p:sp>
      <p:sp>
        <p:nvSpPr>
          <p:cNvPr id="9" name="grp0_bg"/>
          <p:cNvSpPr/>
          <p:nvPr/>
        </p:nvSpPr>
        <p:spPr>
          <a:xfrm>
            <a:off x="22860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rp0_k"/>
          <p:cNvSpPr txBox="1"/>
          <p:nvPr/>
        </p:nvSpPr>
        <p:spPr>
          <a:xfrm>
            <a:off x="457200" y="1993392"/>
            <a:ext cx="3474720" cy="201168"/>
          </a:xfrm>
          <a:prstGeom prst="rect">
            <a:avLst/>
          </a:prstGeom>
          <a:noFill/>
        </p:spPr>
        <p:txBody>
          <a:bodyPr wrap="square" anchor="t" lIns="0" rIns="0" tIns="0" bIns="0"/>
          <a:lstStyle/>
          <a:p>
            <a:pPr algn="l"/>
            <a:r>
              <a:rPr sz="900" b="1" i="0">
                <a:solidFill>
                  <a:srgbClr val="E30613"/>
                </a:solidFill>
                <a:latin typeface="Aptos"/>
              </a:rPr>
              <a:t>SERVICE PARTS</a:t>
            </a:r>
          </a:p>
        </p:txBody>
      </p:sp>
      <p:sp>
        <p:nvSpPr>
          <p:cNvPr id="11" name="grp0_v"/>
          <p:cNvSpPr txBox="1"/>
          <p:nvPr/>
        </p:nvSpPr>
        <p:spPr>
          <a:xfrm>
            <a:off x="457200" y="2286000"/>
            <a:ext cx="3474720" cy="548640"/>
          </a:xfrm>
          <a:prstGeom prst="rect">
            <a:avLst/>
          </a:prstGeom>
          <a:noFill/>
        </p:spPr>
        <p:txBody>
          <a:bodyPr wrap="square" anchor="t" lIns="0" rIns="0" tIns="0" bIns="0"/>
          <a:lstStyle/>
          <a:p>
            <a:pPr algn="l"/>
            <a:r>
              <a:rPr sz="3000" b="1" i="0">
                <a:solidFill>
                  <a:srgbClr val="F2F2F2"/>
                </a:solidFill>
                <a:latin typeface="Aptos"/>
              </a:rPr>
              <a:t>€19.2M</a:t>
            </a:r>
          </a:p>
        </p:txBody>
      </p:sp>
      <p:sp>
        <p:nvSpPr>
          <p:cNvPr id="12" name="grp0_u"/>
          <p:cNvSpPr txBox="1"/>
          <p:nvPr/>
        </p:nvSpPr>
        <p:spPr>
          <a:xfrm>
            <a:off x="45720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13" name="grp0_b"/>
          <p:cNvSpPr txBox="1"/>
          <p:nvPr/>
        </p:nvSpPr>
        <p:spPr>
          <a:xfrm>
            <a:off x="457200" y="3246120"/>
            <a:ext cx="3429000" cy="914400"/>
          </a:xfrm>
          <a:prstGeom prst="rect">
            <a:avLst/>
          </a:prstGeom>
          <a:noFill/>
        </p:spPr>
        <p:txBody>
          <a:bodyPr wrap="square" anchor="t" lIns="0" rIns="0" tIns="0" bIns="0"/>
          <a:lstStyle/>
          <a:p>
            <a:pPr algn="l"/>
            <a:r>
              <a:rPr sz="1200" b="0" i="0">
                <a:solidFill>
                  <a:srgbClr val="F2F2F2"/>
                </a:solidFill>
                <a:latin typeface="Aptos"/>
              </a:rPr>
              <a:t>Parts that belong to a scheduled-service category: what a workshop buys for servicing and wear. Aftermarket brands sell many of them.</a:t>
            </a:r>
          </a:p>
        </p:txBody>
      </p:sp>
      <p:sp>
        <p:nvSpPr>
          <p:cNvPr id="14" name="grp0_e"/>
          <p:cNvSpPr txBox="1"/>
          <p:nvPr/>
        </p:nvSpPr>
        <p:spPr>
          <a:xfrm>
            <a:off x="45720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brakes €3.3M, intake and exhaust €3.2M, maintenance service €3.1M, steering €1.8M, fuel system €1.6M</a:t>
            </a:r>
          </a:p>
        </p:txBody>
      </p:sp>
      <p:sp>
        <p:nvSpPr>
          <p:cNvPr id="15" name="grp1_bg"/>
          <p:cNvSpPr/>
          <p:nvPr/>
        </p:nvSpPr>
        <p:spPr>
          <a:xfrm>
            <a:off x="416052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rp1_k"/>
          <p:cNvSpPr txBox="1"/>
          <p:nvPr/>
        </p:nvSpPr>
        <p:spPr>
          <a:xfrm>
            <a:off x="4389120" y="1993392"/>
            <a:ext cx="3474720" cy="201168"/>
          </a:xfrm>
          <a:prstGeom prst="rect">
            <a:avLst/>
          </a:prstGeom>
          <a:noFill/>
        </p:spPr>
        <p:txBody>
          <a:bodyPr wrap="square" anchor="t" lIns="0" rIns="0" tIns="0" bIns="0"/>
          <a:lstStyle/>
          <a:p>
            <a:pPr algn="l"/>
            <a:r>
              <a:rPr sz="900" b="1" i="0">
                <a:solidFill>
                  <a:srgbClr val="E30613"/>
                </a:solidFill>
                <a:latin typeface="Aptos"/>
              </a:rPr>
              <a:t>REPAIR PARTS</a:t>
            </a:r>
          </a:p>
        </p:txBody>
      </p:sp>
      <p:sp>
        <p:nvSpPr>
          <p:cNvPr id="17" name="grp1_v"/>
          <p:cNvSpPr txBox="1"/>
          <p:nvPr/>
        </p:nvSpPr>
        <p:spPr>
          <a:xfrm>
            <a:off x="4389120" y="2286000"/>
            <a:ext cx="3474720" cy="548640"/>
          </a:xfrm>
          <a:prstGeom prst="rect">
            <a:avLst/>
          </a:prstGeom>
          <a:noFill/>
        </p:spPr>
        <p:txBody>
          <a:bodyPr wrap="square" anchor="t" lIns="0" rIns="0" tIns="0" bIns="0"/>
          <a:lstStyle/>
          <a:p>
            <a:pPr algn="l"/>
            <a:r>
              <a:rPr sz="3000" b="1" i="0">
                <a:solidFill>
                  <a:srgbClr val="F2F2F2"/>
                </a:solidFill>
                <a:latin typeface="Aptos"/>
              </a:rPr>
              <a:t>€8.8M</a:t>
            </a:r>
          </a:p>
        </p:txBody>
      </p:sp>
      <p:sp>
        <p:nvSpPr>
          <p:cNvPr id="18" name="grp1_u"/>
          <p:cNvSpPr txBox="1"/>
          <p:nvPr/>
        </p:nvSpPr>
        <p:spPr>
          <a:xfrm>
            <a:off x="438912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19" name="grp1_b"/>
          <p:cNvSpPr txBox="1"/>
          <p:nvPr/>
        </p:nvSpPr>
        <p:spPr>
          <a:xfrm>
            <a:off x="4389120" y="3246120"/>
            <a:ext cx="3429000" cy="914400"/>
          </a:xfrm>
          <a:prstGeom prst="rect">
            <a:avLst/>
          </a:prstGeom>
          <a:noFill/>
        </p:spPr>
        <p:txBody>
          <a:bodyPr wrap="square" anchor="t" lIns="0" rIns="0" tIns="0" bIns="0"/>
          <a:lstStyle/>
          <a:p>
            <a:pPr algn="l"/>
            <a:r>
              <a:rPr sz="1200" b="0" i="0">
                <a:solidFill>
                  <a:srgbClr val="F2F2F2"/>
                </a:solidFill>
                <a:latin typeface="Aptos"/>
              </a:rPr>
              <a:t>All other parts that are not body parts: bought after damage or failure, not at a service. Lighting sits here.</a:t>
            </a:r>
          </a:p>
        </p:txBody>
      </p:sp>
      <p:sp>
        <p:nvSpPr>
          <p:cNvPr id="20" name="grp1_e"/>
          <p:cNvSpPr txBox="1"/>
          <p:nvPr/>
        </p:nvSpPr>
        <p:spPr>
          <a:xfrm>
            <a:off x="438912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intake and exhaust €2.5M, electrical €1.8M, lighting €1.7M, cabin interior €0.4M, wheels hub €0.4M</a:t>
            </a:r>
          </a:p>
        </p:txBody>
      </p:sp>
      <p:sp>
        <p:nvSpPr>
          <p:cNvPr id="21" name="grp2_bg"/>
          <p:cNvSpPr/>
          <p:nvPr/>
        </p:nvSpPr>
        <p:spPr>
          <a:xfrm>
            <a:off x="809244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rp2_k"/>
          <p:cNvSpPr txBox="1"/>
          <p:nvPr/>
        </p:nvSpPr>
        <p:spPr>
          <a:xfrm>
            <a:off x="8321040" y="1993392"/>
            <a:ext cx="3474720" cy="201168"/>
          </a:xfrm>
          <a:prstGeom prst="rect">
            <a:avLst/>
          </a:prstGeom>
          <a:noFill/>
        </p:spPr>
        <p:txBody>
          <a:bodyPr wrap="square" anchor="t" lIns="0" rIns="0" tIns="0" bIns="0"/>
          <a:lstStyle/>
          <a:p>
            <a:pPr algn="l"/>
            <a:r>
              <a:rPr sz="900" b="1" i="0">
                <a:solidFill>
                  <a:srgbClr val="E30613"/>
                </a:solidFill>
                <a:latin typeface="Aptos"/>
              </a:rPr>
              <a:t>BODY AND COLLISION PARTS</a:t>
            </a:r>
          </a:p>
        </p:txBody>
      </p:sp>
      <p:sp>
        <p:nvSpPr>
          <p:cNvPr id="23" name="grp2_v"/>
          <p:cNvSpPr txBox="1"/>
          <p:nvPr/>
        </p:nvSpPr>
        <p:spPr>
          <a:xfrm>
            <a:off x="8321040" y="2286000"/>
            <a:ext cx="3474720" cy="548640"/>
          </a:xfrm>
          <a:prstGeom prst="rect">
            <a:avLst/>
          </a:prstGeom>
          <a:noFill/>
        </p:spPr>
        <p:txBody>
          <a:bodyPr wrap="square" anchor="t" lIns="0" rIns="0" tIns="0" bIns="0"/>
          <a:lstStyle/>
          <a:p>
            <a:pPr algn="l"/>
            <a:r>
              <a:rPr sz="3000" b="1" i="0">
                <a:solidFill>
                  <a:srgbClr val="F2F2F2"/>
                </a:solidFill>
                <a:latin typeface="Aptos"/>
              </a:rPr>
              <a:t>€4.6M</a:t>
            </a:r>
          </a:p>
        </p:txBody>
      </p:sp>
      <p:sp>
        <p:nvSpPr>
          <p:cNvPr id="24" name="grp2_u"/>
          <p:cNvSpPr txBox="1"/>
          <p:nvPr/>
        </p:nvSpPr>
        <p:spPr>
          <a:xfrm>
            <a:off x="832104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25" name="grp2_b"/>
          <p:cNvSpPr txBox="1"/>
          <p:nvPr/>
        </p:nvSpPr>
        <p:spPr>
          <a:xfrm>
            <a:off x="8321040" y="3246120"/>
            <a:ext cx="3429000" cy="914400"/>
          </a:xfrm>
          <a:prstGeom prst="rect">
            <a:avLst/>
          </a:prstGeom>
          <a:noFill/>
        </p:spPr>
        <p:txBody>
          <a:bodyPr wrap="square" anchor="t" lIns="0" rIns="0" tIns="0" bIns="0"/>
          <a:lstStyle/>
          <a:p>
            <a:pPr algn="l"/>
            <a:r>
              <a:rPr sz="1200" b="0" i="0">
                <a:solidFill>
                  <a:srgbClr val="F2F2F2"/>
                </a:solidFill>
                <a:latin typeface="Aptos"/>
              </a:rPr>
              <a:t>Parts of the family Accident &amp; Body: what is replaced after a collision.</a:t>
            </a:r>
          </a:p>
        </p:txBody>
      </p:sp>
      <p:sp>
        <p:nvSpPr>
          <p:cNvPr id="26" name="grp2_e"/>
          <p:cNvSpPr txBox="1"/>
          <p:nvPr/>
        </p:nvSpPr>
        <p:spPr>
          <a:xfrm>
            <a:off x="832104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panels €2.8M, bumpers €0.6M, glass €0.4M, mirrors €0.3M</a:t>
            </a:r>
          </a:p>
        </p:txBody>
      </p:sp>
      <p:sp>
        <p:nvSpPr>
          <p:cNvPr id="27" name="band_bg"/>
          <p:cNvSpPr/>
          <p:nvPr/>
        </p:nvSpPr>
        <p:spPr>
          <a:xfrm>
            <a:off x="228600" y="5440680"/>
            <a:ext cx="11731752" cy="8229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nd"/>
          <p:cNvSpPr txBox="1"/>
          <p:nvPr/>
        </p:nvSpPr>
        <p:spPr>
          <a:xfrm>
            <a:off x="457200" y="5440680"/>
            <a:ext cx="11274552" cy="822960"/>
          </a:xfrm>
          <a:prstGeom prst="rect">
            <a:avLst/>
          </a:prstGeom>
          <a:noFill/>
        </p:spPr>
        <p:txBody>
          <a:bodyPr wrap="square" anchor="ctr" lIns="0" rIns="0" tIns="0" bIns="0"/>
          <a:lstStyle/>
          <a:p>
            <a:pPr algn="l"/>
            <a:r>
              <a:rPr sz="1150" b="1" i="0">
                <a:solidFill>
                  <a:srgbClr val="F2F2F2"/>
                </a:solidFill>
                <a:latin typeface="Aptos"/>
              </a:rPr>
              <a:t>Why it matters here: </a:t>
            </a:r>
            <a:r>
              <a:rPr sz="1150" b="0" i="0">
                <a:solidFill>
                  <a:srgbClr val="F2F2F2"/>
                </a:solidFill>
                <a:latin typeface="Aptos"/>
              </a:rPr>
              <a:t>the groups follow different logic. Service parts have aftermarket alternatives and carry most of the price exceptions; repair and body parts mostly have none we found and carry the recovery. A part is in exactly one group. Intake and exhaust appears under both service and repair because some of those parts are on the service schedule and some are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WHAT IML AND IMIT CHANGED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IML and IMIT raised their prices to us by 6.0% in September 2026, about twice the 3.2% of a year earlier</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increase to ISZE, September 2026 against September 2025, in yen, weighted by parts billed.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IML and IMIT base prices per part (Sept 2025, Sept 2026), SAP parts billing July 2025 – June 2026; analysis section 2. Japan and Thailand shares re-checked in the +5% workbook (6.19% and 6.34%).</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4</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Our price is built from IML's or IMIT's yen base price, the exchange rate, our purchase discount and a class margin set by IML. Nothing about competition enters that formula.</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Since 5 January 2026 the purchase discount on Japan-sourced parts fell from 38.0% to 32.7%. The weaker yen largely offsets it.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From the factory move alone, our margin falls about 0.5 points, because our list rises less than our cost. The exchange rate and the purchase discount are held where they are in that figure.</a:t>
            </a:r>
          </a:p>
        </p:txBody>
      </p:sp>
      <p:graphicFrame>
        <p:nvGraphicFramePr>
          <p:cNvPr id="17" name="chart_factory"/>
          <p:cNvGraphicFramePr>
            <a:graphicFrameLocks noGrp="1"/>
          </p:cNvGraphicFramePr>
          <p:nvPr/>
        </p:nvGraphicFramePr>
        <p:xfrm>
          <a:off x="228600" y="1828800"/>
          <a:ext cx="5394960" cy="3291840"/>
        </p:xfrm>
        <a:graphic>
          <a:graphicData uri="http://schemas.openxmlformats.org/drawingml/2006/chart">
            <c:chart xmlns:c="http://schemas.openxmlformats.org/drawingml/2006/chart" r:id="rId2"/>
          </a:graphicData>
        </a:graphic>
      </p:graphicFrame>
      <p:sp>
        <p:nvSpPr>
          <p:cNvPr id="18" name="kpi_v"/>
          <p:cNvSpPr txBox="1"/>
          <p:nvPr/>
        </p:nvSpPr>
        <p:spPr>
          <a:xfrm>
            <a:off x="5897880" y="1920240"/>
            <a:ext cx="2834640" cy="457200"/>
          </a:xfrm>
          <a:prstGeom prst="rect">
            <a:avLst/>
          </a:prstGeom>
          <a:noFill/>
        </p:spPr>
        <p:txBody>
          <a:bodyPr wrap="square" anchor="t" lIns="0" rIns="0" tIns="0" bIns="0"/>
          <a:lstStyle/>
          <a:p>
            <a:pPr algn="l"/>
            <a:r>
              <a:rPr sz="3000" b="1" i="0">
                <a:solidFill>
                  <a:srgbClr val="F2F2F2"/>
                </a:solidFill>
                <a:latin typeface="Aptos"/>
              </a:rPr>
              <a:t>3.2%</a:t>
            </a:r>
          </a:p>
        </p:txBody>
      </p:sp>
      <p:sp>
        <p:nvSpPr>
          <p:cNvPr id="19" name="kpi_l"/>
          <p:cNvSpPr txBox="1"/>
          <p:nvPr/>
        </p:nvSpPr>
        <p:spPr>
          <a:xfrm>
            <a:off x="5897880" y="2423160"/>
            <a:ext cx="2834640" cy="548639"/>
          </a:xfrm>
          <a:prstGeom prst="rect">
            <a:avLst/>
          </a:prstGeom>
          <a:noFill/>
        </p:spPr>
        <p:txBody>
          <a:bodyPr wrap="square" anchor="t" lIns="0" rIns="0" tIns="0" bIns="0"/>
          <a:lstStyle/>
          <a:p>
            <a:pPr algn="l"/>
            <a:r>
              <a:rPr sz="1000" b="0" i="0">
                <a:solidFill>
                  <a:srgbClr val="BDBDBD"/>
                </a:solidFill>
                <a:latin typeface="Aptos"/>
              </a:rPr>
              <a:t>the previous revision, September 2025 (weighted by quantity billed)</a:t>
            </a:r>
          </a:p>
        </p:txBody>
      </p:sp>
      <p:sp>
        <p:nvSpPr>
          <p:cNvPr id="20" name="kpi_v"/>
          <p:cNvSpPr txBox="1"/>
          <p:nvPr/>
        </p:nvSpPr>
        <p:spPr>
          <a:xfrm>
            <a:off x="5897880" y="3246120"/>
            <a:ext cx="2834640" cy="457200"/>
          </a:xfrm>
          <a:prstGeom prst="rect">
            <a:avLst/>
          </a:prstGeom>
          <a:noFill/>
        </p:spPr>
        <p:txBody>
          <a:bodyPr wrap="square" anchor="t" lIns="0" rIns="0" tIns="0" bIns="0"/>
          <a:lstStyle/>
          <a:p>
            <a:pPr algn="l"/>
            <a:r>
              <a:rPr sz="3000" b="1" i="0">
                <a:solidFill>
                  <a:srgbClr val="F2F2F2"/>
                </a:solidFill>
                <a:latin typeface="Aptos"/>
              </a:rPr>
              <a:t>5.96%</a:t>
            </a:r>
          </a:p>
        </p:txBody>
      </p:sp>
      <p:sp>
        <p:nvSpPr>
          <p:cNvPr id="21" name="kpi_l"/>
          <p:cNvSpPr txBox="1"/>
          <p:nvPr/>
        </p:nvSpPr>
        <p:spPr>
          <a:xfrm>
            <a:off x="5897880" y="3749039"/>
            <a:ext cx="2834640" cy="548639"/>
          </a:xfrm>
          <a:prstGeom prst="rect">
            <a:avLst/>
          </a:prstGeom>
          <a:noFill/>
        </p:spPr>
        <p:txBody>
          <a:bodyPr wrap="square" anchor="t" lIns="0" rIns="0" tIns="0" bIns="0"/>
          <a:lstStyle/>
          <a:p>
            <a:pPr algn="l"/>
            <a:r>
              <a:rPr sz="1000" b="0" i="0">
                <a:solidFill>
                  <a:srgbClr val="BDBDBD"/>
                </a:solidFill>
                <a:latin typeface="Aptos"/>
              </a:rPr>
              <a:t>same September 2026 rise, IML's own weighting — not last year</a:t>
            </a:r>
          </a:p>
        </p:txBody>
      </p:sp>
      <p:sp>
        <p:nvSpPr>
          <p:cNvPr id="22"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Parts billed: </a:t>
            </a:r>
            <a:r>
              <a:rPr sz="1150" b="0" i="0">
                <a:solidFill>
                  <a:srgbClr val="F2F2F2"/>
                </a:solidFill>
                <a:latin typeface="Aptos"/>
              </a:rPr>
              <a:t>service €19.2M, repair €8.8M, body and collision €4.6M. From Japan €15.9M, from Thailand €15.1M. 82 part numbers (€1.6M) carry no source of supply and average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FROM 6.0% TO +5%</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Passing on 90.5% of each part's own increase, with a few exceptions, gives +5.00% in total</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From the full IML/IMIT increase to our proposed list increase, on what we billed July 2025 – June 2026, € a year.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Pad kits, lost categories and web-shop extra from analysis section 2; totals re-checked in the workbook.</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5</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The same 90.5% applies to every part, so parts IML and IMIT raised more go up more and parts with no increase stay flat (180 part numbers). 90.5% is the share that, after the exceptions, lands on +5.00%.</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29 brake pad kits stay at today's price (€109k): they compete with aftermarket brands, the main front kit would otherwise have risen about 17%, and eight distributors we spoke to this summer said brake parts are too expensive.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Categories a distributor already loses also stay flat (5 parts, €56k; three of them filters). A small extra applies where UK web shops sell dearer. A typical part rises 6.4%; 207 parts (€3.32M billed) stay at today's price.</a:t>
            </a:r>
          </a:p>
        </p:txBody>
      </p:sp>
      <p:graphicFrame>
        <p:nvGraphicFramePr>
          <p:cNvPr id="17" name="chart_waterfall1"/>
          <p:cNvGraphicFramePr>
            <a:graphicFrameLocks noGrp="1"/>
          </p:cNvGraphicFramePr>
          <p:nvPr/>
        </p:nvGraphicFramePr>
        <p:xfrm>
          <a:off x="228600" y="1828800"/>
          <a:ext cx="8595360" cy="3657600"/>
        </p:xfrm>
        <a:graphic>
          <a:graphicData uri="http://schemas.openxmlformats.org/drawingml/2006/chart">
            <c:chart xmlns:c="http://schemas.openxmlformats.org/drawingml/2006/chart" r:id="rId2"/>
          </a:graphicData>
        </a:graphic>
      </p:graphicFrame>
      <p:sp>
        <p:nvSpPr>
          <p:cNvPr id="18" name="band_bg"/>
          <p:cNvSpPr/>
          <p:nvPr/>
        </p:nvSpPr>
        <p:spPr>
          <a:xfrm>
            <a:off x="228600" y="5669280"/>
            <a:ext cx="8595360" cy="5943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669280"/>
            <a:ext cx="8138160" cy="594360"/>
          </a:xfrm>
          <a:prstGeom prst="rect">
            <a:avLst/>
          </a:prstGeom>
          <a:noFill/>
        </p:spPr>
        <p:txBody>
          <a:bodyPr wrap="square" anchor="ctr" lIns="0" rIns="0" tIns="0" bIns="0"/>
          <a:lstStyle/>
          <a:p>
            <a:pPr algn="l"/>
            <a:r>
              <a:rPr sz="1200" b="0" i="0">
                <a:solidFill>
                  <a:srgbClr val="F2F2F2"/>
                </a:solidFill>
                <a:latin typeface="Aptos"/>
              </a:rPr>
              <a:t>Passing on the full 6.0% would raise our list by €1.96M. </a:t>
            </a:r>
            <a:r>
              <a:rPr sz="1200" b="1" i="0">
                <a:solidFill>
                  <a:srgbClr val="F2F2F2"/>
                </a:solidFill>
                <a:latin typeface="Aptos"/>
              </a:rPr>
              <a:t>The +5.00% is €1,629,793 on €32,595,853 of parts billed.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WE INCREASE, AND BY HOW MUCH</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Where our price list rises, and by how much: market by market and by part group</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Proposed average increase per market and part group. Amber: service parts held at today's price, filters excepted.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and +5% workbook (11 Oct 2026). Billed-weighted, including lines kept at today's price. Lighting is a repair part.</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6</a:t>
            </a:r>
          </a:p>
        </p:txBody>
      </p:sp>
      <p:graphicFrame>
        <p:nvGraphicFramePr>
          <p:cNvPr id="9" name="table_matrix"/>
          <p:cNvGraphicFramePr>
            <a:graphicFrameLocks noGrp="1"/>
          </p:cNvGraphicFramePr>
          <p:nvPr/>
        </p:nvGraphicFramePr>
        <p:xfrm>
          <a:off x="228600" y="1783080"/>
          <a:ext cx="11731748" cy="4581128"/>
        </p:xfrm>
        <a:graphic>
          <a:graphicData uri="http://schemas.openxmlformats.org/drawingml/2006/table">
            <a:tbl>
              <a:tblPr>
                <a:tableStyleId>{2D5ABB26-0587-4C30-8999-92F81FD0307C}</a:tableStyleId>
              </a:tblPr>
              <a:tblGrid>
                <a:gridCol w="3380335"/>
                <a:gridCol w="1391902"/>
                <a:gridCol w="1690167"/>
                <a:gridCol w="1690167"/>
                <a:gridCol w="2187275"/>
                <a:gridCol w="1391902"/>
              </a:tblGrid>
              <a:tr h="411480">
                <a:tc>
                  <a:txBody>
                    <a:bodyPr wrap="square"/>
                    <a:lstStyle/>
                    <a:p>
                      <a:pPr algn="l"/>
                      <a:r>
                        <a:rPr sz="850" b="1">
                          <a:solidFill>
                            <a:srgbClr val="BDBDBD"/>
                          </a:solidFill>
                          <a:latin typeface="Aptos"/>
                        </a:rPr>
                        <a:t>Market</a:t>
                      </a:r>
                    </a:p>
                  </a:txBody>
                  <a:tcPr marL="91440" marR="91440" marT="27432" marB="27432" anchor="ctr">
                    <a:solidFill>
                      <a:srgbClr val="3A3A3A"/>
                    </a:solidFill>
                  </a:tcPr>
                </a:tc>
                <a:tc>
                  <a:txBody>
                    <a:bodyPr wrap="square"/>
                    <a:lstStyle/>
                    <a:p>
                      <a:pPr algn="r"/>
                      <a:r>
                        <a:rPr sz="850" b="1">
                          <a:solidFill>
                            <a:srgbClr val="BDBDBD"/>
                          </a:solidFill>
                          <a:latin typeface="Aptos"/>
                        </a:rPr>
                        <a:t>Parts billed</a:t>
                      </a:r>
                    </a:p>
                  </a:txBody>
                  <a:tcPr marL="91440" marR="91440" marT="27432" marB="27432" anchor="ctr">
                    <a:solidFill>
                      <a:srgbClr val="3A3A3A"/>
                    </a:solidFill>
                  </a:tcPr>
                </a:tc>
                <a:tc>
                  <a:txBody>
                    <a:bodyPr wrap="square"/>
                    <a:lstStyle/>
                    <a:p>
                      <a:pPr algn="r"/>
                      <a:r>
                        <a:rPr sz="850" b="1">
                          <a:solidFill>
                            <a:srgbClr val="BDBDBD"/>
                          </a:solidFill>
                          <a:latin typeface="Aptos"/>
                        </a:rPr>
                        <a:t>Service parts</a:t>
                      </a:r>
                    </a:p>
                  </a:txBody>
                  <a:tcPr marL="91440" marR="91440" marT="27432" marB="27432" anchor="ctr">
                    <a:solidFill>
                      <a:srgbClr val="3A3A3A"/>
                    </a:solidFill>
                  </a:tcPr>
                </a:tc>
                <a:tc>
                  <a:txBody>
                    <a:bodyPr wrap="square"/>
                    <a:lstStyle/>
                    <a:p>
                      <a:pPr algn="r"/>
                      <a:r>
                        <a:rPr sz="850" b="1">
                          <a:solidFill>
                            <a:srgbClr val="BDBDBD"/>
                          </a:solidFill>
                          <a:latin typeface="Aptos"/>
                        </a:rPr>
                        <a:t>Repair parts</a:t>
                      </a:r>
                    </a:p>
                  </a:txBody>
                  <a:tcPr marL="91440" marR="91440" marT="27432" marB="27432" anchor="ctr">
                    <a:solidFill>
                      <a:srgbClr val="3A3A3A"/>
                    </a:solidFill>
                  </a:tcPr>
                </a:tc>
                <a:tc>
                  <a:txBody>
                    <a:bodyPr wrap="square"/>
                    <a:lstStyle/>
                    <a:p>
                      <a:pPr algn="r"/>
                      <a:r>
                        <a:rPr sz="850" b="1">
                          <a:solidFill>
                            <a:srgbClr val="BDBDBD"/>
                          </a:solidFill>
                          <a:latin typeface="Aptos"/>
                        </a:rPr>
                        <a:t>Body and collision parts</a:t>
                      </a:r>
                    </a:p>
                  </a:txBody>
                  <a:tcPr marL="91440" marR="91440" marT="27432" marB="27432" anchor="ctr">
                    <a:solidFill>
                      <a:srgbClr val="3A3A3A"/>
                    </a:solidFill>
                  </a:tcPr>
                </a:tc>
                <a:tc>
                  <a:txBody>
                    <a:bodyPr wrap="square"/>
                    <a:lstStyle/>
                    <a:p>
                      <a:pPr algn="r"/>
                      <a:r>
                        <a:rPr sz="850" b="1">
                          <a:solidFill>
                            <a:srgbClr val="BDBDBD"/>
                          </a:solidFill>
                          <a:latin typeface="Aptos"/>
                        </a:rPr>
                        <a:t>All parts</a:t>
                      </a:r>
                    </a:p>
                  </a:txBody>
                  <a:tcPr marL="91440" marR="91440" marT="27432" marB="27432" anchor="ctr">
                    <a:solidFill>
                      <a:srgbClr val="3A3A3A"/>
                    </a:solidFill>
                  </a:tcPr>
                </a:tc>
              </a:tr>
              <a:tr h="260603">
                <a:tc>
                  <a:txBody>
                    <a:bodyPr wrap="square"/>
                    <a:lstStyle/>
                    <a:p>
                      <a:pPr algn="l"/>
                      <a:r>
                        <a:rPr sz="1000" b="1">
                          <a:solidFill>
                            <a:srgbClr val="F2F2F2"/>
                          </a:solidFill>
                          <a:latin typeface="Aptos"/>
                        </a:rPr>
                        <a:t>Isuzu Truck UK</a:t>
                      </a:r>
                    </a:p>
                  </a:txBody>
                  <a:tcPr marL="91440" marR="91440" marT="27432" marB="27432" anchor="ctr">
                    <a:solidFill>
                      <a:srgbClr val="303030"/>
                    </a:solidFill>
                  </a:tcPr>
                </a:tc>
                <a:tc>
                  <a:txBody>
                    <a:bodyPr wrap="square"/>
                    <a:lstStyle/>
                    <a:p>
                      <a:pPr algn="r"/>
                      <a:r>
                        <a:rPr sz="1000" b="0">
                          <a:solidFill>
                            <a:srgbClr val="F2F2F2"/>
                          </a:solidFill>
                          <a:latin typeface="Aptos"/>
                        </a:rPr>
                        <a:t>€6.25M</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7.9%</a:t>
                      </a:r>
                    </a:p>
                  </a:txBody>
                  <a:tcPr marL="91440" marR="91440" marT="27432" marB="27432" anchor="ctr">
                    <a:solidFill>
                      <a:srgbClr val="303030"/>
                    </a:solidFill>
                  </a:tcPr>
                </a:tc>
                <a:tc>
                  <a:txBody>
                    <a:bodyPr wrap="square"/>
                    <a:lstStyle/>
                    <a:p>
                      <a:pPr algn="r"/>
                      <a:r>
                        <a:rPr sz="1000" b="0">
                          <a:solidFill>
                            <a:srgbClr val="F2F2F2"/>
                          </a:solidFill>
                          <a:latin typeface="Aptos"/>
                        </a:rPr>
                        <a:t>5.7%</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Isuzu UK (D-Max)</a:t>
                      </a:r>
                    </a:p>
                  </a:txBody>
                  <a:tcPr marL="91440" marR="91440" marT="27432" marB="27432" anchor="ctr">
                    <a:solidFill>
                      <a:srgbClr val="2B2B2B"/>
                    </a:solidFill>
                  </a:tcPr>
                </a:tc>
                <a:tc>
                  <a:txBody>
                    <a:bodyPr wrap="square"/>
                    <a:lstStyle/>
                    <a:p>
                      <a:pPr algn="r"/>
                      <a:r>
                        <a:rPr sz="1000" b="0">
                          <a:solidFill>
                            <a:srgbClr val="F2F2F2"/>
                          </a:solidFill>
                          <a:latin typeface="Aptos"/>
                        </a:rPr>
                        <a:t>€6.23M</a:t>
                      </a:r>
                    </a:p>
                  </a:txBody>
                  <a:tcPr marL="91440" marR="91440" marT="27432" marB="27432" anchor="ctr">
                    <a:solidFill>
                      <a:srgbClr val="2B2B2B"/>
                    </a:solidFill>
                  </a:tcPr>
                </a:tc>
                <a:tc>
                  <a:txBody>
                    <a:bodyPr wrap="square"/>
                    <a:lstStyle/>
                    <a:p>
                      <a:pPr algn="r"/>
                      <a:r>
                        <a:rPr sz="1000" b="0">
                          <a:solidFill>
                            <a:srgbClr val="F5A000"/>
                          </a:solidFill>
                          <a:latin typeface="Aptos"/>
                        </a:rPr>
                        <a:t>0.3%</a:t>
                      </a:r>
                    </a:p>
                  </a:txBody>
                  <a:tcPr marL="91440" marR="91440" marT="27432" marB="27432" anchor="ctr">
                    <a:solidFill>
                      <a:srgbClr val="2B2B2B"/>
                    </a:solidFill>
                  </a:tcPr>
                </a:tc>
                <a:tc>
                  <a:txBody>
                    <a:bodyPr wrap="square"/>
                    <a:lstStyle/>
                    <a:p>
                      <a:pPr algn="r"/>
                      <a:r>
                        <a:rPr sz="1000" b="0">
                          <a:solidFill>
                            <a:srgbClr val="F2F2F2"/>
                          </a:solidFill>
                          <a:latin typeface="Aptos"/>
                        </a:rPr>
                        <a:t>8.9%</a:t>
                      </a:r>
                    </a:p>
                  </a:txBody>
                  <a:tcPr marL="91440" marR="91440" marT="27432" marB="27432" anchor="ctr">
                    <a:solidFill>
                      <a:srgbClr val="2B2B2B"/>
                    </a:solidFill>
                  </a:tcPr>
                </a:tc>
                <a:tc>
                  <a:txBody>
                    <a:bodyPr wrap="square"/>
                    <a:lstStyle/>
                    <a:p>
                      <a:pPr algn="r"/>
                      <a:r>
                        <a:rPr sz="1000" b="0">
                          <a:solidFill>
                            <a:srgbClr val="F2F2F2"/>
                          </a:solidFill>
                          <a:latin typeface="Aptos"/>
                        </a:rPr>
                        <a:t>9.6%</a:t>
                      </a:r>
                    </a:p>
                  </a:txBody>
                  <a:tcPr marL="91440" marR="91440" marT="27432" marB="27432" anchor="ctr">
                    <a:solidFill>
                      <a:srgbClr val="2B2B2B"/>
                    </a:solidFill>
                  </a:tcPr>
                </a:tc>
                <a:tc>
                  <a:txBody>
                    <a:bodyPr wrap="square"/>
                    <a:lstStyle/>
                    <a:p>
                      <a:pPr algn="r"/>
                      <a:r>
                        <a:rPr sz="1000" b="0">
                          <a:solidFill>
                            <a:srgbClr val="F2F2F2"/>
                          </a:solidFill>
                          <a:latin typeface="Aptos"/>
                        </a:rPr>
                        <a:t>4.2%</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Israel trucks distributor</a:t>
                      </a:r>
                    </a:p>
                  </a:txBody>
                  <a:tcPr marL="91440" marR="91440" marT="27432" marB="27432" anchor="ctr">
                    <a:solidFill>
                      <a:srgbClr val="303030"/>
                    </a:solidFill>
                  </a:tcPr>
                </a:tc>
                <a:tc>
                  <a:txBody>
                    <a:bodyPr wrap="square"/>
                    <a:lstStyle/>
                    <a:p>
                      <a:pPr algn="r"/>
                      <a:r>
                        <a:rPr sz="1000" b="0">
                          <a:solidFill>
                            <a:srgbClr val="F2F2F2"/>
                          </a:solidFill>
                          <a:latin typeface="Aptos"/>
                        </a:rPr>
                        <a:t>€3.40M</a:t>
                      </a:r>
                    </a:p>
                  </a:txBody>
                  <a:tcPr marL="91440" marR="91440" marT="27432" marB="27432" anchor="ctr">
                    <a:solidFill>
                      <a:srgbClr val="303030"/>
                    </a:solidFill>
                  </a:tcPr>
                </a:tc>
                <a:tc>
                  <a:txBody>
                    <a:bodyPr wrap="square"/>
                    <a:lstStyle/>
                    <a:p>
                      <a:pPr algn="r"/>
                      <a:r>
                        <a:rPr sz="1000" b="0">
                          <a:solidFill>
                            <a:srgbClr val="F2F2F2"/>
                          </a:solidFill>
                          <a:latin typeface="Aptos"/>
                        </a:rPr>
                        <a:t>3.6%</a:t>
                      </a:r>
                    </a:p>
                  </a:txBody>
                  <a:tcPr marL="91440" marR="91440" marT="27432" marB="27432" anchor="ctr">
                    <a:solidFill>
                      <a:srgbClr val="303030"/>
                    </a:solidFill>
                  </a:tcPr>
                </a:tc>
                <a:tc>
                  <a:txBody>
                    <a:bodyPr wrap="square"/>
                    <a:lstStyle/>
                    <a:p>
                      <a:pPr algn="r"/>
                      <a:r>
                        <a:rPr sz="1000" b="0">
                          <a:solidFill>
                            <a:srgbClr val="F2F2F2"/>
                          </a:solidFill>
                          <a:latin typeface="Aptos"/>
                        </a:rPr>
                        <a:t>7.7%</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5.4%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Germany</a:t>
                      </a:r>
                    </a:p>
                  </a:txBody>
                  <a:tcPr marL="91440" marR="91440" marT="27432" marB="27432" anchor="ctr">
                    <a:solidFill>
                      <a:srgbClr val="2B2B2B"/>
                    </a:solidFill>
                  </a:tcPr>
                </a:tc>
                <a:tc>
                  <a:txBody>
                    <a:bodyPr wrap="square"/>
                    <a:lstStyle/>
                    <a:p>
                      <a:pPr algn="r"/>
                      <a:r>
                        <a:rPr sz="1000" b="0">
                          <a:solidFill>
                            <a:srgbClr val="F2F2F2"/>
                          </a:solidFill>
                          <a:latin typeface="Aptos"/>
                        </a:rPr>
                        <a:t>€2.68M</a:t>
                      </a:r>
                    </a:p>
                  </a:txBody>
                  <a:tcPr marL="91440" marR="91440" marT="27432" marB="27432" anchor="ctr">
                    <a:solidFill>
                      <a:srgbClr val="2B2B2B"/>
                    </a:solidFill>
                  </a:tcPr>
                </a:tc>
                <a:tc>
                  <a:txBody>
                    <a:bodyPr wrap="square"/>
                    <a:lstStyle/>
                    <a:p>
                      <a:pPr algn="r"/>
                      <a:r>
                        <a:rPr sz="1000" b="0">
                          <a:solidFill>
                            <a:srgbClr val="F5A000"/>
                          </a:solidFill>
                          <a:latin typeface="Aptos"/>
                        </a:rPr>
                        <a:t>0.2%</a:t>
                      </a:r>
                    </a:p>
                  </a:txBody>
                  <a:tcPr marL="91440" marR="91440" marT="27432" marB="27432" anchor="ctr">
                    <a:solidFill>
                      <a:srgbClr val="2B2B2B"/>
                    </a:solidFill>
                  </a:tcPr>
                </a:tc>
                <a:tc>
                  <a:txBody>
                    <a:bodyPr wrap="square"/>
                    <a:lstStyle/>
                    <a:p>
                      <a:pPr algn="r"/>
                      <a:r>
                        <a:rPr sz="1000" b="0">
                          <a:solidFill>
                            <a:srgbClr val="F2F2F2"/>
                          </a:solidFill>
                          <a:latin typeface="Aptos"/>
                        </a:rPr>
                        <a:t>8.7%</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4.0%</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Israel D-Max distributor</a:t>
                      </a:r>
                    </a:p>
                  </a:txBody>
                  <a:tcPr marL="91440" marR="91440" marT="27432" marB="27432" anchor="ctr">
                    <a:solidFill>
                      <a:srgbClr val="303030"/>
                    </a:solidFill>
                  </a:tcPr>
                </a:tc>
                <a:tc>
                  <a:txBody>
                    <a:bodyPr wrap="square"/>
                    <a:lstStyle/>
                    <a:p>
                      <a:pPr algn="r"/>
                      <a:r>
                        <a:rPr sz="1000" b="0">
                          <a:solidFill>
                            <a:srgbClr val="F2F2F2"/>
                          </a:solidFill>
                          <a:latin typeface="Aptos"/>
                        </a:rPr>
                        <a:t>€2.43M</a:t>
                      </a:r>
                    </a:p>
                  </a:txBody>
                  <a:tcPr marL="91440" marR="91440" marT="27432" marB="27432" anchor="ctr">
                    <a:solidFill>
                      <a:srgbClr val="303030"/>
                    </a:solidFill>
                  </a:tcPr>
                </a:tc>
                <a:tc>
                  <a:txBody>
                    <a:bodyPr wrap="square"/>
                    <a:lstStyle/>
                    <a:p>
                      <a:pPr algn="r"/>
                      <a:r>
                        <a:rPr sz="1000" b="0">
                          <a:solidFill>
                            <a:srgbClr val="F5A000"/>
                          </a:solidFill>
                          <a:latin typeface="Aptos"/>
                        </a:rPr>
                        <a:t>0.3%</a:t>
                      </a:r>
                    </a:p>
                  </a:txBody>
                  <a:tcPr marL="91440" marR="91440" marT="27432" marB="27432" anchor="ctr">
                    <a:solidFill>
                      <a:srgbClr val="303030"/>
                    </a:solidFill>
                  </a:tcPr>
                </a:tc>
                <a:tc>
                  <a:txBody>
                    <a:bodyPr wrap="square"/>
                    <a:lstStyle/>
                    <a:p>
                      <a:pPr algn="r"/>
                      <a:r>
                        <a:rPr sz="1000" b="0">
                          <a:solidFill>
                            <a:srgbClr val="F2F2F2"/>
                          </a:solidFill>
                          <a:latin typeface="Aptos"/>
                        </a:rPr>
                        <a:t>7.7%</a:t>
                      </a:r>
                    </a:p>
                  </a:txBody>
                  <a:tcPr marL="91440" marR="91440" marT="27432" marB="27432" anchor="ctr">
                    <a:solidFill>
                      <a:srgbClr val="303030"/>
                    </a:solidFill>
                  </a:tcPr>
                </a:tc>
                <a:tc>
                  <a:txBody>
                    <a:bodyPr wrap="square"/>
                    <a:lstStyle/>
                    <a:p>
                      <a:pPr algn="r"/>
                      <a:r>
                        <a:rPr sz="1000" b="0">
                          <a:solidFill>
                            <a:srgbClr val="F5A000"/>
                          </a:solidFill>
                          <a:latin typeface="Aptos"/>
                        </a:rPr>
                        <a:t>Today's price</a:t>
                      </a:r>
                    </a:p>
                  </a:txBody>
                  <a:tcPr marL="91440" marR="91440" marT="27432" marB="27432" anchor="ctr">
                    <a:solidFill>
                      <a:srgbClr val="303030"/>
                    </a:solidFill>
                  </a:tcPr>
                </a:tc>
                <a:tc>
                  <a:txBody>
                    <a:bodyPr wrap="square"/>
                    <a:lstStyle/>
                    <a:p>
                      <a:pPr algn="r"/>
                      <a:r>
                        <a:rPr sz="1000" b="0">
                          <a:solidFill>
                            <a:srgbClr val="F2F2F2"/>
                          </a:solidFill>
                          <a:latin typeface="Aptos"/>
                        </a:rPr>
                        <a:t>2.4%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Belgium</a:t>
                      </a:r>
                    </a:p>
                  </a:txBody>
                  <a:tcPr marL="91440" marR="91440" marT="27432" marB="27432" anchor="ctr">
                    <a:solidFill>
                      <a:srgbClr val="2B2B2B"/>
                    </a:solidFill>
                  </a:tcPr>
                </a:tc>
                <a:tc>
                  <a:txBody>
                    <a:bodyPr wrap="square"/>
                    <a:lstStyle/>
                    <a:p>
                      <a:pPr algn="r"/>
                      <a:r>
                        <a:rPr sz="1000" b="0">
                          <a:solidFill>
                            <a:srgbClr val="F2F2F2"/>
                          </a:solidFill>
                          <a:latin typeface="Aptos"/>
                        </a:rPr>
                        <a:t>€2.40M</a:t>
                      </a:r>
                    </a:p>
                  </a:txBody>
                  <a:tcPr marL="91440" marR="91440" marT="27432" marB="27432" anchor="ctr">
                    <a:solidFill>
                      <a:srgbClr val="2B2B2B"/>
                    </a:solidFill>
                  </a:tcPr>
                </a:tc>
                <a:tc>
                  <a:txBody>
                    <a:bodyPr wrap="square"/>
                    <a:lstStyle/>
                    <a:p>
                      <a:pPr algn="r"/>
                      <a:r>
                        <a:rPr sz="1000" b="0">
                          <a:solidFill>
                            <a:srgbClr val="F5A000"/>
                          </a:solidFill>
                          <a:latin typeface="Aptos"/>
                        </a:rPr>
                        <a:t>0.3%</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9.8%</a:t>
                      </a:r>
                    </a:p>
                  </a:txBody>
                  <a:tcPr marL="91440" marR="91440" marT="27432" marB="27432" anchor="ctr">
                    <a:solidFill>
                      <a:srgbClr val="2B2B2B"/>
                    </a:solidFill>
                  </a:tcPr>
                </a:tc>
                <a:tc>
                  <a:txBody>
                    <a:bodyPr wrap="square"/>
                    <a:lstStyle/>
                    <a:p>
                      <a:pPr algn="r"/>
                      <a:r>
                        <a:rPr sz="1000" b="0">
                          <a:solidFill>
                            <a:srgbClr val="F2F2F2"/>
                          </a:solidFill>
                          <a:latin typeface="Aptos"/>
                        </a:rPr>
                        <a:t>5.4%</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Portugal</a:t>
                      </a:r>
                    </a:p>
                  </a:txBody>
                  <a:tcPr marL="91440" marR="91440" marT="27432" marB="27432" anchor="ctr">
                    <a:solidFill>
                      <a:srgbClr val="303030"/>
                    </a:solidFill>
                  </a:tcPr>
                </a:tc>
                <a:tc>
                  <a:txBody>
                    <a:bodyPr wrap="square"/>
                    <a:lstStyle/>
                    <a:p>
                      <a:pPr algn="r"/>
                      <a:r>
                        <a:rPr sz="1000" b="0">
                          <a:solidFill>
                            <a:srgbClr val="F2F2F2"/>
                          </a:solidFill>
                          <a:latin typeface="Aptos"/>
                        </a:rPr>
                        <a:t>€1.81M</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9.6%</a:t>
                      </a:r>
                    </a:p>
                  </a:txBody>
                  <a:tcPr marL="91440" marR="91440" marT="27432" marB="27432" anchor="ctr">
                    <a:solidFill>
                      <a:srgbClr val="303030"/>
                    </a:solidFill>
                  </a:tcPr>
                </a:tc>
                <a:tc>
                  <a:txBody>
                    <a:bodyPr wrap="square"/>
                    <a:lstStyle/>
                    <a:p>
                      <a:pPr algn="r"/>
                      <a:r>
                        <a:rPr sz="1000" b="0">
                          <a:solidFill>
                            <a:srgbClr val="F2F2F2"/>
                          </a:solidFill>
                          <a:latin typeface="Aptos"/>
                        </a:rPr>
                        <a:t>6.2%</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Norway</a:t>
                      </a:r>
                    </a:p>
                  </a:txBody>
                  <a:tcPr marL="91440" marR="91440" marT="27432" marB="27432" anchor="ctr">
                    <a:solidFill>
                      <a:srgbClr val="2B2B2B"/>
                    </a:solidFill>
                  </a:tcPr>
                </a:tc>
                <a:tc>
                  <a:txBody>
                    <a:bodyPr wrap="square"/>
                    <a:lstStyle/>
                    <a:p>
                      <a:pPr algn="r"/>
                      <a:r>
                        <a:rPr sz="1000" b="0">
                          <a:solidFill>
                            <a:srgbClr val="F2F2F2"/>
                          </a:solidFill>
                          <a:latin typeface="Aptos"/>
                        </a:rPr>
                        <a:t>€1.42M</a:t>
                      </a:r>
                    </a:p>
                  </a:txBody>
                  <a:tcPr marL="91440" marR="91440" marT="27432" marB="27432" anchor="ctr">
                    <a:solidFill>
                      <a:srgbClr val="2B2B2B"/>
                    </a:solidFill>
                  </a:tcPr>
                </a:tc>
                <a:tc>
                  <a:txBody>
                    <a:bodyPr wrap="square"/>
                    <a:lstStyle/>
                    <a:p>
                      <a:pPr algn="r"/>
                      <a:r>
                        <a:rPr sz="1000" b="0">
                          <a:solidFill>
                            <a:srgbClr val="F5A000"/>
                          </a:solidFill>
                          <a:latin typeface="Aptos"/>
                        </a:rPr>
                        <a:t>0.4%</a:t>
                      </a:r>
                    </a:p>
                  </a:txBody>
                  <a:tcPr marL="91440" marR="91440" marT="27432" marB="27432" anchor="ctr">
                    <a:solidFill>
                      <a:srgbClr val="2B2B2B"/>
                    </a:solidFill>
                  </a:tcPr>
                </a:tc>
                <a:tc>
                  <a:txBody>
                    <a:bodyPr wrap="square"/>
                    <a:lstStyle/>
                    <a:p>
                      <a:pPr algn="r"/>
                      <a:r>
                        <a:rPr sz="1000" b="0">
                          <a:solidFill>
                            <a:srgbClr val="F2F2F2"/>
                          </a:solidFill>
                          <a:latin typeface="Aptos"/>
                        </a:rPr>
                        <a:t>8.9%</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4.7%</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Sweden</a:t>
                      </a:r>
                    </a:p>
                  </a:txBody>
                  <a:tcPr marL="91440" marR="91440" marT="27432" marB="27432" anchor="ctr">
                    <a:solidFill>
                      <a:srgbClr val="303030"/>
                    </a:solidFill>
                  </a:tcPr>
                </a:tc>
                <a:tc>
                  <a:txBody>
                    <a:bodyPr wrap="square"/>
                    <a:lstStyle/>
                    <a:p>
                      <a:pPr algn="r"/>
                      <a:r>
                        <a:rPr sz="1000" b="0">
                          <a:solidFill>
                            <a:srgbClr val="F2F2F2"/>
                          </a:solidFill>
                          <a:latin typeface="Aptos"/>
                        </a:rPr>
                        <a:t>€1.28M</a:t>
                      </a:r>
                    </a:p>
                  </a:txBody>
                  <a:tcPr marL="91440" marR="91440" marT="27432" marB="27432" anchor="ctr">
                    <a:solidFill>
                      <a:srgbClr val="303030"/>
                    </a:solidFill>
                  </a:tcPr>
                </a:tc>
                <a:tc>
                  <a:txBody>
                    <a:bodyPr wrap="square"/>
                    <a:lstStyle/>
                    <a:p>
                      <a:pPr algn="r"/>
                      <a:r>
                        <a:rPr sz="1000" b="0">
                          <a:solidFill>
                            <a:srgbClr val="F2F2F2"/>
                          </a:solidFill>
                          <a:latin typeface="Aptos"/>
                        </a:rPr>
                        <a:t>3.9%</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9.7%</a:t>
                      </a:r>
                    </a:p>
                  </a:txBody>
                  <a:tcPr marL="91440" marR="91440" marT="27432" marB="27432" anchor="ctr">
                    <a:solidFill>
                      <a:srgbClr val="303030"/>
                    </a:solidFill>
                  </a:tcPr>
                </a:tc>
                <a:tc>
                  <a:txBody>
                    <a:bodyPr wrap="square"/>
                    <a:lstStyle/>
                    <a:p>
                      <a:pPr algn="r"/>
                      <a:r>
                        <a:rPr sz="1000" b="0">
                          <a:solidFill>
                            <a:srgbClr val="F2F2F2"/>
                          </a:solidFill>
                          <a:latin typeface="Aptos"/>
                        </a:rPr>
                        <a:t>6.9%</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Ireland</a:t>
                      </a:r>
                    </a:p>
                  </a:txBody>
                  <a:tcPr marL="91440" marR="91440" marT="27432" marB="27432" anchor="ctr">
                    <a:solidFill>
                      <a:srgbClr val="2B2B2B"/>
                    </a:solidFill>
                  </a:tcPr>
                </a:tc>
                <a:tc>
                  <a:txBody>
                    <a:bodyPr wrap="square"/>
                    <a:lstStyle/>
                    <a:p>
                      <a:pPr algn="r"/>
                      <a:r>
                        <a:rPr sz="1000" b="0">
                          <a:solidFill>
                            <a:srgbClr val="F2F2F2"/>
                          </a:solidFill>
                          <a:latin typeface="Aptos"/>
                        </a:rPr>
                        <a:t>€1.08M</a:t>
                      </a:r>
                    </a:p>
                  </a:txBody>
                  <a:tcPr marL="91440" marR="91440" marT="27432" marB="27432" anchor="ctr">
                    <a:solidFill>
                      <a:srgbClr val="2B2B2B"/>
                    </a:solidFill>
                  </a:tcPr>
                </a:tc>
                <a:tc>
                  <a:txBody>
                    <a:bodyPr wrap="square"/>
                    <a:lstStyle/>
                    <a:p>
                      <a:pPr algn="r"/>
                      <a:r>
                        <a:rPr sz="1000" b="0">
                          <a:solidFill>
                            <a:srgbClr val="F2F2F2"/>
                          </a:solidFill>
                          <a:latin typeface="Aptos"/>
                        </a:rPr>
                        <a:t>4.4%</a:t>
                      </a:r>
                    </a:p>
                  </a:txBody>
                  <a:tcPr marL="91440" marR="91440" marT="27432" marB="27432" anchor="ctr">
                    <a:solidFill>
                      <a:srgbClr val="2B2B2B"/>
                    </a:solidFill>
                  </a:tcPr>
                </a:tc>
                <a:tc>
                  <a:txBody>
                    <a:bodyPr wrap="square"/>
                    <a:lstStyle/>
                    <a:p>
                      <a:pPr algn="r"/>
                      <a:r>
                        <a:rPr sz="1000" b="0">
                          <a:solidFill>
                            <a:srgbClr val="F2F2F2"/>
                          </a:solidFill>
                          <a:latin typeface="Aptos"/>
                        </a:rPr>
                        <a:t>9.0%</a:t>
                      </a:r>
                    </a:p>
                  </a:txBody>
                  <a:tcPr marL="91440" marR="91440" marT="27432" marB="27432" anchor="ctr">
                    <a:solidFill>
                      <a:srgbClr val="2B2B2B"/>
                    </a:solidFill>
                  </a:tcPr>
                </a:tc>
                <a:tc>
                  <a:txBody>
                    <a:bodyPr wrap="square"/>
                    <a:lstStyle/>
                    <a:p>
                      <a:pPr algn="r"/>
                      <a:r>
                        <a:rPr sz="1000" b="0">
                          <a:solidFill>
                            <a:srgbClr val="F2F2F2"/>
                          </a:solidFill>
                          <a:latin typeface="Aptos"/>
                        </a:rPr>
                        <a:t>9.4%</a:t>
                      </a:r>
                    </a:p>
                  </a:txBody>
                  <a:tcPr marL="91440" marR="91440" marT="27432" marB="27432" anchor="ctr">
                    <a:solidFill>
                      <a:srgbClr val="2B2B2B"/>
                    </a:solidFill>
                  </a:tcPr>
                </a:tc>
                <a:tc>
                  <a:txBody>
                    <a:bodyPr wrap="square"/>
                    <a:lstStyle/>
                    <a:p>
                      <a:pPr algn="r"/>
                      <a:r>
                        <a:rPr sz="1000" b="0">
                          <a:solidFill>
                            <a:srgbClr val="F2F2F2"/>
                          </a:solidFill>
                          <a:latin typeface="Aptos"/>
                        </a:rPr>
                        <a:t>6.3%</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Cyprus</a:t>
                      </a:r>
                    </a:p>
                  </a:txBody>
                  <a:tcPr marL="91440" marR="91440" marT="27432" marB="27432" anchor="ctr">
                    <a:solidFill>
                      <a:srgbClr val="303030"/>
                    </a:solidFill>
                  </a:tcPr>
                </a:tc>
                <a:tc>
                  <a:txBody>
                    <a:bodyPr wrap="square"/>
                    <a:lstStyle/>
                    <a:p>
                      <a:pPr algn="r"/>
                      <a:r>
                        <a:rPr sz="1000" b="0">
                          <a:solidFill>
                            <a:srgbClr val="F2F2F2"/>
                          </a:solidFill>
                          <a:latin typeface="Aptos"/>
                        </a:rPr>
                        <a:t>€0.41M</a:t>
                      </a:r>
                    </a:p>
                  </a:txBody>
                  <a:tcPr marL="91440" marR="91440" marT="27432" marB="27432" anchor="ctr">
                    <a:solidFill>
                      <a:srgbClr val="303030"/>
                    </a:solidFill>
                  </a:tcPr>
                </a:tc>
                <a:tc>
                  <a:txBody>
                    <a:bodyPr wrap="square"/>
                    <a:lstStyle/>
                    <a:p>
                      <a:pPr algn="r"/>
                      <a:r>
                        <a:rPr sz="1000" b="0">
                          <a:solidFill>
                            <a:srgbClr val="F5A000"/>
                          </a:solidFill>
                          <a:latin typeface="Aptos"/>
                        </a:rPr>
                        <a:t>0.5%</a:t>
                      </a:r>
                    </a:p>
                  </a:txBody>
                  <a:tcPr marL="91440" marR="91440" marT="27432" marB="27432" anchor="ctr">
                    <a:solidFill>
                      <a:srgbClr val="303030"/>
                    </a:solidFill>
                  </a:tcPr>
                </a:tc>
                <a:tc>
                  <a:txBody>
                    <a:bodyPr wrap="square"/>
                    <a:lstStyle/>
                    <a:p>
                      <a:pPr algn="r"/>
                      <a:r>
                        <a:rPr sz="1000" b="0">
                          <a:solidFill>
                            <a:srgbClr val="F2F2F2"/>
                          </a:solidFill>
                          <a:latin typeface="Aptos"/>
                        </a:rPr>
                        <a:t>9.0%</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Hungary</a:t>
                      </a:r>
                    </a:p>
                  </a:txBody>
                  <a:tcPr marL="91440" marR="91440" marT="27432" marB="27432" anchor="ctr">
                    <a:solidFill>
                      <a:srgbClr val="2B2B2B"/>
                    </a:solidFill>
                  </a:tcPr>
                </a:tc>
                <a:tc>
                  <a:txBody>
                    <a:bodyPr wrap="square"/>
                    <a:lstStyle/>
                    <a:p>
                      <a:pPr algn="r"/>
                      <a:r>
                        <a:rPr sz="1000" b="0">
                          <a:solidFill>
                            <a:srgbClr val="F2F2F2"/>
                          </a:solidFill>
                          <a:latin typeface="Aptos"/>
                        </a:rPr>
                        <a:t>€0.33M</a:t>
                      </a:r>
                    </a:p>
                  </a:txBody>
                  <a:tcPr marL="91440" marR="91440" marT="27432" marB="27432" anchor="ctr">
                    <a:solidFill>
                      <a:srgbClr val="2B2B2B"/>
                    </a:solidFill>
                  </a:tcPr>
                </a:tc>
                <a:tc>
                  <a:txBody>
                    <a:bodyPr wrap="square"/>
                    <a:lstStyle/>
                    <a:p>
                      <a:pPr algn="r"/>
                      <a:r>
                        <a:rPr sz="1000" b="0">
                          <a:solidFill>
                            <a:srgbClr val="F5A000"/>
                          </a:solidFill>
                          <a:latin typeface="Aptos"/>
                        </a:rPr>
                        <a:t>0.4%</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4.2%</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Malta</a:t>
                      </a:r>
                    </a:p>
                  </a:txBody>
                  <a:tcPr marL="91440" marR="91440" marT="27432" marB="27432" anchor="ctr">
                    <a:solidFill>
                      <a:srgbClr val="303030"/>
                    </a:solidFill>
                  </a:tcPr>
                </a:tc>
                <a:tc>
                  <a:txBody>
                    <a:bodyPr wrap="square"/>
                    <a:lstStyle/>
                    <a:p>
                      <a:pPr algn="r"/>
                      <a:r>
                        <a:rPr sz="1000" b="0">
                          <a:solidFill>
                            <a:srgbClr val="F2F2F2"/>
                          </a:solidFill>
                          <a:latin typeface="Aptos"/>
                        </a:rPr>
                        <a:t>€0.20M</a:t>
                      </a:r>
                    </a:p>
                  </a:txBody>
                  <a:tcPr marL="91440" marR="91440" marT="27432" marB="27432" anchor="ctr">
                    <a:solidFill>
                      <a:srgbClr val="303030"/>
                    </a:solidFill>
                  </a:tcPr>
                </a:tc>
                <a:tc>
                  <a:txBody>
                    <a:bodyPr wrap="square"/>
                    <a:lstStyle/>
                    <a:p>
                      <a:pPr algn="r"/>
                      <a:r>
                        <a:rPr sz="1000" b="0">
                          <a:solidFill>
                            <a:srgbClr val="F5A000"/>
                          </a:solidFill>
                          <a:latin typeface="Aptos"/>
                        </a:rPr>
                        <a:t>0.3%</a:t>
                      </a:r>
                    </a:p>
                  </a:txBody>
                  <a:tcPr marL="91440" marR="91440" marT="27432" marB="27432" anchor="ctr">
                    <a:solidFill>
                      <a:srgbClr val="303030"/>
                    </a:solidFill>
                  </a:tcPr>
                </a:tc>
                <a:tc>
                  <a:txBody>
                    <a:bodyPr wrap="square"/>
                    <a:lstStyle/>
                    <a:p>
                      <a:pPr algn="r"/>
                      <a:r>
                        <a:rPr sz="1000" b="0">
                          <a:solidFill>
                            <a:srgbClr val="F2F2F2"/>
                          </a:solidFill>
                          <a:latin typeface="Aptos"/>
                        </a:rPr>
                        <a:t>9.1%</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5.5%</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Seven other markets</a:t>
                      </a:r>
                    </a:p>
                  </a:txBody>
                  <a:tcPr marL="91440" marR="91440" marT="27432" marB="27432" anchor="ctr">
                    <a:solidFill>
                      <a:srgbClr val="2B2B2B"/>
                    </a:solidFill>
                  </a:tcPr>
                </a:tc>
                <a:tc>
                  <a:txBody>
                    <a:bodyPr wrap="square"/>
                    <a:lstStyle/>
                    <a:p>
                      <a:pPr algn="r"/>
                      <a:r>
                        <a:rPr sz="1000" b="0">
                          <a:solidFill>
                            <a:srgbClr val="F2F2F2"/>
                          </a:solidFill>
                          <a:latin typeface="Aptos"/>
                        </a:rPr>
                        <a:t>€2.24M</a:t>
                      </a:r>
                    </a:p>
                  </a:txBody>
                  <a:tcPr marL="91440" marR="91440" marT="27432" marB="27432" anchor="ctr">
                    <a:solidFill>
                      <a:srgbClr val="2B2B2B"/>
                    </a:solidFill>
                  </a:tcPr>
                </a:tc>
                <a:tc>
                  <a:txBody>
                    <a:bodyPr wrap="square"/>
                    <a:lstStyle/>
                    <a:p>
                      <a:pPr algn="r"/>
                      <a:r>
                        <a:rPr sz="1000" b="0">
                          <a:solidFill>
                            <a:srgbClr val="F2F2F2"/>
                          </a:solidFill>
                          <a:latin typeface="Aptos"/>
                        </a:rPr>
                        <a:t>4.4%</a:t>
                      </a:r>
                    </a:p>
                  </a:txBody>
                  <a:tcPr marL="91440" marR="91440" marT="27432" marB="27432" anchor="ctr">
                    <a:solidFill>
                      <a:srgbClr val="2B2B2B"/>
                    </a:solidFill>
                  </a:tcPr>
                </a:tc>
                <a:tc>
                  <a:txBody>
                    <a:bodyPr wrap="square"/>
                    <a:lstStyle/>
                    <a:p>
                      <a:pPr algn="r"/>
                      <a:r>
                        <a:rPr sz="1000" b="0">
                          <a:solidFill>
                            <a:srgbClr val="F2F2F2"/>
                          </a:solidFill>
                          <a:latin typeface="Aptos"/>
                        </a:rPr>
                        <a:t>8.8%</a:t>
                      </a:r>
                    </a:p>
                  </a:txBody>
                  <a:tcPr marL="91440" marR="91440" marT="27432" marB="27432" anchor="ctr">
                    <a:solidFill>
                      <a:srgbClr val="2B2B2B"/>
                    </a:solidFill>
                  </a:tcPr>
                </a:tc>
                <a:tc>
                  <a:txBody>
                    <a:bodyPr wrap="square"/>
                    <a:lstStyle/>
                    <a:p>
                      <a:pPr algn="r"/>
                      <a:r>
                        <a:rPr sz="1000" b="0">
                          <a:solidFill>
                            <a:srgbClr val="F2F2F2"/>
                          </a:solidFill>
                          <a:latin typeface="Aptos"/>
                        </a:rPr>
                        <a:t>9.8%</a:t>
                      </a:r>
                    </a:p>
                  </a:txBody>
                  <a:tcPr marL="91440" marR="91440" marT="27432" marB="27432" anchor="ctr">
                    <a:solidFill>
                      <a:srgbClr val="2B2B2B"/>
                    </a:solidFill>
                  </a:tcPr>
                </a:tc>
                <a:tc>
                  <a:txBody>
                    <a:bodyPr wrap="square"/>
                    <a:lstStyle/>
                    <a:p>
                      <a:pPr algn="r"/>
                      <a:r>
                        <a:rPr sz="1000" b="0">
                          <a:solidFill>
                            <a:srgbClr val="F2F2F2"/>
                          </a:solidFill>
                          <a:latin typeface="Aptos"/>
                        </a:rPr>
                        <a:t>6.0%</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Armenia, Kazakhstan: own increase only</a:t>
                      </a:r>
                    </a:p>
                  </a:txBody>
                  <a:tcPr marL="91440" marR="91440" marT="27432" marB="27432" anchor="ctr">
                    <a:solidFill>
                      <a:srgbClr val="303030"/>
                    </a:solidFill>
                  </a:tcPr>
                </a:tc>
                <a:tc>
                  <a:txBody>
                    <a:bodyPr wrap="square"/>
                    <a:lstStyle/>
                    <a:p>
                      <a:pPr algn="r"/>
                      <a:r>
                        <a:rPr sz="1000" b="0">
                          <a:solidFill>
                            <a:srgbClr val="F2F2F2"/>
                          </a:solidFill>
                          <a:latin typeface="Aptos"/>
                        </a:rPr>
                        <a:t>€0.43M</a:t>
                      </a:r>
                    </a:p>
                  </a:txBody>
                  <a:tcPr marL="91440" marR="91440" marT="27432" marB="27432" anchor="ctr">
                    <a:solidFill>
                      <a:srgbClr val="303030"/>
                    </a:solidFill>
                  </a:tcPr>
                </a:tc>
                <a:tc>
                  <a:txBody>
                    <a:bodyPr wrap="square"/>
                    <a:lstStyle/>
                    <a:p>
                      <a:pPr algn="r"/>
                      <a:r>
                        <a:rPr sz="1000" b="0">
                          <a:solidFill>
                            <a:srgbClr val="F2F2F2"/>
                          </a:solidFill>
                          <a:latin typeface="Aptos"/>
                        </a:rPr>
                        <a:t>2.9%</a:t>
                      </a:r>
                    </a:p>
                  </a:txBody>
                  <a:tcPr marL="91440" marR="91440" marT="27432" marB="27432" anchor="ctr">
                    <a:solidFill>
                      <a:srgbClr val="303030"/>
                    </a:solidFill>
                  </a:tcPr>
                </a:tc>
                <a:tc>
                  <a:txBody>
                    <a:bodyPr wrap="square"/>
                    <a:lstStyle/>
                    <a:p>
                      <a:pPr algn="r"/>
                      <a:r>
                        <a:rPr sz="1000" b="0">
                          <a:solidFill>
                            <a:srgbClr val="F2F2F2"/>
                          </a:solidFill>
                          <a:latin typeface="Aptos"/>
                        </a:rPr>
                        <a:t>5.5%</a:t>
                      </a:r>
                    </a:p>
                  </a:txBody>
                  <a:tcPr marL="91440" marR="91440" marT="27432" marB="27432" anchor="ctr">
                    <a:solidFill>
                      <a:srgbClr val="303030"/>
                    </a:solidFill>
                  </a:tcPr>
                </a:tc>
                <a:tc>
                  <a:txBody>
                    <a:bodyPr wrap="square"/>
                    <a:lstStyle/>
                    <a:p>
                      <a:pPr algn="r"/>
                      <a:r>
                        <a:rPr sz="1000" b="0">
                          <a:solidFill>
                            <a:srgbClr val="F2F2F2"/>
                          </a:solidFill>
                          <a:latin typeface="Aptos"/>
                        </a:rPr>
                        <a:t>6.1%</a:t>
                      </a:r>
                    </a:p>
                  </a:txBody>
                  <a:tcPr marL="91440" marR="91440" marT="27432" marB="27432" anchor="ctr">
                    <a:solidFill>
                      <a:srgbClr val="303030"/>
                    </a:solidFill>
                  </a:tcPr>
                </a:tc>
                <a:tc>
                  <a:txBody>
                    <a:bodyPr wrap="square"/>
                    <a:lstStyle/>
                    <a:p>
                      <a:pPr algn="r"/>
                      <a:r>
                        <a:rPr sz="1000" b="0">
                          <a:solidFill>
                            <a:srgbClr val="F2F2F2"/>
                          </a:solidFill>
                          <a:latin typeface="Aptos"/>
                        </a:rPr>
                        <a:t>3.4%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All markets</a:t>
                      </a:r>
                    </a:p>
                  </a:txBody>
                  <a:tcPr marL="91440" marR="91440" marT="27432" marB="27432" anchor="ctr">
                    <a:solidFill>
                      <a:srgbClr val="2B2B2B"/>
                    </a:solidFill>
                  </a:tcPr>
                </a:tc>
                <a:tc>
                  <a:txBody>
                    <a:bodyPr wrap="square"/>
                    <a:lstStyle/>
                    <a:p>
                      <a:pPr algn="r"/>
                      <a:r>
                        <a:rPr sz="1000" b="0">
                          <a:solidFill>
                            <a:srgbClr val="F2F2F2"/>
                          </a:solidFill>
                          <a:latin typeface="Aptos"/>
                        </a:rPr>
                        <a:t>€32.60M</a:t>
                      </a:r>
                    </a:p>
                  </a:txBody>
                  <a:tcPr marL="91440" marR="91440" marT="27432" marB="27432" anchor="ctr">
                    <a:solidFill>
                      <a:srgbClr val="2B2B2B"/>
                    </a:solidFill>
                  </a:tcPr>
                </a:tc>
                <a:tc>
                  <a:txBody>
                    <a:bodyPr wrap="square"/>
                    <a:lstStyle/>
                    <a:p>
                      <a:pPr algn="r"/>
                      <a:r>
                        <a:rPr sz="1000" b="0">
                          <a:solidFill>
                            <a:srgbClr val="F2F2F2"/>
                          </a:solidFill>
                          <a:latin typeface="Aptos"/>
                        </a:rPr>
                        <a:t>2.4%</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9.0%</a:t>
                      </a:r>
                    </a:p>
                  </a:txBody>
                  <a:tcPr marL="91440" marR="91440" marT="27432" marB="27432" anchor="ctr">
                    <a:solidFill>
                      <a:srgbClr val="2B2B2B"/>
                    </a:solidFill>
                  </a:tcPr>
                </a:tc>
                <a:tc>
                  <a:txBody>
                    <a:bodyPr wrap="square"/>
                    <a:lstStyle/>
                    <a:p>
                      <a:pPr algn="r"/>
                      <a:r>
                        <a:rPr sz="1000" b="0">
                          <a:solidFill>
                            <a:srgbClr val="F2F2F2"/>
                          </a:solidFill>
                          <a:latin typeface="Aptos"/>
                        </a:rPr>
                        <a:t>5.0%</a:t>
                      </a:r>
                    </a:p>
                  </a:txBody>
                  <a:tcPr marL="91440" marR="91440" marT="27432" marB="27432" anchor="ctr">
                    <a:solidFill>
                      <a:srgbClr val="2B2B2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PRICES STAY</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propose to keep prices at today's level where a rise would cost us business. This gives up €363k</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Increase not taken, € a year, by market and part group. Amber: the Israel insurance rule (page 10).</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Euro per market and line from the workbook (7,396 part and market lines still held). Distributor reviews July–August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7</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050" b="0" i="0">
                <a:solidFill>
                  <a:srgbClr val="F2F2F2"/>
                </a:solidFill>
                <a:latin typeface="Aptos"/>
              </a:rPr>
              <a:t>Brake parts are the loudest complaint: eight distributors this summer said they are too expensive. Pad kits stay flat network-wide. Discs stay flat in the eight service-hold markets, which are chosen on service share and fleet, not on who complained (page 12).</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050" b="0" i="0">
                <a:solidFill>
                  <a:srgbClr val="F2F2F2"/>
                </a:solidFill>
                <a:latin typeface="Aptos"/>
              </a:rPr>
              <a:t>Service parts also stay flat when vehicles we do not count buy there, dealers reacted after April, or the fleet is flat while our service share is below 28%. Filters are the exception: they follow the factory increase.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050" b="0" i="0">
                <a:solidFill>
                  <a:srgbClr val="F2F2F2"/>
                </a:solidFill>
                <a:latin typeface="Aptos"/>
              </a:rPr>
              <a:t>Israel body, collision and lighting follow the insurance rule (page 10). A hold in one market is a distributor condition on that category.</a:t>
            </a:r>
          </a:p>
        </p:txBody>
      </p:sp>
      <p:graphicFrame>
        <p:nvGraphicFramePr>
          <p:cNvPr id="17" name="chart_held"/>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THE €363K IS RECOVERED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keep €363k of increase off some parts. To stay at +5.00% overall, we put that euro back elsewhere</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Three options, all still €1,629,793. We propose the middle one: only repair and body with no aftermarket rival.</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Proposed option from the workbook; the other two as calculated on 2 October, before filters were released from the hold.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8</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Service parts (filters, pads, discs, clutch) already have aftermarket brands. We put no extra on them. Spreading the extra over every remaining part would put €137k back on service.</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Outside shop prices cover only 21% of parts billed, so weighting the extra by those prices is a guess, not a measurement.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Spreading over every remaining part also hits the biggest factory rises hardest: 56 parts would hit the ceiling (own increase + 5 points). Under our proposal, only 5 parts hit that ceiling.</a:t>
            </a:r>
          </a:p>
        </p:txBody>
      </p:sp>
      <p:sp>
        <p:nvSpPr>
          <p:cNvPr id="17" name="TextBox 16"/>
          <p:cNvSpPr txBox="1"/>
          <p:nvPr/>
        </p:nvSpPr>
        <p:spPr>
          <a:xfrm>
            <a:off x="228600" y="1810512"/>
            <a:ext cx="4206240" cy="274320"/>
          </a:xfrm>
          <a:prstGeom prst="rect">
            <a:avLst/>
          </a:prstGeom>
          <a:noFill/>
        </p:spPr>
        <p:txBody>
          <a:bodyPr wrap="square" anchor="t" lIns="0" rIns="0" tIns="0" bIns="0"/>
          <a:lstStyle/>
          <a:p>
            <a:pPr algn="l"/>
            <a:r>
              <a:rPr sz="1100" b="1" i="0">
                <a:solidFill>
                  <a:srgbClr val="F2F2F2"/>
                </a:solidFill>
                <a:latin typeface="Aptos"/>
              </a:rPr>
              <a:t>The total stays +5.00%, € million</a:t>
            </a:r>
          </a:p>
        </p:txBody>
      </p:sp>
      <p:graphicFrame>
        <p:nvGraphicFramePr>
          <p:cNvPr id="18" name="chart_waterfall2"/>
          <p:cNvGraphicFramePr>
            <a:graphicFrameLocks noGrp="1"/>
          </p:cNvGraphicFramePr>
          <p:nvPr/>
        </p:nvGraphicFramePr>
        <p:xfrm>
          <a:off x="228600" y="2103120"/>
          <a:ext cx="4160520" cy="4160520"/>
        </p:xfrm>
        <a:graphic>
          <a:graphicData uri="http://schemas.openxmlformats.org/drawingml/2006/chart">
            <c:chart xmlns:c="http://schemas.openxmlformats.org/drawingml/2006/chart" r:id="rId2"/>
          </a:graphicData>
        </a:graphic>
      </p:graphicFrame>
      <p:sp>
        <p:nvSpPr>
          <p:cNvPr id="19" name="TextBox 18"/>
          <p:cNvSpPr txBox="1"/>
          <p:nvPr/>
        </p:nvSpPr>
        <p:spPr>
          <a:xfrm>
            <a:off x="4617720" y="1810512"/>
            <a:ext cx="4206240" cy="274320"/>
          </a:xfrm>
          <a:prstGeom prst="rect">
            <a:avLst/>
          </a:prstGeom>
          <a:noFill/>
        </p:spPr>
        <p:txBody>
          <a:bodyPr wrap="square" anchor="t" lIns="0" rIns="0" tIns="0" bIns="0"/>
          <a:lstStyle/>
          <a:p>
            <a:pPr algn="l"/>
            <a:r>
              <a:rPr sz="1100" b="1" i="0">
                <a:solidFill>
                  <a:srgbClr val="F2F2F2"/>
                </a:solidFill>
                <a:latin typeface="Aptos"/>
              </a:rPr>
              <a:t>Where the extra lands, € thousand</a:t>
            </a:r>
          </a:p>
        </p:txBody>
      </p:sp>
      <p:graphicFrame>
        <p:nvGraphicFramePr>
          <p:cNvPr id="20" name="chart_ways"/>
          <p:cNvGraphicFramePr>
            <a:graphicFrameLocks noGrp="1"/>
          </p:cNvGraphicFramePr>
          <p:nvPr/>
        </p:nvGraphicFramePr>
        <p:xfrm>
          <a:off x="4617720" y="2103120"/>
          <a:ext cx="4206240" cy="416052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FOR DECISION</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Isuzu UK (D-Max) bought less after the April 2026 rise. Should it also carry the recovery extra?</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list increase by market, %: before the holds, as proposed now, and if UK pickup is left out of the extra.</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Sales to dealer files, April–July 2025 against 2026 (analysis sections 4 and 7); averages from the +5% workbook (11 October).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9</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From sales to dealer: when a part rose 1% more than similar parts, dealers bought about 1% fewer (−1.08 ± 0.90). Dealer pieces fell 6.5% against the same months of 2025.</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recovery extra puts €85k on its repair and body parts. Leaving it out moves that euro to the other markets (+4.5 points instead of +3.5). The network total stays €1,629,793.</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Ask: leave Isuzu UK (D-Max) out of the recovery extra, or not. We suggest leaving it out.</a:t>
            </a:r>
          </a:p>
        </p:txBody>
      </p:sp>
      <p:graphicFrame>
        <p:nvGraphicFramePr>
          <p:cNvPr id="17" name="chart_exempt"/>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ISRAEL</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Israel: two distributors, two different problems</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Each proposal follows the reason we lose sales at that distributor.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Analysis sections 9 and 10: Israeli motor policy wordings for vehicles up to 3.5 tonnes; distributor correspondence and back-order lists, weeks 2–40 of 2026; SAP parts billing. Figures as in the pricing analysis of 2 October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10</a:t>
            </a:r>
          </a:p>
        </p:txBody>
      </p:sp>
      <p:sp>
        <p:nvSpPr>
          <p:cNvPr id="9" name="isr_L_bg"/>
          <p:cNvSpPr/>
          <p:nvPr/>
        </p:nvSpPr>
        <p:spPr>
          <a:xfrm>
            <a:off x="228600" y="1810512"/>
            <a:ext cx="5760720"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38528"/>
            <a:ext cx="5303520" cy="201168"/>
          </a:xfrm>
          <a:prstGeom prst="rect">
            <a:avLst/>
          </a:prstGeom>
          <a:noFill/>
        </p:spPr>
        <p:txBody>
          <a:bodyPr wrap="square" anchor="t" lIns="0" rIns="0" tIns="0" bIns="0"/>
          <a:lstStyle/>
          <a:p>
            <a:pPr algn="l"/>
            <a:r>
              <a:rPr sz="850" b="1" i="0">
                <a:solidFill>
                  <a:srgbClr val="E30613"/>
                </a:solidFill>
                <a:latin typeface="Aptos"/>
              </a:rPr>
              <a:t>ISRAEL D-MAX DISTRIBUTOR: INSURANCE TOTAL-LOSS RULE</a:t>
            </a:r>
          </a:p>
        </p:txBody>
      </p:sp>
      <p:sp>
        <p:nvSpPr>
          <p:cNvPr id="11" name="TextBox 10"/>
          <p:cNvSpPr txBox="1"/>
          <p:nvPr/>
        </p:nvSpPr>
        <p:spPr>
          <a:xfrm>
            <a:off x="457200" y="2240280"/>
            <a:ext cx="5303520" cy="594360"/>
          </a:xfrm>
          <a:prstGeom prst="rect">
            <a:avLst/>
          </a:prstGeom>
          <a:noFill/>
        </p:spPr>
        <p:txBody>
          <a:bodyPr wrap="square" anchor="t" lIns="0" rIns="0" tIns="0" bIns="0"/>
          <a:lstStyle/>
          <a:p>
            <a:pPr algn="l"/>
            <a:r>
              <a:rPr sz="3800" b="1" i="0">
                <a:solidFill>
                  <a:srgbClr val="F5A000"/>
                </a:solidFill>
                <a:latin typeface="Aptos"/>
              </a:rPr>
              <a:t>60%</a:t>
            </a:r>
          </a:p>
        </p:txBody>
      </p:sp>
      <p:sp>
        <p:nvSpPr>
          <p:cNvPr id="12" name="TextBox 11"/>
          <p:cNvSpPr txBox="1"/>
          <p:nvPr/>
        </p:nvSpPr>
        <p:spPr>
          <a:xfrm>
            <a:off x="457200" y="2971800"/>
            <a:ext cx="5303520" cy="502920"/>
          </a:xfrm>
          <a:prstGeom prst="rect">
            <a:avLst/>
          </a:prstGeom>
          <a:noFill/>
        </p:spPr>
        <p:txBody>
          <a:bodyPr wrap="square" anchor="t" lIns="0" rIns="0" tIns="0" bIns="0"/>
          <a:lstStyle/>
          <a:p>
            <a:pPr algn="l"/>
            <a:r>
              <a:rPr sz="1150" b="1" i="0">
                <a:solidFill>
                  <a:srgbClr val="F2F2F2"/>
                </a:solidFill>
                <a:latin typeface="Aptos"/>
              </a:rPr>
              <a:t>of pre-accident value is the total-loss limit in Israel; insurers may settle as a total loss from 50 to 55%. The repair estimate is built from our parts list prices.</a:t>
            </a:r>
          </a:p>
        </p:txBody>
      </p:sp>
      <p:sp>
        <p:nvSpPr>
          <p:cNvPr id="13" name="TextBox 12"/>
          <p:cNvSpPr txBox="1"/>
          <p:nvPr/>
        </p:nvSpPr>
        <p:spPr>
          <a:xfrm>
            <a:off x="457200" y="3657600"/>
            <a:ext cx="5303520" cy="1828800"/>
          </a:xfrm>
          <a:prstGeom prst="rect">
            <a:avLst/>
          </a:prstGeom>
          <a:noFill/>
        </p:spPr>
        <p:txBody>
          <a:bodyPr wrap="square" anchor="t" lIns="0" rIns="0" tIns="0" bIns="0"/>
          <a:lstStyle/>
          <a:p>
            <a:pPr algn="l"/>
            <a:r>
              <a:rPr sz="1050" b="0" i="0">
                <a:solidFill>
                  <a:srgbClr val="BDBDBD"/>
                </a:solidFill>
                <a:latin typeface="Aptos"/>
              </a:rPr>
              <a:t>Why we keep the list flat here: the insurer's estimate uses our list prices. A higher body or lighting line can tip a repairable D-Max over the 50–60% band. Then we lose the whole repair, not only that part.</a:t>
            </a:r>
          </a:p>
          <a:p>
            <a:pPr algn="l">
              <a:spcBef>
                <a:spcPts val="600"/>
              </a:spcBef>
            </a:pPr>
            <a:r>
              <a:rPr sz="1050" b="0" i="0">
                <a:solidFill>
                  <a:srgbClr val="BDBDBD"/>
                </a:solidFill>
                <a:latin typeface="Aptos"/>
              </a:rPr>
              <a:t>So we propose to keep body, collision and lighting at today's price (€20k of increase given up). Verified in the policy wordings up to 3.5 tonnes, which covers the D-Max.</a:t>
            </a:r>
          </a:p>
          <a:p>
            <a:pPr algn="l">
              <a:spcBef>
                <a:spcPts val="600"/>
              </a:spcBef>
            </a:pPr>
            <a:r>
              <a:rPr sz="1050" b="0" i="0">
                <a:solidFill>
                  <a:srgbClr val="BDBDBD"/>
                </a:solidFill>
                <a:latin typeface="Aptos"/>
              </a:rPr>
              <a:t>Separately, its service parts also stay at today's price (€60k, filters excepted) — same market hold as the other seven service-hold markets (page 7), not the insurance rule.</a:t>
            </a:r>
          </a:p>
        </p:txBody>
      </p:sp>
      <p:sp>
        <p:nvSpPr>
          <p:cNvPr id="14" name="isr_R_bg"/>
          <p:cNvSpPr/>
          <p:nvPr/>
        </p:nvSpPr>
        <p:spPr>
          <a:xfrm>
            <a:off x="6172200" y="1810512"/>
            <a:ext cx="5788152"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938528"/>
            <a:ext cx="5303520" cy="201168"/>
          </a:xfrm>
          <a:prstGeom prst="rect">
            <a:avLst/>
          </a:prstGeom>
          <a:noFill/>
        </p:spPr>
        <p:txBody>
          <a:bodyPr wrap="square" anchor="t" lIns="0" rIns="0" tIns="0" bIns="0"/>
          <a:lstStyle/>
          <a:p>
            <a:pPr algn="l"/>
            <a:r>
              <a:rPr sz="850" b="1" i="0">
                <a:solidFill>
                  <a:srgbClr val="E30613"/>
                </a:solidFill>
                <a:latin typeface="Aptos"/>
              </a:rPr>
              <a:t>ISRAEL TRUCKS DISTRIBUTOR: DELIVERY TIMES, NOT PRICE</a:t>
            </a:r>
          </a:p>
        </p:txBody>
      </p:sp>
      <p:sp>
        <p:nvSpPr>
          <p:cNvPr id="16" name="TextBox 15"/>
          <p:cNvSpPr txBox="1"/>
          <p:nvPr/>
        </p:nvSpPr>
        <p:spPr>
          <a:xfrm>
            <a:off x="6400800" y="2240280"/>
            <a:ext cx="5303520" cy="594360"/>
          </a:xfrm>
          <a:prstGeom prst="rect">
            <a:avLst/>
          </a:prstGeom>
          <a:noFill/>
        </p:spPr>
        <p:txBody>
          <a:bodyPr wrap="square" anchor="t" lIns="0" rIns="0" tIns="0" bIns="0"/>
          <a:lstStyle/>
          <a:p>
            <a:pPr algn="l"/>
            <a:r>
              <a:rPr sz="3800" b="1" i="0">
                <a:solidFill>
                  <a:srgbClr val="F5A000"/>
                </a:solidFill>
                <a:latin typeface="Aptos"/>
              </a:rPr>
              <a:t>−18.0%</a:t>
            </a:r>
          </a:p>
        </p:txBody>
      </p:sp>
      <p:sp>
        <p:nvSpPr>
          <p:cNvPr id="17" name="TextBox 16"/>
          <p:cNvSpPr txBox="1"/>
          <p:nvPr/>
        </p:nvSpPr>
        <p:spPr>
          <a:xfrm>
            <a:off x="6400800" y="2971800"/>
            <a:ext cx="5303520" cy="502920"/>
          </a:xfrm>
          <a:prstGeom prst="rect">
            <a:avLst/>
          </a:prstGeom>
          <a:noFill/>
        </p:spPr>
        <p:txBody>
          <a:bodyPr wrap="square" anchor="t" lIns="0" rIns="0" tIns="0" bIns="0"/>
          <a:lstStyle/>
          <a:p>
            <a:pPr algn="l"/>
            <a:r>
              <a:rPr sz="1150" b="1" i="0">
                <a:solidFill>
                  <a:srgbClr val="F2F2F2"/>
                </a:solidFill>
                <a:latin typeface="Aptos"/>
              </a:rPr>
              <a:t>truck body panel billing January–August 2026 against 2025 (€165k to €136k), while units rose.</a:t>
            </a:r>
          </a:p>
        </p:txBody>
      </p:sp>
      <p:sp>
        <p:nvSpPr>
          <p:cNvPr id="18" name="TextBox 17"/>
          <p:cNvSpPr txBox="1"/>
          <p:nvPr/>
        </p:nvSpPr>
        <p:spPr>
          <a:xfrm>
            <a:off x="6400800" y="3749039"/>
            <a:ext cx="5303520" cy="1737360"/>
          </a:xfrm>
          <a:prstGeom prst="rect">
            <a:avLst/>
          </a:prstGeom>
          <a:noFill/>
        </p:spPr>
        <p:txBody>
          <a:bodyPr wrap="square" anchor="t" lIns="0" rIns="0" tIns="0" bIns="0"/>
          <a:lstStyle/>
          <a:p>
            <a:pPr algn="l"/>
            <a:r>
              <a:rPr sz="1100" b="0" i="0">
                <a:solidFill>
                  <a:srgbClr val="BDBDBD"/>
                </a:solidFill>
                <a:latin typeface="Aptos"/>
              </a:rPr>
              <a:t>This distributor loses panel sales mainly to back orders of 4 to 16 weeks (median 13), not to price. Its panels take the normal increase (€13,795 of increase kept). The answer is availability: a stocking plan for new N-Series (P700) panels against the distributor's forecast.</a:t>
            </a:r>
          </a:p>
          <a:p>
            <a:pPr algn="l">
              <a:spcBef>
                <a:spcPts val="800"/>
              </a:spcBef>
            </a:pPr>
            <a:r>
              <a:rPr sz="1100" b="0" i="0">
                <a:solidFill>
                  <a:srgbClr val="BDBDBD"/>
                </a:solidFill>
                <a:latin typeface="Aptos"/>
              </a:rPr>
              <a:t>Lighting parts stay at today's price (€8k), on the same insurance rule. For vehicles heavier than 3.5 tonnes the clause was not found, so this exposure is unverified.</a:t>
            </a:r>
          </a:p>
        </p:txBody>
      </p:sp>
      <p:sp>
        <p:nvSpPr>
          <p:cNvPr id="19" name="band_bg"/>
          <p:cNvSpPr/>
          <p:nvPr/>
        </p:nvSpPr>
        <p:spPr>
          <a:xfrm>
            <a:off x="228600" y="5760720"/>
            <a:ext cx="11731752" cy="502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nd"/>
          <p:cNvSpPr txBox="1"/>
          <p:nvPr/>
        </p:nvSpPr>
        <p:spPr>
          <a:xfrm>
            <a:off x="457200" y="5760720"/>
            <a:ext cx="11274552" cy="502920"/>
          </a:xfrm>
          <a:prstGeom prst="rect">
            <a:avLst/>
          </a:prstGeom>
          <a:noFill/>
        </p:spPr>
        <p:txBody>
          <a:bodyPr wrap="square" anchor="ctr" lIns="0" rIns="0" tIns="0" bIns="0"/>
          <a:lstStyle/>
          <a:p>
            <a:pPr algn="l"/>
            <a:r>
              <a:rPr sz="1200" b="0" i="0">
                <a:solidFill>
                  <a:srgbClr val="F2F2F2"/>
                </a:solidFill>
                <a:latin typeface="Aptos"/>
              </a:rPr>
              <a:t>In both cases the proposal follows the evidence on why we lose sales: </a:t>
            </a:r>
            <a:r>
              <a:rPr sz="1200" b="1" i="0">
                <a:solidFill>
                  <a:srgbClr val="F2F2F2"/>
                </a:solidFill>
                <a:latin typeface="Aptos"/>
              </a:rPr>
              <a:t>an insurer's limit at one distributor, delivery times at the 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OUTSIDE PRICE EVIDENCE</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do not have enough outside prices to set each part one by one. What we have mostly says where to hold</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Share of parts billed with each kind of evidence. Aftermarket shops mostly cheaper; outside genuine mostly dearer.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Analysis section 8: web-shop and brand prices as of 2 October 2026 (VAT removed, median per part). Figures as in the pricing analysis of 2 October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11</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“No aftermarket rival found” mostly means we did not find one — not that none exists. Only 294 parts have any competitor evidence at all.</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Where we do have aftermarket shop prices, they sit at about 0.56× the dealer price we build from our list (median of 266 parts). That points to parts to keep at today's price, not parts to raise.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We do not have real distributor or dealer resale prices. The dealer price used for the comparison is built from our list on a provisional basis.</a:t>
            </a:r>
          </a:p>
        </p:txBody>
      </p:sp>
      <p:graphicFrame>
        <p:nvGraphicFramePr>
          <p:cNvPr id="17" name="chart_evidence"/>
          <p:cNvGraphicFramePr>
            <a:graphicFrameLocks noGrp="1"/>
          </p:cNvGraphicFramePr>
          <p:nvPr/>
        </p:nvGraphicFramePr>
        <p:xfrm>
          <a:off x="228600" y="2011680"/>
          <a:ext cx="5669280" cy="3657600"/>
        </p:xfrm>
        <a:graphic>
          <a:graphicData uri="http://schemas.openxmlformats.org/drawingml/2006/chart">
            <c:chart xmlns:c="http://schemas.openxmlformats.org/drawingml/2006/chart" r:id="rId2"/>
          </a:graphicData>
        </a:graphic>
      </p:graphicFrame>
      <p:sp>
        <p:nvSpPr>
          <p:cNvPr id="18" name="kpi_v"/>
          <p:cNvSpPr txBox="1"/>
          <p:nvPr/>
        </p:nvSpPr>
        <p:spPr>
          <a:xfrm>
            <a:off x="6172200" y="2103120"/>
            <a:ext cx="2651760" cy="457200"/>
          </a:xfrm>
          <a:prstGeom prst="rect">
            <a:avLst/>
          </a:prstGeom>
          <a:noFill/>
        </p:spPr>
        <p:txBody>
          <a:bodyPr wrap="square" anchor="t" lIns="0" rIns="0" tIns="0" bIns="0"/>
          <a:lstStyle/>
          <a:p>
            <a:pPr algn="l"/>
            <a:r>
              <a:rPr sz="2800" b="1" i="0">
                <a:solidFill>
                  <a:srgbClr val="F2F2F2"/>
                </a:solidFill>
                <a:latin typeface="Aptos"/>
              </a:rPr>
              <a:t>0.56×</a:t>
            </a:r>
          </a:p>
        </p:txBody>
      </p:sp>
      <p:sp>
        <p:nvSpPr>
          <p:cNvPr id="19" name="kpi_l"/>
          <p:cNvSpPr txBox="1"/>
          <p:nvPr/>
        </p:nvSpPr>
        <p:spPr>
          <a:xfrm>
            <a:off x="6172200" y="2606039"/>
            <a:ext cx="2651760" cy="548639"/>
          </a:xfrm>
          <a:prstGeom prst="rect">
            <a:avLst/>
          </a:prstGeom>
          <a:noFill/>
        </p:spPr>
        <p:txBody>
          <a:bodyPr wrap="square" anchor="t" lIns="0" rIns="0" tIns="0" bIns="0"/>
          <a:lstStyle/>
          <a:p>
            <a:pPr algn="l"/>
            <a:r>
              <a:rPr sz="1000" b="0" i="0">
                <a:solidFill>
                  <a:srgbClr val="BDBDBD"/>
                </a:solidFill>
                <a:latin typeface="Aptos"/>
              </a:rPr>
              <a:t>aftermarket shop ÷ dealer price we build from our list, median of 266 parts</a:t>
            </a:r>
          </a:p>
        </p:txBody>
      </p:sp>
      <p:sp>
        <p:nvSpPr>
          <p:cNvPr id="20" name="kpi_v"/>
          <p:cNvSpPr txBox="1"/>
          <p:nvPr/>
        </p:nvSpPr>
        <p:spPr>
          <a:xfrm>
            <a:off x="6172200" y="3611880"/>
            <a:ext cx="2651760" cy="457200"/>
          </a:xfrm>
          <a:prstGeom prst="rect">
            <a:avLst/>
          </a:prstGeom>
          <a:noFill/>
        </p:spPr>
        <p:txBody>
          <a:bodyPr wrap="square" anchor="t" lIns="0" rIns="0" tIns="0" bIns="0"/>
          <a:lstStyle/>
          <a:p>
            <a:pPr algn="l"/>
            <a:r>
              <a:rPr sz="2800" b="1" i="0">
                <a:solidFill>
                  <a:srgbClr val="F2F2F2"/>
                </a:solidFill>
                <a:latin typeface="Aptos"/>
              </a:rPr>
              <a:t>1.17×</a:t>
            </a:r>
          </a:p>
        </p:txBody>
      </p:sp>
      <p:sp>
        <p:nvSpPr>
          <p:cNvPr id="21" name="kpi_l"/>
          <p:cNvSpPr txBox="1"/>
          <p:nvPr/>
        </p:nvSpPr>
        <p:spPr>
          <a:xfrm>
            <a:off x="6172200" y="4114800"/>
            <a:ext cx="2651760" cy="548639"/>
          </a:xfrm>
          <a:prstGeom prst="rect">
            <a:avLst/>
          </a:prstGeom>
          <a:noFill/>
        </p:spPr>
        <p:txBody>
          <a:bodyPr wrap="square" anchor="t" lIns="0" rIns="0" tIns="0" bIns="0"/>
          <a:lstStyle/>
          <a:p>
            <a:pPr algn="l"/>
            <a:r>
              <a:rPr sz="1000" b="0" i="0">
                <a:solidFill>
                  <a:srgbClr val="BDBDBD"/>
                </a:solidFill>
                <a:latin typeface="Aptos"/>
              </a:rPr>
              <a:t>genuine Isuzu sold outside our network, median of 1,167 parts; 1,093 rest on one exporter</a:t>
            </a:r>
          </a:p>
        </p:txBody>
      </p:sp>
      <p:sp>
        <p:nvSpPr>
          <p:cNvPr id="22" name="TextBox 21"/>
          <p:cNvSpPr txBox="1"/>
          <p:nvPr/>
        </p:nvSpPr>
        <p:spPr>
          <a:xfrm>
            <a:off x="228600" y="5760720"/>
            <a:ext cx="8595360" cy="457200"/>
          </a:xfrm>
          <a:prstGeom prst="rect">
            <a:avLst/>
          </a:prstGeom>
          <a:noFill/>
        </p:spPr>
        <p:txBody>
          <a:bodyPr wrap="square" anchor="t" lIns="0" rIns="0" tIns="0" bIns="0"/>
          <a:lstStyle/>
          <a:p>
            <a:pPr algn="l"/>
            <a:r>
              <a:rPr sz="1000" b="0" i="0">
                <a:solidFill>
                  <a:srgbClr val="BDBDBD"/>
                </a:solidFill>
                <a:latin typeface="Aptos"/>
              </a:rPr>
              <a:t>Green: solid evidence. Grey: partial. Red: too thin to prove there is no rival.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HELD SERVICE PARTS: THREE CATEGORIES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Inside the held service parts, filters follow the factory increase and brake discs stay at today's price</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Service parts are kept at today's price in eight markets. Three categories inside them were looked at separately. The figures in this presentation include these positions.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Euro per category from the workbook (what each hold is worth; 7,396 part and market lines still held, €363k). Filters: €26k, released from the hold.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12</a:t>
            </a:r>
          </a:p>
        </p:txBody>
      </p:sp>
      <p:graphicFrame>
        <p:nvGraphicFramePr>
          <p:cNvPr id="9" name="table_changes"/>
          <p:cNvGraphicFramePr>
            <a:graphicFrameLocks noGrp="1"/>
          </p:cNvGraphicFramePr>
          <p:nvPr/>
        </p:nvGraphicFramePr>
        <p:xfrm>
          <a:off x="228600" y="1965960"/>
          <a:ext cx="11731751" cy="3419856"/>
        </p:xfrm>
        <a:graphic>
          <a:graphicData uri="http://schemas.openxmlformats.org/drawingml/2006/table">
            <a:tbl>
              <a:tblPr>
                <a:tableStyleId>{2D5ABB26-0587-4C30-8999-92F81FD0307C}</a:tableStyleId>
              </a:tblPr>
              <a:tblGrid>
                <a:gridCol w="2108049"/>
                <a:gridCol w="2749629"/>
                <a:gridCol w="3849481"/>
                <a:gridCol w="3024592"/>
              </a:tblGrid>
              <a:tr h="347472">
                <a:tc>
                  <a:txBody>
                    <a:bodyPr wrap="square"/>
                    <a:lstStyle/>
                    <a:p>
                      <a:pPr algn="l"/>
                      <a:r>
                        <a:rPr sz="850" b="1">
                          <a:solidFill>
                            <a:srgbClr val="BDBDBD"/>
                          </a:solidFill>
                          <a:latin typeface="Aptos"/>
                        </a:rPr>
                        <a:t>Part category</a:t>
                      </a:r>
                    </a:p>
                  </a:txBody>
                  <a:tcPr marL="91440" marR="91440" marT="27432" marB="27432" anchor="ctr">
                    <a:solidFill>
                      <a:srgbClr val="3A3A3A"/>
                    </a:solidFill>
                  </a:tcPr>
                </a:tc>
                <a:tc>
                  <a:txBody>
                    <a:bodyPr wrap="square"/>
                    <a:lstStyle/>
                    <a:p>
                      <a:pPr algn="l"/>
                      <a:r>
                        <a:rPr sz="850" b="1">
                          <a:solidFill>
                            <a:srgbClr val="BDBDBD"/>
                          </a:solidFill>
                          <a:latin typeface="Aptos"/>
                        </a:rPr>
                        <a:t>Proposal</a:t>
                      </a:r>
                    </a:p>
                  </a:txBody>
                  <a:tcPr marL="91440" marR="91440" marT="27432" marB="27432" anchor="ctr">
                    <a:solidFill>
                      <a:srgbClr val="3A3A3A"/>
                    </a:solidFill>
                  </a:tcPr>
                </a:tc>
                <a:tc>
                  <a:txBody>
                    <a:bodyPr wrap="square"/>
                    <a:lstStyle/>
                    <a:p>
                      <a:pPr algn="l"/>
                      <a:r>
                        <a:rPr sz="850" b="1">
                          <a:solidFill>
                            <a:srgbClr val="BDBDBD"/>
                          </a:solidFill>
                          <a:latin typeface="Aptos"/>
                        </a:rPr>
                        <a:t>Why</a:t>
                      </a:r>
                    </a:p>
                  </a:txBody>
                  <a:tcPr marL="91440" marR="91440" marT="27432" marB="27432" anchor="ctr">
                    <a:solidFill>
                      <a:srgbClr val="3A3A3A"/>
                    </a:solidFill>
                  </a:tcPr>
                </a:tc>
                <a:tc>
                  <a:txBody>
                    <a:bodyPr wrap="square"/>
                    <a:lstStyle/>
                    <a:p>
                      <a:pPr algn="l"/>
                      <a:r>
                        <a:rPr sz="850" b="1">
                          <a:solidFill>
                            <a:srgbClr val="BDBDBD"/>
                          </a:solidFill>
                          <a:latin typeface="Aptos"/>
                        </a:rPr>
                        <a:t>In the figures</a:t>
                      </a:r>
                    </a:p>
                  </a:txBody>
                  <a:tcPr marL="91440" marR="91440" marT="27432" marB="27432" anchor="ctr">
                    <a:solidFill>
                      <a:srgbClr val="3A3A3A"/>
                    </a:solidFill>
                  </a:tcPr>
                </a:tc>
              </a:tr>
              <a:tr h="1024128">
                <a:tc>
                  <a:txBody>
                    <a:bodyPr wrap="square"/>
                    <a:lstStyle/>
                    <a:p>
                      <a:pPr algn="l"/>
                      <a:r>
                        <a:rPr sz="1050" b="1">
                          <a:solidFill>
                            <a:srgbClr val="F2F2F2"/>
                          </a:solidFill>
                          <a:latin typeface="Aptos"/>
                        </a:rPr>
                        <a:t>Filters</a:t>
                      </a:r>
                    </a:p>
                  </a:txBody>
                  <a:tcPr marL="91440" marR="91440" marT="27432" marB="27432" anchor="ctr">
                    <a:solidFill>
                      <a:srgbClr val="303030"/>
                    </a:solidFill>
                  </a:tcPr>
                </a:tc>
                <a:tc>
                  <a:txBody>
                    <a:bodyPr wrap="square"/>
                    <a:lstStyle/>
                    <a:p>
                      <a:pPr algn="l"/>
                      <a:r>
                        <a:rPr sz="1050" b="0">
                          <a:solidFill>
                            <a:srgbClr val="F5A000"/>
                          </a:solidFill>
                          <a:latin typeface="Aptos"/>
                        </a:rPr>
                        <a:t>Follow the factory (IML/IMIT) increase, like other parts.</a:t>
                      </a:r>
                    </a:p>
                  </a:txBody>
                  <a:tcPr marL="91440" marR="91440" marT="27432" marB="27432" anchor="ctr">
                    <a:solidFill>
                      <a:srgbClr val="303030"/>
                    </a:solidFill>
                  </a:tcPr>
                </a:tc>
                <a:tc>
                  <a:txBody>
                    <a:bodyPr wrap="square"/>
                    <a:lstStyle/>
                    <a:p>
                      <a:pPr algn="l"/>
                      <a:r>
                        <a:rPr sz="1050" b="0">
                          <a:solidFill>
                            <a:srgbClr val="F2F2F2"/>
                          </a:solidFill>
                          <a:latin typeface="Aptos"/>
                        </a:rPr>
                        <a:t>Filters are not a critical price point, so they follow the supplier's increase like other parts. Three filter lines a distributor already loses stay flat (page 5).</a:t>
                      </a:r>
                    </a:p>
                  </a:txBody>
                  <a:tcPr marL="91440" marR="91440" marT="27432" marB="27432" anchor="ctr">
                    <a:solidFill>
                      <a:srgbClr val="303030"/>
                    </a:solidFill>
                  </a:tcPr>
                </a:tc>
                <a:tc>
                  <a:txBody>
                    <a:bodyPr wrap="square"/>
                    <a:lstStyle/>
                    <a:p>
                      <a:pPr algn="l"/>
                      <a:r>
                        <a:rPr sz="1050" b="0">
                          <a:solidFill>
                            <a:srgbClr val="F2F2F2"/>
                          </a:solidFill>
                          <a:latin typeface="Aptos"/>
                        </a:rPr>
                        <a:t>€26k is no longer held. The held total is €363k instead of €389k, and the extra on repair and body parts falls from +3.7 to +3.5 points.</a:t>
                      </a:r>
                    </a:p>
                  </a:txBody>
                  <a:tcPr marL="91440" marR="91440" marT="27432" marB="27432" anchor="ctr">
                    <a:solidFill>
                      <a:srgbClr val="303030"/>
                    </a:solidFill>
                  </a:tcPr>
                </a:tc>
              </a:tr>
              <a:tr h="1024128">
                <a:tc>
                  <a:txBody>
                    <a:bodyPr wrap="square"/>
                    <a:lstStyle/>
                    <a:p>
                      <a:pPr algn="l"/>
                      <a:r>
                        <a:rPr sz="1050" b="1">
                          <a:solidFill>
                            <a:srgbClr val="F2F2F2"/>
                          </a:solidFill>
                          <a:latin typeface="Aptos"/>
                        </a:rPr>
                        <a:t>Brake discs and drums</a:t>
                      </a:r>
                    </a:p>
                  </a:txBody>
                  <a:tcPr marL="91440" marR="91440" marT="27432" marB="27432" anchor="ctr">
                    <a:solidFill>
                      <a:srgbClr val="2B2B2B"/>
                    </a:solidFill>
                  </a:tcPr>
                </a:tc>
                <a:tc>
                  <a:txBody>
                    <a:bodyPr wrap="square"/>
                    <a:lstStyle/>
                    <a:p>
                      <a:pPr algn="l"/>
                      <a:r>
                        <a:rPr sz="1050" b="0">
                          <a:solidFill>
                            <a:srgbClr val="F5A000"/>
                          </a:solidFill>
                          <a:latin typeface="Aptos"/>
                        </a:rPr>
                        <a:t>Stay at today's price in the eight markets, like the 29 pad kits.</a:t>
                      </a:r>
                    </a:p>
                  </a:txBody>
                  <a:tcPr marL="91440" marR="91440" marT="27432" marB="27432" anchor="ctr">
                    <a:solidFill>
                      <a:srgbClr val="2B2B2B"/>
                    </a:solidFill>
                  </a:tcPr>
                </a:tc>
                <a:tc>
                  <a:txBody>
                    <a:bodyPr wrap="square"/>
                    <a:lstStyle/>
                    <a:p>
                      <a:pPr algn="l"/>
                      <a:r>
                        <a:rPr sz="1050" b="0">
                          <a:solidFill>
                            <a:srgbClr val="F2F2F2"/>
                          </a:solidFill>
                          <a:latin typeface="Aptos"/>
                        </a:rPr>
                        <a:t>Aftermarket alternatives, and brake parts were the loudest complaint in this summer's distributor reviews, so discs follow the same logic as the pad kits (Germany already quotes a rotor at about €80 against about €100 through us).</a:t>
                      </a:r>
                    </a:p>
                  </a:txBody>
                  <a:tcPr marL="91440" marR="91440" marT="27432" marB="27432" anchor="ctr">
                    <a:solidFill>
                      <a:srgbClr val="2B2B2B"/>
                    </a:solidFill>
                  </a:tcPr>
                </a:tc>
                <a:tc>
                  <a:txBody>
                    <a:bodyPr wrap="square"/>
                    <a:lstStyle/>
                    <a:p>
                      <a:pPr algn="l"/>
                      <a:r>
                        <a:rPr sz="1050" b="0">
                          <a:solidFill>
                            <a:srgbClr val="F2F2F2"/>
                          </a:solidFill>
                          <a:latin typeface="Aptos"/>
                        </a:rPr>
                        <a:t>€52k, held, inside the €363k.</a:t>
                      </a:r>
                    </a:p>
                  </a:txBody>
                  <a:tcPr marL="91440" marR="91440" marT="27432" marB="27432" anchor="ctr">
                    <a:solidFill>
                      <a:srgbClr val="2B2B2B"/>
                    </a:solidFill>
                  </a:tcPr>
                </a:tc>
              </a:tr>
              <a:tr h="1024128">
                <a:tc>
                  <a:txBody>
                    <a:bodyPr wrap="square"/>
                    <a:lstStyle/>
                    <a:p>
                      <a:pPr algn="l"/>
                      <a:r>
                        <a:rPr sz="1050" b="1">
                          <a:solidFill>
                            <a:srgbClr val="F2F2F2"/>
                          </a:solidFill>
                          <a:latin typeface="Aptos"/>
                        </a:rPr>
                        <a:t>Intake, exhaust and emission parts</a:t>
                      </a:r>
                    </a:p>
                  </a:txBody>
                  <a:tcPr marL="91440" marR="91440" marT="27432" marB="27432" anchor="ctr">
                    <a:solidFill>
                      <a:srgbClr val="303030"/>
                    </a:solidFill>
                  </a:tcPr>
                </a:tc>
                <a:tc>
                  <a:txBody>
                    <a:bodyPr wrap="square"/>
                    <a:lstStyle/>
                    <a:p>
                      <a:pPr algn="l"/>
                      <a:r>
                        <a:rPr sz="1050" b="0">
                          <a:solidFill>
                            <a:srgbClr val="F5A000"/>
                          </a:solidFill>
                          <a:latin typeface="Aptos"/>
                        </a:rPr>
                        <a:t>Open: we have no proposal yet. For decision (page 13).</a:t>
                      </a:r>
                    </a:p>
                  </a:txBody>
                  <a:tcPr marL="91440" marR="91440" marT="27432" marB="27432" anchor="ctr">
                    <a:solidFill>
                      <a:srgbClr val="303030"/>
                    </a:solidFill>
                  </a:tcPr>
                </a:tc>
                <a:tc>
                  <a:txBody>
                    <a:bodyPr wrap="square"/>
                    <a:lstStyle/>
                    <a:p>
                      <a:pPr algn="l"/>
                      <a:r>
                        <a:rPr sz="1050" b="0">
                          <a:solidFill>
                            <a:srgbClr val="F2F2F2"/>
                          </a:solidFill>
                          <a:latin typeface="Aptos"/>
                        </a:rPr>
                        <a:t>Particulate filter assemblies, turbochargers, EGR valves and exhaust pipes. Held in the figures until decided.</a:t>
                      </a:r>
                    </a:p>
                  </a:txBody>
                  <a:tcPr marL="91440" marR="91440" marT="27432" marB="27432" anchor="ctr">
                    <a:solidFill>
                      <a:srgbClr val="303030"/>
                    </a:solidFill>
                  </a:tcPr>
                </a:tc>
                <a:tc>
                  <a:txBody>
                    <a:bodyPr wrap="square"/>
                    <a:lstStyle/>
                    <a:p>
                      <a:pPr algn="l"/>
                      <a:r>
                        <a:rPr sz="1050" b="0">
                          <a:solidFill>
                            <a:srgbClr val="F2F2F2"/>
                          </a:solidFill>
                          <a:latin typeface="Aptos"/>
                        </a:rPr>
                        <a:t>€93k, held, inside the €363k.</a:t>
                      </a:r>
                    </a:p>
                  </a:txBody>
                  <a:tcPr marL="91440" marR="91440" marT="27432" marB="27432" anchor="ctr">
                    <a:solidFill>
                      <a:srgbClr val="303030"/>
                    </a:solidFill>
                  </a:tcPr>
                </a:tc>
              </a:tr>
            </a:tbl>
          </a:graphicData>
        </a:graphic>
      </p:graphicFrame>
      <p:sp>
        <p:nvSpPr>
          <p:cNvPr id="10" name="band_bg"/>
          <p:cNvSpPr/>
          <p:nvPr/>
        </p:nvSpPr>
        <p:spPr>
          <a:xfrm>
            <a:off x="228600" y="5532120"/>
            <a:ext cx="11731752" cy="6858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nd"/>
          <p:cNvSpPr txBox="1"/>
          <p:nvPr/>
        </p:nvSpPr>
        <p:spPr>
          <a:xfrm>
            <a:off x="457200" y="5532120"/>
            <a:ext cx="11274552" cy="685800"/>
          </a:xfrm>
          <a:prstGeom prst="rect">
            <a:avLst/>
          </a:prstGeom>
          <a:noFill/>
        </p:spPr>
        <p:txBody>
          <a:bodyPr wrap="square" anchor="ctr" lIns="0" rIns="0" tIns="0" bIns="0"/>
          <a:lstStyle/>
          <a:p>
            <a:pPr algn="l"/>
            <a:r>
              <a:rPr sz="1100" b="1" i="0">
                <a:solidFill>
                  <a:srgbClr val="F2F2F2"/>
                </a:solidFill>
                <a:latin typeface="Aptos"/>
              </a:rPr>
              <a:t>What does not change: </a:t>
            </a:r>
            <a:r>
              <a:rPr sz="1100" b="0" i="0">
                <a:solidFill>
                  <a:srgbClr val="F2F2F2"/>
                </a:solidFill>
                <a:latin typeface="Aptos"/>
              </a:rPr>
              <a:t>the +5.0% target; the 29 pad kits at today's price (€109k, main front kit would otherwise rise about 17%); the Israel proposals; and the recovery on repair and body parts with no alternative found.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DECISIONS AND NEXT ACTIONS</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Two points need a decision from management, and one more is open</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Two further items sit outside this revision.</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Terms outside the list: calendar 2025 order lines at the 2025 list (analysis section 11).</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13</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NEXT ACTIONS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941831"/>
          </a:xfrm>
          <a:prstGeom prst="rect">
            <a:avLst/>
          </a:prstGeom>
          <a:noFill/>
        </p:spPr>
        <p:txBody>
          <a:bodyPr wrap="square" anchor="t" lIns="0" rIns="0" tIns="0" bIns="0"/>
          <a:lstStyle/>
          <a:p>
            <a:pPr algn="l"/>
            <a:r>
              <a:rPr sz="1150" b="0" i="0">
                <a:solidFill>
                  <a:srgbClr val="F2F2F2"/>
                </a:solidFill>
                <a:latin typeface="Aptos"/>
              </a:rPr>
              <a:t>Decide the Isuzu UK (D-Max) exemption and the intake, exhaust and emission position.</a:t>
            </a:r>
          </a:p>
        </p:txBody>
      </p:sp>
      <p:sp>
        <p:nvSpPr>
          <p:cNvPr id="13" name="panel_dot1"/>
          <p:cNvSpPr/>
          <p:nvPr/>
        </p:nvSpPr>
        <p:spPr>
          <a:xfrm>
            <a:off x="9272015" y="314553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081527"/>
            <a:ext cx="2258568" cy="941831"/>
          </a:xfrm>
          <a:prstGeom prst="rect">
            <a:avLst/>
          </a:prstGeom>
          <a:noFill/>
        </p:spPr>
        <p:txBody>
          <a:bodyPr wrap="square" anchor="t" lIns="0" rIns="0" tIns="0" bIns="0"/>
          <a:lstStyle/>
          <a:p>
            <a:pPr algn="l"/>
            <a:r>
              <a:rPr sz="1150" b="0" i="0">
                <a:solidFill>
                  <a:srgbClr val="F2F2F2"/>
                </a:solidFill>
                <a:latin typeface="Aptos"/>
              </a:rPr>
              <a:t>Set up the exceptions and the recovery as distributor conditions per parts category (not built yet). Agree the N-Series panel stocking plan.</a:t>
            </a:r>
          </a:p>
        </p:txBody>
      </p:sp>
      <p:sp>
        <p:nvSpPr>
          <p:cNvPr id="15" name="panel_dot2"/>
          <p:cNvSpPr/>
          <p:nvPr/>
        </p:nvSpPr>
        <p:spPr>
          <a:xfrm>
            <a:off x="9272015" y="419709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133087"/>
            <a:ext cx="2258568" cy="941831"/>
          </a:xfrm>
          <a:prstGeom prst="rect">
            <a:avLst/>
          </a:prstGeom>
          <a:noFill/>
        </p:spPr>
        <p:txBody>
          <a:bodyPr wrap="square" anchor="t" lIns="0" rIns="0" tIns="0" bIns="0"/>
          <a:lstStyle/>
          <a:p>
            <a:pPr algn="l"/>
            <a:r>
              <a:rPr sz="1150" b="0" i="0">
                <a:solidFill>
                  <a:srgbClr val="F2F2F2"/>
                </a:solidFill>
                <a:latin typeface="Aptos"/>
              </a:rPr>
              <a:t>Before the body share of the recovery is fixed: price check on non-genuine body parts (top 50), and confirm the reference dealer price basis.</a:t>
            </a:r>
          </a:p>
        </p:txBody>
      </p:sp>
      <p:sp>
        <p:nvSpPr>
          <p:cNvPr id="17" name="panel_dot3"/>
          <p:cNvSpPr/>
          <p:nvPr/>
        </p:nvSpPr>
        <p:spPr>
          <a:xfrm>
            <a:off x="9272015" y="524865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nel_t3"/>
          <p:cNvSpPr txBox="1"/>
          <p:nvPr/>
        </p:nvSpPr>
        <p:spPr>
          <a:xfrm>
            <a:off x="9491472" y="5184648"/>
            <a:ext cx="2258568" cy="941831"/>
          </a:xfrm>
          <a:prstGeom prst="rect">
            <a:avLst/>
          </a:prstGeom>
          <a:noFill/>
        </p:spPr>
        <p:txBody>
          <a:bodyPr wrap="square" anchor="t" lIns="0" rIns="0" tIns="0" bIns="0"/>
          <a:lstStyle/>
          <a:p>
            <a:pPr algn="l"/>
            <a:r>
              <a:rPr sz="1150" b="0" i="0">
                <a:solidFill>
                  <a:srgbClr val="F2F2F2"/>
                </a:solidFill>
                <a:latin typeface="Aptos"/>
              </a:rPr>
              <a:t>Take discounts and surcharges into the distributor negotiations as a separate item. Prepare first prices for the new N-Series parts.</a:t>
            </a:r>
          </a:p>
        </p:txBody>
      </p:sp>
      <p:graphicFrame>
        <p:nvGraphicFramePr>
          <p:cNvPr id="19" name="table_open"/>
          <p:cNvGraphicFramePr>
            <a:graphicFrameLocks noGrp="1"/>
          </p:cNvGraphicFramePr>
          <p:nvPr/>
        </p:nvGraphicFramePr>
        <p:xfrm>
          <a:off x="228600" y="1783080"/>
          <a:ext cx="8595358" cy="4370832"/>
        </p:xfrm>
        <a:graphic>
          <a:graphicData uri="http://schemas.openxmlformats.org/drawingml/2006/table">
            <a:tbl>
              <a:tblPr>
                <a:tableStyleId>{2D5ABB26-0587-4C30-8999-92F81FD0307C}</a:tableStyleId>
              </a:tblPr>
              <a:tblGrid>
                <a:gridCol w="2038075"/>
                <a:gridCol w="1151955"/>
                <a:gridCol w="3101418"/>
                <a:gridCol w="2303910"/>
              </a:tblGrid>
              <a:tr h="347472">
                <a:tc>
                  <a:txBody>
                    <a:bodyPr wrap="square"/>
                    <a:lstStyle/>
                    <a:p>
                      <a:pPr algn="l"/>
                      <a:r>
                        <a:rPr sz="850" b="1">
                          <a:solidFill>
                            <a:srgbClr val="BDBDBD"/>
                          </a:solidFill>
                          <a:latin typeface="Aptos"/>
                        </a:rPr>
                        <a:t>Point</a:t>
                      </a:r>
                    </a:p>
                  </a:txBody>
                  <a:tcPr marL="91440" marR="91440" marT="27432" marB="27432" anchor="ctr">
                    <a:solidFill>
                      <a:srgbClr val="3A3A3A"/>
                    </a:solidFill>
                  </a:tcPr>
                </a:tc>
                <a:tc>
                  <a:txBody>
                    <a:bodyPr wrap="square"/>
                    <a:lstStyle/>
                    <a:p>
                      <a:pPr algn="l"/>
                      <a:r>
                        <a:rPr sz="850" b="1">
                          <a:solidFill>
                            <a:srgbClr val="BDBDBD"/>
                          </a:solidFill>
                          <a:latin typeface="Aptos"/>
                        </a:rPr>
                        <a:t>Status</a:t>
                      </a:r>
                    </a:p>
                  </a:txBody>
                  <a:tcPr marL="91440" marR="91440" marT="27432" marB="27432" anchor="ctr">
                    <a:solidFill>
                      <a:srgbClr val="3A3A3A"/>
                    </a:solidFill>
                  </a:tcPr>
                </a:tc>
                <a:tc>
                  <a:txBody>
                    <a:bodyPr wrap="square"/>
                    <a:lstStyle/>
                    <a:p>
                      <a:pPr algn="l"/>
                      <a:r>
                        <a:rPr sz="850" b="1">
                          <a:solidFill>
                            <a:srgbClr val="BDBDBD"/>
                          </a:solidFill>
                          <a:latin typeface="Aptos"/>
                        </a:rPr>
                        <a:t>What is open</a:t>
                      </a:r>
                    </a:p>
                  </a:txBody>
                  <a:tcPr marL="91440" marR="91440" marT="27432" marB="27432" anchor="ctr">
                    <a:solidFill>
                      <a:srgbClr val="3A3A3A"/>
                    </a:solidFill>
                  </a:tcPr>
                </a:tc>
                <a:tc>
                  <a:txBody>
                    <a:bodyPr wrap="square"/>
                    <a:lstStyle/>
                    <a:p>
                      <a:pPr algn="l"/>
                      <a:r>
                        <a:rPr sz="850" b="1">
                          <a:solidFill>
                            <a:srgbClr val="BDBDBD"/>
                          </a:solidFill>
                          <a:latin typeface="Aptos"/>
                        </a:rPr>
                        <a:t>At stake</a:t>
                      </a:r>
                    </a:p>
                  </a:txBody>
                  <a:tcPr marL="91440" marR="91440" marT="27432" marB="27432" anchor="ctr">
                    <a:solidFill>
                      <a:srgbClr val="3A3A3A"/>
                    </a:solidFill>
                  </a:tcPr>
                </a:tc>
              </a:tr>
              <a:tr h="804672">
                <a:tc>
                  <a:txBody>
                    <a:bodyPr wrap="square"/>
                    <a:lstStyle/>
                    <a:p>
                      <a:pPr algn="l"/>
                      <a:r>
                        <a:rPr sz="950" b="1">
                          <a:solidFill>
                            <a:srgbClr val="F2F2F2"/>
                          </a:solidFill>
                          <a:latin typeface="Aptos"/>
                        </a:rPr>
                        <a:t>Isuzu UK (D-Max) exemption</a:t>
                      </a:r>
                    </a:p>
                  </a:txBody>
                  <a:tcPr marL="91440" marR="91440" marT="27432" marB="27432" anchor="ctr">
                    <a:solidFill>
                      <a:srgbClr val="303030"/>
                    </a:solidFill>
                  </a:tcPr>
                </a:tc>
                <a:tc>
                  <a:txBody>
                    <a:bodyPr wrap="square"/>
                    <a:lstStyle/>
                    <a:p>
                      <a:pPr algn="l"/>
                      <a:r>
                        <a:rPr sz="950" b="0">
                          <a:solidFill>
                            <a:srgbClr val="F5A000"/>
                          </a:solidFill>
                          <a:latin typeface="Aptos"/>
                        </a:rPr>
                        <a:t>For decision</a:t>
                      </a:r>
                    </a:p>
                  </a:txBody>
                  <a:tcPr marL="91440" marR="91440" marT="27432" marB="27432" anchor="ctr">
                    <a:solidFill>
                      <a:srgbClr val="303030"/>
                    </a:solidFill>
                  </a:tcPr>
                </a:tc>
                <a:tc>
                  <a:txBody>
                    <a:bodyPr wrap="square"/>
                    <a:lstStyle/>
                    <a:p>
                      <a:pPr algn="l"/>
                      <a:r>
                        <a:rPr sz="950" b="0">
                          <a:solidFill>
                            <a:srgbClr val="F2F2F2"/>
                          </a:solidFill>
                          <a:latin typeface="Aptos"/>
                        </a:rPr>
                        <a:t>Its repair and body parts keep their own increase, without a share of the recovery. We suggest exempting it (page 9).</a:t>
                      </a:r>
                    </a:p>
                  </a:txBody>
                  <a:tcPr marL="91440" marR="91440" marT="27432" marB="27432" anchor="ctr">
                    <a:solidFill>
                      <a:srgbClr val="303030"/>
                    </a:solidFill>
                  </a:tcPr>
                </a:tc>
                <a:tc>
                  <a:txBody>
                    <a:bodyPr wrap="square"/>
                    <a:lstStyle/>
                    <a:p>
                      <a:pPr algn="l"/>
                      <a:r>
                        <a:rPr sz="950" b="0">
                          <a:solidFill>
                            <a:srgbClr val="F2F2F2"/>
                          </a:solidFill>
                          <a:latin typeface="Aptos"/>
                        </a:rPr>
                        <a:t>€85k moves between markets.</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Intake, exhaust and emission parts</a:t>
                      </a:r>
                    </a:p>
                  </a:txBody>
                  <a:tcPr marL="91440" marR="91440" marT="27432" marB="27432" anchor="ctr">
                    <a:solidFill>
                      <a:srgbClr val="2B2B2B"/>
                    </a:solidFill>
                  </a:tcPr>
                </a:tc>
                <a:tc>
                  <a:txBody>
                    <a:bodyPr wrap="square"/>
                    <a:lstStyle/>
                    <a:p>
                      <a:pPr algn="l"/>
                      <a:r>
                        <a:rPr sz="950" b="0">
                          <a:solidFill>
                            <a:srgbClr val="F5A000"/>
                          </a:solidFill>
                          <a:latin typeface="Aptos"/>
                        </a:rPr>
                        <a:t>For decision</a:t>
                      </a:r>
                    </a:p>
                  </a:txBody>
                  <a:tcPr marL="91440" marR="91440" marT="27432" marB="27432" anchor="ctr">
                    <a:solidFill>
                      <a:srgbClr val="2B2B2B"/>
                    </a:solidFill>
                  </a:tcPr>
                </a:tc>
                <a:tc>
                  <a:txBody>
                    <a:bodyPr wrap="square"/>
                    <a:lstStyle/>
                    <a:p>
                      <a:pPr algn="l"/>
                      <a:r>
                        <a:rPr sz="950" b="0">
                          <a:solidFill>
                            <a:srgbClr val="F2F2F2"/>
                          </a:solidFill>
                          <a:latin typeface="Aptos"/>
                        </a:rPr>
                        <a:t>Whether these parts stay at today's price (page 12).</a:t>
                      </a:r>
                    </a:p>
                  </a:txBody>
                  <a:tcPr marL="91440" marR="91440" marT="27432" marB="27432" anchor="ctr">
                    <a:solidFill>
                      <a:srgbClr val="2B2B2B"/>
                    </a:solidFill>
                  </a:tcPr>
                </a:tc>
                <a:tc>
                  <a:txBody>
                    <a:bodyPr wrap="square"/>
                    <a:lstStyle/>
                    <a:p>
                      <a:pPr algn="l"/>
                      <a:r>
                        <a:rPr sz="950" b="0">
                          <a:solidFill>
                            <a:srgbClr val="F2F2F2"/>
                          </a:solidFill>
                          <a:latin typeface="Aptos"/>
                        </a:rPr>
                        <a:t>€93k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Israel D-Max distributor: leasing share</a:t>
                      </a:r>
                    </a:p>
                  </a:txBody>
                  <a:tcPr marL="91440" marR="91440" marT="27432" marB="27432" anchor="ctr">
                    <a:solidFill>
                      <a:srgbClr val="303030"/>
                    </a:solidFill>
                  </a:tcPr>
                </a:tc>
                <a:tc>
                  <a:txBody>
                    <a:bodyPr wrap="square"/>
                    <a:lstStyle/>
                    <a:p>
                      <a:pPr algn="l"/>
                      <a:r>
                        <a:rPr sz="950" b="0">
                          <a:solidFill>
                            <a:srgbClr val="BDBDBD"/>
                          </a:solidFill>
                          <a:latin typeface="Aptos"/>
                        </a:rPr>
                        <a:t>Open</a:t>
                      </a:r>
                    </a:p>
                  </a:txBody>
                  <a:tcPr marL="91440" marR="91440" marT="27432" marB="27432" anchor="ctr">
                    <a:solidFill>
                      <a:srgbClr val="303030"/>
                    </a:solidFill>
                  </a:tcPr>
                </a:tc>
                <a:tc>
                  <a:txBody>
                    <a:bodyPr wrap="square"/>
                    <a:lstStyle/>
                    <a:p>
                      <a:pPr algn="l"/>
                      <a:r>
                        <a:rPr sz="950" b="0">
                          <a:solidFill>
                            <a:srgbClr val="F2F2F2"/>
                          </a:solidFill>
                          <a:latin typeface="Aptos"/>
                        </a:rPr>
                        <a:t>If leasing fleets are most of its volume, its service parts could take the normal increase. The share is not being requested now.</a:t>
                      </a:r>
                    </a:p>
                  </a:txBody>
                  <a:tcPr marL="91440" marR="91440" marT="27432" marB="27432" anchor="ctr">
                    <a:solidFill>
                      <a:srgbClr val="303030"/>
                    </a:solidFill>
                  </a:tcPr>
                </a:tc>
                <a:tc>
                  <a:txBody>
                    <a:bodyPr wrap="square"/>
                    <a:lstStyle/>
                    <a:p>
                      <a:pPr algn="l"/>
                      <a:r>
                        <a:rPr sz="950" b="0">
                          <a:solidFill>
                            <a:srgbClr val="F2F2F2"/>
                          </a:solidFill>
                          <a:latin typeface="Aptos"/>
                        </a:rPr>
                        <a:t>€60k of increase kept off, on €1.48M of service parts billed.</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Discounts and surcharges outside the list</a:t>
                      </a:r>
                    </a:p>
                  </a:txBody>
                  <a:tcPr marL="91440" marR="91440" marT="27432" marB="27432" anchor="ctr">
                    <a:solidFill>
                      <a:srgbClr val="2B2B2B"/>
                    </a:solidFill>
                  </a:tcPr>
                </a:tc>
                <a:tc>
                  <a:txBody>
                    <a:bodyPr wrap="square"/>
                    <a:lstStyle/>
                    <a:p>
                      <a:pPr algn="l"/>
                      <a:r>
                        <a:rPr sz="950" b="0">
                          <a:solidFill>
                            <a:srgbClr val="BDBDBD"/>
                          </a:solidFill>
                          <a:latin typeface="Aptos"/>
                        </a:rPr>
                        <a:t>Separate item</a:t>
                      </a:r>
                    </a:p>
                  </a:txBody>
                  <a:tcPr marL="91440" marR="91440" marT="27432" marB="27432" anchor="ctr">
                    <a:solidFill>
                      <a:srgbClr val="2B2B2B"/>
                    </a:solidFill>
                  </a:tcPr>
                </a:tc>
                <a:tc>
                  <a:txBody>
                    <a:bodyPr wrap="square"/>
                    <a:lstStyle/>
                    <a:p>
                      <a:pPr algn="l"/>
                      <a:r>
                        <a:rPr sz="950" b="0">
                          <a:solidFill>
                            <a:srgbClr val="F2F2F2"/>
                          </a:solidFill>
                          <a:latin typeface="Aptos"/>
                        </a:rPr>
                        <a:t>Stock-order discount, distributors paying below list, surcharge on urgent orders. A commercial term per distributor, not part of the +5%.</a:t>
                      </a:r>
                    </a:p>
                  </a:txBody>
                  <a:tcPr marL="91440" marR="91440" marT="27432" marB="27432" anchor="ctr">
                    <a:solidFill>
                      <a:srgbClr val="2B2B2B"/>
                    </a:solidFill>
                  </a:tcPr>
                </a:tc>
                <a:tc>
                  <a:txBody>
                    <a:bodyPr wrap="square"/>
                    <a:lstStyle/>
                    <a:p>
                      <a:pPr algn="l"/>
                      <a:r>
                        <a:rPr sz="950" b="0">
                          <a:solidFill>
                            <a:srgbClr val="F2F2F2"/>
                          </a:solidFill>
                          <a:latin typeface="Aptos"/>
                        </a:rPr>
                        <a:t>Halving each market's gap to list on stock orders €452k; 1 point less stock-order discount €213k; urgent surcharge +1 point €46k.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New N-Series (P700) first prices</a:t>
                      </a:r>
                    </a:p>
                  </a:txBody>
                  <a:tcPr marL="91440" marR="91440" marT="27432" marB="27432" anchor="ctr">
                    <a:solidFill>
                      <a:srgbClr val="303030"/>
                    </a:solidFill>
                  </a:tcPr>
                </a:tc>
                <a:tc>
                  <a:txBody>
                    <a:bodyPr wrap="square"/>
                    <a:lstStyle/>
                    <a:p>
                      <a:pPr algn="l"/>
                      <a:r>
                        <a:rPr sz="950" b="0">
                          <a:solidFill>
                            <a:srgbClr val="BDBDBD"/>
                          </a:solidFill>
                          <a:latin typeface="Aptos"/>
                        </a:rPr>
                        <a:t>Next price list</a:t>
                      </a:r>
                    </a:p>
                  </a:txBody>
                  <a:tcPr marL="91440" marR="91440" marT="27432" marB="27432" anchor="ctr">
                    <a:solidFill>
                      <a:srgbClr val="303030"/>
                    </a:solidFill>
                  </a:tcPr>
                </a:tc>
                <a:tc>
                  <a:txBody>
                    <a:bodyPr wrap="square"/>
                    <a:lstStyle/>
                    <a:p>
                      <a:pPr algn="l"/>
                      <a:r>
                        <a:rPr sz="950" b="0">
                          <a:solidFill>
                            <a:srgbClr val="F2F2F2"/>
                          </a:solidFill>
                          <a:latin typeface="Aptos"/>
                        </a:rPr>
                        <a:t>826 part numbers hardly billed yet (14 parts, €660 in this year's base). They need a well-set first price, not an increase.</a:t>
                      </a:r>
                    </a:p>
                  </a:txBody>
                  <a:tcPr marL="91440" marR="91440" marT="27432" marB="27432" anchor="ctr">
                    <a:solidFill>
                      <a:srgbClr val="303030"/>
                    </a:solidFill>
                  </a:tcPr>
                </a:tc>
                <a:tc>
                  <a:txBody>
                    <a:bodyPr wrap="square"/>
                    <a:lstStyle/>
                    <a:p>
                      <a:pPr algn="l"/>
                      <a:r>
                        <a:rPr sz="950" b="0">
                          <a:solidFill>
                            <a:srgbClr val="F2F2F2"/>
                          </a:solidFill>
                          <a:latin typeface="Aptos"/>
                        </a:rPr>
                        <a:t>None this year.</a:t>
                      </a:r>
                    </a:p>
                  </a:txBody>
                  <a:tcPr marL="91440" marR="91440" marT="27432" marB="27432" anchor="ctr">
                    <a:solidFill>
                      <a:srgbClr val="303030"/>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