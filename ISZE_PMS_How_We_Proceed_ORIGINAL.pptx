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8229600" cy="365760"/>
          </a:xfrm>
          <a:prstGeom prst="rect">
            <a:avLst/>
          </a:prstGeom>
          <a:noFill/>
        </p:spPr>
        <p:txBody>
          <a:bodyPr wrap="square">
            <a:spAutoFit/>
          </a:bodyPr>
          <a:lstStyle/>
          <a:p>
            <a:pPr algn="l"/>
            <a:r>
              <a:rPr sz="1200" b="1">
                <a:solidFill>
                  <a:srgbClr val="CC0E1E"/>
                </a:solidFill>
                <a:latin typeface="Calibri"/>
              </a:rPr>
              <a:t>ISZE  ·  VEHICLE PARTS  ·  DRAFT</a:t>
            </a:r>
          </a:p>
        </p:txBody>
      </p:sp>
      <p:sp>
        <p:nvSpPr>
          <p:cNvPr id="4" name="TextBox 3"/>
          <p:cNvSpPr txBox="1"/>
          <p:nvPr/>
        </p:nvSpPr>
        <p:spPr>
          <a:xfrm>
            <a:off x="502920" y="2331720"/>
            <a:ext cx="9601200" cy="1920240"/>
          </a:xfrm>
          <a:prstGeom prst="rect">
            <a:avLst/>
          </a:prstGeom>
          <a:noFill/>
        </p:spPr>
        <p:txBody>
          <a:bodyPr wrap="square">
            <a:spAutoFit/>
          </a:bodyPr>
          <a:lstStyle/>
          <a:p>
            <a:pPr algn="l"/>
            <a:r>
              <a:rPr sz="4000" b="1">
                <a:solidFill>
                  <a:srgbClr val="1A1A1A"/>
                </a:solidFill>
                <a:latin typeface="Calibri"/>
              </a:rPr>
              <a:t>How we proceed on PMS
from the parts side</a:t>
            </a:r>
          </a:p>
        </p:txBody>
      </p:sp>
      <p:sp>
        <p:nvSpPr>
          <p:cNvPr id="5" name="TextBox 4"/>
          <p:cNvSpPr txBox="1"/>
          <p:nvPr/>
        </p:nvSpPr>
        <p:spPr>
          <a:xfrm>
            <a:off x="502920" y="4343400"/>
            <a:ext cx="7315200" cy="457200"/>
          </a:xfrm>
          <a:prstGeom prst="rect">
            <a:avLst/>
          </a:prstGeom>
          <a:noFill/>
        </p:spPr>
        <p:txBody>
          <a:bodyPr wrap="square">
            <a:spAutoFit/>
          </a:bodyPr>
          <a:lstStyle/>
          <a:p>
            <a:pPr algn="l"/>
            <a:r>
              <a:rPr sz="1600" b="0">
                <a:solidFill>
                  <a:srgbClr val="5A5A5A"/>
                </a:solidFill>
                <a:latin typeface="Calibri"/>
              </a:rPr>
              <a:t>Draft  ·  complements the ITUK operating model  ·  N75  ·  18 August 2026</a:t>
            </a:r>
          </a:p>
        </p:txBody>
      </p:sp>
      <p:pic>
        <p:nvPicPr>
          <p:cNvPr id="6" name="Picture 5" descr="isuzu_logo_red.png"/>
          <p:cNvPicPr>
            <a:picLocks noChangeAspect="1"/>
          </p:cNvPicPr>
          <p:nvPr/>
        </p:nvPicPr>
        <p:blipFill>
          <a:blip r:embed="rId2"/>
          <a:stretch>
            <a:fillRect/>
          </a:stretch>
        </p:blipFill>
        <p:spPr>
          <a:xfrm>
            <a:off x="502920" y="5897880"/>
            <a:ext cx="2204720" cy="384048"/>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OPENING</a:t>
            </a:r>
          </a:p>
        </p:txBody>
      </p:sp>
      <p:sp>
        <p:nvSpPr>
          <p:cNvPr id="5" name="TextBox 4"/>
          <p:cNvSpPr txBox="1"/>
          <p:nvPr/>
        </p:nvSpPr>
        <p:spPr>
          <a:xfrm>
            <a:off x="292608" y="475488"/>
            <a:ext cx="11612880" cy="566928"/>
          </a:xfrm>
          <a:prstGeom prst="rect">
            <a:avLst/>
          </a:prstGeom>
          <a:noFill/>
        </p:spPr>
        <p:txBody>
          <a:bodyPr wrap="square">
            <a:spAutoFit/>
          </a:bodyPr>
          <a:lstStyle/>
          <a:p>
            <a:pPr algn="l"/>
            <a:r>
              <a:rPr sz="2500" b="1">
                <a:solidFill>
                  <a:srgbClr val="1A1A1A"/>
                </a:solidFill>
                <a:latin typeface="Calibri"/>
              </a:rPr>
              <a:t>Your model stays the head story</a:t>
            </a:r>
          </a:p>
        </p:txBody>
      </p:sp>
      <p:sp>
        <p:nvSpPr>
          <p:cNvPr id="6" name="Rectangle 5"/>
          <p:cNvSpPr/>
          <p:nvPr/>
        </p:nvSpPr>
        <p:spPr>
          <a:xfrm>
            <a:off x="292608" y="1005840"/>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2</a:t>
            </a:r>
          </a:p>
        </p:txBody>
      </p:sp>
      <p:sp>
        <p:nvSpPr>
          <p:cNvPr id="8" name="Rectangle 7"/>
          <p:cNvSpPr/>
          <p:nvPr/>
        </p:nvSpPr>
        <p:spPr>
          <a:xfrm>
            <a:off x="292608" y="1115568"/>
            <a:ext cx="11612880" cy="658368"/>
          </a:xfrm>
          <a:prstGeom prst="rect">
            <a:avLst/>
          </a:prstGeom>
          <a:solidFill>
            <a:srgbClr val="15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170432"/>
            <a:ext cx="11338560" cy="548640"/>
          </a:xfrm>
          <a:prstGeom prst="rect">
            <a:avLst/>
          </a:prstGeom>
          <a:noFill/>
        </p:spPr>
        <p:txBody>
          <a:bodyPr wrap="square">
            <a:spAutoFit/>
          </a:bodyPr>
          <a:lstStyle/>
          <a:p>
            <a:pPr algn="l"/>
            <a:r>
              <a:rPr sz="1500" b="0">
                <a:solidFill>
                  <a:srgbClr val="FFFFFF"/>
                </a:solidFill>
                <a:latin typeface="Calibri"/>
              </a:rPr>
              <a:t>Uptime is the customer story. Parts attaches the right set on a visit that already happens.</a:t>
            </a:r>
          </a:p>
        </p:txBody>
      </p:sp>
      <p:sp>
        <p:nvSpPr>
          <p:cNvPr id="10" name="Rectangle 9"/>
          <p:cNvSpPr/>
          <p:nvPr/>
        </p:nvSpPr>
        <p:spPr>
          <a:xfrm>
            <a:off x="292608" y="1956816"/>
            <a:ext cx="5623560" cy="3749039"/>
          </a:xfrm>
          <a:prstGeom prst="rect">
            <a:avLst/>
          </a:prstGeom>
          <a:solidFill>
            <a:srgbClr val="15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 y="2066544"/>
            <a:ext cx="5367528" cy="347472"/>
          </a:xfrm>
          <a:prstGeom prst="rect">
            <a:avLst/>
          </a:prstGeom>
          <a:noFill/>
        </p:spPr>
        <p:txBody>
          <a:bodyPr wrap="square">
            <a:spAutoFit/>
          </a:bodyPr>
          <a:lstStyle/>
          <a:p>
            <a:pPr algn="l"/>
            <a:r>
              <a:rPr sz="1600" b="1">
                <a:solidFill>
                  <a:srgbClr val="FFFFFF"/>
                </a:solidFill>
                <a:latin typeface="Calibri"/>
              </a:rPr>
              <a:t>ITUK already said</a:t>
            </a:r>
          </a:p>
        </p:txBody>
      </p:sp>
      <p:sp>
        <p:nvSpPr>
          <p:cNvPr id="12" name="TextBox 11"/>
          <p:cNvSpPr txBox="1"/>
          <p:nvPr/>
        </p:nvSpPr>
        <p:spPr>
          <a:xfrm>
            <a:off x="438912" y="2414016"/>
            <a:ext cx="5367528" cy="3182111"/>
          </a:xfrm>
          <a:prstGeom prst="rect">
            <a:avLst/>
          </a:prstGeom>
          <a:noFill/>
        </p:spPr>
        <p:txBody>
          <a:bodyPr wrap="square">
            <a:spAutoFit/>
          </a:bodyPr>
          <a:lstStyle/>
          <a:p>
            <a:pPr algn="l"/>
            <a:r>
              <a:rPr sz="1300" b="0">
                <a:solidFill>
                  <a:srgbClr val="FFFFFF"/>
                </a:solidFill>
                <a:latin typeface="Calibri"/>
              </a:rPr>
              <a:t>N75 events. Oil + fuel + air on the job. Inspect brakes. Conversion and fill, not discount as the KPI. N35 later. Connected later.</a:t>
            </a:r>
          </a:p>
        </p:txBody>
      </p:sp>
      <p:sp>
        <p:nvSpPr>
          <p:cNvPr id="13" name="Rectangle 12"/>
          <p:cNvSpPr/>
          <p:nvPr/>
        </p:nvSpPr>
        <p:spPr>
          <a:xfrm>
            <a:off x="6126480" y="1956816"/>
            <a:ext cx="5779008" cy="3749039"/>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2784" y="2066544"/>
            <a:ext cx="5522976" cy="347472"/>
          </a:xfrm>
          <a:prstGeom prst="rect">
            <a:avLst/>
          </a:prstGeom>
          <a:noFill/>
        </p:spPr>
        <p:txBody>
          <a:bodyPr wrap="square">
            <a:spAutoFit/>
          </a:bodyPr>
          <a:lstStyle/>
          <a:p>
            <a:pPr algn="l"/>
            <a:r>
              <a:rPr sz="1600" b="1">
                <a:solidFill>
                  <a:srgbClr val="15233C"/>
                </a:solidFill>
                <a:latin typeface="Calibri"/>
              </a:rPr>
              <a:t>What parts Europe adds</a:t>
            </a:r>
          </a:p>
        </p:txBody>
      </p:sp>
      <p:sp>
        <p:nvSpPr>
          <p:cNvPr id="15" name="TextBox 14"/>
          <p:cNvSpPr txBox="1"/>
          <p:nvPr/>
        </p:nvSpPr>
        <p:spPr>
          <a:xfrm>
            <a:off x="6272784" y="2414016"/>
            <a:ext cx="5522976" cy="3182111"/>
          </a:xfrm>
          <a:prstGeom prst="rect">
            <a:avLst/>
          </a:prstGeom>
          <a:noFill/>
        </p:spPr>
        <p:txBody>
          <a:bodyPr wrap="square">
            <a:spAutoFit/>
          </a:bodyPr>
          <a:lstStyle/>
          <a:p>
            <a:pPr algn="l"/>
            <a:r>
              <a:rPr sz="1300" b="0">
                <a:solidFill>
                  <a:srgbClr val="1A1A1A"/>
                </a:solidFill>
                <a:latin typeface="Calibri"/>
              </a:rPr>
              <a:t>Cover %. Filter pack. BVP promotion from August. SPA we price now. Clutch stays in at 47% manuals. If ISZE and ITUK cannot close the discount, IML can join.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PATH</a:t>
            </a:r>
          </a:p>
        </p:txBody>
      </p:sp>
      <p:sp>
        <p:nvSpPr>
          <p:cNvPr id="5" name="TextBox 4"/>
          <p:cNvSpPr txBox="1"/>
          <p:nvPr/>
        </p:nvSpPr>
        <p:spPr>
          <a:xfrm>
            <a:off x="292608" y="475488"/>
            <a:ext cx="11612880" cy="566928"/>
          </a:xfrm>
          <a:prstGeom prst="rect">
            <a:avLst/>
          </a:prstGeom>
          <a:noFill/>
        </p:spPr>
        <p:txBody>
          <a:bodyPr wrap="square">
            <a:spAutoFit/>
          </a:bodyPr>
          <a:lstStyle/>
          <a:p>
            <a:pPr algn="l"/>
            <a:r>
              <a:rPr sz="2500" b="1">
                <a:solidFill>
                  <a:srgbClr val="1A1A1A"/>
                </a:solidFill>
                <a:latin typeface="Calibri"/>
              </a:rPr>
              <a:t>How we got here</a:t>
            </a:r>
          </a:p>
        </p:txBody>
      </p:sp>
      <p:sp>
        <p:nvSpPr>
          <p:cNvPr id="6" name="Rectangle 5"/>
          <p:cNvSpPr/>
          <p:nvPr/>
        </p:nvSpPr>
        <p:spPr>
          <a:xfrm>
            <a:off x="292608" y="1005840"/>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3</a:t>
            </a:r>
          </a:p>
        </p:txBody>
      </p:sp>
      <p:sp>
        <p:nvSpPr>
          <p:cNvPr id="8" name="Rectangle 7"/>
          <p:cNvSpPr/>
          <p:nvPr/>
        </p:nvSpPr>
        <p:spPr>
          <a:xfrm>
            <a:off x="292608" y="1115568"/>
            <a:ext cx="11612880" cy="658368"/>
          </a:xfrm>
          <a:prstGeom prst="rect">
            <a:avLst/>
          </a:prstGeom>
          <a:solidFill>
            <a:srgbClr val="15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170432"/>
            <a:ext cx="11338560" cy="548640"/>
          </a:xfrm>
          <a:prstGeom prst="rect">
            <a:avLst/>
          </a:prstGeom>
          <a:noFill/>
        </p:spPr>
        <p:txBody>
          <a:bodyPr wrap="square">
            <a:spAutoFit/>
          </a:bodyPr>
          <a:lstStyle/>
          <a:p>
            <a:pPr algn="l"/>
            <a:r>
              <a:rPr sz="1500" b="0">
                <a:solidFill>
                  <a:srgbClr val="FFFFFF"/>
                </a:solidFill>
                <a:latin typeface="Calibri"/>
              </a:rPr>
              <a:t>March to August is one programme. This week we have both halves.</a:t>
            </a:r>
          </a:p>
        </p:txBody>
      </p:sp>
      <p:sp>
        <p:nvSpPr>
          <p:cNvPr id="10" name="Rectangle 9"/>
          <p:cNvSpPr/>
          <p:nvPr/>
        </p:nvSpPr>
        <p:spPr>
          <a:xfrm>
            <a:off x="292608" y="1975104"/>
            <a:ext cx="2194560" cy="73152"/>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2608" y="2048256"/>
            <a:ext cx="2194560" cy="36576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2336" y="2157984"/>
            <a:ext cx="2011680" cy="329184"/>
          </a:xfrm>
          <a:prstGeom prst="rect">
            <a:avLst/>
          </a:prstGeom>
          <a:noFill/>
        </p:spPr>
        <p:txBody>
          <a:bodyPr wrap="square">
            <a:spAutoFit/>
          </a:bodyPr>
          <a:lstStyle/>
          <a:p>
            <a:pPr algn="l"/>
            <a:r>
              <a:rPr sz="1400" b="1">
                <a:solidFill>
                  <a:srgbClr val="CC0E1E"/>
                </a:solidFill>
                <a:latin typeface="Calibri"/>
              </a:rPr>
              <a:t>Mar</a:t>
            </a:r>
          </a:p>
        </p:txBody>
      </p:sp>
      <p:sp>
        <p:nvSpPr>
          <p:cNvPr id="13" name="TextBox 12"/>
          <p:cNvSpPr txBox="1"/>
          <p:nvPr/>
        </p:nvSpPr>
        <p:spPr>
          <a:xfrm>
            <a:off x="402336" y="2542032"/>
            <a:ext cx="2011680" cy="3017520"/>
          </a:xfrm>
          <a:prstGeom prst="rect">
            <a:avLst/>
          </a:prstGeom>
          <a:noFill/>
        </p:spPr>
        <p:txBody>
          <a:bodyPr wrap="square">
            <a:spAutoFit/>
          </a:bodyPr>
          <a:lstStyle/>
          <a:p>
            <a:pPr algn="l"/>
            <a:r>
              <a:rPr sz="1300" b="0">
                <a:solidFill>
                  <a:srgbClr val="1A1A1A"/>
                </a:solidFill>
                <a:latin typeface="Calibri"/>
              </a:rPr>
              <a:t>Kick-off. Frequencies and target items. VIN format not available. UIO, CBU and R&amp;M instead.</a:t>
            </a:r>
          </a:p>
        </p:txBody>
      </p:sp>
      <p:sp>
        <p:nvSpPr>
          <p:cNvPr id="14" name="Rectangle 13"/>
          <p:cNvSpPr/>
          <p:nvPr/>
        </p:nvSpPr>
        <p:spPr>
          <a:xfrm>
            <a:off x="2633472" y="1975104"/>
            <a:ext cx="2194560" cy="73152"/>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33472" y="2048256"/>
            <a:ext cx="2194560" cy="36576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0" y="2157984"/>
            <a:ext cx="2011680" cy="329184"/>
          </a:xfrm>
          <a:prstGeom prst="rect">
            <a:avLst/>
          </a:prstGeom>
          <a:noFill/>
        </p:spPr>
        <p:txBody>
          <a:bodyPr wrap="square">
            <a:spAutoFit/>
          </a:bodyPr>
          <a:lstStyle/>
          <a:p>
            <a:pPr algn="l"/>
            <a:r>
              <a:rPr sz="1400" b="1">
                <a:solidFill>
                  <a:srgbClr val="CC0E1E"/>
                </a:solidFill>
                <a:latin typeface="Calibri"/>
              </a:rPr>
              <a:t>Apr</a:t>
            </a:r>
          </a:p>
        </p:txBody>
      </p:sp>
      <p:sp>
        <p:nvSpPr>
          <p:cNvPr id="17" name="TextBox 16"/>
          <p:cNvSpPr txBox="1"/>
          <p:nvPr/>
        </p:nvSpPr>
        <p:spPr>
          <a:xfrm>
            <a:off x="2743200" y="2542032"/>
            <a:ext cx="2011680" cy="3017520"/>
          </a:xfrm>
          <a:prstGeom prst="rect">
            <a:avLst/>
          </a:prstGeom>
          <a:noFill/>
        </p:spPr>
        <p:txBody>
          <a:bodyPr wrap="square">
            <a:spAutoFit/>
          </a:bodyPr>
          <a:lstStyle/>
          <a:p>
            <a:pPr algn="l"/>
            <a:r>
              <a:rPr sz="1300" b="0">
                <a:solidFill>
                  <a:srgbClr val="1A1A1A"/>
                </a:solidFill>
                <a:latin typeface="Calibri"/>
              </a:rPr>
              <a:t>UK visit. N75 first. Air and brake as headlines. Oil and fuel as the 40,000 km pack. Parc 9,359.</a:t>
            </a:r>
          </a:p>
        </p:txBody>
      </p:sp>
      <p:sp>
        <p:nvSpPr>
          <p:cNvPr id="18" name="Rectangle 17"/>
          <p:cNvSpPr/>
          <p:nvPr/>
        </p:nvSpPr>
        <p:spPr>
          <a:xfrm>
            <a:off x="4974336" y="1975104"/>
            <a:ext cx="2194560" cy="73152"/>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974336" y="2048256"/>
            <a:ext cx="2194560" cy="36576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84064" y="2157984"/>
            <a:ext cx="2011680" cy="329184"/>
          </a:xfrm>
          <a:prstGeom prst="rect">
            <a:avLst/>
          </a:prstGeom>
          <a:noFill/>
        </p:spPr>
        <p:txBody>
          <a:bodyPr wrap="square">
            <a:spAutoFit/>
          </a:bodyPr>
          <a:lstStyle/>
          <a:p>
            <a:pPr algn="l"/>
            <a:r>
              <a:rPr sz="1400" b="1">
                <a:solidFill>
                  <a:srgbClr val="CC0E1E"/>
                </a:solidFill>
                <a:latin typeface="Calibri"/>
              </a:rPr>
              <a:t>Jun</a:t>
            </a:r>
          </a:p>
        </p:txBody>
      </p:sp>
      <p:sp>
        <p:nvSpPr>
          <p:cNvPr id="21" name="TextBox 20"/>
          <p:cNvSpPr txBox="1"/>
          <p:nvPr/>
        </p:nvSpPr>
        <p:spPr>
          <a:xfrm>
            <a:off x="5084064" y="2542032"/>
            <a:ext cx="2011680" cy="3017520"/>
          </a:xfrm>
          <a:prstGeom prst="rect">
            <a:avLst/>
          </a:prstGeom>
          <a:noFill/>
        </p:spPr>
        <p:txBody>
          <a:bodyPr wrap="square">
            <a:spAutoFit/>
          </a:bodyPr>
          <a:lstStyle/>
          <a:p>
            <a:pPr algn="l"/>
            <a:r>
              <a:rPr sz="1300" b="0">
                <a:solidFill>
                  <a:srgbClr val="1A1A1A"/>
                </a:solidFill>
                <a:latin typeface="Calibri"/>
              </a:rPr>
              <a:t>EU conference. SPA discussion. Sales prices requested so a SPA can be priced.</a:t>
            </a:r>
          </a:p>
        </p:txBody>
      </p:sp>
      <p:sp>
        <p:nvSpPr>
          <p:cNvPr id="22" name="Rectangle 21"/>
          <p:cNvSpPr/>
          <p:nvPr/>
        </p:nvSpPr>
        <p:spPr>
          <a:xfrm>
            <a:off x="7315200" y="1975104"/>
            <a:ext cx="2194560" cy="73152"/>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00" y="2048256"/>
            <a:ext cx="2194560" cy="36576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24928" y="2157984"/>
            <a:ext cx="2011680" cy="329184"/>
          </a:xfrm>
          <a:prstGeom prst="rect">
            <a:avLst/>
          </a:prstGeom>
          <a:noFill/>
        </p:spPr>
        <p:txBody>
          <a:bodyPr wrap="square">
            <a:spAutoFit/>
          </a:bodyPr>
          <a:lstStyle/>
          <a:p>
            <a:pPr algn="l"/>
            <a:r>
              <a:rPr sz="1400" b="1">
                <a:solidFill>
                  <a:srgbClr val="CC0E1E"/>
                </a:solidFill>
                <a:latin typeface="Calibri"/>
              </a:rPr>
              <a:t>Jul</a:t>
            </a:r>
          </a:p>
        </p:txBody>
      </p:sp>
      <p:sp>
        <p:nvSpPr>
          <p:cNvPr id="25" name="TextBox 24"/>
          <p:cNvSpPr txBox="1"/>
          <p:nvPr/>
        </p:nvSpPr>
        <p:spPr>
          <a:xfrm>
            <a:off x="7424928" y="2542032"/>
            <a:ext cx="2011680" cy="3017520"/>
          </a:xfrm>
          <a:prstGeom prst="rect">
            <a:avLst/>
          </a:prstGeom>
          <a:noFill/>
        </p:spPr>
        <p:txBody>
          <a:bodyPr wrap="square">
            <a:spAutoFit/>
          </a:bodyPr>
          <a:lstStyle/>
          <a:p>
            <a:pPr algn="l"/>
            <a:r>
              <a:rPr sz="1300" b="0">
                <a:solidFill>
                  <a:srgbClr val="1A1A1A"/>
                </a:solidFill>
                <a:latin typeface="Calibri"/>
              </a:rPr>
              <a:t>Japan hour locked. ISZE to take the parts lead on Tuesday.</a:t>
            </a:r>
          </a:p>
        </p:txBody>
      </p:sp>
      <p:sp>
        <p:nvSpPr>
          <p:cNvPr id="26" name="Rectangle 25"/>
          <p:cNvSpPr/>
          <p:nvPr/>
        </p:nvSpPr>
        <p:spPr>
          <a:xfrm>
            <a:off x="9656064" y="1975104"/>
            <a:ext cx="2194560" cy="73152"/>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56064" y="2048256"/>
            <a:ext cx="2194560" cy="36576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65792" y="2157984"/>
            <a:ext cx="2011680" cy="329184"/>
          </a:xfrm>
          <a:prstGeom prst="rect">
            <a:avLst/>
          </a:prstGeom>
          <a:noFill/>
        </p:spPr>
        <p:txBody>
          <a:bodyPr wrap="square">
            <a:spAutoFit/>
          </a:bodyPr>
          <a:lstStyle/>
          <a:p>
            <a:pPr algn="l"/>
            <a:r>
              <a:rPr sz="1400" b="1">
                <a:solidFill>
                  <a:srgbClr val="CC0E1E"/>
                </a:solidFill>
                <a:latin typeface="Calibri"/>
              </a:rPr>
              <a:t>13 Aug</a:t>
            </a:r>
          </a:p>
        </p:txBody>
      </p:sp>
      <p:sp>
        <p:nvSpPr>
          <p:cNvPr id="29" name="TextBox 28"/>
          <p:cNvSpPr txBox="1"/>
          <p:nvPr/>
        </p:nvSpPr>
        <p:spPr>
          <a:xfrm>
            <a:off x="9765792" y="2542032"/>
            <a:ext cx="2011680" cy="3017520"/>
          </a:xfrm>
          <a:prstGeom prst="rect">
            <a:avLst/>
          </a:prstGeom>
          <a:noFill/>
        </p:spPr>
        <p:txBody>
          <a:bodyPr wrap="square">
            <a:spAutoFit/>
          </a:bodyPr>
          <a:lstStyle/>
          <a:p>
            <a:pPr algn="l"/>
            <a:r>
              <a:rPr sz="1300" b="0">
                <a:solidFill>
                  <a:srgbClr val="1A1A1A"/>
                </a:solidFill>
                <a:latin typeface="Calibri"/>
              </a:rPr>
              <a:t>Your pack plus three ISZE options. You asked for this draft in Japan.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WHERE THE MISS IS</a:t>
            </a:r>
          </a:p>
        </p:txBody>
      </p:sp>
      <p:sp>
        <p:nvSpPr>
          <p:cNvPr id="5" name="TextBox 4"/>
          <p:cNvSpPr txBox="1"/>
          <p:nvPr/>
        </p:nvSpPr>
        <p:spPr>
          <a:xfrm>
            <a:off x="292608" y="475488"/>
            <a:ext cx="11612880" cy="566928"/>
          </a:xfrm>
          <a:prstGeom prst="rect">
            <a:avLst/>
          </a:prstGeom>
          <a:noFill/>
        </p:spPr>
        <p:txBody>
          <a:bodyPr wrap="square">
            <a:spAutoFit/>
          </a:bodyPr>
          <a:lstStyle/>
          <a:p>
            <a:pPr algn="l"/>
            <a:r>
              <a:rPr sz="2500" b="1">
                <a:solidFill>
                  <a:srgbClr val="1A1A1A"/>
                </a:solidFill>
                <a:latin typeface="Calibri"/>
              </a:rPr>
              <a:t>N75 cover %  ·  clutch stays in</a:t>
            </a:r>
          </a:p>
        </p:txBody>
      </p:sp>
      <p:sp>
        <p:nvSpPr>
          <p:cNvPr id="6" name="Rectangle 5"/>
          <p:cNvSpPr/>
          <p:nvPr/>
        </p:nvSpPr>
        <p:spPr>
          <a:xfrm>
            <a:off x="292608" y="1005840"/>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4</a:t>
            </a:r>
          </a:p>
        </p:txBody>
      </p:sp>
      <p:sp>
        <p:nvSpPr>
          <p:cNvPr id="8" name="Rectangle 7"/>
          <p:cNvSpPr/>
          <p:nvPr/>
        </p:nvSpPr>
        <p:spPr>
          <a:xfrm>
            <a:off x="292608" y="1115568"/>
            <a:ext cx="3749039" cy="73152"/>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92608" y="1188720"/>
            <a:ext cx="3749039" cy="1298448"/>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1261872"/>
            <a:ext cx="3529583" cy="256032"/>
          </a:xfrm>
          <a:prstGeom prst="rect">
            <a:avLst/>
          </a:prstGeom>
          <a:noFill/>
        </p:spPr>
        <p:txBody>
          <a:bodyPr wrap="square">
            <a:spAutoFit/>
          </a:bodyPr>
          <a:lstStyle/>
          <a:p>
            <a:pPr algn="l"/>
            <a:r>
              <a:rPr sz="1100" b="1">
                <a:solidFill>
                  <a:srgbClr val="5A5A5A"/>
                </a:solidFill>
                <a:latin typeface="Calibri"/>
              </a:rPr>
              <a:t>AIR  THE MISS</a:t>
            </a:r>
          </a:p>
        </p:txBody>
      </p:sp>
      <p:sp>
        <p:nvSpPr>
          <p:cNvPr id="11" name="TextBox 10"/>
          <p:cNvSpPr txBox="1"/>
          <p:nvPr/>
        </p:nvSpPr>
        <p:spPr>
          <a:xfrm>
            <a:off x="420624" y="1499616"/>
            <a:ext cx="3529583" cy="502920"/>
          </a:xfrm>
          <a:prstGeom prst="rect">
            <a:avLst/>
          </a:prstGeom>
          <a:noFill/>
        </p:spPr>
        <p:txBody>
          <a:bodyPr wrap="square">
            <a:spAutoFit/>
          </a:bodyPr>
          <a:lstStyle/>
          <a:p>
            <a:pPr algn="l"/>
            <a:r>
              <a:rPr sz="3200" b="1">
                <a:solidFill>
                  <a:srgbClr val="CC0E1E"/>
                </a:solidFill>
                <a:latin typeface="Calibri"/>
              </a:rPr>
              <a:t>19%</a:t>
            </a:r>
          </a:p>
        </p:txBody>
      </p:sp>
      <p:sp>
        <p:nvSpPr>
          <p:cNvPr id="12" name="TextBox 11"/>
          <p:cNvSpPr txBox="1"/>
          <p:nvPr/>
        </p:nvSpPr>
        <p:spPr>
          <a:xfrm>
            <a:off x="420624" y="2011680"/>
            <a:ext cx="3529583" cy="365760"/>
          </a:xfrm>
          <a:prstGeom prst="rect">
            <a:avLst/>
          </a:prstGeom>
          <a:noFill/>
        </p:spPr>
        <p:txBody>
          <a:bodyPr wrap="square">
            <a:spAutoFit/>
          </a:bodyPr>
          <a:lstStyle/>
          <a:p>
            <a:pPr algn="l"/>
            <a:r>
              <a:rPr sz="1200" b="0">
                <a:solidFill>
                  <a:srgbClr val="5A5A5A"/>
                </a:solidFill>
                <a:latin typeface="Calibri"/>
              </a:rPr>
              <a:t>2,226 / 11,699 expected</a:t>
            </a:r>
          </a:p>
        </p:txBody>
      </p:sp>
      <p:sp>
        <p:nvSpPr>
          <p:cNvPr id="13" name="Rectangle 12"/>
          <p:cNvSpPr/>
          <p:nvPr/>
        </p:nvSpPr>
        <p:spPr>
          <a:xfrm>
            <a:off x="4224528" y="1115568"/>
            <a:ext cx="3749039" cy="73152"/>
          </a:xfrm>
          <a:prstGeom prst="rect">
            <a:avLst/>
          </a:prstGeom>
          <a:solidFill>
            <a:srgbClr val="15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24528" y="1188720"/>
            <a:ext cx="3749039" cy="1298448"/>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52544" y="1261872"/>
            <a:ext cx="3529583" cy="256032"/>
          </a:xfrm>
          <a:prstGeom prst="rect">
            <a:avLst/>
          </a:prstGeom>
          <a:noFill/>
        </p:spPr>
        <p:txBody>
          <a:bodyPr wrap="square">
            <a:spAutoFit/>
          </a:bodyPr>
          <a:lstStyle/>
          <a:p>
            <a:pPr algn="l"/>
            <a:r>
              <a:rPr sz="1100" b="1">
                <a:solidFill>
                  <a:srgbClr val="5A5A5A"/>
                </a:solidFill>
                <a:latin typeface="Calibri"/>
              </a:rPr>
              <a:t>CLUTCH  47% MANUALS</a:t>
            </a:r>
          </a:p>
        </p:txBody>
      </p:sp>
      <p:sp>
        <p:nvSpPr>
          <p:cNvPr id="16" name="TextBox 15"/>
          <p:cNvSpPr txBox="1"/>
          <p:nvPr/>
        </p:nvSpPr>
        <p:spPr>
          <a:xfrm>
            <a:off x="4352544" y="1499616"/>
            <a:ext cx="3529583" cy="502920"/>
          </a:xfrm>
          <a:prstGeom prst="rect">
            <a:avLst/>
          </a:prstGeom>
          <a:noFill/>
        </p:spPr>
        <p:txBody>
          <a:bodyPr wrap="square">
            <a:spAutoFit/>
          </a:bodyPr>
          <a:lstStyle/>
          <a:p>
            <a:pPr algn="l"/>
            <a:r>
              <a:rPr sz="3200" b="1">
                <a:solidFill>
                  <a:srgbClr val="15233C"/>
                </a:solidFill>
                <a:latin typeface="Calibri"/>
              </a:rPr>
              <a:t>11%</a:t>
            </a:r>
          </a:p>
        </p:txBody>
      </p:sp>
      <p:sp>
        <p:nvSpPr>
          <p:cNvPr id="17" name="TextBox 16"/>
          <p:cNvSpPr txBox="1"/>
          <p:nvPr/>
        </p:nvSpPr>
        <p:spPr>
          <a:xfrm>
            <a:off x="4352544" y="2011680"/>
            <a:ext cx="3529583" cy="365760"/>
          </a:xfrm>
          <a:prstGeom prst="rect">
            <a:avLst/>
          </a:prstGeom>
          <a:noFill/>
        </p:spPr>
        <p:txBody>
          <a:bodyPr wrap="square">
            <a:spAutoFit/>
          </a:bodyPr>
          <a:lstStyle/>
          <a:p>
            <a:pPr algn="l"/>
            <a:r>
              <a:rPr sz="1200" b="0">
                <a:solidFill>
                  <a:srgbClr val="5A5A5A"/>
                </a:solidFill>
                <a:latin typeface="Calibri"/>
              </a:rPr>
              <a:t>243 / 2,199 expected</a:t>
            </a:r>
          </a:p>
        </p:txBody>
      </p:sp>
      <p:sp>
        <p:nvSpPr>
          <p:cNvPr id="18" name="Rectangle 17"/>
          <p:cNvSpPr/>
          <p:nvPr/>
        </p:nvSpPr>
        <p:spPr>
          <a:xfrm>
            <a:off x="8156448" y="1115568"/>
            <a:ext cx="3749039" cy="73152"/>
          </a:xfrm>
          <a:prstGeom prst="rect">
            <a:avLst/>
          </a:prstGeom>
          <a:solidFill>
            <a:srgbClr val="15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56448" y="1188720"/>
            <a:ext cx="3749039" cy="1298448"/>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84464" y="1261872"/>
            <a:ext cx="3529583" cy="256032"/>
          </a:xfrm>
          <a:prstGeom prst="rect">
            <a:avLst/>
          </a:prstGeom>
          <a:noFill/>
        </p:spPr>
        <p:txBody>
          <a:bodyPr wrap="square">
            <a:spAutoFit/>
          </a:bodyPr>
          <a:lstStyle/>
          <a:p>
            <a:pPr algn="l"/>
            <a:r>
              <a:rPr sz="1100" b="1">
                <a:solidFill>
                  <a:srgbClr val="5A5A5A"/>
                </a:solidFill>
                <a:latin typeface="Calibri"/>
              </a:rPr>
              <a:t>BRAKE  CONVERT</a:t>
            </a:r>
          </a:p>
        </p:txBody>
      </p:sp>
      <p:sp>
        <p:nvSpPr>
          <p:cNvPr id="21" name="TextBox 20"/>
          <p:cNvSpPr txBox="1"/>
          <p:nvPr/>
        </p:nvSpPr>
        <p:spPr>
          <a:xfrm>
            <a:off x="8284464" y="1499616"/>
            <a:ext cx="3529583" cy="502920"/>
          </a:xfrm>
          <a:prstGeom prst="rect">
            <a:avLst/>
          </a:prstGeom>
          <a:noFill/>
        </p:spPr>
        <p:txBody>
          <a:bodyPr wrap="square">
            <a:spAutoFit/>
          </a:bodyPr>
          <a:lstStyle/>
          <a:p>
            <a:pPr algn="l"/>
            <a:r>
              <a:rPr sz="3200" b="1">
                <a:solidFill>
                  <a:srgbClr val="15233C"/>
                </a:solidFill>
                <a:latin typeface="Calibri"/>
              </a:rPr>
              <a:t>62%</a:t>
            </a:r>
          </a:p>
        </p:txBody>
      </p:sp>
      <p:sp>
        <p:nvSpPr>
          <p:cNvPr id="22" name="TextBox 21"/>
          <p:cNvSpPr txBox="1"/>
          <p:nvPr/>
        </p:nvSpPr>
        <p:spPr>
          <a:xfrm>
            <a:off x="8284464" y="2011680"/>
            <a:ext cx="3529583" cy="365760"/>
          </a:xfrm>
          <a:prstGeom prst="rect">
            <a:avLst/>
          </a:prstGeom>
          <a:noFill/>
        </p:spPr>
        <p:txBody>
          <a:bodyPr wrap="square">
            <a:spAutoFit/>
          </a:bodyPr>
          <a:lstStyle/>
          <a:p>
            <a:pPr algn="l"/>
            <a:r>
              <a:rPr sz="1200" b="0">
                <a:solidFill>
                  <a:srgbClr val="5A5A5A"/>
                </a:solidFill>
                <a:latin typeface="Calibri"/>
              </a:rPr>
              <a:t>2,902 / 4,680 expected</a:t>
            </a:r>
          </a:p>
        </p:txBody>
      </p:sp>
      <p:pic>
        <p:nvPicPr>
          <p:cNvPr id="23" name="Picture 22" descr="n75_cover.png"/>
          <p:cNvPicPr>
            <a:picLocks noChangeAspect="1"/>
          </p:cNvPicPr>
          <p:nvPr/>
        </p:nvPicPr>
        <p:blipFill>
          <a:blip r:embed="rId3"/>
          <a:stretch>
            <a:fillRect/>
          </a:stretch>
        </p:blipFill>
        <p:spPr>
          <a:xfrm>
            <a:off x="292608" y="2781183"/>
            <a:ext cx="7406640" cy="3133578"/>
          </a:xfrm>
          <a:prstGeom prst="rect">
            <a:avLst/>
          </a:prstGeom>
        </p:spPr>
      </p:pic>
      <p:sp>
        <p:nvSpPr>
          <p:cNvPr id="24" name="Rectangle 23"/>
          <p:cNvSpPr/>
          <p:nvPr/>
        </p:nvSpPr>
        <p:spPr>
          <a:xfrm>
            <a:off x="7863840" y="2633472"/>
            <a:ext cx="4041648" cy="3429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28431" y="2743200"/>
            <a:ext cx="3712463" cy="292608"/>
          </a:xfrm>
          <a:prstGeom prst="rect">
            <a:avLst/>
          </a:prstGeom>
          <a:noFill/>
        </p:spPr>
        <p:txBody>
          <a:bodyPr wrap="square">
            <a:spAutoFit/>
          </a:bodyPr>
          <a:lstStyle/>
          <a:p>
            <a:pPr algn="l"/>
            <a:r>
              <a:rPr sz="1300" b="1">
                <a:solidFill>
                  <a:srgbClr val="CC0E1E"/>
                </a:solidFill>
                <a:latin typeface="Calibri"/>
              </a:rPr>
              <a:t>What this means</a:t>
            </a:r>
          </a:p>
        </p:txBody>
      </p:sp>
      <p:sp>
        <p:nvSpPr>
          <p:cNvPr id="26" name="TextBox 25"/>
          <p:cNvSpPr txBox="1"/>
          <p:nvPr/>
        </p:nvSpPr>
        <p:spPr>
          <a:xfrm>
            <a:off x="8028431" y="3072384"/>
            <a:ext cx="3712463" cy="2834640"/>
          </a:xfrm>
          <a:prstGeom prst="rect">
            <a:avLst/>
          </a:prstGeom>
          <a:noFill/>
        </p:spPr>
        <p:txBody>
          <a:bodyPr wrap="square">
            <a:spAutoFit/>
          </a:bodyPr>
          <a:lstStyle/>
          <a:p>
            <a:pPr>
              <a:lnSpc>
                <a:spcPct val="115000"/>
              </a:lnSpc>
              <a:spcAft>
                <a:spcPts val="1000"/>
              </a:spcAft>
            </a:pPr>
            <a:r>
              <a:rPr sz="1300" b="1">
                <a:solidFill>
                  <a:srgbClr val="CC0E1E"/>
                </a:solidFill>
                <a:latin typeface="Calibri"/>
              </a:rPr>
              <a:t>- </a:t>
            </a:r>
            <a:r>
              <a:rPr sz="1300">
                <a:solidFill>
                  <a:srgbClr val="1A1A1A"/>
                </a:solidFill>
                <a:latin typeface="Calibri"/>
              </a:rPr>
              <a:t>Air is the miss. Put it on the same visit as oil and fuel.</a:t>
            </a:r>
          </a:p>
          <a:p>
            <a:pPr>
              <a:lnSpc>
                <a:spcPct val="115000"/>
              </a:lnSpc>
              <a:spcAft>
                <a:spcPts val="1000"/>
              </a:spcAft>
            </a:pPr>
            <a:r>
              <a:rPr sz="1300" b="1">
                <a:solidFill>
                  <a:srgbClr val="CC0E1E"/>
                </a:solidFill>
                <a:latin typeface="Calibri"/>
              </a:rPr>
              <a:t>- </a:t>
            </a:r>
            <a:r>
              <a:rPr sz="1300">
                <a:solidFill>
                  <a:srgbClr val="1A1A1A"/>
                </a:solidFill>
                <a:latin typeface="Calibri"/>
              </a:rPr>
              <a:t>Fuel is already 94%. Keep it in the pack.</a:t>
            </a:r>
          </a:p>
          <a:p>
            <a:pPr>
              <a:lnSpc>
                <a:spcPct val="115000"/>
              </a:lnSpc>
              <a:spcAft>
                <a:spcPts val="1000"/>
              </a:spcAft>
            </a:pPr>
            <a:r>
              <a:rPr sz="1300" b="1">
                <a:solidFill>
                  <a:srgbClr val="CC0E1E"/>
                </a:solidFill>
                <a:latin typeface="Calibri"/>
              </a:rPr>
              <a:t>- </a:t>
            </a:r>
            <a:r>
              <a:rPr sz="1300">
                <a:solidFill>
                  <a:srgbClr val="1A1A1A"/>
                </a:solidFill>
                <a:latin typeface="Calibri"/>
              </a:rPr>
              <a:t>Brake: inspect and convert. R90 pad 8982447940 is orderable.</a:t>
            </a:r>
          </a:p>
          <a:p>
            <a:pPr>
              <a:lnSpc>
                <a:spcPct val="115000"/>
              </a:lnSpc>
              <a:spcAft>
                <a:spcPts val="1000"/>
              </a:spcAft>
            </a:pPr>
            <a:r>
              <a:rPr sz="1300" b="1">
                <a:solidFill>
                  <a:srgbClr val="CC0E1E"/>
                </a:solidFill>
                <a:latin typeface="Calibri"/>
              </a:rPr>
              <a:t>- </a:t>
            </a:r>
            <a:r>
              <a:rPr sz="1300">
                <a:solidFill>
                  <a:srgbClr val="1A1A1A"/>
                </a:solidFill>
                <a:latin typeface="Calibri"/>
              </a:rPr>
              <a:t>Oil stays in the pack. Not the campaign KPI.</a:t>
            </a:r>
          </a:p>
          <a:p>
            <a:pPr>
              <a:lnSpc>
                <a:spcPct val="115000"/>
              </a:lnSpc>
              <a:spcAft>
                <a:spcPts val="1000"/>
              </a:spcAft>
            </a:pPr>
            <a:r>
              <a:rPr sz="1300" b="1">
                <a:solidFill>
                  <a:srgbClr val="CC0E1E"/>
                </a:solidFill>
                <a:latin typeface="Calibri"/>
              </a:rPr>
              <a:t>- </a:t>
            </a:r>
            <a:r>
              <a:rPr sz="1300">
                <a:solidFill>
                  <a:srgbClr val="1A1A1A"/>
                </a:solidFill>
                <a:latin typeface="Calibri"/>
              </a:rPr>
              <a:t>Clutch stays in at 47% manuals for this round.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CY2025 ISZE TO ITUK</a:t>
            </a:r>
          </a:p>
        </p:txBody>
      </p:sp>
      <p:sp>
        <p:nvSpPr>
          <p:cNvPr id="5" name="TextBox 4"/>
          <p:cNvSpPr txBox="1"/>
          <p:nvPr/>
        </p:nvSpPr>
        <p:spPr>
          <a:xfrm>
            <a:off x="292608" y="475488"/>
            <a:ext cx="11612880" cy="566928"/>
          </a:xfrm>
          <a:prstGeom prst="rect">
            <a:avLst/>
          </a:prstGeom>
          <a:noFill/>
        </p:spPr>
        <p:txBody>
          <a:bodyPr wrap="square">
            <a:spAutoFit/>
          </a:bodyPr>
          <a:lstStyle/>
          <a:p>
            <a:pPr algn="l"/>
            <a:r>
              <a:rPr sz="2500" b="1">
                <a:solidFill>
                  <a:srgbClr val="1A1A1A"/>
                </a:solidFill>
                <a:latin typeface="Calibri"/>
              </a:rPr>
              <a:t>N75 lines  ·  cover %, qty, list price</a:t>
            </a:r>
          </a:p>
        </p:txBody>
      </p:sp>
      <p:sp>
        <p:nvSpPr>
          <p:cNvPr id="6" name="Rectangle 5"/>
          <p:cNvSpPr/>
          <p:nvPr/>
        </p:nvSpPr>
        <p:spPr>
          <a:xfrm>
            <a:off x="292608" y="1005840"/>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5</a:t>
            </a:r>
          </a:p>
        </p:txBody>
      </p:sp>
      <p:sp>
        <p:nvSpPr>
          <p:cNvPr id="8" name="Rectangle 7"/>
          <p:cNvSpPr/>
          <p:nvPr/>
        </p:nvSpPr>
        <p:spPr>
          <a:xfrm>
            <a:off x="292608" y="1115568"/>
            <a:ext cx="11612880" cy="658368"/>
          </a:xfrm>
          <a:prstGeom prst="rect">
            <a:avLst/>
          </a:prstGeom>
          <a:solidFill>
            <a:srgbClr val="15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170432"/>
            <a:ext cx="11338560" cy="548640"/>
          </a:xfrm>
          <a:prstGeom prst="rect">
            <a:avLst/>
          </a:prstGeom>
          <a:noFill/>
        </p:spPr>
        <p:txBody>
          <a:bodyPr wrap="square">
            <a:spAutoFit/>
          </a:bodyPr>
          <a:lstStyle/>
          <a:p>
            <a:pPr algn="l"/>
            <a:r>
              <a:rPr sz="1500" b="0">
                <a:solidFill>
                  <a:srgbClr val="FFFFFF"/>
                </a:solidFill>
                <a:latin typeface="Calibri"/>
              </a:rPr>
              <a:t>Same IML schedule as the cover bars. Qty is what we billed. List is ISZE list EUR.</a:t>
            </a:r>
          </a:p>
        </p:txBody>
      </p:sp>
      <p:graphicFrame>
        <p:nvGraphicFramePr>
          <p:cNvPr id="10" name="Table 9"/>
          <p:cNvGraphicFramePr>
            <a:graphicFrameLocks noGrp="1"/>
          </p:cNvGraphicFramePr>
          <p:nvPr/>
        </p:nvGraphicFramePr>
        <p:xfrm>
          <a:off x="292608" y="1920240"/>
          <a:ext cx="9784080" cy="3246120"/>
        </p:xfrm>
        <a:graphic>
          <a:graphicData uri="http://schemas.openxmlformats.org/drawingml/2006/table">
            <a:tbl>
              <a:tblPr firstRow="1" bandRow="1">
                <a:tableStyleId>{5C22544A-7EE6-4342-B048-85BDC9FD1C3A}</a:tableStyleId>
              </a:tblPr>
              <a:tblGrid>
                <a:gridCol w="1554480"/>
                <a:gridCol w="1097280"/>
                <a:gridCol w="1417320"/>
                <a:gridCol w="1005840"/>
                <a:gridCol w="1051560"/>
                <a:gridCol w="1554480"/>
                <a:gridCol w="1051560"/>
                <a:gridCol w="1051560"/>
              </a:tblGrid>
              <a:tr h="463731">
                <a:tc>
                  <a:txBody>
                    <a:bodyPr wrap="square"/>
                    <a:lstStyle/>
                    <a:p>
                      <a:pPr algn="l">
                        <a:defRPr sz="1000" b="1">
                          <a:solidFill>
                            <a:srgbClr val="FFFFFF"/>
                          </a:solidFill>
                          <a:latin typeface="Calibri"/>
                        </a:defRPr>
                      </a:pPr>
                      <a:r>
                        <a:t>Item</a:t>
                      </a:r>
                    </a:p>
                  </a:txBody>
                  <a:tcPr>
                    <a:solidFill>
                      <a:srgbClr val="15233C"/>
                    </a:solidFill>
                  </a:tcPr>
                </a:tc>
                <a:tc>
                  <a:txBody>
                    <a:bodyPr wrap="square"/>
                    <a:lstStyle/>
                    <a:p>
                      <a:pPr algn="l">
                        <a:defRPr sz="1000" b="1">
                          <a:solidFill>
                            <a:srgbClr val="FFFFFF"/>
                          </a:solidFill>
                          <a:latin typeface="Calibri"/>
                        </a:defRPr>
                      </a:pPr>
                      <a:r>
                        <a:t>Cover</a:t>
                      </a:r>
                    </a:p>
                  </a:txBody>
                  <a:tcPr>
                    <a:solidFill>
                      <a:srgbClr val="15233C"/>
                    </a:solidFill>
                  </a:tcPr>
                </a:tc>
                <a:tc>
                  <a:txBody>
                    <a:bodyPr wrap="square"/>
                    <a:lstStyle/>
                    <a:p>
                      <a:pPr algn="l">
                        <a:defRPr sz="1000" b="1">
                          <a:solidFill>
                            <a:srgbClr val="FFFFFF"/>
                          </a:solidFill>
                          <a:latin typeface="Calibri"/>
                        </a:defRPr>
                      </a:pPr>
                      <a:r>
                        <a:t>Genuine PN</a:t>
                      </a:r>
                    </a:p>
                  </a:txBody>
                  <a:tcPr>
                    <a:solidFill>
                      <a:srgbClr val="15233C"/>
                    </a:solidFill>
                  </a:tcPr>
                </a:tc>
                <a:tc>
                  <a:txBody>
                    <a:bodyPr wrap="square"/>
                    <a:lstStyle/>
                    <a:p>
                      <a:pPr algn="r">
                        <a:defRPr sz="1000" b="1">
                          <a:solidFill>
                            <a:srgbClr val="FFFFFF"/>
                          </a:solidFill>
                          <a:latin typeface="Calibri"/>
                        </a:defRPr>
                      </a:pPr>
                      <a:r>
                        <a:t>2025 qty</a:t>
                      </a:r>
                    </a:p>
                  </a:txBody>
                  <a:tcPr>
                    <a:solidFill>
                      <a:srgbClr val="15233C"/>
                    </a:solidFill>
                  </a:tcPr>
                </a:tc>
                <a:tc>
                  <a:txBody>
                    <a:bodyPr wrap="square"/>
                    <a:lstStyle/>
                    <a:p>
                      <a:pPr algn="r">
                        <a:defRPr sz="1000" b="1">
                          <a:solidFill>
                            <a:srgbClr val="FFFFFF"/>
                          </a:solidFill>
                          <a:latin typeface="Calibri"/>
                        </a:defRPr>
                      </a:pPr>
                      <a:r>
                        <a:t>List EUR</a:t>
                      </a:r>
                    </a:p>
                  </a:txBody>
                  <a:tcPr>
                    <a:solidFill>
                      <a:srgbClr val="15233C"/>
                    </a:solidFill>
                  </a:tcPr>
                </a:tc>
                <a:tc>
                  <a:txBody>
                    <a:bodyPr wrap="square"/>
                    <a:lstStyle/>
                    <a:p>
                      <a:pPr algn="r">
                        <a:defRPr sz="1000" b="1">
                          <a:solidFill>
                            <a:srgbClr val="FFFFFF"/>
                          </a:solidFill>
                          <a:latin typeface="Calibri"/>
                        </a:defRPr>
                      </a:pPr>
                      <a:r>
                        <a:t>BVP PN</a:t>
                      </a:r>
                    </a:p>
                  </a:txBody>
                  <a:tcPr>
                    <a:solidFill>
                      <a:srgbClr val="15233C"/>
                    </a:solidFill>
                  </a:tcPr>
                </a:tc>
                <a:tc>
                  <a:txBody>
                    <a:bodyPr wrap="square"/>
                    <a:lstStyle/>
                    <a:p>
                      <a:pPr algn="r">
                        <a:defRPr sz="1000" b="1">
                          <a:solidFill>
                            <a:srgbClr val="FFFFFF"/>
                          </a:solidFill>
                          <a:latin typeface="Calibri"/>
                        </a:defRPr>
                      </a:pPr>
                      <a:r>
                        <a:t>2025 qty</a:t>
                      </a:r>
                    </a:p>
                  </a:txBody>
                  <a:tcPr>
                    <a:solidFill>
                      <a:srgbClr val="15233C"/>
                    </a:solidFill>
                  </a:tcPr>
                </a:tc>
                <a:tc>
                  <a:txBody>
                    <a:bodyPr wrap="square"/>
                    <a:lstStyle/>
                    <a:p>
                      <a:pPr algn="r">
                        <a:defRPr sz="1000" b="1">
                          <a:solidFill>
                            <a:srgbClr val="FFFFFF"/>
                          </a:solidFill>
                          <a:latin typeface="Calibri"/>
                        </a:defRPr>
                      </a:pPr>
                      <a:r>
                        <a:t>List EUR</a:t>
                      </a:r>
                    </a:p>
                  </a:txBody>
                  <a:tcPr>
                    <a:solidFill>
                      <a:srgbClr val="15233C"/>
                    </a:solidFill>
                  </a:tcPr>
                </a:tc>
              </a:tr>
              <a:tr h="463731">
                <a:tc>
                  <a:txBody>
                    <a:bodyPr wrap="square"/>
                    <a:lstStyle/>
                    <a:p>
                      <a:pPr algn="l">
                        <a:defRPr sz="1200" b="0">
                          <a:solidFill>
                            <a:srgbClr val="1A1A1A"/>
                          </a:solidFill>
                          <a:latin typeface="Calibri"/>
                        </a:defRPr>
                      </a:pPr>
                      <a:r>
                        <a:t>Oil</a:t>
                      </a:r>
                    </a:p>
                  </a:txBody>
                  <a:tcPr>
                    <a:solidFill>
                      <a:srgbClr val="F7F4EE"/>
                    </a:solidFill>
                  </a:tcPr>
                </a:tc>
                <a:tc>
                  <a:txBody>
                    <a:bodyPr wrap="square"/>
                    <a:lstStyle/>
                    <a:p>
                      <a:pPr algn="l">
                        <a:defRPr sz="1200" b="0">
                          <a:solidFill>
                            <a:srgbClr val="1A1A1A"/>
                          </a:solidFill>
                          <a:latin typeface="Calibri"/>
                        </a:defRPr>
                      </a:pPr>
                      <a:r>
                        <a:t>40%</a:t>
                      </a:r>
                    </a:p>
                  </a:txBody>
                  <a:tcPr>
                    <a:solidFill>
                      <a:srgbClr val="F7F4EE"/>
                    </a:solidFill>
                  </a:tcPr>
                </a:tc>
                <a:tc>
                  <a:txBody>
                    <a:bodyPr wrap="square"/>
                    <a:lstStyle/>
                    <a:p>
                      <a:pPr algn="l">
                        <a:defRPr sz="1200" b="0">
                          <a:solidFill>
                            <a:srgbClr val="1A1A1A"/>
                          </a:solidFill>
                          <a:latin typeface="Calibri"/>
                        </a:defRPr>
                      </a:pPr>
                      <a:r>
                        <a:t>8983282070</a:t>
                      </a:r>
                    </a:p>
                  </a:txBody>
                  <a:tcPr>
                    <a:solidFill>
                      <a:srgbClr val="F7F4EE"/>
                    </a:solidFill>
                  </a:tcPr>
                </a:tc>
                <a:tc>
                  <a:txBody>
                    <a:bodyPr wrap="square"/>
                    <a:lstStyle/>
                    <a:p>
                      <a:pPr algn="r">
                        <a:defRPr sz="1200" b="0">
                          <a:solidFill>
                            <a:srgbClr val="1A1A1A"/>
                          </a:solidFill>
                          <a:latin typeface="Calibri"/>
                        </a:defRPr>
                      </a:pPr>
                      <a:r>
                        <a:t>371</a:t>
                      </a:r>
                    </a:p>
                  </a:txBody>
                  <a:tcPr>
                    <a:solidFill>
                      <a:srgbClr val="F7F4EE"/>
                    </a:solidFill>
                  </a:tcPr>
                </a:tc>
                <a:tc>
                  <a:txBody>
                    <a:bodyPr wrap="square"/>
                    <a:lstStyle/>
                    <a:p>
                      <a:pPr algn="r">
                        <a:defRPr sz="1200" b="0">
                          <a:solidFill>
                            <a:srgbClr val="1A1A1A"/>
                          </a:solidFill>
                          <a:latin typeface="Calibri"/>
                        </a:defRPr>
                      </a:pPr>
                      <a:r>
                        <a:t>14.45</a:t>
                      </a:r>
                    </a:p>
                  </a:txBody>
                  <a:tcPr>
                    <a:solidFill>
                      <a:srgbClr val="F7F4EE"/>
                    </a:solidFill>
                  </a:tcPr>
                </a:tc>
                <a:tc>
                  <a:txBody>
                    <a:bodyPr wrap="square"/>
                    <a:lstStyle/>
                    <a:p>
                      <a:pPr algn="r">
                        <a:defRPr sz="1200" b="0">
                          <a:solidFill>
                            <a:srgbClr val="1A1A1A"/>
                          </a:solidFill>
                          <a:latin typeface="Calibri"/>
                        </a:defRPr>
                      </a:pPr>
                      <a:r>
                        <a:t>1876102890</a:t>
                      </a:r>
                    </a:p>
                  </a:txBody>
                  <a:tcPr>
                    <a:solidFill>
                      <a:srgbClr val="F7F4EE"/>
                    </a:solidFill>
                  </a:tcPr>
                </a:tc>
                <a:tc>
                  <a:txBody>
                    <a:bodyPr wrap="square"/>
                    <a:lstStyle/>
                    <a:p>
                      <a:pPr algn="r">
                        <a:defRPr sz="1200" b="0">
                          <a:solidFill>
                            <a:srgbClr val="1A1A1A"/>
                          </a:solidFill>
                          <a:latin typeface="Calibri"/>
                        </a:defRPr>
                      </a:pPr>
                      <a:r>
                        <a:t>2,909</a:t>
                      </a:r>
                    </a:p>
                  </a:txBody>
                  <a:tcPr>
                    <a:solidFill>
                      <a:srgbClr val="F7F4EE"/>
                    </a:solidFill>
                  </a:tcPr>
                </a:tc>
                <a:tc>
                  <a:txBody>
                    <a:bodyPr wrap="square"/>
                    <a:lstStyle/>
                    <a:p>
                      <a:pPr algn="r">
                        <a:defRPr sz="1200" b="0">
                          <a:solidFill>
                            <a:srgbClr val="1A1A1A"/>
                          </a:solidFill>
                          <a:latin typeface="Calibri"/>
                        </a:defRPr>
                      </a:pPr>
                      <a:r>
                        <a:t>9.96</a:t>
                      </a:r>
                    </a:p>
                  </a:txBody>
                  <a:tcPr>
                    <a:solidFill>
                      <a:srgbClr val="F7F4EE"/>
                    </a:solidFill>
                  </a:tcPr>
                </a:tc>
              </a:tr>
              <a:tr h="463731">
                <a:tc>
                  <a:txBody>
                    <a:bodyPr wrap="square"/>
                    <a:lstStyle/>
                    <a:p>
                      <a:pPr algn="l">
                        <a:defRPr sz="1200" b="0">
                          <a:solidFill>
                            <a:srgbClr val="1A1A1A"/>
                          </a:solidFill>
                          <a:latin typeface="Calibri"/>
                        </a:defRPr>
                      </a:pPr>
                      <a:r>
                        <a:t>Fuel</a:t>
                      </a:r>
                    </a:p>
                  </a:txBody>
                  <a:tcPr>
                    <a:solidFill>
                      <a:srgbClr val="FFFFFF"/>
                    </a:solidFill>
                  </a:tcPr>
                </a:tc>
                <a:tc>
                  <a:txBody>
                    <a:bodyPr wrap="square"/>
                    <a:lstStyle/>
                    <a:p>
                      <a:pPr algn="l">
                        <a:defRPr sz="1200" b="0">
                          <a:solidFill>
                            <a:srgbClr val="1A1A1A"/>
                          </a:solidFill>
                          <a:latin typeface="Calibri"/>
                        </a:defRPr>
                      </a:pPr>
                      <a:r>
                        <a:t>94%</a:t>
                      </a:r>
                    </a:p>
                  </a:txBody>
                  <a:tcPr>
                    <a:solidFill>
                      <a:srgbClr val="FFFFFF"/>
                    </a:solidFill>
                  </a:tcPr>
                </a:tc>
                <a:tc>
                  <a:txBody>
                    <a:bodyPr wrap="square"/>
                    <a:lstStyle/>
                    <a:p>
                      <a:pPr algn="l">
                        <a:defRPr sz="1200" b="0">
                          <a:solidFill>
                            <a:srgbClr val="1A1A1A"/>
                          </a:solidFill>
                          <a:latin typeface="Calibri"/>
                        </a:defRPr>
                      </a:pPr>
                      <a:r>
                        <a:t>8975425400</a:t>
                      </a:r>
                    </a:p>
                  </a:txBody>
                  <a:tcPr>
                    <a:solidFill>
                      <a:srgbClr val="FFFFFF"/>
                    </a:solidFill>
                  </a:tcPr>
                </a:tc>
                <a:tc>
                  <a:txBody>
                    <a:bodyPr wrap="square"/>
                    <a:lstStyle/>
                    <a:p>
                      <a:pPr algn="r">
                        <a:defRPr sz="1200" b="0">
                          <a:solidFill>
                            <a:srgbClr val="1A1A1A"/>
                          </a:solidFill>
                          <a:latin typeface="Calibri"/>
                        </a:defRPr>
                      </a:pPr>
                      <a:r>
                        <a:t>2,005</a:t>
                      </a:r>
                    </a:p>
                  </a:txBody>
                  <a:tcPr>
                    <a:solidFill>
                      <a:srgbClr val="FFFFFF"/>
                    </a:solidFill>
                  </a:tcPr>
                </a:tc>
                <a:tc>
                  <a:txBody>
                    <a:bodyPr wrap="square"/>
                    <a:lstStyle/>
                    <a:p>
                      <a:pPr algn="r">
                        <a:defRPr sz="1200" b="0">
                          <a:solidFill>
                            <a:srgbClr val="1A1A1A"/>
                          </a:solidFill>
                          <a:latin typeface="Calibri"/>
                        </a:defRPr>
                      </a:pPr>
                      <a:r>
                        <a:t>12.56</a:t>
                      </a:r>
                    </a:p>
                  </a:txBody>
                  <a:tcPr>
                    <a:solidFill>
                      <a:srgbClr val="FFFFFF"/>
                    </a:solidFill>
                  </a:tcPr>
                </a:tc>
                <a:tc>
                  <a:txBody>
                    <a:bodyPr wrap="square"/>
                    <a:lstStyle/>
                    <a:p>
                      <a:pPr algn="r">
                        <a:defRPr sz="1200" b="0">
                          <a:solidFill>
                            <a:srgbClr val="1A1A1A"/>
                          </a:solidFill>
                          <a:latin typeface="Calibri"/>
                        </a:defRPr>
                      </a:pPr>
                      <a:r>
                        <a:t>1876102860</a:t>
                      </a:r>
                    </a:p>
                  </a:txBody>
                  <a:tcPr>
                    <a:solidFill>
                      <a:srgbClr val="FFFFFF"/>
                    </a:solidFill>
                  </a:tcPr>
                </a:tc>
                <a:tc>
                  <a:txBody>
                    <a:bodyPr wrap="square"/>
                    <a:lstStyle/>
                    <a:p>
                      <a:pPr algn="r">
                        <a:defRPr sz="1200" b="0">
                          <a:solidFill>
                            <a:srgbClr val="1A1A1A"/>
                          </a:solidFill>
                          <a:latin typeface="Calibri"/>
                        </a:defRPr>
                      </a:pPr>
                      <a:r>
                        <a:t>0</a:t>
                      </a:r>
                    </a:p>
                  </a:txBody>
                  <a:tcPr>
                    <a:solidFill>
                      <a:srgbClr val="FFFFFF"/>
                    </a:solidFill>
                  </a:tcPr>
                </a:tc>
                <a:tc>
                  <a:txBody>
                    <a:bodyPr wrap="square"/>
                    <a:lstStyle/>
                    <a:p>
                      <a:pPr algn="r">
                        <a:defRPr sz="1200" b="0">
                          <a:solidFill>
                            <a:srgbClr val="1A1A1A"/>
                          </a:solidFill>
                          <a:latin typeface="Calibri"/>
                        </a:defRPr>
                      </a:pPr>
                      <a:r>
                        <a:t>8.05</a:t>
                      </a:r>
                    </a:p>
                  </a:txBody>
                  <a:tcPr>
                    <a:solidFill>
                      <a:srgbClr val="FFFFFF"/>
                    </a:solidFill>
                  </a:tcPr>
                </a:tc>
              </a:tr>
              <a:tr h="463731">
                <a:tc>
                  <a:txBody>
                    <a:bodyPr wrap="square"/>
                    <a:lstStyle/>
                    <a:p>
                      <a:pPr algn="l">
                        <a:defRPr sz="1200" b="0">
                          <a:solidFill>
                            <a:srgbClr val="1A1A1A"/>
                          </a:solidFill>
                          <a:latin typeface="Calibri"/>
                        </a:defRPr>
                      </a:pPr>
                      <a:r>
                        <a:t>Air</a:t>
                      </a:r>
                    </a:p>
                  </a:txBody>
                  <a:tcPr>
                    <a:solidFill>
                      <a:srgbClr val="F7F4EE"/>
                    </a:solidFill>
                  </a:tcPr>
                </a:tc>
                <a:tc>
                  <a:txBody>
                    <a:bodyPr wrap="square"/>
                    <a:lstStyle/>
                    <a:p>
                      <a:pPr algn="l">
                        <a:defRPr sz="1200" b="0">
                          <a:solidFill>
                            <a:srgbClr val="1A1A1A"/>
                          </a:solidFill>
                          <a:latin typeface="Calibri"/>
                        </a:defRPr>
                      </a:pPr>
                      <a:r>
                        <a:t>19%</a:t>
                      </a:r>
                    </a:p>
                  </a:txBody>
                  <a:tcPr>
                    <a:solidFill>
                      <a:srgbClr val="F7F4EE"/>
                    </a:solidFill>
                  </a:tcPr>
                </a:tc>
                <a:tc>
                  <a:txBody>
                    <a:bodyPr wrap="square"/>
                    <a:lstStyle/>
                    <a:p>
                      <a:pPr algn="l">
                        <a:defRPr sz="1200" b="0">
                          <a:solidFill>
                            <a:srgbClr val="1A1A1A"/>
                          </a:solidFill>
                          <a:latin typeface="Calibri"/>
                        </a:defRPr>
                      </a:pPr>
                      <a:r>
                        <a:t>8981772710</a:t>
                      </a:r>
                    </a:p>
                  </a:txBody>
                  <a:tcPr>
                    <a:solidFill>
                      <a:srgbClr val="F7F4EE"/>
                    </a:solidFill>
                  </a:tcPr>
                </a:tc>
                <a:tc>
                  <a:txBody>
                    <a:bodyPr wrap="square"/>
                    <a:lstStyle/>
                    <a:p>
                      <a:pPr algn="r">
                        <a:defRPr sz="1200" b="0">
                          <a:solidFill>
                            <a:srgbClr val="1A1A1A"/>
                          </a:solidFill>
                          <a:latin typeface="Calibri"/>
                        </a:defRPr>
                      </a:pPr>
                      <a:r>
                        <a:t>1,403</a:t>
                      </a:r>
                    </a:p>
                  </a:txBody>
                  <a:tcPr>
                    <a:solidFill>
                      <a:srgbClr val="F7F4EE"/>
                    </a:solidFill>
                  </a:tcPr>
                </a:tc>
                <a:tc>
                  <a:txBody>
                    <a:bodyPr wrap="square"/>
                    <a:lstStyle/>
                    <a:p>
                      <a:pPr algn="r">
                        <a:defRPr sz="1200" b="0">
                          <a:solidFill>
                            <a:srgbClr val="1A1A1A"/>
                          </a:solidFill>
                          <a:latin typeface="Calibri"/>
                        </a:defRPr>
                      </a:pPr>
                      <a:r>
                        <a:t>31.36</a:t>
                      </a:r>
                    </a:p>
                  </a:txBody>
                  <a:tcPr>
                    <a:solidFill>
                      <a:srgbClr val="F7F4EE"/>
                    </a:solidFill>
                  </a:tcPr>
                </a:tc>
                <a:tc>
                  <a:txBody>
                    <a:bodyPr wrap="square"/>
                    <a:lstStyle/>
                    <a:p>
                      <a:pPr algn="r">
                        <a:defRPr sz="1200" b="0">
                          <a:solidFill>
                            <a:srgbClr val="1A1A1A"/>
                          </a:solidFill>
                          <a:latin typeface="Calibri"/>
                        </a:defRPr>
                      </a:pPr>
                      <a:r>
                        <a:t>5876102500</a:t>
                      </a:r>
                    </a:p>
                  </a:txBody>
                  <a:tcPr>
                    <a:solidFill>
                      <a:srgbClr val="F7F4EE"/>
                    </a:solidFill>
                  </a:tcPr>
                </a:tc>
                <a:tc>
                  <a:txBody>
                    <a:bodyPr wrap="square"/>
                    <a:lstStyle/>
                    <a:p>
                      <a:pPr algn="r">
                        <a:defRPr sz="1200" b="0">
                          <a:solidFill>
                            <a:srgbClr val="1A1A1A"/>
                          </a:solidFill>
                          <a:latin typeface="Calibri"/>
                        </a:defRPr>
                      </a:pPr>
                      <a:r>
                        <a:t>0</a:t>
                      </a:r>
                    </a:p>
                  </a:txBody>
                  <a:tcPr>
                    <a:solidFill>
                      <a:srgbClr val="F7F4EE"/>
                    </a:solidFill>
                  </a:tcPr>
                </a:tc>
                <a:tc>
                  <a:txBody>
                    <a:bodyPr wrap="square"/>
                    <a:lstStyle/>
                    <a:p>
                      <a:pPr algn="r">
                        <a:defRPr sz="1200" b="0">
                          <a:solidFill>
                            <a:srgbClr val="1A1A1A"/>
                          </a:solidFill>
                          <a:latin typeface="Calibri"/>
                        </a:defRPr>
                      </a:pPr>
                      <a:r>
                        <a:t>17.49</a:t>
                      </a:r>
                    </a:p>
                  </a:txBody>
                  <a:tcPr>
                    <a:solidFill>
                      <a:srgbClr val="F7F4EE"/>
                    </a:solidFill>
                  </a:tcPr>
                </a:tc>
              </a:tr>
              <a:tr h="463731">
                <a:tc>
                  <a:txBody>
                    <a:bodyPr wrap="square"/>
                    <a:lstStyle/>
                    <a:p>
                      <a:pPr algn="l">
                        <a:defRPr sz="1200" b="0">
                          <a:solidFill>
                            <a:srgbClr val="1A1A1A"/>
                          </a:solidFill>
                          <a:latin typeface="Calibri"/>
                        </a:defRPr>
                      </a:pPr>
                      <a:r>
                        <a:t>Brake pad</a:t>
                      </a:r>
                    </a:p>
                  </a:txBody>
                  <a:tcPr>
                    <a:solidFill>
                      <a:srgbClr val="FFFFFF"/>
                    </a:solidFill>
                  </a:tcPr>
                </a:tc>
                <a:tc>
                  <a:txBody>
                    <a:bodyPr wrap="square"/>
                    <a:lstStyle/>
                    <a:p>
                      <a:pPr algn="l">
                        <a:defRPr sz="1200" b="0">
                          <a:solidFill>
                            <a:srgbClr val="1A1A1A"/>
                          </a:solidFill>
                          <a:latin typeface="Calibri"/>
                        </a:defRPr>
                      </a:pPr>
                      <a:r>
                        <a:t>62%</a:t>
                      </a:r>
                    </a:p>
                  </a:txBody>
                  <a:tcPr>
                    <a:solidFill>
                      <a:srgbClr val="FFFFFF"/>
                    </a:solidFill>
                  </a:tcPr>
                </a:tc>
                <a:tc>
                  <a:txBody>
                    <a:bodyPr wrap="square"/>
                    <a:lstStyle/>
                    <a:p>
                      <a:pPr algn="l">
                        <a:defRPr sz="1200" b="0">
                          <a:solidFill>
                            <a:srgbClr val="1A1A1A"/>
                          </a:solidFill>
                          <a:latin typeface="Calibri"/>
                        </a:defRPr>
                      </a:pPr>
                      <a:r>
                        <a:t>8982447940</a:t>
                      </a:r>
                    </a:p>
                  </a:txBody>
                  <a:tcPr>
                    <a:solidFill>
                      <a:srgbClr val="FFFFFF"/>
                    </a:solidFill>
                  </a:tcPr>
                </a:tc>
                <a:tc>
                  <a:txBody>
                    <a:bodyPr wrap="square"/>
                    <a:lstStyle/>
                    <a:p>
                      <a:pPr algn="r">
                        <a:defRPr sz="1200" b="0">
                          <a:solidFill>
                            <a:srgbClr val="1A1A1A"/>
                          </a:solidFill>
                          <a:latin typeface="Calibri"/>
                        </a:defRPr>
                      </a:pPr>
                      <a:r>
                        <a:t>2,282</a:t>
                      </a:r>
                    </a:p>
                  </a:txBody>
                  <a:tcPr>
                    <a:solidFill>
                      <a:srgbClr val="FFFFFF"/>
                    </a:solidFill>
                  </a:tcPr>
                </a:tc>
                <a:tc>
                  <a:txBody>
                    <a:bodyPr wrap="square"/>
                    <a:lstStyle/>
                    <a:p>
                      <a:pPr algn="r">
                        <a:defRPr sz="1200" b="0">
                          <a:solidFill>
                            <a:srgbClr val="1A1A1A"/>
                          </a:solidFill>
                          <a:latin typeface="Calibri"/>
                        </a:defRPr>
                      </a:pPr>
                      <a:r>
                        <a:t>89.11</a:t>
                      </a:r>
                    </a:p>
                  </a:txBody>
                  <a:tcPr>
                    <a:solidFill>
                      <a:srgbClr val="FFFFFF"/>
                    </a:solidFill>
                  </a:tcPr>
                </a:tc>
                <a:tc>
                  <a:txBody>
                    <a:bodyPr wrap="square"/>
                    <a:lstStyle/>
                    <a:p>
                      <a:pPr algn="r">
                        <a:defRPr sz="1200" b="0">
                          <a:solidFill>
                            <a:srgbClr val="1A1A1A"/>
                          </a:solidFill>
                          <a:latin typeface="Calibri"/>
                        </a:defRPr>
                      </a:pPr>
                      <a:r>
                        <a:t>no twin</a:t>
                      </a:r>
                    </a:p>
                  </a:txBody>
                  <a:tcPr>
                    <a:solidFill>
                      <a:srgbClr val="FFFFFF"/>
                    </a:solidFill>
                  </a:tcPr>
                </a:tc>
                <a:tc>
                  <a:txBody>
                    <a:bodyPr wrap="square"/>
                    <a:lstStyle/>
                    <a:p>
                      <a:pPr algn="r">
                        <a:defRPr sz="1200" b="0">
                          <a:solidFill>
                            <a:srgbClr val="1A1A1A"/>
                          </a:solidFill>
                          <a:latin typeface="Calibri"/>
                        </a:defRPr>
                      </a:pPr>
                      <a:r>
                        <a:t>-</a:t>
                      </a:r>
                    </a:p>
                  </a:txBody>
                  <a:tcPr>
                    <a:solidFill>
                      <a:srgbClr val="FFFFFF"/>
                    </a:solidFill>
                  </a:tcPr>
                </a:tc>
                <a:tc>
                  <a:txBody>
                    <a:bodyPr wrap="square"/>
                    <a:lstStyle/>
                    <a:p>
                      <a:pPr algn="r">
                        <a:defRPr sz="1200" b="0">
                          <a:solidFill>
                            <a:srgbClr val="1A1A1A"/>
                          </a:solidFill>
                          <a:latin typeface="Calibri"/>
                        </a:defRPr>
                      </a:pPr>
                      <a:r>
                        <a:t>-</a:t>
                      </a:r>
                    </a:p>
                  </a:txBody>
                  <a:tcPr>
                    <a:solidFill>
                      <a:srgbClr val="FFFFFF"/>
                    </a:solidFill>
                  </a:tcPr>
                </a:tc>
              </a:tr>
              <a:tr h="463731">
                <a:tc>
                  <a:txBody>
                    <a:bodyPr wrap="square"/>
                    <a:lstStyle/>
                    <a:p>
                      <a:pPr algn="l">
                        <a:defRPr sz="1200" b="0">
                          <a:solidFill>
                            <a:srgbClr val="1A1A1A"/>
                          </a:solidFill>
                          <a:latin typeface="Calibri"/>
                        </a:defRPr>
                      </a:pPr>
                      <a:r>
                        <a:t>Clutch disc 4HK1</a:t>
                      </a:r>
                    </a:p>
                  </a:txBody>
                  <a:tcPr>
                    <a:solidFill>
                      <a:srgbClr val="F7F4EE"/>
                    </a:solidFill>
                  </a:tcPr>
                </a:tc>
                <a:tc>
                  <a:txBody>
                    <a:bodyPr wrap="square"/>
                    <a:lstStyle/>
                    <a:p>
                      <a:pPr algn="l">
                        <a:defRPr sz="1200" b="0">
                          <a:solidFill>
                            <a:srgbClr val="1A1A1A"/>
                          </a:solidFill>
                          <a:latin typeface="Calibri"/>
                        </a:defRPr>
                      </a:pPr>
                      <a:r>
                        <a:t>11% family</a:t>
                      </a:r>
                    </a:p>
                  </a:txBody>
                  <a:tcPr>
                    <a:solidFill>
                      <a:srgbClr val="F7F4EE"/>
                    </a:solidFill>
                  </a:tcPr>
                </a:tc>
                <a:tc>
                  <a:txBody>
                    <a:bodyPr wrap="square"/>
                    <a:lstStyle/>
                    <a:p>
                      <a:pPr algn="l">
                        <a:defRPr sz="1200" b="0">
                          <a:solidFill>
                            <a:srgbClr val="1A1A1A"/>
                          </a:solidFill>
                          <a:latin typeface="Calibri"/>
                        </a:defRPr>
                      </a:pPr>
                      <a:r>
                        <a:t>8981649171</a:t>
                      </a:r>
                    </a:p>
                  </a:txBody>
                  <a:tcPr>
                    <a:solidFill>
                      <a:srgbClr val="F7F4EE"/>
                    </a:solidFill>
                  </a:tcPr>
                </a:tc>
                <a:tc>
                  <a:txBody>
                    <a:bodyPr wrap="square"/>
                    <a:lstStyle/>
                    <a:p>
                      <a:pPr algn="r">
                        <a:defRPr sz="1200" b="0">
                          <a:solidFill>
                            <a:srgbClr val="1A1A1A"/>
                          </a:solidFill>
                          <a:latin typeface="Calibri"/>
                        </a:defRPr>
                      </a:pPr>
                      <a:r>
                        <a:t>47</a:t>
                      </a:r>
                    </a:p>
                  </a:txBody>
                  <a:tcPr>
                    <a:solidFill>
                      <a:srgbClr val="F7F4EE"/>
                    </a:solidFill>
                  </a:tcPr>
                </a:tc>
                <a:tc>
                  <a:txBody>
                    <a:bodyPr wrap="square"/>
                    <a:lstStyle/>
                    <a:p>
                      <a:pPr algn="r">
                        <a:defRPr sz="1200" b="0">
                          <a:solidFill>
                            <a:srgbClr val="1A1A1A"/>
                          </a:solidFill>
                          <a:latin typeface="Calibri"/>
                        </a:defRPr>
                      </a:pPr>
                      <a:r>
                        <a:t>84.47</a:t>
                      </a:r>
                    </a:p>
                  </a:txBody>
                  <a:tcPr>
                    <a:solidFill>
                      <a:srgbClr val="F7F4EE"/>
                    </a:solidFill>
                  </a:tcPr>
                </a:tc>
                <a:tc>
                  <a:txBody>
                    <a:bodyPr wrap="square"/>
                    <a:lstStyle/>
                    <a:p>
                      <a:pPr algn="r">
                        <a:defRPr sz="1200" b="0">
                          <a:solidFill>
                            <a:srgbClr val="1A1A1A"/>
                          </a:solidFill>
                          <a:latin typeface="Calibri"/>
                        </a:defRPr>
                      </a:pPr>
                      <a:r>
                        <a:t>see kit mix</a:t>
                      </a:r>
                    </a:p>
                  </a:txBody>
                  <a:tcPr>
                    <a:solidFill>
                      <a:srgbClr val="F7F4EE"/>
                    </a:solidFill>
                  </a:tcPr>
                </a:tc>
                <a:tc>
                  <a:txBody>
                    <a:bodyPr wrap="square"/>
                    <a:lstStyle/>
                    <a:p>
                      <a:pPr algn="r">
                        <a:defRPr sz="1200" b="0">
                          <a:solidFill>
                            <a:srgbClr val="1A1A1A"/>
                          </a:solidFill>
                          <a:latin typeface="Calibri"/>
                        </a:defRPr>
                      </a:pPr>
                      <a:r>
                        <a:t>-</a:t>
                      </a:r>
                    </a:p>
                  </a:txBody>
                  <a:tcPr>
                    <a:solidFill>
                      <a:srgbClr val="F7F4EE"/>
                    </a:solidFill>
                  </a:tcPr>
                </a:tc>
                <a:tc>
                  <a:txBody>
                    <a:bodyPr wrap="square"/>
                    <a:lstStyle/>
                    <a:p>
                      <a:pPr algn="r">
                        <a:defRPr sz="1200" b="0">
                          <a:solidFill>
                            <a:srgbClr val="1A1A1A"/>
                          </a:solidFill>
                          <a:latin typeface="Calibri"/>
                        </a:defRPr>
                      </a:pPr>
                      <a:r>
                        <a:t>-</a:t>
                      </a:r>
                    </a:p>
                  </a:txBody>
                  <a:tcPr>
                    <a:solidFill>
                      <a:srgbClr val="F7F4EE"/>
                    </a:solidFill>
                  </a:tcPr>
                </a:tc>
              </a:tr>
              <a:tr h="463734">
                <a:tc>
                  <a:txBody>
                    <a:bodyPr wrap="square"/>
                    <a:lstStyle/>
                    <a:p>
                      <a:pPr algn="l">
                        <a:defRPr sz="1200" b="0">
                          <a:solidFill>
                            <a:srgbClr val="1A1A1A"/>
                          </a:solidFill>
                          <a:latin typeface="Calibri"/>
                        </a:defRPr>
                      </a:pPr>
                      <a:r>
                        <a:t>Clutch PP 4HK1</a:t>
                      </a:r>
                    </a:p>
                  </a:txBody>
                  <a:tcPr>
                    <a:solidFill>
                      <a:srgbClr val="FFFFFF"/>
                    </a:solidFill>
                  </a:tcPr>
                </a:tc>
                <a:tc>
                  <a:txBody>
                    <a:bodyPr wrap="square"/>
                    <a:lstStyle/>
                    <a:p>
                      <a:pPr algn="l">
                        <a:defRPr sz="1200" b="0">
                          <a:solidFill>
                            <a:srgbClr val="1A1A1A"/>
                          </a:solidFill>
                          <a:latin typeface="Calibri"/>
                        </a:defRPr>
                      </a:pPr>
                      <a:r>
                        <a:t>11% family</a:t>
                      </a:r>
                    </a:p>
                  </a:txBody>
                  <a:tcPr>
                    <a:solidFill>
                      <a:srgbClr val="FFFFFF"/>
                    </a:solidFill>
                  </a:tcPr>
                </a:tc>
                <a:tc>
                  <a:txBody>
                    <a:bodyPr wrap="square"/>
                    <a:lstStyle/>
                    <a:p>
                      <a:pPr algn="l">
                        <a:defRPr sz="1200" b="0">
                          <a:solidFill>
                            <a:srgbClr val="1A1A1A"/>
                          </a:solidFill>
                          <a:latin typeface="Calibri"/>
                        </a:defRPr>
                      </a:pPr>
                      <a:r>
                        <a:t>8970388314</a:t>
                      </a:r>
                    </a:p>
                  </a:txBody>
                  <a:tcPr>
                    <a:solidFill>
                      <a:srgbClr val="FFFFFF"/>
                    </a:solidFill>
                  </a:tcPr>
                </a:tc>
                <a:tc>
                  <a:txBody>
                    <a:bodyPr wrap="square"/>
                    <a:lstStyle/>
                    <a:p>
                      <a:pPr algn="r">
                        <a:defRPr sz="1200" b="0">
                          <a:solidFill>
                            <a:srgbClr val="1A1A1A"/>
                          </a:solidFill>
                          <a:latin typeface="Calibri"/>
                        </a:defRPr>
                      </a:pPr>
                      <a:r>
                        <a:t>54</a:t>
                      </a:r>
                    </a:p>
                  </a:txBody>
                  <a:tcPr>
                    <a:solidFill>
                      <a:srgbClr val="FFFFFF"/>
                    </a:solidFill>
                  </a:tcPr>
                </a:tc>
                <a:tc>
                  <a:txBody>
                    <a:bodyPr wrap="square"/>
                    <a:lstStyle/>
                    <a:p>
                      <a:pPr algn="r">
                        <a:defRPr sz="1200" b="0">
                          <a:solidFill>
                            <a:srgbClr val="1A1A1A"/>
                          </a:solidFill>
                          <a:latin typeface="Calibri"/>
                        </a:defRPr>
                      </a:pPr>
                      <a:r>
                        <a:t>120.75</a:t>
                      </a:r>
                    </a:p>
                  </a:txBody>
                  <a:tcPr>
                    <a:solidFill>
                      <a:srgbClr val="FFFFFF"/>
                    </a:solidFill>
                  </a:tcPr>
                </a:tc>
                <a:tc>
                  <a:txBody>
                    <a:bodyPr wrap="square"/>
                    <a:lstStyle/>
                    <a:p>
                      <a:pPr algn="r">
                        <a:defRPr sz="1200" b="0">
                          <a:solidFill>
                            <a:srgbClr val="1A1A1A"/>
                          </a:solidFill>
                          <a:latin typeface="Calibri"/>
                        </a:defRPr>
                      </a:pPr>
                      <a:r>
                        <a:t>5876101040</a:t>
                      </a:r>
                    </a:p>
                  </a:txBody>
                  <a:tcPr>
                    <a:solidFill>
                      <a:srgbClr val="FFFFFF"/>
                    </a:solidFill>
                  </a:tcPr>
                </a:tc>
                <a:tc>
                  <a:txBody>
                    <a:bodyPr wrap="square"/>
                    <a:lstStyle/>
                    <a:p>
                      <a:pPr algn="r">
                        <a:defRPr sz="1200" b="0">
                          <a:solidFill>
                            <a:srgbClr val="1A1A1A"/>
                          </a:solidFill>
                          <a:latin typeface="Calibri"/>
                        </a:defRPr>
                      </a:pPr>
                      <a:r>
                        <a:t>14</a:t>
                      </a:r>
                    </a:p>
                  </a:txBody>
                  <a:tcPr>
                    <a:solidFill>
                      <a:srgbClr val="FFFFFF"/>
                    </a:solidFill>
                  </a:tcPr>
                </a:tc>
                <a:tc>
                  <a:txBody>
                    <a:bodyPr wrap="square"/>
                    <a:lstStyle/>
                    <a:p>
                      <a:pPr algn="r">
                        <a:defRPr sz="1200" b="0">
                          <a:solidFill>
                            <a:srgbClr val="1A1A1A"/>
                          </a:solidFill>
                          <a:latin typeface="Calibri"/>
                        </a:defRPr>
                      </a:pPr>
                      <a:r>
                        <a:t>89.22</a:t>
                      </a:r>
                    </a:p>
                  </a:txBody>
                  <a:tcPr>
                    <a:solidFill>
                      <a:srgbClr val="FFFFFF"/>
                    </a:solidFill>
                  </a:tcPr>
                </a:tc>
              </a:tr>
            </a:tbl>
          </a:graphicData>
        </a:graphic>
      </p:graphicFrame>
      <p:sp>
        <p:nvSpPr>
          <p:cNvPr id="11" name="TextBox 10"/>
          <p:cNvSpPr txBox="1"/>
          <p:nvPr/>
        </p:nvSpPr>
        <p:spPr>
          <a:xfrm>
            <a:off x="292608" y="5303520"/>
            <a:ext cx="11612880" cy="640080"/>
          </a:xfrm>
          <a:prstGeom prst="rect">
            <a:avLst/>
          </a:prstGeom>
          <a:noFill/>
        </p:spPr>
        <p:txBody>
          <a:bodyPr wrap="square">
            <a:spAutoFit/>
          </a:bodyPr>
          <a:lstStyle/>
          <a:p>
            <a:pPr algn="l"/>
            <a:r>
              <a:rPr sz="1300" b="0">
                <a:solidFill>
                  <a:srgbClr val="5A5A5A"/>
                </a:solidFill>
                <a:latin typeface="Calibri"/>
              </a:rPr>
              <a:t>Oil BVP already outsells genuine (2,909 vs 371). Fuel BVP and air BVP did not move in 2025. Brake pad 8982447940 is orderable. Clutch % uses 47% manuals (expected 2,199 kits).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FILTER PACK AT ISZE LIST</a:t>
            </a:r>
          </a:p>
        </p:txBody>
      </p:sp>
      <p:sp>
        <p:nvSpPr>
          <p:cNvPr id="5" name="TextBox 4"/>
          <p:cNvSpPr txBox="1"/>
          <p:nvPr/>
        </p:nvSpPr>
        <p:spPr>
          <a:xfrm>
            <a:off x="292608" y="475488"/>
            <a:ext cx="11612880" cy="566928"/>
          </a:xfrm>
          <a:prstGeom prst="rect">
            <a:avLst/>
          </a:prstGeom>
          <a:noFill/>
        </p:spPr>
        <p:txBody>
          <a:bodyPr wrap="square">
            <a:spAutoFit/>
          </a:bodyPr>
          <a:lstStyle/>
          <a:p>
            <a:pPr algn="l"/>
            <a:r>
              <a:rPr sz="2500" b="1">
                <a:solidFill>
                  <a:srgbClr val="1A1A1A"/>
                </a:solidFill>
                <a:latin typeface="Calibri"/>
              </a:rPr>
              <a:t>One 40,000 km visit, in euros</a:t>
            </a:r>
          </a:p>
        </p:txBody>
      </p:sp>
      <p:sp>
        <p:nvSpPr>
          <p:cNvPr id="6" name="Rectangle 5"/>
          <p:cNvSpPr/>
          <p:nvPr/>
        </p:nvSpPr>
        <p:spPr>
          <a:xfrm>
            <a:off x="292608" y="1005840"/>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6</a:t>
            </a:r>
          </a:p>
        </p:txBody>
      </p:sp>
      <p:sp>
        <p:nvSpPr>
          <p:cNvPr id="8" name="Rectangle 7"/>
          <p:cNvSpPr/>
          <p:nvPr/>
        </p:nvSpPr>
        <p:spPr>
          <a:xfrm>
            <a:off x="292608" y="1115568"/>
            <a:ext cx="11612880" cy="658368"/>
          </a:xfrm>
          <a:prstGeom prst="rect">
            <a:avLst/>
          </a:prstGeom>
          <a:solidFill>
            <a:srgbClr val="15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170432"/>
            <a:ext cx="11338560" cy="548640"/>
          </a:xfrm>
          <a:prstGeom prst="rect">
            <a:avLst/>
          </a:prstGeom>
          <a:noFill/>
        </p:spPr>
        <p:txBody>
          <a:bodyPr wrap="square">
            <a:spAutoFit/>
          </a:bodyPr>
          <a:lstStyle/>
          <a:p>
            <a:pPr algn="l"/>
            <a:r>
              <a:rPr sz="1500" b="0">
                <a:solidFill>
                  <a:srgbClr val="FFFFFF"/>
                </a:solidFill>
                <a:latin typeface="Calibri"/>
              </a:rPr>
              <a:t>This is the pack on the job card. Not a discount number. Three ways to price the same three filters.</a:t>
            </a:r>
          </a:p>
        </p:txBody>
      </p:sp>
      <p:sp>
        <p:nvSpPr>
          <p:cNvPr id="10" name="Rectangle 9"/>
          <p:cNvSpPr/>
          <p:nvPr/>
        </p:nvSpPr>
        <p:spPr>
          <a:xfrm>
            <a:off x="292608" y="1956816"/>
            <a:ext cx="3749039" cy="3063240"/>
          </a:xfrm>
          <a:prstGeom prst="rect">
            <a:avLst/>
          </a:prstGeom>
          <a:solidFill>
            <a:srgbClr val="15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 y="2066544"/>
            <a:ext cx="3493007" cy="347472"/>
          </a:xfrm>
          <a:prstGeom prst="rect">
            <a:avLst/>
          </a:prstGeom>
          <a:noFill/>
        </p:spPr>
        <p:txBody>
          <a:bodyPr wrap="square">
            <a:spAutoFit/>
          </a:bodyPr>
          <a:lstStyle/>
          <a:p>
            <a:pPr algn="l"/>
            <a:r>
              <a:rPr sz="1600" b="1">
                <a:solidFill>
                  <a:srgbClr val="FFFFFF"/>
                </a:solidFill>
                <a:latin typeface="Calibri"/>
              </a:rPr>
              <a:t>Genuine pack  EUR 58.37</a:t>
            </a:r>
          </a:p>
        </p:txBody>
      </p:sp>
      <p:sp>
        <p:nvSpPr>
          <p:cNvPr id="12" name="TextBox 11"/>
          <p:cNvSpPr txBox="1"/>
          <p:nvPr/>
        </p:nvSpPr>
        <p:spPr>
          <a:xfrm>
            <a:off x="438912" y="2414016"/>
            <a:ext cx="3493007" cy="2496312"/>
          </a:xfrm>
          <a:prstGeom prst="rect">
            <a:avLst/>
          </a:prstGeom>
          <a:noFill/>
        </p:spPr>
        <p:txBody>
          <a:bodyPr wrap="square">
            <a:spAutoFit/>
          </a:bodyPr>
          <a:lstStyle/>
          <a:p>
            <a:pPr algn="l"/>
            <a:r>
              <a:rPr sz="1300" b="0">
                <a:solidFill>
                  <a:srgbClr val="FFFFFF"/>
                </a:solidFill>
                <a:latin typeface="Calibri"/>
              </a:rPr>
              <a:t>Oil 8983282070 at 14.45. Fuel 8975425400 at 12.56. Air 8981772710 at 31.36. Fuel already attaches. Air is the miss on this set.</a:t>
            </a:r>
          </a:p>
        </p:txBody>
      </p:sp>
      <p:sp>
        <p:nvSpPr>
          <p:cNvPr id="13" name="Rectangle 12"/>
          <p:cNvSpPr/>
          <p:nvPr/>
        </p:nvSpPr>
        <p:spPr>
          <a:xfrm>
            <a:off x="4224528" y="1956816"/>
            <a:ext cx="3749039" cy="3063240"/>
          </a:xfrm>
          <a:prstGeom prst="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70832" y="2066544"/>
            <a:ext cx="3493007" cy="347472"/>
          </a:xfrm>
          <a:prstGeom prst="rect">
            <a:avLst/>
          </a:prstGeom>
          <a:noFill/>
        </p:spPr>
        <p:txBody>
          <a:bodyPr wrap="square">
            <a:spAutoFit/>
          </a:bodyPr>
          <a:lstStyle/>
          <a:p>
            <a:pPr algn="l"/>
            <a:r>
              <a:rPr sz="1600" b="1">
                <a:solidFill>
                  <a:srgbClr val="FFFFFF"/>
                </a:solidFill>
                <a:latin typeface="Calibri"/>
              </a:rPr>
              <a:t>Oil BVP today  EUR 53.88</a:t>
            </a:r>
          </a:p>
        </p:txBody>
      </p:sp>
      <p:sp>
        <p:nvSpPr>
          <p:cNvPr id="15" name="TextBox 14"/>
          <p:cNvSpPr txBox="1"/>
          <p:nvPr/>
        </p:nvSpPr>
        <p:spPr>
          <a:xfrm>
            <a:off x="4370832" y="2414016"/>
            <a:ext cx="3493007" cy="2496312"/>
          </a:xfrm>
          <a:prstGeom prst="rect">
            <a:avLst/>
          </a:prstGeom>
          <a:noFill/>
        </p:spPr>
        <p:txBody>
          <a:bodyPr wrap="square">
            <a:spAutoFit/>
          </a:bodyPr>
          <a:lstStyle/>
          <a:p>
            <a:pPr algn="l"/>
            <a:r>
              <a:rPr sz="1300" b="0">
                <a:solidFill>
                  <a:srgbClr val="FFFFFF"/>
                </a:solidFill>
                <a:latin typeface="Calibri"/>
              </a:rPr>
              <a:t>Oil 1876102890 at 9.96 (already selling). Fuel genuine 12.56. Air genuine 31.36. August move: keep promoting the oil BVP that already moves.</a:t>
            </a:r>
          </a:p>
        </p:txBody>
      </p:sp>
      <p:sp>
        <p:nvSpPr>
          <p:cNvPr id="16" name="Rectangle 15"/>
          <p:cNvSpPr/>
          <p:nvPr/>
        </p:nvSpPr>
        <p:spPr>
          <a:xfrm>
            <a:off x="8156448" y="1956816"/>
            <a:ext cx="3749039" cy="306324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2066544"/>
            <a:ext cx="3493007" cy="347472"/>
          </a:xfrm>
          <a:prstGeom prst="rect">
            <a:avLst/>
          </a:prstGeom>
          <a:noFill/>
        </p:spPr>
        <p:txBody>
          <a:bodyPr wrap="square">
            <a:spAutoFit/>
          </a:bodyPr>
          <a:lstStyle/>
          <a:p>
            <a:pPr algn="l"/>
            <a:r>
              <a:rPr sz="1600" b="1">
                <a:solidFill>
                  <a:srgbClr val="FFFFFF"/>
                </a:solidFill>
                <a:latin typeface="Calibri"/>
              </a:rPr>
              <a:t>If ITUK orders BVP  EUR 35.50</a:t>
            </a:r>
          </a:p>
        </p:txBody>
      </p:sp>
      <p:sp>
        <p:nvSpPr>
          <p:cNvPr id="18" name="TextBox 17"/>
          <p:cNvSpPr txBox="1"/>
          <p:nvPr/>
        </p:nvSpPr>
        <p:spPr>
          <a:xfrm>
            <a:off x="8302752" y="2414016"/>
            <a:ext cx="3493007" cy="2496312"/>
          </a:xfrm>
          <a:prstGeom prst="rect">
            <a:avLst/>
          </a:prstGeom>
          <a:noFill/>
        </p:spPr>
        <p:txBody>
          <a:bodyPr wrap="square">
            <a:spAutoFit/>
          </a:bodyPr>
          <a:lstStyle/>
          <a:p>
            <a:pPr algn="l"/>
            <a:r>
              <a:rPr sz="1300" b="0">
                <a:solidFill>
                  <a:srgbClr val="FFFFFF"/>
                </a:solidFill>
                <a:latin typeface="Calibri"/>
              </a:rPr>
              <a:t>Oil 9.96 + fuel 1876102860 at 8.05 (qty 0) + air 5876102500 at 17.49 (qty 0). 39% below genuine. Only if they stock the zeros.</a:t>
            </a:r>
          </a:p>
        </p:txBody>
      </p:sp>
      <p:sp>
        <p:nvSpPr>
          <p:cNvPr id="19" name="TextBox 18"/>
          <p:cNvSpPr txBox="1"/>
          <p:nvPr/>
        </p:nvSpPr>
        <p:spPr>
          <a:xfrm>
            <a:off x="292608" y="5166360"/>
            <a:ext cx="11612880" cy="640080"/>
          </a:xfrm>
          <a:prstGeom prst="rect">
            <a:avLst/>
          </a:prstGeom>
          <a:noFill/>
        </p:spPr>
        <p:txBody>
          <a:bodyPr wrap="square">
            <a:spAutoFit/>
          </a:bodyPr>
          <a:lstStyle/>
          <a:p>
            <a:pPr algn="l"/>
            <a:r>
              <a:rPr sz="1400" b="0">
                <a:solidFill>
                  <a:srgbClr val="1A1A1A"/>
                </a:solidFill>
                <a:latin typeface="Calibri"/>
              </a:rPr>
              <a:t>Brake on the same visit: pad 8982447940 list 89.11 EUR (2,282 billed in 2025). If genuine still needs more discount after BVP, that is the SPA. If ITUK and ISZE cannot close it, IML can join.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PARTS EUROPE</a:t>
            </a:r>
          </a:p>
        </p:txBody>
      </p:sp>
      <p:sp>
        <p:nvSpPr>
          <p:cNvPr id="5" name="TextBox 4"/>
          <p:cNvSpPr txBox="1"/>
          <p:nvPr/>
        </p:nvSpPr>
        <p:spPr>
          <a:xfrm>
            <a:off x="292608" y="475488"/>
            <a:ext cx="11612880" cy="566928"/>
          </a:xfrm>
          <a:prstGeom prst="rect">
            <a:avLst/>
          </a:prstGeom>
          <a:noFill/>
        </p:spPr>
        <p:txBody>
          <a:bodyPr wrap="square">
            <a:spAutoFit/>
          </a:bodyPr>
          <a:lstStyle/>
          <a:p>
            <a:pPr algn="l"/>
            <a:r>
              <a:rPr sz="2500" b="1">
                <a:solidFill>
                  <a:srgbClr val="1A1A1A"/>
                </a:solidFill>
                <a:latin typeface="Calibri"/>
              </a:rPr>
              <a:t>Three levers  ·  BVP this month, SPA now</a:t>
            </a:r>
          </a:p>
        </p:txBody>
      </p:sp>
      <p:sp>
        <p:nvSpPr>
          <p:cNvPr id="6" name="Rectangle 5"/>
          <p:cNvSpPr/>
          <p:nvPr/>
        </p:nvSpPr>
        <p:spPr>
          <a:xfrm>
            <a:off x="292608" y="1005840"/>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7</a:t>
            </a:r>
          </a:p>
        </p:txBody>
      </p:sp>
      <p:sp>
        <p:nvSpPr>
          <p:cNvPr id="8" name="Rectangle 7"/>
          <p:cNvSpPr/>
          <p:nvPr/>
        </p:nvSpPr>
        <p:spPr>
          <a:xfrm>
            <a:off x="292608" y="1115568"/>
            <a:ext cx="11612880" cy="658368"/>
          </a:xfrm>
          <a:prstGeom prst="rect">
            <a:avLst/>
          </a:prstGeom>
          <a:solidFill>
            <a:srgbClr val="15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170432"/>
            <a:ext cx="11338560" cy="548640"/>
          </a:xfrm>
          <a:prstGeom prst="rect">
            <a:avLst/>
          </a:prstGeom>
          <a:noFill/>
        </p:spPr>
        <p:txBody>
          <a:bodyPr wrap="square">
            <a:spAutoFit/>
          </a:bodyPr>
          <a:lstStyle/>
          <a:p>
            <a:pPr algn="l"/>
            <a:r>
              <a:rPr sz="1500" b="0">
                <a:solidFill>
                  <a:srgbClr val="FFFFFF"/>
                </a:solidFill>
                <a:latin typeface="Calibri"/>
              </a:rPr>
              <a:t>We do not wait for October to start pricing.</a:t>
            </a:r>
          </a:p>
        </p:txBody>
      </p:sp>
      <p:sp>
        <p:nvSpPr>
          <p:cNvPr id="10" name="Rectangle 9"/>
          <p:cNvSpPr/>
          <p:nvPr/>
        </p:nvSpPr>
        <p:spPr>
          <a:xfrm>
            <a:off x="292608" y="1956816"/>
            <a:ext cx="3749039" cy="3749039"/>
          </a:xfrm>
          <a:prstGeom prst="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 y="2066544"/>
            <a:ext cx="3493007" cy="347472"/>
          </a:xfrm>
          <a:prstGeom prst="rect">
            <a:avLst/>
          </a:prstGeom>
          <a:noFill/>
        </p:spPr>
        <p:txBody>
          <a:bodyPr wrap="square">
            <a:spAutoFit/>
          </a:bodyPr>
          <a:lstStyle/>
          <a:p>
            <a:pPr algn="l"/>
            <a:r>
              <a:rPr sz="1600" b="1">
                <a:solidFill>
                  <a:srgbClr val="FFFFFF"/>
                </a:solidFill>
                <a:latin typeface="Calibri"/>
              </a:rPr>
              <a:t>1  BVP  ·  August</a:t>
            </a:r>
          </a:p>
        </p:txBody>
      </p:sp>
      <p:sp>
        <p:nvSpPr>
          <p:cNvPr id="12" name="TextBox 11"/>
          <p:cNvSpPr txBox="1"/>
          <p:nvPr/>
        </p:nvSpPr>
        <p:spPr>
          <a:xfrm>
            <a:off x="438912" y="2414016"/>
            <a:ext cx="3493007" cy="3182111"/>
          </a:xfrm>
          <a:prstGeom prst="rect">
            <a:avLst/>
          </a:prstGeom>
          <a:noFill/>
        </p:spPr>
        <p:txBody>
          <a:bodyPr wrap="square">
            <a:spAutoFit/>
          </a:bodyPr>
          <a:lstStyle/>
          <a:p>
            <a:pPr algn="l"/>
            <a:r>
              <a:rPr sz="1300" b="0">
                <a:solidFill>
                  <a:srgbClr val="FFFFFF"/>
                </a:solidFill>
                <a:latin typeface="Calibri"/>
              </a:rPr>
              <a:t>Where a twin exists, promote it now. Live oil BVP 1876102890 already moves. Catalogue twins with zero UK sales only go on the poster if ITUK orders them.</a:t>
            </a:r>
          </a:p>
        </p:txBody>
      </p:sp>
      <p:sp>
        <p:nvSpPr>
          <p:cNvPr id="13" name="Rectangle 12"/>
          <p:cNvSpPr/>
          <p:nvPr/>
        </p:nvSpPr>
        <p:spPr>
          <a:xfrm>
            <a:off x="4224528" y="1956816"/>
            <a:ext cx="3749039" cy="3749039"/>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70832" y="2066544"/>
            <a:ext cx="3493007" cy="347472"/>
          </a:xfrm>
          <a:prstGeom prst="rect">
            <a:avLst/>
          </a:prstGeom>
          <a:noFill/>
        </p:spPr>
        <p:txBody>
          <a:bodyPr wrap="square">
            <a:spAutoFit/>
          </a:bodyPr>
          <a:lstStyle/>
          <a:p>
            <a:pPr algn="l"/>
            <a:r>
              <a:rPr sz="1600" b="1">
                <a:solidFill>
                  <a:srgbClr val="FFFFFF"/>
                </a:solidFill>
                <a:latin typeface="Calibri"/>
              </a:rPr>
              <a:t>2  SPA  ·  now</a:t>
            </a:r>
          </a:p>
        </p:txBody>
      </p:sp>
      <p:sp>
        <p:nvSpPr>
          <p:cNvPr id="15" name="TextBox 14"/>
          <p:cNvSpPr txBox="1"/>
          <p:nvPr/>
        </p:nvSpPr>
        <p:spPr>
          <a:xfrm>
            <a:off x="4370832" y="2414016"/>
            <a:ext cx="3493007" cy="3182111"/>
          </a:xfrm>
          <a:prstGeom prst="rect">
            <a:avLst/>
          </a:prstGeom>
          <a:noFill/>
        </p:spPr>
        <p:txBody>
          <a:bodyPr wrap="square">
            <a:spAutoFit/>
          </a:bodyPr>
          <a:lstStyle/>
          <a:p>
            <a:pPr algn="l"/>
            <a:r>
              <a:rPr sz="1300" b="0">
                <a:solidFill>
                  <a:srgbClr val="FFFFFF"/>
                </a:solidFill>
                <a:latin typeface="Calibri"/>
              </a:rPr>
              <a:t>Genuine air and brake, and clutch if we keep it in. We price with ITUK now, not after Japan. If the level is not enough, IML can join.</a:t>
            </a:r>
          </a:p>
        </p:txBody>
      </p:sp>
      <p:sp>
        <p:nvSpPr>
          <p:cNvPr id="16" name="Rectangle 15"/>
          <p:cNvSpPr/>
          <p:nvPr/>
        </p:nvSpPr>
        <p:spPr>
          <a:xfrm>
            <a:off x="8156448" y="1956816"/>
            <a:ext cx="3749039" cy="3749039"/>
          </a:xfrm>
          <a:prstGeom prst="rect">
            <a:avLst/>
          </a:prstGeom>
          <a:solidFill>
            <a:srgbClr val="15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2066544"/>
            <a:ext cx="3493007" cy="347472"/>
          </a:xfrm>
          <a:prstGeom prst="rect">
            <a:avLst/>
          </a:prstGeom>
          <a:noFill/>
        </p:spPr>
        <p:txBody>
          <a:bodyPr wrap="square">
            <a:spAutoFit/>
          </a:bodyPr>
          <a:lstStyle/>
          <a:p>
            <a:pPr algn="l"/>
            <a:r>
              <a:rPr sz="1600" b="1">
                <a:solidFill>
                  <a:srgbClr val="FFFFFF"/>
                </a:solidFill>
                <a:latin typeface="Calibri"/>
              </a:rPr>
              <a:t>3  Filter pack</a:t>
            </a:r>
          </a:p>
        </p:txBody>
      </p:sp>
      <p:sp>
        <p:nvSpPr>
          <p:cNvPr id="18" name="TextBox 17"/>
          <p:cNvSpPr txBox="1"/>
          <p:nvPr/>
        </p:nvSpPr>
        <p:spPr>
          <a:xfrm>
            <a:off x="8302752" y="2414016"/>
            <a:ext cx="3493007" cy="3182111"/>
          </a:xfrm>
          <a:prstGeom prst="rect">
            <a:avLst/>
          </a:prstGeom>
          <a:noFill/>
        </p:spPr>
        <p:txBody>
          <a:bodyPr wrap="square">
            <a:spAutoFit/>
          </a:bodyPr>
          <a:lstStyle/>
          <a:p>
            <a:pPr algn="l"/>
            <a:r>
              <a:rPr sz="1300" b="0">
                <a:solidFill>
                  <a:srgbClr val="FFFFFF"/>
                </a:solidFill>
                <a:latin typeface="Calibri"/>
              </a:rPr>
              <a:t>One N75 kit: oil + fuel + air. Fuel 94%, air 19%. That is how air rides on an event that already exists. R90 pad 8982447940 on the brake side.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DISCOUNT LADDER</a:t>
            </a:r>
          </a:p>
        </p:txBody>
      </p:sp>
      <p:sp>
        <p:nvSpPr>
          <p:cNvPr id="5" name="TextBox 4"/>
          <p:cNvSpPr txBox="1"/>
          <p:nvPr/>
        </p:nvSpPr>
        <p:spPr>
          <a:xfrm>
            <a:off x="292608" y="475488"/>
            <a:ext cx="11612880" cy="566928"/>
          </a:xfrm>
          <a:prstGeom prst="rect">
            <a:avLst/>
          </a:prstGeom>
          <a:noFill/>
        </p:spPr>
        <p:txBody>
          <a:bodyPr wrap="square">
            <a:spAutoFit/>
          </a:bodyPr>
          <a:lstStyle/>
          <a:p>
            <a:pPr algn="l"/>
            <a:r>
              <a:rPr sz="2500" b="1">
                <a:solidFill>
                  <a:srgbClr val="1A1A1A"/>
                </a:solidFill>
                <a:latin typeface="Calibri"/>
              </a:rPr>
              <a:t>How we get the price down</a:t>
            </a:r>
          </a:p>
        </p:txBody>
      </p:sp>
      <p:sp>
        <p:nvSpPr>
          <p:cNvPr id="6" name="Rectangle 5"/>
          <p:cNvSpPr/>
          <p:nvPr/>
        </p:nvSpPr>
        <p:spPr>
          <a:xfrm>
            <a:off x="292608" y="1005840"/>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8</a:t>
            </a:r>
          </a:p>
        </p:txBody>
      </p:sp>
      <p:sp>
        <p:nvSpPr>
          <p:cNvPr id="8" name="Rectangle 7"/>
          <p:cNvSpPr/>
          <p:nvPr/>
        </p:nvSpPr>
        <p:spPr>
          <a:xfrm>
            <a:off x="292608" y="1115568"/>
            <a:ext cx="11612880" cy="658368"/>
          </a:xfrm>
          <a:prstGeom prst="rect">
            <a:avLst/>
          </a:prstGeom>
          <a:solidFill>
            <a:srgbClr val="15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170432"/>
            <a:ext cx="11338560" cy="548640"/>
          </a:xfrm>
          <a:prstGeom prst="rect">
            <a:avLst/>
          </a:prstGeom>
          <a:noFill/>
        </p:spPr>
        <p:txBody>
          <a:bodyPr wrap="square">
            <a:spAutoFit/>
          </a:bodyPr>
          <a:lstStyle/>
          <a:p>
            <a:pPr algn="l"/>
            <a:r>
              <a:rPr sz="1500" b="0">
                <a:solidFill>
                  <a:srgbClr val="FFFFFF"/>
                </a:solidFill>
                <a:latin typeface="Calibri"/>
              </a:rPr>
              <a:t>BVP first. Then SPA with ITUK. If we cannot agree the level, IML joins and we share it three ways.</a:t>
            </a:r>
          </a:p>
        </p:txBody>
      </p:sp>
      <p:sp>
        <p:nvSpPr>
          <p:cNvPr id="10" name="Rectangle 9"/>
          <p:cNvSpPr/>
          <p:nvPr/>
        </p:nvSpPr>
        <p:spPr>
          <a:xfrm>
            <a:off x="292608" y="1938528"/>
            <a:ext cx="11612880" cy="640080"/>
          </a:xfrm>
          <a:prstGeom prst="rect">
            <a:avLst/>
          </a:prstGeom>
          <a:solidFill>
            <a:srgbClr val="15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029968"/>
            <a:ext cx="11283696" cy="457200"/>
          </a:xfrm>
          <a:prstGeom prst="rect">
            <a:avLst/>
          </a:prstGeom>
          <a:noFill/>
        </p:spPr>
        <p:txBody>
          <a:bodyPr wrap="square">
            <a:spAutoFit/>
          </a:bodyPr>
          <a:lstStyle/>
          <a:p>
            <a:pPr algn="l"/>
            <a:r>
              <a:rPr sz="1600" b="0">
                <a:solidFill>
                  <a:srgbClr val="FFFFFF"/>
                </a:solidFill>
                <a:latin typeface="Calibri"/>
              </a:rPr>
              <a:t>Need more price on this job? Walk the ladder. Do not start with a three-party SPA.</a:t>
            </a:r>
          </a:p>
        </p:txBody>
      </p:sp>
      <p:sp>
        <p:nvSpPr>
          <p:cNvPr id="12" name="Rectangle 11"/>
          <p:cNvSpPr/>
          <p:nvPr/>
        </p:nvSpPr>
        <p:spPr>
          <a:xfrm>
            <a:off x="292608" y="2743200"/>
            <a:ext cx="5623560" cy="1417320"/>
          </a:xfrm>
          <a:prstGeom prst="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 y="2852928"/>
            <a:ext cx="5367528" cy="347472"/>
          </a:xfrm>
          <a:prstGeom prst="rect">
            <a:avLst/>
          </a:prstGeom>
          <a:noFill/>
        </p:spPr>
        <p:txBody>
          <a:bodyPr wrap="square">
            <a:spAutoFit/>
          </a:bodyPr>
          <a:lstStyle/>
          <a:p>
            <a:pPr algn="l"/>
            <a:r>
              <a:rPr sz="1600" b="1">
                <a:solidFill>
                  <a:srgbClr val="FFFFFF"/>
                </a:solidFill>
                <a:latin typeface="Calibri"/>
              </a:rPr>
              <a:t>BVP twin exists</a:t>
            </a:r>
          </a:p>
        </p:txBody>
      </p:sp>
      <p:sp>
        <p:nvSpPr>
          <p:cNvPr id="14" name="TextBox 13"/>
          <p:cNvSpPr txBox="1"/>
          <p:nvPr/>
        </p:nvSpPr>
        <p:spPr>
          <a:xfrm>
            <a:off x="438912" y="3200400"/>
            <a:ext cx="5367528" cy="850392"/>
          </a:xfrm>
          <a:prstGeom prst="rect">
            <a:avLst/>
          </a:prstGeom>
          <a:noFill/>
        </p:spPr>
        <p:txBody>
          <a:bodyPr wrap="square">
            <a:spAutoFit/>
          </a:bodyPr>
          <a:lstStyle/>
          <a:p>
            <a:pPr algn="l"/>
            <a:r>
              <a:rPr sz="1300" b="0">
                <a:solidFill>
                  <a:srgbClr val="FFFFFF"/>
                </a:solidFill>
                <a:latin typeface="Calibri"/>
              </a:rPr>
              <a:t>Promote BVP. That is the August move. No extra SPA until the twin is on the shelf.</a:t>
            </a:r>
          </a:p>
        </p:txBody>
      </p:sp>
      <p:sp>
        <p:nvSpPr>
          <p:cNvPr id="15" name="Rectangle 14"/>
          <p:cNvSpPr/>
          <p:nvPr/>
        </p:nvSpPr>
        <p:spPr>
          <a:xfrm>
            <a:off x="6281928" y="2743200"/>
            <a:ext cx="5623560" cy="141732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2" y="2852928"/>
            <a:ext cx="5367528" cy="347472"/>
          </a:xfrm>
          <a:prstGeom prst="rect">
            <a:avLst/>
          </a:prstGeom>
          <a:noFill/>
        </p:spPr>
        <p:txBody>
          <a:bodyPr wrap="square">
            <a:spAutoFit/>
          </a:bodyPr>
          <a:lstStyle/>
          <a:p>
            <a:pPr algn="l"/>
            <a:r>
              <a:rPr sz="1600" b="1">
                <a:solidFill>
                  <a:srgbClr val="FFFFFF"/>
                </a:solidFill>
                <a:latin typeface="Calibri"/>
              </a:rPr>
              <a:t>Genuine needs SPA</a:t>
            </a:r>
          </a:p>
        </p:txBody>
      </p:sp>
      <p:sp>
        <p:nvSpPr>
          <p:cNvPr id="17" name="TextBox 16"/>
          <p:cNvSpPr txBox="1"/>
          <p:nvPr/>
        </p:nvSpPr>
        <p:spPr>
          <a:xfrm>
            <a:off x="6428232" y="3200400"/>
            <a:ext cx="5367528" cy="850392"/>
          </a:xfrm>
          <a:prstGeom prst="rect">
            <a:avLst/>
          </a:prstGeom>
          <a:noFill/>
        </p:spPr>
        <p:txBody>
          <a:bodyPr wrap="square">
            <a:spAutoFit/>
          </a:bodyPr>
          <a:lstStyle/>
          <a:p>
            <a:pPr algn="l"/>
            <a:r>
              <a:rPr sz="1300" b="0">
                <a:solidFill>
                  <a:srgbClr val="FFFFFF"/>
                </a:solidFill>
                <a:latin typeface="Calibri"/>
              </a:rPr>
              <a:t>ISZE prices it with ITUK now. Dealer quotes the set on the event.</a:t>
            </a:r>
          </a:p>
        </p:txBody>
      </p:sp>
      <p:sp>
        <p:nvSpPr>
          <p:cNvPr id="18" name="Rectangle 17"/>
          <p:cNvSpPr/>
          <p:nvPr/>
        </p:nvSpPr>
        <p:spPr>
          <a:xfrm>
            <a:off x="292608" y="4315968"/>
            <a:ext cx="11612880" cy="64008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407408"/>
            <a:ext cx="11283696" cy="457200"/>
          </a:xfrm>
          <a:prstGeom prst="rect">
            <a:avLst/>
          </a:prstGeom>
          <a:noFill/>
        </p:spPr>
        <p:txBody>
          <a:bodyPr wrap="square">
            <a:spAutoFit/>
          </a:bodyPr>
          <a:lstStyle/>
          <a:p>
            <a:pPr algn="l"/>
            <a:r>
              <a:rPr sz="1600" b="0">
                <a:solidFill>
                  <a:srgbClr val="FFFFFF"/>
                </a:solidFill>
                <a:latin typeface="Calibri"/>
              </a:rPr>
              <a:t>If ITUK and ISZE cannot close the level: IML joins. Three wallets, one conversion.</a:t>
            </a:r>
          </a:p>
        </p:txBody>
      </p:sp>
      <p:sp>
        <p:nvSpPr>
          <p:cNvPr id="20" name="Rectangle 19"/>
          <p:cNvSpPr/>
          <p:nvPr/>
        </p:nvSpPr>
        <p:spPr>
          <a:xfrm>
            <a:off x="292608" y="5102352"/>
            <a:ext cx="3566160" cy="841248"/>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 y="5138928"/>
            <a:ext cx="3346704" cy="292608"/>
          </a:xfrm>
          <a:prstGeom prst="rect">
            <a:avLst/>
          </a:prstGeom>
          <a:noFill/>
        </p:spPr>
        <p:txBody>
          <a:bodyPr wrap="square">
            <a:spAutoFit/>
          </a:bodyPr>
          <a:lstStyle/>
          <a:p>
            <a:pPr algn="l"/>
            <a:r>
              <a:rPr sz="1600" b="1">
                <a:solidFill>
                  <a:srgbClr val="15233C"/>
                </a:solidFill>
                <a:latin typeface="Calibri"/>
              </a:rPr>
              <a:t>ISZE</a:t>
            </a:r>
          </a:p>
        </p:txBody>
      </p:sp>
      <p:sp>
        <p:nvSpPr>
          <p:cNvPr id="22" name="TextBox 21"/>
          <p:cNvSpPr txBox="1"/>
          <p:nvPr/>
        </p:nvSpPr>
        <p:spPr>
          <a:xfrm>
            <a:off x="420624" y="5431536"/>
            <a:ext cx="3346704" cy="438912"/>
          </a:xfrm>
          <a:prstGeom prst="rect">
            <a:avLst/>
          </a:prstGeom>
          <a:noFill/>
        </p:spPr>
        <p:txBody>
          <a:bodyPr wrap="square">
            <a:spAutoFit/>
          </a:bodyPr>
          <a:lstStyle/>
          <a:p>
            <a:pPr algn="l"/>
            <a:r>
              <a:rPr sz="1200" b="0">
                <a:solidFill>
                  <a:srgbClr val="5A5A5A"/>
                </a:solidFill>
                <a:latin typeface="Calibri"/>
              </a:rPr>
              <a:t>Europe parts. SPA wallet + pack BOM</a:t>
            </a:r>
          </a:p>
        </p:txBody>
      </p:sp>
      <p:sp>
        <p:nvSpPr>
          <p:cNvPr id="23" name="Rectangle 22"/>
          <p:cNvSpPr/>
          <p:nvPr/>
        </p:nvSpPr>
        <p:spPr>
          <a:xfrm>
            <a:off x="4242816" y="5102352"/>
            <a:ext cx="3566160" cy="841248"/>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70832" y="5138928"/>
            <a:ext cx="3346704" cy="292608"/>
          </a:xfrm>
          <a:prstGeom prst="rect">
            <a:avLst/>
          </a:prstGeom>
          <a:noFill/>
        </p:spPr>
        <p:txBody>
          <a:bodyPr wrap="square">
            <a:spAutoFit/>
          </a:bodyPr>
          <a:lstStyle/>
          <a:p>
            <a:pPr algn="l"/>
            <a:r>
              <a:rPr sz="1600" b="1">
                <a:solidFill>
                  <a:srgbClr val="15233C"/>
                </a:solidFill>
                <a:latin typeface="Calibri"/>
              </a:rPr>
              <a:t>ITUK</a:t>
            </a:r>
          </a:p>
        </p:txBody>
      </p:sp>
      <p:sp>
        <p:nvSpPr>
          <p:cNvPr id="25" name="TextBox 24"/>
          <p:cNvSpPr txBox="1"/>
          <p:nvPr/>
        </p:nvSpPr>
        <p:spPr>
          <a:xfrm>
            <a:off x="4370832" y="5431536"/>
            <a:ext cx="3346704" cy="438912"/>
          </a:xfrm>
          <a:prstGeom prst="rect">
            <a:avLst/>
          </a:prstGeom>
          <a:noFill/>
        </p:spPr>
        <p:txBody>
          <a:bodyPr wrap="square">
            <a:spAutoFit/>
          </a:bodyPr>
          <a:lstStyle/>
          <a:p>
            <a:pPr algn="l"/>
            <a:r>
              <a:rPr sz="1200" b="0">
                <a:solidFill>
                  <a:srgbClr val="5A5A5A"/>
                </a:solidFill>
                <a:latin typeface="Calibri"/>
              </a:rPr>
              <a:t>UK distributor. Dealer price + stock</a:t>
            </a:r>
          </a:p>
        </p:txBody>
      </p:sp>
      <p:sp>
        <p:nvSpPr>
          <p:cNvPr id="26" name="Rectangle 25"/>
          <p:cNvSpPr/>
          <p:nvPr/>
        </p:nvSpPr>
        <p:spPr>
          <a:xfrm>
            <a:off x="8193024" y="5102352"/>
            <a:ext cx="3566160" cy="841248"/>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40" y="5138928"/>
            <a:ext cx="3346704" cy="292608"/>
          </a:xfrm>
          <a:prstGeom prst="rect">
            <a:avLst/>
          </a:prstGeom>
          <a:noFill/>
        </p:spPr>
        <p:txBody>
          <a:bodyPr wrap="square">
            <a:spAutoFit/>
          </a:bodyPr>
          <a:lstStyle/>
          <a:p>
            <a:pPr algn="l"/>
            <a:r>
              <a:rPr sz="1600" b="1">
                <a:solidFill>
                  <a:srgbClr val="15233C"/>
                </a:solidFill>
                <a:latin typeface="Calibri"/>
              </a:rPr>
              <a:t>IML</a:t>
            </a:r>
          </a:p>
        </p:txBody>
      </p:sp>
      <p:sp>
        <p:nvSpPr>
          <p:cNvPr id="28" name="TextBox 27"/>
          <p:cNvSpPr txBox="1"/>
          <p:nvPr/>
        </p:nvSpPr>
        <p:spPr>
          <a:xfrm>
            <a:off x="8321040" y="5431536"/>
            <a:ext cx="3346704" cy="438912"/>
          </a:xfrm>
          <a:prstGeom prst="rect">
            <a:avLst/>
          </a:prstGeom>
          <a:noFill/>
        </p:spPr>
        <p:txBody>
          <a:bodyPr wrap="square">
            <a:spAutoFit/>
          </a:bodyPr>
          <a:lstStyle/>
          <a:p>
            <a:pPr algn="l"/>
            <a:r>
              <a:rPr sz="1200" b="0">
                <a:solidFill>
                  <a:srgbClr val="5A5A5A"/>
                </a:solidFill>
                <a:latin typeface="Calibri"/>
              </a:rPr>
              <a:t>If still short. Third share of the discount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TIMELINE</a:t>
            </a:r>
          </a:p>
        </p:txBody>
      </p:sp>
      <p:sp>
        <p:nvSpPr>
          <p:cNvPr id="5" name="TextBox 4"/>
          <p:cNvSpPr txBox="1"/>
          <p:nvPr/>
        </p:nvSpPr>
        <p:spPr>
          <a:xfrm>
            <a:off x="292608" y="475488"/>
            <a:ext cx="11612880" cy="566928"/>
          </a:xfrm>
          <a:prstGeom prst="rect">
            <a:avLst/>
          </a:prstGeom>
          <a:noFill/>
        </p:spPr>
        <p:txBody>
          <a:bodyPr wrap="square">
            <a:spAutoFit/>
          </a:bodyPr>
          <a:lstStyle/>
          <a:p>
            <a:pPr algn="l"/>
            <a:r>
              <a:rPr sz="2500" b="1">
                <a:solidFill>
                  <a:srgbClr val="1A1A1A"/>
                </a:solidFill>
                <a:latin typeface="Calibri"/>
              </a:rPr>
              <a:t>How we proceed</a:t>
            </a:r>
          </a:p>
        </p:txBody>
      </p:sp>
      <p:sp>
        <p:nvSpPr>
          <p:cNvPr id="6" name="Rectangle 5"/>
          <p:cNvSpPr/>
          <p:nvPr/>
        </p:nvSpPr>
        <p:spPr>
          <a:xfrm>
            <a:off x="292608" y="1005840"/>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9</a:t>
            </a:r>
          </a:p>
        </p:txBody>
      </p:sp>
      <p:sp>
        <p:nvSpPr>
          <p:cNvPr id="8" name="Rectangle 7"/>
          <p:cNvSpPr/>
          <p:nvPr/>
        </p:nvSpPr>
        <p:spPr>
          <a:xfrm>
            <a:off x="292608" y="1115568"/>
            <a:ext cx="11612880" cy="658368"/>
          </a:xfrm>
          <a:prstGeom prst="rect">
            <a:avLst/>
          </a:prstGeom>
          <a:solidFill>
            <a:srgbClr val="15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170432"/>
            <a:ext cx="11338560" cy="548640"/>
          </a:xfrm>
          <a:prstGeom prst="rect">
            <a:avLst/>
          </a:prstGeom>
          <a:noFill/>
        </p:spPr>
        <p:txBody>
          <a:bodyPr wrap="square">
            <a:spAutoFit/>
          </a:bodyPr>
          <a:lstStyle/>
          <a:p>
            <a:pPr algn="l"/>
            <a:r>
              <a:rPr sz="1500" b="0">
                <a:solidFill>
                  <a:srgbClr val="FFFFFF"/>
                </a:solidFill>
                <a:latin typeface="Calibri"/>
              </a:rPr>
              <a:t>Mark this up in Japan. Lock the ladder on Tuesday. BVP already this month.</a:t>
            </a:r>
          </a:p>
        </p:txBody>
      </p:sp>
      <p:sp>
        <p:nvSpPr>
          <p:cNvPr id="10" name="Rectangle 9"/>
          <p:cNvSpPr/>
          <p:nvPr/>
        </p:nvSpPr>
        <p:spPr>
          <a:xfrm>
            <a:off x="292608" y="1975104"/>
            <a:ext cx="2194560" cy="73152"/>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2608" y="2048256"/>
            <a:ext cx="2194560" cy="324612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2336" y="2157984"/>
            <a:ext cx="2011680" cy="365760"/>
          </a:xfrm>
          <a:prstGeom prst="rect">
            <a:avLst/>
          </a:prstGeom>
          <a:noFill/>
        </p:spPr>
        <p:txBody>
          <a:bodyPr wrap="square">
            <a:spAutoFit/>
          </a:bodyPr>
          <a:lstStyle/>
          <a:p>
            <a:pPr algn="l"/>
            <a:r>
              <a:rPr sz="1400" b="1">
                <a:solidFill>
                  <a:srgbClr val="CC0E1E"/>
                </a:solidFill>
                <a:latin typeface="Calibri"/>
              </a:rPr>
              <a:t>August</a:t>
            </a:r>
          </a:p>
        </p:txBody>
      </p:sp>
      <p:sp>
        <p:nvSpPr>
          <p:cNvPr id="13" name="TextBox 12"/>
          <p:cNvSpPr txBox="1"/>
          <p:nvPr/>
        </p:nvSpPr>
        <p:spPr>
          <a:xfrm>
            <a:off x="402336" y="2578608"/>
            <a:ext cx="2011680" cy="2560320"/>
          </a:xfrm>
          <a:prstGeom prst="rect">
            <a:avLst/>
          </a:prstGeom>
          <a:noFill/>
        </p:spPr>
        <p:txBody>
          <a:bodyPr wrap="square">
            <a:spAutoFit/>
          </a:bodyPr>
          <a:lstStyle/>
          <a:p>
            <a:pPr algn="l"/>
            <a:r>
              <a:rPr sz="1300" b="0">
                <a:solidFill>
                  <a:srgbClr val="1A1A1A"/>
                </a:solidFill>
                <a:latin typeface="Calibri"/>
              </a:rPr>
              <a:t>Promote live BVP. Start SPA numbers with ITUK.</a:t>
            </a:r>
          </a:p>
        </p:txBody>
      </p:sp>
      <p:sp>
        <p:nvSpPr>
          <p:cNvPr id="14" name="Rectangle 13"/>
          <p:cNvSpPr/>
          <p:nvPr/>
        </p:nvSpPr>
        <p:spPr>
          <a:xfrm>
            <a:off x="2633472" y="1975104"/>
            <a:ext cx="2194560" cy="73152"/>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33472" y="2048256"/>
            <a:ext cx="2194560" cy="324612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0" y="2157984"/>
            <a:ext cx="2011680" cy="365760"/>
          </a:xfrm>
          <a:prstGeom prst="rect">
            <a:avLst/>
          </a:prstGeom>
          <a:noFill/>
        </p:spPr>
        <p:txBody>
          <a:bodyPr wrap="square">
            <a:spAutoFit/>
          </a:bodyPr>
          <a:lstStyle/>
          <a:p>
            <a:pPr algn="l"/>
            <a:r>
              <a:rPr sz="1400" b="1">
                <a:solidFill>
                  <a:srgbClr val="CC0E1E"/>
                </a:solidFill>
                <a:latin typeface="Calibri"/>
              </a:rPr>
              <a:t>Tue 18 Aug</a:t>
            </a:r>
          </a:p>
        </p:txBody>
      </p:sp>
      <p:sp>
        <p:nvSpPr>
          <p:cNvPr id="17" name="TextBox 16"/>
          <p:cNvSpPr txBox="1"/>
          <p:nvPr/>
        </p:nvSpPr>
        <p:spPr>
          <a:xfrm>
            <a:off x="2743200" y="2578608"/>
            <a:ext cx="2011680" cy="2560320"/>
          </a:xfrm>
          <a:prstGeom prst="rect">
            <a:avLst/>
          </a:prstGeom>
          <a:noFill/>
        </p:spPr>
        <p:txBody>
          <a:bodyPr wrap="square">
            <a:spAutoFit/>
          </a:bodyPr>
          <a:lstStyle/>
          <a:p>
            <a:pPr algn="l"/>
            <a:r>
              <a:rPr sz="1300" b="0">
                <a:solidFill>
                  <a:srgbClr val="1A1A1A"/>
                </a:solidFill>
                <a:latin typeface="Calibri"/>
              </a:rPr>
              <a:t>Lock pack, SPA lines, BVP order or leave, IML-join rule, clutch on 47%.</a:t>
            </a:r>
          </a:p>
        </p:txBody>
      </p:sp>
      <p:sp>
        <p:nvSpPr>
          <p:cNvPr id="18" name="Rectangle 17"/>
          <p:cNvSpPr/>
          <p:nvPr/>
        </p:nvSpPr>
        <p:spPr>
          <a:xfrm>
            <a:off x="4974336" y="1975104"/>
            <a:ext cx="2194560" cy="73152"/>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974336" y="2048256"/>
            <a:ext cx="2194560" cy="324612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84064" y="2157984"/>
            <a:ext cx="2011680" cy="365760"/>
          </a:xfrm>
          <a:prstGeom prst="rect">
            <a:avLst/>
          </a:prstGeom>
          <a:noFill/>
        </p:spPr>
        <p:txBody>
          <a:bodyPr wrap="square">
            <a:spAutoFit/>
          </a:bodyPr>
          <a:lstStyle/>
          <a:p>
            <a:pPr algn="l"/>
            <a:r>
              <a:rPr sz="1400" b="1">
                <a:solidFill>
                  <a:srgbClr val="CC0E1E"/>
                </a:solidFill>
                <a:latin typeface="Calibri"/>
              </a:rPr>
              <a:t>September</a:t>
            </a:r>
          </a:p>
        </p:txBody>
      </p:sp>
      <p:sp>
        <p:nvSpPr>
          <p:cNvPr id="21" name="TextBox 20"/>
          <p:cNvSpPr txBox="1"/>
          <p:nvPr/>
        </p:nvSpPr>
        <p:spPr>
          <a:xfrm>
            <a:off x="5084064" y="2578608"/>
            <a:ext cx="2011680" cy="2560320"/>
          </a:xfrm>
          <a:prstGeom prst="rect">
            <a:avLst/>
          </a:prstGeom>
          <a:noFill/>
        </p:spPr>
        <p:txBody>
          <a:bodyPr wrap="square">
            <a:spAutoFit/>
          </a:bodyPr>
          <a:lstStyle/>
          <a:p>
            <a:pPr algn="l"/>
            <a:r>
              <a:rPr sz="1300" b="0">
                <a:solidFill>
                  <a:srgbClr val="1A1A1A"/>
                </a:solidFill>
                <a:latin typeface="Calibri"/>
              </a:rPr>
              <a:t>Pack BOM, SPA paper, R90 pad order, bulletin, stock rule.</a:t>
            </a:r>
          </a:p>
        </p:txBody>
      </p:sp>
      <p:sp>
        <p:nvSpPr>
          <p:cNvPr id="22" name="Rectangle 21"/>
          <p:cNvSpPr/>
          <p:nvPr/>
        </p:nvSpPr>
        <p:spPr>
          <a:xfrm>
            <a:off x="7315200" y="1975104"/>
            <a:ext cx="2194560" cy="73152"/>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00" y="2048256"/>
            <a:ext cx="2194560" cy="324612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24928" y="2157984"/>
            <a:ext cx="2011680" cy="365760"/>
          </a:xfrm>
          <a:prstGeom prst="rect">
            <a:avLst/>
          </a:prstGeom>
          <a:noFill/>
        </p:spPr>
        <p:txBody>
          <a:bodyPr wrap="square">
            <a:spAutoFit/>
          </a:bodyPr>
          <a:lstStyle/>
          <a:p>
            <a:pPr algn="l"/>
            <a:r>
              <a:rPr sz="1400" b="1">
                <a:solidFill>
                  <a:srgbClr val="CC0E1E"/>
                </a:solidFill>
                <a:latin typeface="Calibri"/>
              </a:rPr>
              <a:t>October</a:t>
            </a:r>
          </a:p>
        </p:txBody>
      </p:sp>
      <p:sp>
        <p:nvSpPr>
          <p:cNvPr id="25" name="TextBox 24"/>
          <p:cNvSpPr txBox="1"/>
          <p:nvPr/>
        </p:nvSpPr>
        <p:spPr>
          <a:xfrm>
            <a:off x="7424928" y="2578608"/>
            <a:ext cx="2011680" cy="2560320"/>
          </a:xfrm>
          <a:prstGeom prst="rect">
            <a:avLst/>
          </a:prstGeom>
          <a:noFill/>
        </p:spPr>
        <p:txBody>
          <a:bodyPr wrap="square">
            <a:spAutoFit/>
          </a:bodyPr>
          <a:lstStyle/>
          <a:p>
            <a:pPr algn="l"/>
            <a:r>
              <a:rPr sz="1300" b="0">
                <a:solidFill>
                  <a:srgbClr val="1A1A1A"/>
                </a:solidFill>
                <a:latin typeface="Calibri"/>
              </a:rPr>
              <a:t>N75 uptime campaign. Pack on the visit. Brake convert. Clutch in the model.</a:t>
            </a:r>
          </a:p>
        </p:txBody>
      </p:sp>
      <p:sp>
        <p:nvSpPr>
          <p:cNvPr id="26" name="Rectangle 25"/>
          <p:cNvSpPr/>
          <p:nvPr/>
        </p:nvSpPr>
        <p:spPr>
          <a:xfrm>
            <a:off x="9656064" y="1975104"/>
            <a:ext cx="2194560" cy="73152"/>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56064" y="2048256"/>
            <a:ext cx="2194560" cy="324612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65792" y="2157984"/>
            <a:ext cx="2011680" cy="365760"/>
          </a:xfrm>
          <a:prstGeom prst="rect">
            <a:avLst/>
          </a:prstGeom>
          <a:noFill/>
        </p:spPr>
        <p:txBody>
          <a:bodyPr wrap="square">
            <a:spAutoFit/>
          </a:bodyPr>
          <a:lstStyle/>
          <a:p>
            <a:pPr algn="l"/>
            <a:r>
              <a:rPr sz="1400" b="1">
                <a:solidFill>
                  <a:srgbClr val="CC0E1E"/>
                </a:solidFill>
                <a:latin typeface="Calibri"/>
              </a:rPr>
              <a:t>Nov to Dec</a:t>
            </a:r>
          </a:p>
        </p:txBody>
      </p:sp>
      <p:sp>
        <p:nvSpPr>
          <p:cNvPr id="29" name="TextBox 28"/>
          <p:cNvSpPr txBox="1"/>
          <p:nvPr/>
        </p:nvSpPr>
        <p:spPr>
          <a:xfrm>
            <a:off x="9765792" y="2578608"/>
            <a:ext cx="2011680" cy="2560320"/>
          </a:xfrm>
          <a:prstGeom prst="rect">
            <a:avLst/>
          </a:prstGeom>
          <a:noFill/>
        </p:spPr>
        <p:txBody>
          <a:bodyPr wrap="square">
            <a:spAutoFit/>
          </a:bodyPr>
          <a:lstStyle/>
          <a:p>
            <a:pPr algn="l"/>
            <a:r>
              <a:rPr sz="1300" b="0">
                <a:solidFill>
                  <a:srgbClr val="1A1A1A"/>
                </a:solidFill>
                <a:latin typeface="Calibri"/>
              </a:rPr>
              <a:t>Air attach %, brake accept, clutch kits vs 2,199, pack fill. Then N35.</a:t>
            </a:r>
          </a:p>
        </p:txBody>
      </p:sp>
      <p:sp>
        <p:nvSpPr>
          <p:cNvPr id="30" name="TextBox 29"/>
          <p:cNvSpPr txBox="1"/>
          <p:nvPr/>
        </p:nvSpPr>
        <p:spPr>
          <a:xfrm>
            <a:off x="292608" y="5440680"/>
            <a:ext cx="11612880" cy="365760"/>
          </a:xfrm>
          <a:prstGeom prst="rect">
            <a:avLst/>
          </a:prstGeom>
          <a:noFill/>
        </p:spPr>
        <p:txBody>
          <a:bodyPr wrap="square">
            <a:spAutoFit/>
          </a:bodyPr>
          <a:lstStyle/>
          <a:p>
            <a:pPr algn="l"/>
            <a:r>
              <a:rPr sz="1300" b="0">
                <a:solidFill>
                  <a:srgbClr val="5A5A5A"/>
                </a:solidFill>
                <a:latin typeface="Calibri"/>
              </a:rPr>
              <a:t>Not this round: N35 as the launch, connected / odometer, oil as the headline KPI.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TUESDAY</a:t>
            </a:r>
          </a:p>
        </p:txBody>
      </p:sp>
      <p:sp>
        <p:nvSpPr>
          <p:cNvPr id="5" name="TextBox 4"/>
          <p:cNvSpPr txBox="1"/>
          <p:nvPr/>
        </p:nvSpPr>
        <p:spPr>
          <a:xfrm>
            <a:off x="292608" y="475488"/>
            <a:ext cx="11612880" cy="566928"/>
          </a:xfrm>
          <a:prstGeom prst="rect">
            <a:avLst/>
          </a:prstGeom>
          <a:noFill/>
        </p:spPr>
        <p:txBody>
          <a:bodyPr wrap="square">
            <a:spAutoFit/>
          </a:bodyPr>
          <a:lstStyle/>
          <a:p>
            <a:pPr algn="l"/>
            <a:r>
              <a:rPr sz="2500" b="1">
                <a:solidFill>
                  <a:srgbClr val="1A1A1A"/>
                </a:solidFill>
                <a:latin typeface="Calibri"/>
              </a:rPr>
              <a:t>Five answers so the hour can close</a:t>
            </a:r>
          </a:p>
        </p:txBody>
      </p:sp>
      <p:sp>
        <p:nvSpPr>
          <p:cNvPr id="6" name="Rectangle 5"/>
          <p:cNvSpPr/>
          <p:nvPr/>
        </p:nvSpPr>
        <p:spPr>
          <a:xfrm>
            <a:off x="292608" y="1005840"/>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10</a:t>
            </a:r>
          </a:p>
        </p:txBody>
      </p:sp>
      <p:sp>
        <p:nvSpPr>
          <p:cNvPr id="8" name="Rectangle 7"/>
          <p:cNvSpPr/>
          <p:nvPr/>
        </p:nvSpPr>
        <p:spPr>
          <a:xfrm>
            <a:off x="292608" y="1115568"/>
            <a:ext cx="11612880" cy="658368"/>
          </a:xfrm>
          <a:prstGeom prst="rect">
            <a:avLst/>
          </a:prstGeom>
          <a:solidFill>
            <a:srgbClr val="15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170432"/>
            <a:ext cx="11338560" cy="548640"/>
          </a:xfrm>
          <a:prstGeom prst="rect">
            <a:avLst/>
          </a:prstGeom>
          <a:noFill/>
        </p:spPr>
        <p:txBody>
          <a:bodyPr wrap="square">
            <a:spAutoFit/>
          </a:bodyPr>
          <a:lstStyle/>
          <a:p>
            <a:pPr algn="l"/>
            <a:r>
              <a:rPr sz="1500" b="0">
                <a:solidFill>
                  <a:srgbClr val="FFFFFF"/>
                </a:solidFill>
                <a:latin typeface="Calibri"/>
              </a:rPr>
              <a:t>If we leave with these, September has a job.</a:t>
            </a:r>
          </a:p>
        </p:txBody>
      </p:sp>
      <p:sp>
        <p:nvSpPr>
          <p:cNvPr id="10" name="Rectangle 9"/>
          <p:cNvSpPr/>
          <p:nvPr/>
        </p:nvSpPr>
        <p:spPr>
          <a:xfrm>
            <a:off x="292608" y="1938528"/>
            <a:ext cx="502920" cy="621792"/>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 y="2048256"/>
            <a:ext cx="502920" cy="420624"/>
          </a:xfrm>
          <a:prstGeom prst="rect">
            <a:avLst/>
          </a:prstGeom>
          <a:noFill/>
        </p:spPr>
        <p:txBody>
          <a:bodyPr wrap="square">
            <a:spAutoFit/>
          </a:bodyPr>
          <a:lstStyle/>
          <a:p>
            <a:pPr algn="ctr"/>
            <a:r>
              <a:rPr sz="2000" b="1">
                <a:solidFill>
                  <a:srgbClr val="FFFFFF"/>
                </a:solidFill>
                <a:latin typeface="Calibri"/>
              </a:rPr>
              <a:t>1</a:t>
            </a:r>
          </a:p>
        </p:txBody>
      </p:sp>
      <p:sp>
        <p:nvSpPr>
          <p:cNvPr id="12" name="Rectangle 11"/>
          <p:cNvSpPr/>
          <p:nvPr/>
        </p:nvSpPr>
        <p:spPr>
          <a:xfrm>
            <a:off x="868680" y="1938528"/>
            <a:ext cx="11036808" cy="621792"/>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2029968"/>
            <a:ext cx="10744200" cy="457200"/>
          </a:xfrm>
          <a:prstGeom prst="rect">
            <a:avLst/>
          </a:prstGeom>
          <a:noFill/>
        </p:spPr>
        <p:txBody>
          <a:bodyPr wrap="square">
            <a:spAutoFit/>
          </a:bodyPr>
          <a:lstStyle/>
          <a:p>
            <a:pPr algn="l"/>
            <a:r>
              <a:rPr sz="1500" b="0">
                <a:solidFill>
                  <a:srgbClr val="1A1A1A"/>
                </a:solidFill>
                <a:latin typeface="Calibri"/>
              </a:rPr>
              <a:t>BVP now. Promote live oil BVP from August. Zero-sales twins (air 5876102500, fuel 1876102860): order, or leave off the poster?</a:t>
            </a:r>
          </a:p>
        </p:txBody>
      </p:sp>
      <p:sp>
        <p:nvSpPr>
          <p:cNvPr id="14" name="Rectangle 13"/>
          <p:cNvSpPr/>
          <p:nvPr/>
        </p:nvSpPr>
        <p:spPr>
          <a:xfrm>
            <a:off x="292608" y="2651760"/>
            <a:ext cx="502920" cy="621792"/>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 y="2761488"/>
            <a:ext cx="502920" cy="420624"/>
          </a:xfrm>
          <a:prstGeom prst="rect">
            <a:avLst/>
          </a:prstGeom>
          <a:noFill/>
        </p:spPr>
        <p:txBody>
          <a:bodyPr wrap="square">
            <a:spAutoFit/>
          </a:bodyPr>
          <a:lstStyle/>
          <a:p>
            <a:pPr algn="ctr"/>
            <a:r>
              <a:rPr sz="2000" b="1">
                <a:solidFill>
                  <a:srgbClr val="FFFFFF"/>
                </a:solidFill>
                <a:latin typeface="Calibri"/>
              </a:rPr>
              <a:t>2</a:t>
            </a:r>
          </a:p>
        </p:txBody>
      </p:sp>
      <p:sp>
        <p:nvSpPr>
          <p:cNvPr id="16" name="Rectangle 15"/>
          <p:cNvSpPr/>
          <p:nvPr/>
        </p:nvSpPr>
        <p:spPr>
          <a:xfrm>
            <a:off x="868680" y="2651760"/>
            <a:ext cx="11036808" cy="621792"/>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2743200"/>
            <a:ext cx="10744200" cy="457200"/>
          </a:xfrm>
          <a:prstGeom prst="rect">
            <a:avLst/>
          </a:prstGeom>
          <a:noFill/>
        </p:spPr>
        <p:txBody>
          <a:bodyPr wrap="square">
            <a:spAutoFit/>
          </a:bodyPr>
          <a:lstStyle/>
          <a:p>
            <a:pPr algn="l"/>
            <a:r>
              <a:rPr sz="1500" b="0">
                <a:solidFill>
                  <a:srgbClr val="1A1A1A"/>
                </a:solidFill>
                <a:latin typeface="Calibri"/>
              </a:rPr>
              <a:t>SPA now. Which genuine air / brake / clutch lines do we price with ITUK this month?</a:t>
            </a:r>
          </a:p>
        </p:txBody>
      </p:sp>
      <p:sp>
        <p:nvSpPr>
          <p:cNvPr id="18" name="Rectangle 17"/>
          <p:cNvSpPr/>
          <p:nvPr/>
        </p:nvSpPr>
        <p:spPr>
          <a:xfrm>
            <a:off x="292608" y="3364992"/>
            <a:ext cx="502920" cy="621792"/>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2608" y="3474720"/>
            <a:ext cx="502920" cy="420624"/>
          </a:xfrm>
          <a:prstGeom prst="rect">
            <a:avLst/>
          </a:prstGeom>
          <a:noFill/>
        </p:spPr>
        <p:txBody>
          <a:bodyPr wrap="square">
            <a:spAutoFit/>
          </a:bodyPr>
          <a:lstStyle/>
          <a:p>
            <a:pPr algn="ctr"/>
            <a:r>
              <a:rPr sz="2000" b="1">
                <a:solidFill>
                  <a:srgbClr val="FFFFFF"/>
                </a:solidFill>
                <a:latin typeface="Calibri"/>
              </a:rPr>
              <a:t>3</a:t>
            </a:r>
          </a:p>
        </p:txBody>
      </p:sp>
      <p:sp>
        <p:nvSpPr>
          <p:cNvPr id="20" name="Rectangle 19"/>
          <p:cNvSpPr/>
          <p:nvPr/>
        </p:nvSpPr>
        <p:spPr>
          <a:xfrm>
            <a:off x="868680" y="3364992"/>
            <a:ext cx="11036808" cy="621792"/>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8" y="3456432"/>
            <a:ext cx="10744200" cy="457200"/>
          </a:xfrm>
          <a:prstGeom prst="rect">
            <a:avLst/>
          </a:prstGeom>
          <a:noFill/>
        </p:spPr>
        <p:txBody>
          <a:bodyPr wrap="square">
            <a:spAutoFit/>
          </a:bodyPr>
          <a:lstStyle/>
          <a:p>
            <a:pPr algn="l"/>
            <a:r>
              <a:rPr sz="1500" b="0">
                <a:solidFill>
                  <a:srgbClr val="1A1A1A"/>
                </a:solidFill>
                <a:latin typeface="Calibri"/>
              </a:rPr>
              <a:t>IML join rule. If ITUK and ISZE cannot agree the SPA level, IML can share the discount. Yes?</a:t>
            </a:r>
          </a:p>
        </p:txBody>
      </p:sp>
      <p:sp>
        <p:nvSpPr>
          <p:cNvPr id="22" name="Rectangle 21"/>
          <p:cNvSpPr/>
          <p:nvPr/>
        </p:nvSpPr>
        <p:spPr>
          <a:xfrm>
            <a:off x="292608" y="4078224"/>
            <a:ext cx="502920" cy="621792"/>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2608" y="4187952"/>
            <a:ext cx="502920" cy="420624"/>
          </a:xfrm>
          <a:prstGeom prst="rect">
            <a:avLst/>
          </a:prstGeom>
          <a:noFill/>
        </p:spPr>
        <p:txBody>
          <a:bodyPr wrap="square">
            <a:spAutoFit/>
          </a:bodyPr>
          <a:lstStyle/>
          <a:p>
            <a:pPr algn="ctr"/>
            <a:r>
              <a:rPr sz="2000" b="1">
                <a:solidFill>
                  <a:srgbClr val="FFFFFF"/>
                </a:solidFill>
                <a:latin typeface="Calibri"/>
              </a:rPr>
              <a:t>4</a:t>
            </a:r>
          </a:p>
        </p:txBody>
      </p:sp>
      <p:sp>
        <p:nvSpPr>
          <p:cNvPr id="24" name="Rectangle 23"/>
          <p:cNvSpPr/>
          <p:nvPr/>
        </p:nvSpPr>
        <p:spPr>
          <a:xfrm>
            <a:off x="868680" y="4078224"/>
            <a:ext cx="11036808" cy="621792"/>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4169664"/>
            <a:ext cx="10744200" cy="457200"/>
          </a:xfrm>
          <a:prstGeom prst="rect">
            <a:avLst/>
          </a:prstGeom>
          <a:noFill/>
        </p:spPr>
        <p:txBody>
          <a:bodyPr wrap="square">
            <a:spAutoFit/>
          </a:bodyPr>
          <a:lstStyle/>
          <a:p>
            <a:pPr algn="l"/>
            <a:r>
              <a:rPr sz="1500" b="0">
                <a:solidFill>
                  <a:srgbClr val="1A1A1A"/>
                </a:solidFill>
                <a:latin typeface="Calibri"/>
              </a:rPr>
              <a:t>Pack. One N75 kit (oil + fuel + air) on existing events. R90 pad 8982447940 is orderable.</a:t>
            </a:r>
          </a:p>
        </p:txBody>
      </p:sp>
      <p:sp>
        <p:nvSpPr>
          <p:cNvPr id="26" name="Rectangle 25"/>
          <p:cNvSpPr/>
          <p:nvPr/>
        </p:nvSpPr>
        <p:spPr>
          <a:xfrm>
            <a:off x="292608" y="4791456"/>
            <a:ext cx="502920" cy="621792"/>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2608" y="4901184"/>
            <a:ext cx="502920" cy="420624"/>
          </a:xfrm>
          <a:prstGeom prst="rect">
            <a:avLst/>
          </a:prstGeom>
          <a:noFill/>
        </p:spPr>
        <p:txBody>
          <a:bodyPr wrap="square">
            <a:spAutoFit/>
          </a:bodyPr>
          <a:lstStyle/>
          <a:p>
            <a:pPr algn="ctr"/>
            <a:r>
              <a:rPr sz="2000" b="1">
                <a:solidFill>
                  <a:srgbClr val="FFFFFF"/>
                </a:solidFill>
                <a:latin typeface="Calibri"/>
              </a:rPr>
              <a:t>5</a:t>
            </a:r>
          </a:p>
        </p:txBody>
      </p:sp>
      <p:sp>
        <p:nvSpPr>
          <p:cNvPr id="28" name="Rectangle 27"/>
          <p:cNvSpPr/>
          <p:nvPr/>
        </p:nvSpPr>
        <p:spPr>
          <a:xfrm>
            <a:off x="868680" y="4791456"/>
            <a:ext cx="11036808" cy="621792"/>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4128" y="4882896"/>
            <a:ext cx="10744200" cy="457200"/>
          </a:xfrm>
          <a:prstGeom prst="rect">
            <a:avLst/>
          </a:prstGeom>
          <a:noFill/>
        </p:spPr>
        <p:txBody>
          <a:bodyPr wrap="square">
            <a:spAutoFit/>
          </a:bodyPr>
          <a:lstStyle/>
          <a:p>
            <a:pPr algn="l"/>
            <a:r>
              <a:rPr sz="1500" b="0">
                <a:solidFill>
                  <a:srgbClr val="1A1A1A"/>
                </a:solidFill>
                <a:latin typeface="Calibri"/>
              </a:rPr>
              <a:t>Clutch. Keep it in at 47% manuals (expected 2,199). VIN later only refines the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0" y="3063240"/>
            <a:ext cx="7772400" cy="457200"/>
          </a:xfrm>
          <a:prstGeom prst="rect">
            <a:avLst/>
          </a:prstGeom>
          <a:noFill/>
        </p:spPr>
        <p:txBody>
          <a:bodyPr wrap="square">
            <a:spAutoFit/>
          </a:bodyPr>
          <a:lstStyle/>
          <a:p>
            <a:pPr algn="ctr"/>
            <a:r>
              <a:rPr sz="1600" b="0">
                <a:solidFill>
                  <a:srgbClr val="5A5A5A"/>
                </a:solidFill>
                <a:latin typeface="Calibri"/>
              </a:rPr>
              <a:t>Moving the World – for You</a:t>
            </a:r>
          </a:p>
        </p:txBody>
      </p:sp>
      <p:pic>
        <p:nvPicPr>
          <p:cNvPr id="4" name="Picture 3" descr="isuzu_logo_red.png"/>
          <p:cNvPicPr>
            <a:picLocks noChangeAspect="1"/>
          </p:cNvPicPr>
          <p:nvPr/>
        </p:nvPicPr>
        <p:blipFill>
          <a:blip r:embed="rId2"/>
          <a:stretch>
            <a:fillRect/>
          </a:stretch>
        </p:blipFill>
        <p:spPr>
          <a:xfrm>
            <a:off x="4631436" y="2468880"/>
            <a:ext cx="2926080" cy="5097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